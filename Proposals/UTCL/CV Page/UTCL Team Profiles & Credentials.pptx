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82" r:id="rId2"/>
    <p:sldId id="2147483626" r:id="rId9"/>
    <p:sldId id="2147483625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  <Relationship Id="rId9" Type="http://schemas.openxmlformats.org/officeDocument/2006/relationships/slide" Target="slides/slide3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E12F55-5DBC-CA43-ACA4-38D642E2432B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D1F283-AE27-DC47-A4C1-ECD908EC8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47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8D464-D50E-F8EC-AA7A-74B086083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06518E-EC25-6697-6BAC-0B39EB8C61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228DD1-F7C2-E6EC-5B7D-F1CA98066B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C16E9A-78C0-7A49-D853-1886D010A0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43D19E-BFDB-4C92-8EDD-32EDDA8F41DF}" type="slidenum">
              <a:rPr kumimoji="0" lang="en-GB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71656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78C08-B2A7-D78F-824A-A77A2838D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B37239-4EA9-9816-1802-64B6F4E9D1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495AC9-81EC-EA6C-125D-8E1606EBF1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09C22-AA9F-9C8E-64FF-EF003D7A8B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43D19E-BFDB-4C92-8EDD-32EDDA8F41DF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929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DBA98-3B84-E8A5-1100-2EA4F8EDB8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40666A-9C42-4FFF-2E55-0F6F17E0E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B49DB8-D77E-0F55-FEF1-708752200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9B2C-788F-A343-ACFB-6E009B9E686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3CD00-9A89-1988-47AC-3E449D937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F817B-9654-523A-CA5C-D07502214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E2724-3579-CF45-96C8-4CB2D1CDD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880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E1E6F-AAAB-AC6A-06F0-FC9AC6A29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50A6A-43ED-C97F-198B-BE46623DB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C73D7-A15F-2B43-0199-76CC60D75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9B2C-788F-A343-ACFB-6E009B9E686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1B248-3AF7-2E4C-B97C-C6FE5373F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F09B3-9A68-0099-4CCE-75610C823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E2724-3579-CF45-96C8-4CB2D1CDD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859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9AC71-3169-FBB1-BACD-5BE331A8E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3682AE-C5B8-C705-EBF2-35D47CF1B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44D5A-34DA-6169-757A-60BD3B388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9B2C-788F-A343-ACFB-6E009B9E686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A5C99-66F4-4580-F1BD-649AB48AC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4B697-57EE-DB97-735F-A31F89883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E2724-3579-CF45-96C8-4CB2D1CDD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030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5DDD2-E99A-1C08-D84D-76C329CFB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F79FB-B85A-3B3D-D759-4CE825DBBF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0B81C5-07B0-8979-1867-A1479983B3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34C24F-96C1-E85D-A88A-4A177A5E8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9B2C-788F-A343-ACFB-6E009B9E686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7A1065-2F80-398C-DF0D-245E414D9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9F248E-5791-72AF-1656-973032F6A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E2724-3579-CF45-96C8-4CB2D1CDD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768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F142E-6355-AAA3-BFC2-6014A2F56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BC0385-A349-40F0-EB8C-10F255F628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0EA1C7-DB8C-8DB1-543E-D4539FEDF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6927B9-38C3-AC7E-4465-AB9EAE487F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175C8A-C0EB-E823-80CC-AFD1E73F26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7D0956-9D0E-C7B1-4876-2CF0376C3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9B2C-788F-A343-ACFB-6E009B9E686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224A8D-EA45-7146-0D33-27114FDB4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7F7823-710D-4A8D-673C-38EFCBBF1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E2724-3579-CF45-96C8-4CB2D1CDD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099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CB587-71E2-4C0B-A7DF-578B22E53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82058F-7F98-6A85-6308-419964960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9B2C-788F-A343-ACFB-6E009B9E686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C50327-F510-264F-F804-3E21E32CB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45E528-EEC1-DDD9-CCD2-D92F78A17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E2724-3579-CF45-96C8-4CB2D1CDD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314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E476BB-6E16-3DC6-E621-CF86CE61E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9B2C-788F-A343-ACFB-6E009B9E686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F24794-7545-38A5-C94C-1D018EA11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D24975-F3AB-CB6D-D205-322975824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E2724-3579-CF45-96C8-4CB2D1CDD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731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9F6D1-B5D8-95BD-B765-6A428912D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E193D-4CF0-5A74-E8B2-EBB2AC397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FC8C6-F635-B0E6-7051-714749A936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8818B6-6F65-7D0F-19F1-02545E260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9B2C-788F-A343-ACFB-6E009B9E686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BCA86A-1B1B-015E-8422-A34FD57DC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326D63-BDBD-FE61-E4F1-BBD0A2F83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E2724-3579-CF45-96C8-4CB2D1CDD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645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CEEF7-6AC8-9785-23CF-FB8B3A2F5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B982D2-325B-00DA-9F4F-8AC40635CC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2A6746-D68A-ACA9-5D80-2D04F925F4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BD7300-D1AE-0DCA-3B3A-45FF48E9F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9B2C-788F-A343-ACFB-6E009B9E686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DEF975-EB90-FDCA-05DA-C0297EE30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9D6207-5EB9-0B14-C49A-4D801F2F2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E2724-3579-CF45-96C8-4CB2D1CDD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107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6B30D-2A06-BDE2-037A-9A83E90B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6A9904-670E-1D76-E0D4-EE810BB96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E548C-0D7A-8AFA-32FD-E37F83C6D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9B2C-788F-A343-ACFB-6E009B9E686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221B1-B691-848D-B4F1-18D957289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F46BB-3A09-FD70-8112-A52C4E303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E2724-3579-CF45-96C8-4CB2D1CDD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617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7A42F3-8E52-E3AE-D23B-1CA7279691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7CF4CE-ADB7-7758-3E7D-286516D72B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06DE0-1460-3CD9-D074-82387D283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9B2C-788F-A343-ACFB-6E009B9E686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BDB19-77BF-0AC4-505B-03EEF5BE3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40752-6C9A-F243-F239-2AC1850A9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E2724-3579-CF45-96C8-4CB2D1CDD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057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YP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8A2F35C-CCC5-4796-8DA9-F5D8192CB2D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30113429"/>
              </p:ext>
            </p:extLst>
          </p:nvPr>
        </p:nvGraphicFramePr>
        <p:xfrm>
          <a:off x="1587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8A2F35C-CCC5-4796-8DA9-F5D8192CB2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AA3264E-CB34-4429-9275-D4DC18E9B1E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667" cy="158750"/>
          </a:xfrm>
          <a:prstGeom prst="rect">
            <a:avLst/>
          </a:prstGeom>
          <a:solidFill>
            <a:srgbClr val="74748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kumimoji="0" lang="en-US" sz="2199" b="0" i="0" u="none" cap="none" baseline="0">
              <a:solidFill>
                <a:schemeClr val="tx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0" name="Line 10">
            <a:extLst>
              <a:ext uri="{FF2B5EF4-FFF2-40B4-BE49-F238E27FC236}">
                <a16:creationId xmlns:a16="http://schemas.microsoft.com/office/drawing/2014/main" id="{EF8E9275-C0E0-4ABA-8699-73E5E292EC8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79376" y="907750"/>
            <a:ext cx="11233249" cy="0"/>
          </a:xfrm>
          <a:prstGeom prst="line">
            <a:avLst/>
          </a:prstGeom>
          <a:noFill/>
          <a:ln w="19050" cap="flat" cmpd="sng" algn="ctr">
            <a:solidFill>
              <a:srgbClr val="1A9AF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>
              <a:solidFill>
                <a:schemeClr val="bg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2A343A82-E9F8-4308-B804-1ABAAE8F4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76" y="269600"/>
            <a:ext cx="11233248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rgbClr val="2E2E38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2737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D22CE3-CD9F-67AE-9FBE-811F90E55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F8D658-F5F1-FC65-067C-5F0964330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340C4-4CB5-3D17-1BA7-D346E07E02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BB9B2C-788F-A343-ACFB-6E009B9E686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C508E-5272-B527-FA3B-3A9B5E22AA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14BD5-C67C-797F-DCD5-5AFFC1C2E6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8E2724-3579-CF45-96C8-4CB2D1CDD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985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Relationship Id="rIdFaclonLogo" Type="http://schemas.openxmlformats.org/officeDocument/2006/relationships/image" Target="../media/faclon-logo-blue.png"/></Relationships>
</file>

<file path=ppt/slides/_rels/slide3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AE649-85BA-FE8D-3B8D-DBD111D5F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14931B2-2EF8-9ABC-A5E9-6526D688A3C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14931B2-2EF8-9ABC-A5E9-6526D688A3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0662E82-CA95-CFEE-306F-87C0B07E3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IN">
                <a:latin typeface="+mn-lt"/>
              </a:rPr>
              <a:t>Team</a:t>
            </a:r>
            <a:r>
              <a:rPr lang="en-IN" sz="2000">
                <a:latin typeface="+mn-lt"/>
              </a:rPr>
              <a:t xml:space="preserve"> Profiles</a:t>
            </a:r>
          </a:p>
        </p:txBody>
      </p:sp>
      <p:sp>
        <p:nvSpPr>
          <p:cNvPr id="5" name="sectionheader_6390563771364972991" descr="Super Headline">
            <a:extLst>
              <a:ext uri="{FF2B5EF4-FFF2-40B4-BE49-F238E27FC236}">
                <a16:creationId xmlns:a16="http://schemas.microsoft.com/office/drawing/2014/main" id="{B80BF9F4-AD73-63C5-F26C-CB90E0FE8891}"/>
              </a:ext>
            </a:extLst>
          </p:cNvPr>
          <p:cNvSpPr txBox="1"/>
          <p:nvPr/>
        </p:nvSpPr>
        <p:spPr>
          <a:xfrm>
            <a:off x="498293" y="77800"/>
            <a:ext cx="923843" cy="15696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Tx/>
              <a:buSzPct val="75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A9AFA"/>
                </a:solidFill>
                <a:effectLst/>
                <a:uLnTx/>
                <a:uFillTx/>
                <a:latin typeface="EYInterstate Light"/>
                <a:ea typeface="+mn-ea"/>
                <a:cs typeface="Arial" panose="020B0604020202020204" pitchFamily="34" charset="0"/>
              </a:rPr>
              <a:t>Team profiles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5EE642D-CCB8-8BDE-1FBE-C4CA3122DE9E}"/>
              </a:ext>
            </a:extLst>
          </p:cNvPr>
          <p:cNvSpPr txBox="1">
            <a:spLocks/>
          </p:cNvSpPr>
          <p:nvPr/>
        </p:nvSpPr>
        <p:spPr>
          <a:xfrm>
            <a:off x="511069" y="1134279"/>
            <a:ext cx="4983882" cy="74535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179906" tIns="71963" rIns="71963" bIns="71963" anchor="ctr" anchorCtr="0">
            <a:noAutofit/>
          </a:bodyPr>
          <a:lstStyle>
            <a:lvl1pPr marL="0" indent="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808080"/>
              </a:buClr>
              <a:buSzPct val="75000"/>
              <a:buFont typeface="Arial" pitchFamily="34" charset="0"/>
              <a:buNone/>
              <a:defRPr lang="en-US" sz="900" kern="1200" baseline="0" dirty="0" smtClean="0">
                <a:solidFill>
                  <a:srgbClr val="5A5B5D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808080"/>
              </a:buClr>
              <a:buSzPct val="75000"/>
              <a:buFont typeface="Arial" pitchFamily="34" charset="0"/>
              <a:buNone/>
              <a:defRPr lang="en-US" sz="900" kern="1200" dirty="0" smtClean="0">
                <a:solidFill>
                  <a:srgbClr val="5A5B5D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808080"/>
              </a:buClr>
              <a:buSzPct val="75000"/>
              <a:buFont typeface="Arial" pitchFamily="34" charset="0"/>
              <a:buNone/>
              <a:tabLst/>
              <a:defRPr lang="en-US" sz="900" kern="1200" dirty="0" smtClean="0">
                <a:solidFill>
                  <a:srgbClr val="5A5B5D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808080"/>
              </a:buClr>
              <a:buSzPct val="75000"/>
              <a:buFont typeface="Arial" pitchFamily="34" charset="0"/>
              <a:buNone/>
              <a:tabLst/>
              <a:defRPr lang="en-US" sz="900" kern="1200" dirty="0" smtClean="0">
                <a:solidFill>
                  <a:srgbClr val="5A5B5D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808080"/>
              </a:buClr>
              <a:buSzPct val="75000"/>
              <a:buFont typeface="Arial" pitchFamily="34" charset="0"/>
              <a:buNone/>
              <a:defRPr lang="en-US" sz="900" kern="1200" dirty="0">
                <a:solidFill>
                  <a:srgbClr val="5A5B5D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08080"/>
              </a:buClr>
              <a:buSzPct val="75000"/>
              <a:buFont typeface="Arial" pitchFamily="34" charset="0"/>
              <a:buNone/>
              <a:tabLst/>
              <a:defRPr/>
            </a:pPr>
            <a:r>
              <a:rPr lang="en-US" sz="1400" b="1" dirty="0">
                <a:solidFill>
                  <a:srgbClr val="FFFFFF"/>
                </a:solidFill>
              </a:rPr>
              <a:t>Archit Naraniwal</a:t>
            </a:r>
          </a:p>
          <a:p>
            <a:pPr lvl="0">
              <a:spcBef>
                <a:spcPts val="0"/>
              </a:spcBef>
              <a:defRPr/>
            </a:pPr>
            <a:r>
              <a:rPr lang="en-IN" sz="1000" b="1" dirty="0">
                <a:solidFill>
                  <a:schemeClr val="bg2"/>
                </a:solidFill>
              </a:rPr>
              <a:t>CO-FOUNDER, FACLON LABS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FD208CD-C76C-0614-FF16-969DD494365B}"/>
              </a:ext>
            </a:extLst>
          </p:cNvPr>
          <p:cNvSpPr txBox="1">
            <a:spLocks/>
          </p:cNvSpPr>
          <p:nvPr/>
        </p:nvSpPr>
        <p:spPr>
          <a:xfrm>
            <a:off x="514379" y="2054436"/>
            <a:ext cx="4994042" cy="425028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rgbClr val="808080"/>
              </a:buClr>
              <a:buSzPct val="75000"/>
              <a:buFont typeface="Arial" panose="020B0604020202020204" pitchFamily="34" charset="0"/>
              <a:buNone/>
              <a:defRPr sz="10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182563" indent="-182563" algn="l" defTabSz="914400" rtl="0" eaLnBrk="1" latinLnBrk="0" hangingPunct="1">
              <a:spcBef>
                <a:spcPct val="20000"/>
              </a:spcBef>
              <a:buClr>
                <a:srgbClr val="808080"/>
              </a:buClr>
              <a:buSzPct val="75000"/>
              <a:buFont typeface="Arial" panose="020B0604020202020204" pitchFamily="34" charset="0"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82563" indent="-182563" algn="l" defTabSz="914400" rtl="0" eaLnBrk="1" latinLnBrk="0" hangingPunct="1">
              <a:spcBef>
                <a:spcPts val="300"/>
              </a:spcBef>
              <a:buClrTx/>
              <a:buSzPct val="75000"/>
              <a:buFont typeface="Arial" panose="020B0604020202020204" pitchFamily="34" charset="0"/>
              <a:buChar char="►"/>
              <a:tabLst/>
              <a:defRPr lang="en-US" sz="10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685800" indent="-171450" algn="l" defTabSz="914400" rtl="0" eaLnBrk="1" latinLnBrk="0" hangingPunct="1">
              <a:spcBef>
                <a:spcPct val="20000"/>
              </a:spcBef>
              <a:buClr>
                <a:srgbClr val="808080"/>
              </a:buClr>
              <a:buSzPct val="75000"/>
              <a:buFont typeface="Arial" panose="020B0604020202020204" pitchFamily="34" charset="0"/>
              <a:buChar char="►"/>
              <a:tabLst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857250" indent="-171450" algn="l" defTabSz="914400" rtl="0" eaLnBrk="1" latinLnBrk="0" hangingPunct="1">
              <a:spcBef>
                <a:spcPct val="20000"/>
              </a:spcBef>
              <a:buClr>
                <a:srgbClr val="808080"/>
              </a:buClr>
              <a:buSzPct val="75000"/>
              <a:buFont typeface="Arial" panose="020B0604020202020204" pitchFamily="34" charset="0"/>
              <a:buChar char="►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808080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10+ years of experience working with industrial companies on data, technology and AI.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808080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1A1A24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  <a:p>
            <a:pPr marL="123825" marR="0" lvl="0" indent="-1238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Built Faclon Labs from the ground up, focused on solving real operational problems for manufacturing and industrial companies — now 50+ enterprise customers and 200+ deployments.</a:t>
            </a:r>
          </a:p>
          <a:p>
            <a:pPr marL="123825" marR="0" lvl="0" indent="-1238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1A1A24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  <a:p>
            <a:pPr marL="123825" marR="0" lvl="0" indent="-1238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Leads the Cement vertical at Faclon Labs, one of the company’s key focus sectors alongside steel, metals and power — owning the cement offering across pyro, grinding, energy and reliability.</a:t>
            </a:r>
          </a:p>
          <a:p>
            <a:pPr marL="123825" marR="0" lvl="0" indent="-1238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1A1A24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  <a:p>
            <a:pPr marL="123825" marR="0" lvl="0" indent="-1238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Leads the cement business end-to-end — from identifying customer problems and high-value opportunities to solution design, customer engagement, deployment and value realisation.</a:t>
            </a:r>
          </a:p>
          <a:p>
            <a:pPr marL="123825" marR="0" lvl="0" indent="-1238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1A1A24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  <a:p>
            <a:pPr marL="123825" marR="0" lvl="0" indent="-1238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Works closely with leading industrial groups including JSW Group, Vedanta Group, ITC, Adani Group, Nuvoco and Dalmia Bharat — at plant and corporate level, from first pilot to multi-site rollout.</a:t>
            </a:r>
          </a:p>
          <a:p>
            <a:pPr marL="123825" marR="0" lvl="0" indent="-1238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1A1A24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  <a:p>
            <a:pPr marL="123825" marR="0" lvl="0" indent="-1238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Brings technology and business together, with an IIT Bombay background, prior experience at PwC and years of building an industrial technology company alongside plant teams.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33BFD9E-280C-6C98-2E27-869385415557}"/>
              </a:ext>
            </a:extLst>
          </p:cNvPr>
          <p:cNvSpPr txBox="1">
            <a:spLocks/>
          </p:cNvSpPr>
          <p:nvPr/>
        </p:nvSpPr>
        <p:spPr>
          <a:xfrm>
            <a:off x="6740944" y="1134279"/>
            <a:ext cx="4943598" cy="74535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179906" tIns="71963" rIns="71963" bIns="71963" anchor="ctr" anchorCtr="0">
            <a:noAutofit/>
          </a:bodyPr>
          <a:lstStyle>
            <a:defPPr>
              <a:defRPr lang="en-US"/>
            </a:defPPr>
            <a:lvl1pPr indent="0" eaLnBrk="0" fontAlgn="base" hangingPunct="0">
              <a:spcBef>
                <a:spcPts val="0"/>
              </a:spcBef>
              <a:spcAft>
                <a:spcPct val="0"/>
              </a:spcAft>
              <a:buClr>
                <a:srgbClr val="808080"/>
              </a:buClr>
              <a:buSzPct val="75000"/>
              <a:buFont typeface="Arial" pitchFamily="34" charset="0"/>
              <a:buNone/>
              <a:defRPr sz="1400" b="1" baseline="0">
                <a:latin typeface="+mj-lt"/>
              </a:defRPr>
            </a:lvl1pPr>
            <a:lvl2pPr marL="0" indent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8080"/>
              </a:buClr>
              <a:buSzPct val="75000"/>
              <a:buFont typeface="Arial" pitchFamily="34" charset="0"/>
              <a:buNone/>
              <a:defRPr sz="900">
                <a:solidFill>
                  <a:srgbClr val="5A5B5D"/>
                </a:solidFill>
              </a:defRPr>
            </a:lvl2pPr>
            <a:lvl3pPr marL="0" indent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8080"/>
              </a:buClr>
              <a:buSzPct val="75000"/>
              <a:buFont typeface="Arial" pitchFamily="34" charset="0"/>
              <a:buNone/>
              <a:tabLst/>
              <a:defRPr sz="900">
                <a:solidFill>
                  <a:srgbClr val="5A5B5D"/>
                </a:solidFill>
              </a:defRPr>
            </a:lvl3pPr>
            <a:lvl4pPr marL="0" indent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8080"/>
              </a:buClr>
              <a:buSzPct val="75000"/>
              <a:buFont typeface="Arial" pitchFamily="34" charset="0"/>
              <a:buNone/>
              <a:tabLst/>
              <a:defRPr sz="900">
                <a:solidFill>
                  <a:srgbClr val="5A5B5D"/>
                </a:solidFill>
              </a:defRPr>
            </a:lvl4pPr>
            <a:lvl5pPr marL="0" indent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8080"/>
              </a:buClr>
              <a:buSzPct val="75000"/>
              <a:buFont typeface="Arial" pitchFamily="34" charset="0"/>
              <a:buNone/>
              <a:defRPr sz="900">
                <a:solidFill>
                  <a:srgbClr val="5A5B5D"/>
                </a:solidFill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08080"/>
              </a:buClr>
              <a:buSzPct val="75000"/>
              <a:buFont typeface="Arial" pitchFamily="34" charset="0"/>
              <a:buNone/>
              <a:tabLst/>
              <a:defRPr/>
            </a:pPr>
            <a:r>
              <a:rPr lang="en-US" sz="1400" b="1" dirty="0">
                <a:solidFill>
                  <a:srgbClr val="FFFFFF"/>
                </a:solidFill>
              </a:rPr>
              <a:t>Vivek Singh</a:t>
            </a:r>
          </a:p>
          <a:p>
            <a:pPr lvl="0">
              <a:spcBef>
                <a:spcPts val="0"/>
              </a:spcBef>
              <a:defRPr/>
            </a:pPr>
            <a:r>
              <a:rPr lang="en-IN" sz="1000" b="1" dirty="0">
                <a:solidFill>
                  <a:schemeClr val="bg2"/>
                </a:solidFill>
              </a:rPr>
              <a:t>CHIEF AI OFFICER, FACLON LABS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275723-C6FD-4252-BB53-8CC5831A314D}"/>
              </a:ext>
            </a:extLst>
          </p:cNvPr>
          <p:cNvSpPr txBox="1"/>
          <p:nvPr/>
        </p:nvSpPr>
        <p:spPr>
          <a:xfrm>
            <a:off x="3627120" y="6640904"/>
            <a:ext cx="4937760" cy="231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rgbClr val="747480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rPr>
              <a:t>Confidential - Not to be shared with anyone except intended recipients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8CAA5232-566D-8D27-FC97-196046789D99}"/>
              </a:ext>
            </a:extLst>
          </p:cNvPr>
          <p:cNvSpPr txBox="1">
            <a:spLocks/>
          </p:cNvSpPr>
          <p:nvPr/>
        </p:nvSpPr>
        <p:spPr>
          <a:xfrm>
            <a:off x="6740944" y="2054436"/>
            <a:ext cx="4994042" cy="425028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rgbClr val="808080"/>
              </a:buClr>
              <a:buSzPct val="75000"/>
              <a:buFont typeface="Arial" panose="020B0604020202020204" pitchFamily="34" charset="0"/>
              <a:buNone/>
              <a:defRPr sz="10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182563" indent="-182563" algn="l" defTabSz="914400" rtl="0" eaLnBrk="1" latinLnBrk="0" hangingPunct="1">
              <a:spcBef>
                <a:spcPct val="20000"/>
              </a:spcBef>
              <a:buClr>
                <a:srgbClr val="808080"/>
              </a:buClr>
              <a:buSzPct val="75000"/>
              <a:buFont typeface="Arial" panose="020B0604020202020204" pitchFamily="34" charset="0"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82563" indent="-182563" algn="l" defTabSz="914400" rtl="0" eaLnBrk="1" latinLnBrk="0" hangingPunct="1">
              <a:spcBef>
                <a:spcPts val="300"/>
              </a:spcBef>
              <a:buClrTx/>
              <a:buSzPct val="75000"/>
              <a:buFont typeface="Arial" panose="020B0604020202020204" pitchFamily="34" charset="0"/>
              <a:buChar char="►"/>
              <a:tabLst/>
              <a:defRPr lang="en-US" sz="10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685800" indent="-171450" algn="l" defTabSz="914400" rtl="0" eaLnBrk="1" latinLnBrk="0" hangingPunct="1">
              <a:spcBef>
                <a:spcPct val="20000"/>
              </a:spcBef>
              <a:buClr>
                <a:srgbClr val="808080"/>
              </a:buClr>
              <a:buSzPct val="75000"/>
              <a:buFont typeface="Arial" panose="020B0604020202020204" pitchFamily="34" charset="0"/>
              <a:buChar char="►"/>
              <a:tabLst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857250" indent="-171450" algn="l" defTabSz="914400" rtl="0" eaLnBrk="1" latinLnBrk="0" hangingPunct="1">
              <a:spcBef>
                <a:spcPct val="20000"/>
              </a:spcBef>
              <a:buClr>
                <a:srgbClr val="808080"/>
              </a:buClr>
              <a:buSzPct val="75000"/>
              <a:buFont typeface="Arial" panose="020B0604020202020204" pitchFamily="34" charset="0"/>
              <a:buChar char="►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808080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Heads Faclon's AI and data-science team — the models behind its cement deployments in preheater, kiln and grinding, and its metals and power-plant work. IIT Kanpur, BS-MS Mathematics &amp; Scientific Computing; ex-Blue Yonder, Delhivery.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808080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1A1A24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  <a:p>
            <a:pPr marL="123825" marR="0" lvl="0" indent="-1238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Built Faclon's cyclone build-up severity model — differential pressure, temperatures, draft, O₂, raw-mix and fuel chemistry and kiln load combined into a live score that flags build-up 30–60 minutes ahead, with likely cause.</a:t>
            </a:r>
          </a:p>
          <a:p>
            <a:pPr marL="123825" marR="0" lvl="0" indent="-1238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1A1A24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  <a:p>
            <a:pPr marL="123825" marR="0" lvl="0" indent="-1238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Built the kiln models at JSW Cement Nandyal — kiln and coal mill fuel optimisation with operator-approved recommendations, alternative-fuel ratio optimisation — and the kiln heat-balance and SHC set-point application.</a:t>
            </a:r>
          </a:p>
          <a:p>
            <a:pPr marL="123825" marR="0" lvl="0" indent="-1238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1A1A24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  <a:p>
            <a:pPr marL="123825" marR="0" lvl="0" indent="-1238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Built the grinding analytics — root-cause analysis of high specific power in JSW Nandyal's raw and cement mills, kiln and mill operator scoring, and the grinding circuit optimiser (Blaine and residue via separator advice).</a:t>
            </a:r>
          </a:p>
          <a:p>
            <a:pPr marL="123825" marR="0" lvl="0" indent="-1238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1A1A24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  <a:p>
            <a:pPr marL="123825" marR="0" lvl="0" indent="-1238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Also built clinker C3S and strength prediction from kiln and raw-mix data, the per-kiln decision engine for MSP Steel's sponge-iron (DRI) kilns, and net-heat-rate models for captive power plants at Hindustan Zinc and Grasim.</a:t>
            </a:r>
          </a:p>
          <a:p>
            <a:pPr marL="123825" marR="0" lvl="0" indent="-1238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1A1A24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  <a:p>
            <a:pPr marL="123825" marR="0" lvl="0" indent="-1238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Leads development of Faclon's AI stack — DeepSense (model library, MLOps) and Bruce AI (agents with human-in-the-loop checks and guardrails) — used across 30+ productised industrial applications.</a:t>
            </a:r>
          </a:p>
        </p:txBody>
      </p:sp>
    </p:spTree>
    <p:extLst>
      <p:ext uri="{BB962C8B-B14F-4D97-AF65-F5344CB8AC3E}">
        <p14:creationId xmlns:p14="http://schemas.microsoft.com/office/powerpoint/2010/main" val="515127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4513D-1998-1DEC-ECD8-29B397AE3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3" name="think-cell data - do not delete" hidden="1">
            <a:extLst>
              <a:ext uri="{FF2B5EF4-FFF2-40B4-BE49-F238E27FC236}">
                <a16:creationId xmlns:a16="http://schemas.microsoft.com/office/drawing/2014/main" id="{650EEEC7-6DDB-F582-5AF6-2A3C5FD1B70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42" imgH="442" progId="TCLayout.ActiveDocument.1">
                  <p:embed/>
                </p:oleObj>
              </mc:Choice>
              <mc:Fallback>
                <p:oleObj name="think-cell Slide" r:id="rId4" imgW="442" imgH="442" progId="TCLayout.ActiveDocument.1">
                  <p:embed/>
                  <p:pic>
                    <p:nvPicPr>
                      <p:cNvPr id="18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50EEEC7-6DDB-F582-5AF6-2A3C5FD1B7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868E307-FF1C-7948-6DCA-D49F2BCD9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IN" sz="2000" dirty="0">
                <a:latin typeface="EYInterstate Light" panose="02000506000000020004" pitchFamily="2" charset="0"/>
              </a:rPr>
              <a:t>Select credentials demonstrating experience in cyclone jamming prediction, kiln heat balance / SHC optimisation and mill grinding optimisation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5AC058-EDE7-DDA0-BB76-9EF34056E975}"/>
              </a:ext>
            </a:extLst>
          </p:cNvPr>
          <p:cNvSpPr txBox="1"/>
          <p:nvPr/>
        </p:nvSpPr>
        <p:spPr>
          <a:xfrm>
            <a:off x="3627120" y="6640904"/>
            <a:ext cx="4937760" cy="231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rgbClr val="747480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rPr>
              <a:t>Confidential - Not to be shared with anyone except intended recipients</a:t>
            </a:r>
          </a:p>
        </p:txBody>
      </p:sp>
      <p:sp>
        <p:nvSpPr>
          <p:cNvPr id="1000" name="Credential card 1"/>
          <p:cNvSpPr/>
          <p:nvPr/>
        </p:nvSpPr>
        <p:spPr>
          <a:xfrm>
            <a:off x="610609" y="1280160"/>
            <a:ext cx="2556000" cy="2486000"/>
          </a:xfrm>
          <a:prstGeom prst="roundRect">
            <a:avLst>
              <a:gd name="adj" fmla="val 7446"/>
            </a:avLst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480000" rIns="72000" bIns="72000" rtlCol="0" anchor="t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JSW Cement – Preheater &amp; kiln</a:t>
            </a:r>
          </a:p>
          <a:p>
            <a:pPr marL="114300" marR="0" lvl="0" indent="-1143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"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  <a:sym typeface="Arial" panose="020B0604020202020204" pitchFamily="34" charset="0"/>
              </a:rPr>
              <a:t>Cyclone build-up severity index – 30–60 min early warning with corrective actions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  <a:sym typeface="Arial" panose="020B0604020202020204" pitchFamily="34" charset="0"/>
            </a:endParaRPr>
          </a:p>
          <a:p>
            <a:pPr marL="114300" marR="0" lvl="0" indent="-1143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"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  <a:sym typeface="Arial" panose="020B0604020202020204" pitchFamily="34" charset="0"/>
              </a:rPr>
              <a:t>Upsets down from 6 to 2 a year; availability +1.5%; ₹1.86 Cr/yr saved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  <a:sym typeface="Arial" panose="020B0604020202020204" pitchFamily="34" charset="0"/>
            </a:endParaRPr>
          </a:p>
          <a:p>
            <a:pPr marL="114300" marR="0" lvl="0" indent="-1143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"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  <a:sym typeface="Arial" panose="020B0604020202020204" pitchFamily="34" charset="0"/>
              </a:rPr>
              <a:t>Kiln &amp; coal mill fuel optimisation (operator-approved set-points); kiln SPC down ~10%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  <a:sym typeface="Arial" panose="020B0604020202020204" pitchFamily="34" charset="0"/>
            </a:endParaRPr>
          </a:p>
          <a:p>
            <a:pPr marL="114300" marR="0" lvl="0" indent="-1143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"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  <a:sym typeface="Arial" panose="020B0604020202020204" pitchFamily="34" charset="0"/>
              </a:rPr>
              <a:t>C3S prediction – variability down ~16%; kiln MTBF up ~9.5×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pic>
        <p:nvPicPr>
          <p:cNvPr id="1100" name="Faclon logo 1" descr="Faclon Labs"/>
          <p:cNvPicPr>
            <a:picLocks noChangeAspect="1"/>
          </p:cNvPicPr>
          <p:nvPr/>
        </p:nvPicPr>
        <p:blipFill>
          <a:blip r:embed="rIdFaclonLogo"/>
          <a:stretch>
            <a:fillRect/>
          </a:stretch>
        </p:blipFill>
        <p:spPr>
          <a:xfrm>
            <a:off x="729481" y="1389888"/>
            <a:ext cx="1183199" cy="246888"/>
          </a:xfrm>
          <a:prstGeom prst="rect">
            <a:avLst/>
          </a:prstGeom>
        </p:spPr>
      </p:pic>
      <p:sp>
        <p:nvSpPr>
          <p:cNvPr id="1001" name="Credential card 2"/>
          <p:cNvSpPr/>
          <p:nvPr/>
        </p:nvSpPr>
        <p:spPr>
          <a:xfrm>
            <a:off x="3407393" y="1280160"/>
            <a:ext cx="2556000" cy="2486000"/>
          </a:xfrm>
          <a:prstGeom prst="roundRect">
            <a:avLst>
              <a:gd name="adj" fmla="val 7446"/>
            </a:avLst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480000" rIns="72000" bIns="72000" rtlCol="0" anchor="t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JSW Cement – Mills &amp; energy</a:t>
            </a:r>
          </a:p>
          <a:p>
            <a:pPr marL="114300" marR="0" lvl="0" indent="-1143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"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  <a:sym typeface="Arial" panose="020B0604020202020204" pitchFamily="34" charset="0"/>
              </a:rPr>
              <a:t>Specific-power root-cause analysis for raw and cement mills – RCA in hours, not days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  <a:sym typeface="Arial" panose="020B0604020202020204" pitchFamily="34" charset="0"/>
            </a:endParaRPr>
          </a:p>
          <a:p>
            <a:pPr marL="114300" marR="0" lvl="0" indent="-1143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"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  <a:sym typeface="Arial" panose="020B0604020202020204" pitchFamily="34" charset="0"/>
              </a:rPr>
              <a:t>Raw mill: SPC down 9–10%, maintenance cost down 52%, MTBF up 5–7×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  <a:sym typeface="Arial" panose="020B0604020202020204" pitchFamily="34" charset="0"/>
            </a:endParaRPr>
          </a:p>
          <a:p>
            <a:pPr marL="114300" marR="0" lvl="0" indent="-1143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"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  <a:sym typeface="Arial" panose="020B0604020202020204" pitchFamily="34" charset="0"/>
              </a:rPr>
              <a:t>Plant energy platform on DCS, meter, lab and SAP data – ₹1.2–2.7 Cr/yr energy saved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  <a:sym typeface="Arial" panose="020B0604020202020204" pitchFamily="34" charset="0"/>
            </a:endParaRPr>
          </a:p>
          <a:p>
            <a:pPr marL="114300" marR="0" lvl="0" indent="-1143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"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  <a:sym typeface="Arial" panose="020B0604020202020204" pitchFamily="34" charset="0"/>
              </a:rPr>
              <a:t>AI demand forecasting for power booking; ₹4–5 Cr/yr plant savings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pic>
        <p:nvPicPr>
          <p:cNvPr id="1101" name="Faclon logo 2" descr="Faclon Labs"/>
          <p:cNvPicPr>
            <a:picLocks noChangeAspect="1"/>
          </p:cNvPicPr>
          <p:nvPr/>
        </p:nvPicPr>
        <p:blipFill>
          <a:blip r:embed="rIdFaclonLogo"/>
          <a:stretch>
            <a:fillRect/>
          </a:stretch>
        </p:blipFill>
        <p:spPr>
          <a:xfrm>
            <a:off x="3526265" y="1389888"/>
            <a:ext cx="1183199" cy="246888"/>
          </a:xfrm>
          <a:prstGeom prst="rect">
            <a:avLst/>
          </a:prstGeom>
        </p:spPr>
      </p:pic>
      <p:sp>
        <p:nvSpPr>
          <p:cNvPr id="1002" name="Credential card 3"/>
          <p:cNvSpPr/>
          <p:nvPr/>
        </p:nvSpPr>
        <p:spPr>
          <a:xfrm>
            <a:off x="6204177" y="1280160"/>
            <a:ext cx="2556000" cy="2486000"/>
          </a:xfrm>
          <a:prstGeom prst="roundRect">
            <a:avLst>
              <a:gd name="adj" fmla="val 7446"/>
            </a:avLst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480000" rIns="72000" bIns="72000" rtlCol="0" anchor="t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UltraTech Cement</a:t>
            </a:r>
          </a:p>
          <a:p>
            <a:pPr marL="114300" marR="0" lvl="0" indent="-1143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"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  <a:sym typeface="Arial" panose="020B0604020202020204" pitchFamily="34" charset="0"/>
              </a:rPr>
              <a:t>Plant energy &amp; PowerMix management across 13 plants on one template – 800+ meters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  <a:sym typeface="Arial" panose="020B0604020202020204" pitchFamily="34" charset="0"/>
            </a:endParaRPr>
          </a:p>
          <a:p>
            <a:pPr marL="114300" marR="0" lvl="0" indent="-1143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"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  <a:sym typeface="Arial" panose="020B0604020202020204" pitchFamily="34" charset="0"/>
              </a:rPr>
              <a:t>Busbar thermal monitoring on 47 critical HT joints – overheat caught before failure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  <a:sym typeface="Arial" panose="020B0604020202020204" pitchFamily="34" charset="0"/>
            </a:endParaRPr>
          </a:p>
          <a:p>
            <a:pPr marL="114300" marR="0" lvl="0" indent="-1143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"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  <a:sym typeface="Arial" panose="020B0604020202020204" pitchFamily="34" charset="0"/>
              </a:rPr>
              <a:t>Digital Logbook &amp; Safety at Awarpur – 300 users, 15 departments, 1,000+ incidents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  <a:sym typeface="Arial" panose="020B0604020202020204" pitchFamily="34" charset="0"/>
            </a:endParaRPr>
          </a:p>
          <a:p>
            <a:pPr marL="114300" marR="0" lvl="0" indent="-1143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"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  <a:sym typeface="Arial" panose="020B0604020202020204" pitchFamily="34" charset="0"/>
              </a:rPr>
              <a:t>Solar generation monitoring across the cluster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pic>
        <p:nvPicPr>
          <p:cNvPr id="1102" name="Faclon logo 3" descr="Faclon Labs"/>
          <p:cNvPicPr>
            <a:picLocks noChangeAspect="1"/>
          </p:cNvPicPr>
          <p:nvPr/>
        </p:nvPicPr>
        <p:blipFill>
          <a:blip r:embed="rIdFaclonLogo"/>
          <a:stretch>
            <a:fillRect/>
          </a:stretch>
        </p:blipFill>
        <p:spPr>
          <a:xfrm>
            <a:off x="6323049" y="1389888"/>
            <a:ext cx="1183199" cy="246888"/>
          </a:xfrm>
          <a:prstGeom prst="rect">
            <a:avLst/>
          </a:prstGeom>
        </p:spPr>
      </p:pic>
      <p:sp>
        <p:nvSpPr>
          <p:cNvPr id="1003" name="Credential card 4"/>
          <p:cNvSpPr/>
          <p:nvPr/>
        </p:nvSpPr>
        <p:spPr>
          <a:xfrm>
            <a:off x="9000962" y="1280160"/>
            <a:ext cx="2556000" cy="2486000"/>
          </a:xfrm>
          <a:prstGeom prst="roundRect">
            <a:avLst>
              <a:gd name="adj" fmla="val 7446"/>
            </a:avLst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480000" rIns="72000" bIns="72000" rtlCol="0" anchor="t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Grasim (Aditya Birla Group)</a:t>
            </a:r>
          </a:p>
          <a:p>
            <a:pPr marL="114300" marR="0" lvl="0" indent="-1143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"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  <a:sym typeface="Arial" panose="020B0604020202020204" pitchFamily="34" charset="0"/>
              </a:rPr>
              <a:t>Energy management across 4 plants on the group's cloud – 2,500+ meters, 200+ users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  <a:sym typeface="Arial" panose="020B0604020202020204" pitchFamily="34" charset="0"/>
            </a:endParaRPr>
          </a:p>
          <a:p>
            <a:pPr marL="114300" marR="0" lvl="0" indent="-1143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"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  <a:sym typeface="Arial" panose="020B0604020202020204" pitchFamily="34" charset="0"/>
              </a:rPr>
              <a:t>AI benchmarking and SEC prediction – ₹10 Cr savings identified, payback under 1 year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  <a:sym typeface="Arial" panose="020B0604020202020204" pitchFamily="34" charset="0"/>
            </a:endParaRPr>
          </a:p>
          <a:p>
            <a:pPr marL="114300" marR="0" lvl="0" indent="-1143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"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  <a:sym typeface="Arial" panose="020B0604020202020204" pitchFamily="34" charset="0"/>
              </a:rPr>
              <a:t>Steam-trap, vibration (100+), VFD (200+) and busbar (100+) health monitoring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  <a:sym typeface="Arial" panose="020B0604020202020204" pitchFamily="34" charset="0"/>
            </a:endParaRPr>
          </a:p>
          <a:p>
            <a:pPr marL="114300" marR="0" lvl="0" indent="-1143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"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  <a:sym typeface="Arial" panose="020B0604020202020204" pitchFamily="34" charset="0"/>
              </a:rPr>
              <a:t>AI net-heat-rate reduction for the 175 MW captive power plant (in progress)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pic>
        <p:nvPicPr>
          <p:cNvPr id="1103" name="Faclon logo 4" descr="Faclon Labs"/>
          <p:cNvPicPr>
            <a:picLocks noChangeAspect="1"/>
          </p:cNvPicPr>
          <p:nvPr/>
        </p:nvPicPr>
        <p:blipFill>
          <a:blip r:embed="rIdFaclonLogo"/>
          <a:stretch>
            <a:fillRect/>
          </a:stretch>
        </p:blipFill>
        <p:spPr>
          <a:xfrm>
            <a:off x="9119834" y="1389888"/>
            <a:ext cx="1183199" cy="246888"/>
          </a:xfrm>
          <a:prstGeom prst="rect">
            <a:avLst/>
          </a:prstGeom>
        </p:spPr>
      </p:pic>
      <p:sp>
        <p:nvSpPr>
          <p:cNvPr id="1004" name="Credential card 5"/>
          <p:cNvSpPr/>
          <p:nvPr/>
        </p:nvSpPr>
        <p:spPr>
          <a:xfrm>
            <a:off x="610609" y="3877000"/>
            <a:ext cx="2556000" cy="2486000"/>
          </a:xfrm>
          <a:prstGeom prst="roundRect">
            <a:avLst>
              <a:gd name="adj" fmla="val 7446"/>
            </a:avLst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480000" rIns="72000" bIns="72000" rtlCol="0" anchor="t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Dalmia Bharat Cement</a:t>
            </a:r>
          </a:p>
          <a:p>
            <a:pPr marL="114300" marR="0" lvl="0" indent="-1143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"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  <a:sym typeface="Arial" panose="020B0604020202020204" pitchFamily="34" charset="0"/>
              </a:rPr>
              <a:t>Multi-plant energy management system – 300 energy meters on one platform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  <a:sym typeface="Arial" panose="020B0604020202020204" pitchFamily="34" charset="0"/>
            </a:endParaRPr>
          </a:p>
          <a:p>
            <a:pPr marL="114300" marR="0" lvl="0" indent="-1143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"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  <a:sym typeface="Arial" panose="020B0604020202020204" pitchFamily="34" charset="0"/>
              </a:rPr>
              <a:t>Energy accountability down to PCC and equipment level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pic>
        <p:nvPicPr>
          <p:cNvPr id="1104" name="Faclon logo 5" descr="Faclon Labs"/>
          <p:cNvPicPr>
            <a:picLocks noChangeAspect="1"/>
          </p:cNvPicPr>
          <p:nvPr/>
        </p:nvPicPr>
        <p:blipFill>
          <a:blip r:embed="rIdFaclonLogo"/>
          <a:stretch>
            <a:fillRect/>
          </a:stretch>
        </p:blipFill>
        <p:spPr>
          <a:xfrm>
            <a:off x="729481" y="3986728"/>
            <a:ext cx="1183199" cy="246888"/>
          </a:xfrm>
          <a:prstGeom prst="rect">
            <a:avLst/>
          </a:prstGeom>
        </p:spPr>
      </p:pic>
      <p:sp>
        <p:nvSpPr>
          <p:cNvPr id="1005" name="Credential card 6"/>
          <p:cNvSpPr/>
          <p:nvPr/>
        </p:nvSpPr>
        <p:spPr>
          <a:xfrm>
            <a:off x="3407393" y="3877000"/>
            <a:ext cx="2556000" cy="2486000"/>
          </a:xfrm>
          <a:prstGeom prst="roundRect">
            <a:avLst>
              <a:gd name="adj" fmla="val 7446"/>
            </a:avLst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480000" rIns="72000" bIns="72000" rtlCol="0" anchor="t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MSP Steel – DRI kilns</a:t>
            </a:r>
          </a:p>
          <a:p>
            <a:pPr marL="114300" marR="0" lvl="0" indent="-1143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"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  <a:sym typeface="Arial" panose="020B0604020202020204" pitchFamily="34" charset="0"/>
              </a:rPr>
              <a:t>Kiln AI model and digital twin on DCS, lab and asset-health data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  <a:sym typeface="Arial" panose="020B0604020202020204" pitchFamily="34" charset="0"/>
            </a:endParaRPr>
          </a:p>
          <a:p>
            <a:pPr marL="114300" marR="0" lvl="0" indent="-1143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"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  <a:sym typeface="Arial" panose="020B0604020202020204" pitchFamily="34" charset="0"/>
              </a:rPr>
              <a:t>Live stability, efficiency and quality indices for every kiln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  <a:sym typeface="Arial" panose="020B0604020202020204" pitchFamily="34" charset="0"/>
            </a:endParaRPr>
          </a:p>
          <a:p>
            <a:pPr marL="114300" marR="0" lvl="0" indent="-1143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"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  <a:sym typeface="Arial" panose="020B0604020202020204" pitchFamily="34" charset="0"/>
              </a:rPr>
              <a:t>Per-kiln decision engine – Increase / Maintain / Reduce guidance for operators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  <a:sym typeface="Arial" panose="020B0604020202020204" pitchFamily="34" charset="0"/>
            </a:endParaRPr>
          </a:p>
          <a:p>
            <a:pPr marL="114300" marR="0" lvl="0" indent="-1143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"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  <a:sym typeface="Arial" panose="020B0604020202020204" pitchFamily="34" charset="0"/>
              </a:rPr>
              <a:t>Early alerts for accretion risk – longer campaign life, fewer unplanned stoppages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pic>
        <p:nvPicPr>
          <p:cNvPr id="1105" name="Faclon logo 6" descr="Faclon Labs"/>
          <p:cNvPicPr>
            <a:picLocks noChangeAspect="1"/>
          </p:cNvPicPr>
          <p:nvPr/>
        </p:nvPicPr>
        <p:blipFill>
          <a:blip r:embed="rIdFaclonLogo"/>
          <a:stretch>
            <a:fillRect/>
          </a:stretch>
        </p:blipFill>
        <p:spPr>
          <a:xfrm>
            <a:off x="3526265" y="3986728"/>
            <a:ext cx="1183199" cy="246888"/>
          </a:xfrm>
          <a:prstGeom prst="rect">
            <a:avLst/>
          </a:prstGeom>
        </p:spPr>
      </p:pic>
      <p:sp>
        <p:nvSpPr>
          <p:cNvPr id="1006" name="Credential card 7"/>
          <p:cNvSpPr/>
          <p:nvPr/>
        </p:nvSpPr>
        <p:spPr>
          <a:xfrm>
            <a:off x="6204177" y="3877000"/>
            <a:ext cx="2556000" cy="2486000"/>
          </a:xfrm>
          <a:prstGeom prst="roundRect">
            <a:avLst>
              <a:gd name="adj" fmla="val 7446"/>
            </a:avLst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480000" rIns="72000" bIns="72000" rtlCol="0" anchor="t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Hindustan Zinc</a:t>
            </a:r>
          </a:p>
          <a:p>
            <a:pPr marL="114300" marR="0" lvl="0" indent="-1143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"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  <a:sym typeface="Arial" panose="020B0604020202020204" pitchFamily="34" charset="0"/>
              </a:rPr>
              <a:t>Zawar 91 MW captive power plant – AI for auxiliary power and net heat rate (target 1 pp cut)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  <a:sym typeface="Arial" panose="020B0604020202020204" pitchFamily="34" charset="0"/>
            </a:endParaRPr>
          </a:p>
          <a:p>
            <a:pPr marL="114300" marR="0" lvl="0" indent="-1143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"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  <a:sym typeface="Arial" panose="020B0604020202020204" pitchFamily="34" charset="0"/>
              </a:rPr>
              <a:t>Cell-house monitoring across 66 cells; scaling to 330 cells across 3 plants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  <a:sym typeface="Arial" panose="020B0604020202020204" pitchFamily="34" charset="0"/>
            </a:endParaRPr>
          </a:p>
          <a:p>
            <a:pPr marL="114300" marR="0" lvl="0" indent="-1143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"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  <a:sym typeface="Arial" panose="020B0604020202020204" pitchFamily="34" charset="0"/>
              </a:rPr>
              <a:t>Vision AI on three conveyor systems – fault, misalignment and spillage detection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pic>
        <p:nvPicPr>
          <p:cNvPr id="1106" name="Faclon logo 7" descr="Faclon Labs"/>
          <p:cNvPicPr>
            <a:picLocks noChangeAspect="1"/>
          </p:cNvPicPr>
          <p:nvPr/>
        </p:nvPicPr>
        <p:blipFill>
          <a:blip r:embed="rIdFaclonLogo"/>
          <a:stretch>
            <a:fillRect/>
          </a:stretch>
        </p:blipFill>
        <p:spPr>
          <a:xfrm>
            <a:off x="6323049" y="3986728"/>
            <a:ext cx="1183199" cy="246888"/>
          </a:xfrm>
          <a:prstGeom prst="rect">
            <a:avLst/>
          </a:prstGeom>
        </p:spPr>
      </p:pic>
      <p:sp>
        <p:nvSpPr>
          <p:cNvPr id="1007" name="Credential card 8"/>
          <p:cNvSpPr/>
          <p:nvPr/>
        </p:nvSpPr>
        <p:spPr>
          <a:xfrm>
            <a:off x="9000962" y="3877000"/>
            <a:ext cx="2556000" cy="2486000"/>
          </a:xfrm>
          <a:prstGeom prst="roundRect">
            <a:avLst>
              <a:gd name="adj" fmla="val 7446"/>
            </a:avLst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480000" rIns="72000" bIns="72000" rtlCol="0" anchor="t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JSW Energy</a:t>
            </a:r>
          </a:p>
          <a:p>
            <a:pPr marL="114300" marR="0" lvl="0" indent="-1143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"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  <a:sym typeface="Arial" panose="020B0604020202020204" pitchFamily="34" charset="0"/>
              </a:rPr>
              <a:t>Predictive maintenance across five power plants – 1,000+ vibration sensors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  <a:sym typeface="Arial" panose="020B0604020202020204" pitchFamily="34" charset="0"/>
            </a:endParaRPr>
          </a:p>
          <a:p>
            <a:pPr marL="114300" marR="0" lvl="0" indent="-1143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"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  <a:sym typeface="Arial" panose="020B0604020202020204" pitchFamily="34" charset="0"/>
              </a:rPr>
              <a:t>15+ critical failures detected early; less unplanned downtime and maintenance cost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  <a:sym typeface="Arial" panose="020B0604020202020204" pitchFamily="34" charset="0"/>
            </a:endParaRPr>
          </a:p>
          <a:p>
            <a:pPr marL="114300" marR="0" lvl="0" indent="-1143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"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  <a:sym typeface="Arial" panose="020B0604020202020204" pitchFamily="34" charset="0"/>
              </a:rPr>
              <a:t>₹1.3 Cr savings over two years, validated by the client's finance team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2E2E38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pic>
        <p:nvPicPr>
          <p:cNvPr id="1107" name="Faclon logo 8" descr="Faclon Labs"/>
          <p:cNvPicPr>
            <a:picLocks noChangeAspect="1"/>
          </p:cNvPicPr>
          <p:nvPr/>
        </p:nvPicPr>
        <p:blipFill>
          <a:blip r:embed="rIdFaclonLogo"/>
          <a:stretch>
            <a:fillRect/>
          </a:stretch>
        </p:blipFill>
        <p:spPr>
          <a:xfrm>
            <a:off x="9119834" y="3986728"/>
            <a:ext cx="1183199" cy="246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293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AE649-85BA-FE8D-3B8D-DBD111D5F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62E82-CA95-CFEE-306F-87C0B07E3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IN">
                <a:latin typeface="+mn-lt"/>
              </a:rPr>
              <a:t>Team</a:t>
            </a:r>
            <a:r>
              <a:rPr lang="en-IN" sz="2000">
                <a:latin typeface="+mn-lt"/>
              </a:rPr>
              <a:t xml:space="preserve"> Profiles</a:t>
            </a:r>
          </a:p>
        </p:txBody>
      </p:sp>
      <p:sp>
        <p:nvSpPr>
          <p:cNvPr id="5" name="sectionheader_6390563771364972991" descr="Super Headline">
            <a:extLst>
              <a:ext uri="{FF2B5EF4-FFF2-40B4-BE49-F238E27FC236}">
                <a16:creationId xmlns:a16="http://schemas.microsoft.com/office/drawing/2014/main" id="{B80BF9F4-AD73-63C5-F26C-CB90E0FE8891}"/>
              </a:ext>
            </a:extLst>
          </p:cNvPr>
          <p:cNvSpPr txBox="1"/>
          <p:nvPr/>
        </p:nvSpPr>
        <p:spPr>
          <a:xfrm>
            <a:off x="498293" y="77800"/>
            <a:ext cx="923843" cy="15696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Tx/>
              <a:buSzPct val="75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A9AFA"/>
                </a:solidFill>
                <a:effectLst/>
                <a:uLnTx/>
                <a:uFillTx/>
                <a:latin typeface="EYInterstate Light"/>
                <a:ea typeface="+mn-ea"/>
                <a:cs typeface="Arial" panose="020B0604020202020204" pitchFamily="34" charset="0"/>
              </a:rPr>
              <a:t>Team profiles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5EE642D-CCB8-8BDE-1FBE-C4CA3122DE9E}"/>
              </a:ext>
            </a:extLst>
          </p:cNvPr>
          <p:cNvSpPr txBox="1">
            <a:spLocks/>
          </p:cNvSpPr>
          <p:nvPr/>
        </p:nvSpPr>
        <p:spPr>
          <a:xfrm>
            <a:off x="511069" y="1134279"/>
            <a:ext cx="4983882" cy="74535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179906" tIns="71963" rIns="71963" bIns="71963" anchor="ctr" anchorCtr="0">
            <a:noAutofit/>
          </a:bodyPr>
          <a:lstStyle>
            <a:lvl1pPr marL="0" indent="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808080"/>
              </a:buClr>
              <a:buSzPct val="75000"/>
              <a:buFont typeface="Arial" pitchFamily="34" charset="0"/>
              <a:buNone/>
              <a:defRPr lang="en-US" sz="900" kern="1200" baseline="0" dirty="0" smtClean="0">
                <a:solidFill>
                  <a:srgbClr val="5A5B5D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808080"/>
              </a:buClr>
              <a:buSzPct val="75000"/>
              <a:buFont typeface="Arial" pitchFamily="34" charset="0"/>
              <a:buNone/>
              <a:defRPr lang="en-US" sz="900" kern="1200" dirty="0" smtClean="0">
                <a:solidFill>
                  <a:srgbClr val="5A5B5D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808080"/>
              </a:buClr>
              <a:buSzPct val="75000"/>
              <a:buFont typeface="Arial" pitchFamily="34" charset="0"/>
              <a:buNone/>
              <a:tabLst/>
              <a:defRPr lang="en-US" sz="900" kern="1200" dirty="0" smtClean="0">
                <a:solidFill>
                  <a:srgbClr val="5A5B5D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808080"/>
              </a:buClr>
              <a:buSzPct val="75000"/>
              <a:buFont typeface="Arial" pitchFamily="34" charset="0"/>
              <a:buNone/>
              <a:tabLst/>
              <a:defRPr lang="en-US" sz="900" kern="1200" dirty="0" smtClean="0">
                <a:solidFill>
                  <a:srgbClr val="5A5B5D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808080"/>
              </a:buClr>
              <a:buSzPct val="75000"/>
              <a:buFont typeface="Arial" pitchFamily="34" charset="0"/>
              <a:buNone/>
              <a:defRPr lang="en-US" sz="900" kern="1200" dirty="0">
                <a:solidFill>
                  <a:srgbClr val="5A5B5D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08080"/>
              </a:buClr>
              <a:buSzPct val="75000"/>
              <a:buFont typeface="Arial" pitchFamily="34" charset="0"/>
              <a:buNone/>
              <a:tabLst/>
              <a:defRPr/>
            </a:pPr>
            <a:r>
              <a:rPr lang="en-US" sz="1400" b="1" dirty="0">
                <a:solidFill>
                  <a:srgbClr val="FFFFFF"/>
                </a:solidFill>
              </a:rPr>
              <a:t>Vijay Kumar Komaragiri</a:t>
            </a:r>
          </a:p>
          <a:p>
            <a:pPr lvl="0">
              <a:spcBef>
                <a:spcPts val="0"/>
              </a:spcBef>
              <a:defRPr/>
            </a:pPr>
            <a:r>
              <a:rPr lang="en-IN" sz="1000" b="1" dirty="0">
                <a:solidFill>
                  <a:schemeClr val="bg2"/>
                </a:solidFill>
              </a:rPr>
              <a:t>CEMENT PROCESS SME – ADVISOR, FACLON LABS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FD208CD-C76C-0614-FF16-969DD494365B}"/>
              </a:ext>
            </a:extLst>
          </p:cNvPr>
          <p:cNvSpPr txBox="1">
            <a:spLocks/>
          </p:cNvSpPr>
          <p:nvPr/>
        </p:nvSpPr>
        <p:spPr>
          <a:xfrm>
            <a:off x="514379" y="2054436"/>
            <a:ext cx="4994042" cy="425028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rgbClr val="808080"/>
              </a:buClr>
              <a:buSzPct val="75000"/>
              <a:buFont typeface="Arial" panose="020B0604020202020204" pitchFamily="34" charset="0"/>
              <a:buNone/>
              <a:defRPr sz="10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182563" indent="-182563" algn="l" defTabSz="914400" rtl="0" eaLnBrk="1" latinLnBrk="0" hangingPunct="1">
              <a:spcBef>
                <a:spcPct val="20000"/>
              </a:spcBef>
              <a:buClr>
                <a:srgbClr val="808080"/>
              </a:buClr>
              <a:buSzPct val="75000"/>
              <a:buFont typeface="Arial" panose="020B0604020202020204" pitchFamily="34" charset="0"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82563" indent="-182563" algn="l" defTabSz="914400" rtl="0" eaLnBrk="1" latinLnBrk="0" hangingPunct="1">
              <a:spcBef>
                <a:spcPts val="300"/>
              </a:spcBef>
              <a:buClrTx/>
              <a:buSzPct val="75000"/>
              <a:buFont typeface="Arial" panose="020B0604020202020204" pitchFamily="34" charset="0"/>
              <a:buChar char="►"/>
              <a:tabLst/>
              <a:defRPr lang="en-US" sz="1000" kern="1200" baseline="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685800" indent="-171450" algn="l" defTabSz="914400" rtl="0" eaLnBrk="1" latinLnBrk="0" hangingPunct="1">
              <a:spcBef>
                <a:spcPct val="20000"/>
              </a:spcBef>
              <a:buClr>
                <a:srgbClr val="808080"/>
              </a:buClr>
              <a:buSzPct val="75000"/>
              <a:buFont typeface="Arial" panose="020B0604020202020204" pitchFamily="34" charset="0"/>
              <a:buChar char="►"/>
              <a:tabLst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857250" indent="-171450" algn="l" defTabSz="914400" rtl="0" eaLnBrk="1" latinLnBrk="0" hangingPunct="1">
              <a:spcBef>
                <a:spcPct val="20000"/>
              </a:spcBef>
              <a:buClr>
                <a:srgbClr val="808080"/>
              </a:buClr>
              <a:buSzPct val="75000"/>
              <a:buFont typeface="Arial" panose="020B0604020202020204" pitchFamily="34" charset="0"/>
              <a:buChar char="►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808080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30+ years in cement with ACC, Blue Circle, Lafarge and LafargeHolcim in India and Yanbu Cement in Saudi Arabia — from process engineering, projects and technical support to business-unit and country leadership. M.Tech, IIT Kharagpur.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808080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1A1A24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  <a:p>
            <a:pPr marL="123825" marR="0" lvl="0" indent="-1238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Plant process experience across pyro (preheater, kiln, cooler) and grinding (raw and cement mills) — the areas behind the cyclone jamming, kiln heat balance and ball mill use cases — with a focus on process optimisation.</a:t>
            </a:r>
          </a:p>
          <a:p>
            <a:pPr marL="123825" marR="0" lvl="0" indent="-1238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1A1A24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  <a:p>
            <a:pPr marL="123825" marR="0" lvl="0" indent="-1238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On Faclon's cement AI programmes, defines and validates the process mechanisms and signatures the models must capture — cyclone build-up, kiln heat balance, mill stability — and flags what cannot be predicted.</a:t>
            </a:r>
          </a:p>
          <a:p>
            <a:pPr marL="123825" marR="0" lvl="0" indent="-1238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1A1A24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  <a:p>
            <a:pPr marL="123825" marR="0" lvl="0" indent="-1238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Leads root-cause analysis, operating recommendations and SME workshops with plant operations teams, so that model outputs are checked against plant practice.</a:t>
            </a:r>
          </a:p>
          <a:p>
            <a:pPr marL="123825" marR="0" lvl="0" indent="-1238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1A1A24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  <a:p>
            <a:pPr marL="123825" marR="0" lvl="0" indent="-1238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Led the implementation of the global LafargeHolcim Cement Industrial Operational Framework across 15 ACC plants and its integration with talent, performance and career-path management.</a:t>
            </a:r>
          </a:p>
          <a:p>
            <a:pPr marL="123825" marR="0" lvl="0" indent="-1238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1A1A24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  <a:p>
            <a:pPr marL="123825" marR="0" lvl="0" indent="-1238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1A9AFA"/>
              </a:buClr>
              <a:buSzPct val="75000"/>
              <a:buFont typeface="Wingdings 3" panose="05040102010807070707" pitchFamily="18" charset="2"/>
              <a:buChar char=""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Responsible for identifying and implementing digitisation initiatives with LafargeHolcim's regional technical and IT centres — plant-side experience of what digital tools must do to be adopted by operations teams.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275723-C6FD-4252-BB53-8CC5831A314D}"/>
              </a:ext>
            </a:extLst>
          </p:cNvPr>
          <p:cNvSpPr txBox="1"/>
          <p:nvPr/>
        </p:nvSpPr>
        <p:spPr>
          <a:xfrm>
            <a:off x="3627120" y="6640904"/>
            <a:ext cx="4937760" cy="231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rgbClr val="747480"/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rPr>
              <a:t>Confidential - Not to be shared with anyone except intended recipients</a:t>
            </a:r>
          </a:p>
        </p:txBody>
      </p:sp>
    </p:spTree>
    <p:extLst>
      <p:ext uri="{BB962C8B-B14F-4D97-AF65-F5344CB8AC3E}">
        <p14:creationId xmlns:p14="http://schemas.microsoft.com/office/powerpoint/2010/main" val="51512720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k9g.6aq00WkbNTDofa0y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1893</TotalTime>
  <Words>414</Words>
  <Application>Microsoft Macintosh PowerPoint</Application>
  <PresentationFormat>Widescreen</PresentationFormat>
  <Paragraphs>38</Paragraphs>
  <Slides>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EYInterstate Light</vt:lpstr>
      <vt:lpstr>Wingdings 3</vt:lpstr>
      <vt:lpstr>Office Theme</vt:lpstr>
      <vt:lpstr>think-cell Slide</vt:lpstr>
      <vt:lpstr>SME Profiles</vt:lpstr>
      <vt:lpstr>Select credentials demonstrating experience in heat balance, SCH optimisation, cement processing optimisation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Prasad Chaure</dc:creator>
  <cp:lastModifiedBy>Prasad Chaure</cp:lastModifiedBy>
  <cp:revision>2</cp:revision>
  <dcterms:created xsi:type="dcterms:W3CDTF">2026-09-21T02:56:11Z</dcterms:created>
  <dcterms:modified xsi:type="dcterms:W3CDTF">2026-09-22T10:29:43Z</dcterms:modified>
</cp:coreProperties>
</file>