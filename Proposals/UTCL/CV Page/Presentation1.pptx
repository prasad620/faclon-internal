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82" r:id="rId2"/>
    <p:sldId id="214748362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E12F55-5DBC-CA43-ACA4-38D642E2432B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D1F283-AE27-DC47-A4C1-ECD908EC8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4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8D464-D50E-F8EC-AA7A-74B086083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06518E-EC25-6697-6BAC-0B39EB8C6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228DD1-F7C2-E6EC-5B7D-F1CA98066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16E9A-78C0-7A49-D853-1886D010A0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43D19E-BFDB-4C92-8EDD-32EDDA8F41DF}" type="slidenum">
              <a:rPr kumimoji="0" lang="en-GB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7165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78C08-B2A7-D78F-824A-A77A2838D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37239-4EA9-9816-1802-64B6F4E9D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495AC9-81EC-EA6C-125D-8E1606EBF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09C22-AA9F-9C8E-64FF-EF003D7A8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43D19E-BFDB-4C92-8EDD-32EDDA8F41DF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929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DBA98-3B84-E8A5-1100-2EA4F8EDB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40666A-9C42-4FFF-2E55-0F6F17E0E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49DB8-D77E-0F55-FEF1-708752200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9B2C-788F-A343-ACFB-6E009B9E686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3CD00-9A89-1988-47AC-3E449D93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F817B-9654-523A-CA5C-D07502214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E2724-3579-CF45-96C8-4CB2D1CDD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880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E1E6F-AAAB-AC6A-06F0-FC9AC6A29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50A6A-43ED-C97F-198B-BE46623DB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C73D7-A15F-2B43-0199-76CC60D75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9B2C-788F-A343-ACFB-6E009B9E686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1B248-3AF7-2E4C-B97C-C6FE5373F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F09B3-9A68-0099-4CCE-75610C823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E2724-3579-CF45-96C8-4CB2D1CDD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859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9AC71-3169-FBB1-BACD-5BE331A8E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682AE-C5B8-C705-EBF2-35D47CF1B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44D5A-34DA-6169-757A-60BD3B388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9B2C-788F-A343-ACFB-6E009B9E686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A5C99-66F4-4580-F1BD-649AB48AC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4B697-57EE-DB97-735F-A31F89883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E2724-3579-CF45-96C8-4CB2D1CDD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030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5DDD2-E99A-1C08-D84D-76C329CFB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F79FB-B85A-3B3D-D759-4CE825DBBF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0B81C5-07B0-8979-1867-A1479983B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4C24F-96C1-E85D-A88A-4A177A5E8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9B2C-788F-A343-ACFB-6E009B9E686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A1065-2F80-398C-DF0D-245E414D9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F248E-5791-72AF-1656-973032F6A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E2724-3579-CF45-96C8-4CB2D1CDD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768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F142E-6355-AAA3-BFC2-6014A2F56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C0385-A349-40F0-EB8C-10F255F62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0EA1C7-DB8C-8DB1-543E-D4539FEDF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6927B9-38C3-AC7E-4465-AB9EAE487F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175C8A-C0EB-E823-80CC-AFD1E73F26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7D0956-9D0E-C7B1-4876-2CF0376C3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9B2C-788F-A343-ACFB-6E009B9E686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224A8D-EA45-7146-0D33-27114FDB4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7F7823-710D-4A8D-673C-38EFCBBF1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E2724-3579-CF45-96C8-4CB2D1CDD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99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CB587-71E2-4C0B-A7DF-578B22E53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82058F-7F98-6A85-6308-419964960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9B2C-788F-A343-ACFB-6E009B9E686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C50327-F510-264F-F804-3E21E32CB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5E528-EEC1-DDD9-CCD2-D92F78A17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E2724-3579-CF45-96C8-4CB2D1CDD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314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E476BB-6E16-3DC6-E621-CF86CE61E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9B2C-788F-A343-ACFB-6E009B9E686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F24794-7545-38A5-C94C-1D018EA11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24975-F3AB-CB6D-D205-322975824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E2724-3579-CF45-96C8-4CB2D1CDD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31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9F6D1-B5D8-95BD-B765-6A428912D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E193D-4CF0-5A74-E8B2-EBB2AC39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FC8C6-F635-B0E6-7051-714749A93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8818B6-6F65-7D0F-19F1-02545E260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9B2C-788F-A343-ACFB-6E009B9E686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BCA86A-1B1B-015E-8422-A34FD57DC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326D63-BDBD-FE61-E4F1-BBD0A2F83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E2724-3579-CF45-96C8-4CB2D1CDD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645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CEEF7-6AC8-9785-23CF-FB8B3A2F5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B982D2-325B-00DA-9F4F-8AC40635CC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2A6746-D68A-ACA9-5D80-2D04F925F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D7300-D1AE-0DCA-3B3A-45FF48E9F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9B2C-788F-A343-ACFB-6E009B9E686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EF975-EB90-FDCA-05DA-C0297EE30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9D6207-5EB9-0B14-C49A-4D801F2F2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E2724-3579-CF45-96C8-4CB2D1CDD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0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6B30D-2A06-BDE2-037A-9A83E90B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6A9904-670E-1D76-E0D4-EE810BB96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E548C-0D7A-8AFA-32FD-E37F83C6D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9B2C-788F-A343-ACFB-6E009B9E686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221B1-B691-848D-B4F1-18D957289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F46BB-3A09-FD70-8112-A52C4E303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E2724-3579-CF45-96C8-4CB2D1CDD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617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7A42F3-8E52-E3AE-D23B-1CA7279691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7CF4CE-ADB7-7758-3E7D-286516D72B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06DE0-1460-3CD9-D074-82387D283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9B2C-788F-A343-ACFB-6E009B9E686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BDB19-77BF-0AC4-505B-03EEF5BE3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40752-6C9A-F243-F239-2AC1850A9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E2724-3579-CF45-96C8-4CB2D1CDD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57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YP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8A2F35C-CCC5-4796-8DA9-F5D8192CB2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30113429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8A2F35C-CCC5-4796-8DA9-F5D8192CB2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AA3264E-CB34-4429-9275-D4DC18E9B1E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667" cy="158750"/>
          </a:xfrm>
          <a:prstGeom prst="rect">
            <a:avLst/>
          </a:prstGeom>
          <a:solidFill>
            <a:srgbClr val="74748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kumimoji="0" lang="en-US" sz="2199" b="0" i="0" u="none" cap="none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79376" y="907750"/>
            <a:ext cx="11233249" cy="0"/>
          </a:xfrm>
          <a:prstGeom prst="line">
            <a:avLst/>
          </a:prstGeom>
          <a:noFill/>
          <a:ln w="19050" cap="flat" cmpd="sng" algn="ctr">
            <a:solidFill>
              <a:srgbClr val="1A9AF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2A343A82-E9F8-4308-B804-1ABAAE8F4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269600"/>
            <a:ext cx="11233248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rgbClr val="2E2E38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2737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D22CE3-CD9F-67AE-9FBE-811F90E55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8D658-F5F1-FC65-067C-5F0964330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340C4-4CB5-3D17-1BA7-D346E07E0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BB9B2C-788F-A343-ACFB-6E009B9E686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C508E-5272-B527-FA3B-3A9B5E22AA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14BD5-C67C-797F-DCD5-5AFFC1C2E6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8E2724-3579-CF45-96C8-4CB2D1CDD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985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jpe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AE649-85BA-FE8D-3B8D-DBD111D5F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14931B2-2EF8-9ABC-A5E9-6526D688A3C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14931B2-2EF8-9ABC-A5E9-6526D688A3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0662E82-CA95-CFEE-306F-87C0B07E3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IN">
                <a:latin typeface="+mn-lt"/>
              </a:rPr>
              <a:t>SME</a:t>
            </a:r>
            <a:r>
              <a:rPr lang="en-IN" sz="2000">
                <a:latin typeface="+mn-lt"/>
              </a:rPr>
              <a:t> Profiles</a:t>
            </a:r>
          </a:p>
        </p:txBody>
      </p:sp>
      <p:sp>
        <p:nvSpPr>
          <p:cNvPr id="5" name="sectionheader_6390563771364972991" descr="Super Headline">
            <a:extLst>
              <a:ext uri="{FF2B5EF4-FFF2-40B4-BE49-F238E27FC236}">
                <a16:creationId xmlns:a16="http://schemas.microsoft.com/office/drawing/2014/main" id="{B80BF9F4-AD73-63C5-F26C-CB90E0FE8891}"/>
              </a:ext>
            </a:extLst>
          </p:cNvPr>
          <p:cNvSpPr txBox="1"/>
          <p:nvPr/>
        </p:nvSpPr>
        <p:spPr>
          <a:xfrm>
            <a:off x="498293" y="77800"/>
            <a:ext cx="923843" cy="1569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A9AFA"/>
                </a:solidFill>
                <a:effectLst/>
                <a:uLnTx/>
                <a:uFillTx/>
                <a:latin typeface="EYInterstate Light"/>
                <a:ea typeface="+mn-ea"/>
                <a:cs typeface="Arial" panose="020B0604020202020204" pitchFamily="34" charset="0"/>
              </a:rPr>
              <a:t>Team profiles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5EE642D-CCB8-8BDE-1FBE-C4CA3122DE9E}"/>
              </a:ext>
            </a:extLst>
          </p:cNvPr>
          <p:cNvSpPr txBox="1">
            <a:spLocks/>
          </p:cNvSpPr>
          <p:nvPr/>
        </p:nvSpPr>
        <p:spPr>
          <a:xfrm>
            <a:off x="511069" y="1134279"/>
            <a:ext cx="4983882" cy="74535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179906" tIns="71963" rIns="71963" bIns="71963" anchor="ctr" anchorCtr="0">
            <a:noAutofit/>
          </a:bodyPr>
          <a:lstStyle>
            <a:lvl1pPr marL="0" indent="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defRPr lang="en-US" sz="900" kern="1200" baseline="0" dirty="0" smtClean="0">
                <a:solidFill>
                  <a:srgbClr val="5A5B5D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defRPr lang="en-US" sz="900" kern="1200" dirty="0" smtClean="0">
                <a:solidFill>
                  <a:srgbClr val="5A5B5D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tabLst/>
              <a:defRPr lang="en-US" sz="900" kern="1200" dirty="0" smtClean="0">
                <a:solidFill>
                  <a:srgbClr val="5A5B5D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tabLst/>
              <a:defRPr lang="en-US" sz="900" kern="1200" dirty="0" smtClean="0">
                <a:solidFill>
                  <a:srgbClr val="5A5B5D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defRPr lang="en-US" sz="900" kern="1200" dirty="0">
                <a:solidFill>
                  <a:srgbClr val="5A5B5D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tabLst/>
              <a:defRPr/>
            </a:pPr>
            <a:r>
              <a:rPr lang="en-US" sz="1400" b="1" dirty="0">
                <a:solidFill>
                  <a:srgbClr val="FFFFFF"/>
                </a:solidFill>
              </a:rPr>
              <a:t>Physics SME – 1</a:t>
            </a:r>
          </a:p>
          <a:p>
            <a:pPr lvl="0">
              <a:spcBef>
                <a:spcPts val="0"/>
              </a:spcBef>
              <a:defRPr/>
            </a:pPr>
            <a:r>
              <a:rPr lang="en-IN" sz="1000" b="1" dirty="0">
                <a:solidFill>
                  <a:schemeClr val="bg2"/>
                </a:solidFill>
              </a:rPr>
              <a:t>KHD HUMBOLDT 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FD208CD-C76C-0614-FF16-969DD494365B}"/>
              </a:ext>
            </a:extLst>
          </p:cNvPr>
          <p:cNvSpPr txBox="1">
            <a:spLocks/>
          </p:cNvSpPr>
          <p:nvPr/>
        </p:nvSpPr>
        <p:spPr>
          <a:xfrm>
            <a:off x="514379" y="2054436"/>
            <a:ext cx="4994042" cy="425028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rgbClr val="808080"/>
              </a:buClr>
              <a:buSzPct val="75000"/>
              <a:buFont typeface="Arial" panose="020B0604020202020204" pitchFamily="34" charset="0"/>
              <a:buNone/>
              <a:defRPr sz="10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182563" indent="-182563" algn="l" defTabSz="914400" rtl="0" eaLnBrk="1" latinLnBrk="0" hangingPunct="1">
              <a:spcBef>
                <a:spcPct val="20000"/>
              </a:spcBef>
              <a:buClr>
                <a:srgbClr val="808080"/>
              </a:buClr>
              <a:buSzPct val="75000"/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82563" indent="-182563" algn="l" defTabSz="914400" rtl="0" eaLnBrk="1" latinLnBrk="0" hangingPunct="1">
              <a:spcBef>
                <a:spcPts val="300"/>
              </a:spcBef>
              <a:buClrTx/>
              <a:buSzPct val="75000"/>
              <a:buFont typeface="Arial" panose="020B0604020202020204" pitchFamily="34" charset="0"/>
              <a:buChar char="►"/>
              <a:tabLst/>
              <a:defRPr lang="en-US" sz="10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685800" indent="-171450" algn="l" defTabSz="914400" rtl="0" eaLnBrk="1" latinLnBrk="0" hangingPunct="1">
              <a:spcBef>
                <a:spcPct val="20000"/>
              </a:spcBef>
              <a:buClr>
                <a:srgbClr val="808080"/>
              </a:buClr>
              <a:buSzPct val="75000"/>
              <a:buFont typeface="Arial" panose="020B0604020202020204" pitchFamily="34" charset="0"/>
              <a:buChar char="►"/>
              <a:tabLst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spcBef>
                <a:spcPct val="20000"/>
              </a:spcBef>
              <a:buClr>
                <a:srgbClr val="808080"/>
              </a:buClr>
              <a:buSzPct val="75000"/>
              <a:buFont typeface="Arial" panose="020B0604020202020204" pitchFamily="34" charset="0"/>
              <a:buChar char="►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80808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35+ years of experience in cement manufacturing with deep expertise in process optimization, technical services, plant projects, commissioning, operations, energy efficiency, and productivity improvement.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80808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1A1A24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Experience across leading cement and engineering organizations including Dalmia Bharat Cement, Shree Cement, Lafarge Emirates Cement, </a:t>
            </a:r>
            <a:r>
              <a:rPr kumimoji="0" lang="en-I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FLSmidth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, KHD Humboldt, and </a:t>
            </a:r>
            <a:r>
              <a:rPr kumimoji="0" lang="en-I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Bridgeap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 Engineering.</a:t>
            </a: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1A1A24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Extensive expertise in kiln operations, grinding operations, energy efficiency improvement, productivity enhancement, and process troubleshooting.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1A1A24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Led and supported plant-wide process optimization and continuous improvement initiatives across cement manufacturing operations.</a:t>
            </a: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endParaRPr lang="en-IN" b="0" dirty="0">
              <a:solidFill>
                <a:srgbClr val="1A1A24"/>
              </a:solidFill>
              <a:latin typeface="EYInterstate Light"/>
            </a:endParaRP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b="0" dirty="0">
                <a:solidFill>
                  <a:srgbClr val="1A1A24"/>
                </a:solidFill>
              </a:rPr>
              <a:t>Worked on technical services and process performance improvement programs, focused on operational reliability and efficiency enhancement.</a:t>
            </a: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endParaRPr lang="en-IN" b="0" dirty="0">
              <a:solidFill>
                <a:srgbClr val="1A1A24"/>
              </a:solidFill>
            </a:endParaRP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b="0" dirty="0">
                <a:solidFill>
                  <a:srgbClr val="1A1A24"/>
                </a:solidFill>
              </a:rPr>
              <a:t>Strong understanding of cement manufacturing processes, operational performance drivers, and optimization levers across the plant value chain.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33BFD9E-280C-6C98-2E27-869385415557}"/>
              </a:ext>
            </a:extLst>
          </p:cNvPr>
          <p:cNvSpPr txBox="1">
            <a:spLocks/>
          </p:cNvSpPr>
          <p:nvPr/>
        </p:nvSpPr>
        <p:spPr>
          <a:xfrm>
            <a:off x="6740944" y="1153013"/>
            <a:ext cx="4943598" cy="74535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179906" tIns="71963" rIns="71963" bIns="71963" anchor="ctr" anchorCtr="0">
            <a:noAutofit/>
          </a:bodyPr>
          <a:lstStyle>
            <a:defPPr>
              <a:defRPr lang="en-US"/>
            </a:defPPr>
            <a:lvl1pPr indent="0" eaLnBrk="0" fontAlgn="base" hangingPunct="0">
              <a:spcBef>
                <a:spcPts val="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defRPr sz="1400" b="1" baseline="0">
                <a:latin typeface="+mj-lt"/>
              </a:defRPr>
            </a:lvl1pPr>
            <a:lvl2pPr marL="0" indent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defRPr sz="900">
                <a:solidFill>
                  <a:srgbClr val="5A5B5D"/>
                </a:solidFill>
              </a:defRPr>
            </a:lvl2pPr>
            <a:lvl3pPr marL="0" indent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tabLst/>
              <a:defRPr sz="900">
                <a:solidFill>
                  <a:srgbClr val="5A5B5D"/>
                </a:solidFill>
              </a:defRPr>
            </a:lvl3pPr>
            <a:lvl4pPr marL="0" indent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tabLst/>
              <a:defRPr sz="900">
                <a:solidFill>
                  <a:srgbClr val="5A5B5D"/>
                </a:solidFill>
              </a:defRPr>
            </a:lvl4pPr>
            <a:lvl5pPr marL="0" indent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defRPr sz="900">
                <a:solidFill>
                  <a:srgbClr val="5A5B5D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Physics SME - 2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275723-C6FD-4252-BB53-8CC5831A314D}"/>
              </a:ext>
            </a:extLst>
          </p:cNvPr>
          <p:cNvSpPr txBox="1"/>
          <p:nvPr/>
        </p:nvSpPr>
        <p:spPr>
          <a:xfrm>
            <a:off x="4166083" y="6640904"/>
            <a:ext cx="3859834" cy="231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Confidential - Not to be shared with anyone except intended recipients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CAA5232-566D-8D27-FC97-196046789D99}"/>
              </a:ext>
            </a:extLst>
          </p:cNvPr>
          <p:cNvSpPr txBox="1">
            <a:spLocks/>
          </p:cNvSpPr>
          <p:nvPr/>
        </p:nvSpPr>
        <p:spPr>
          <a:xfrm>
            <a:off x="6740944" y="2054436"/>
            <a:ext cx="4994042" cy="425028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rgbClr val="808080"/>
              </a:buClr>
              <a:buSzPct val="75000"/>
              <a:buFont typeface="Arial" panose="020B0604020202020204" pitchFamily="34" charset="0"/>
              <a:buNone/>
              <a:defRPr sz="10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182563" indent="-182563" algn="l" defTabSz="914400" rtl="0" eaLnBrk="1" latinLnBrk="0" hangingPunct="1">
              <a:spcBef>
                <a:spcPct val="20000"/>
              </a:spcBef>
              <a:buClr>
                <a:srgbClr val="808080"/>
              </a:buClr>
              <a:buSzPct val="75000"/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82563" indent="-182563" algn="l" defTabSz="914400" rtl="0" eaLnBrk="1" latinLnBrk="0" hangingPunct="1">
              <a:spcBef>
                <a:spcPts val="300"/>
              </a:spcBef>
              <a:buClrTx/>
              <a:buSzPct val="75000"/>
              <a:buFont typeface="Arial" panose="020B0604020202020204" pitchFamily="34" charset="0"/>
              <a:buChar char="►"/>
              <a:tabLst/>
              <a:defRPr lang="en-US" sz="10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685800" indent="-171450" algn="l" defTabSz="914400" rtl="0" eaLnBrk="1" latinLnBrk="0" hangingPunct="1">
              <a:spcBef>
                <a:spcPct val="20000"/>
              </a:spcBef>
              <a:buClr>
                <a:srgbClr val="808080"/>
              </a:buClr>
              <a:buSzPct val="75000"/>
              <a:buFont typeface="Arial" panose="020B0604020202020204" pitchFamily="34" charset="0"/>
              <a:buChar char="►"/>
              <a:tabLst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spcBef>
                <a:spcPct val="20000"/>
              </a:spcBef>
              <a:buClr>
                <a:srgbClr val="808080"/>
              </a:buClr>
              <a:buSzPct val="75000"/>
              <a:buFont typeface="Arial" panose="020B0604020202020204" pitchFamily="34" charset="0"/>
              <a:buChar char="►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30+ years of experience across cement and industrial sectors, with exposure to process modelling, wear prediction, operational performance optimisation, and data-driven approaches for improving equipment and process efficiency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endParaRPr lang="en-IN" b="0" dirty="0">
              <a:solidFill>
                <a:srgbClr val="1A1A24"/>
              </a:solidFill>
              <a:latin typeface="EYInterstate Light"/>
            </a:endParaRPr>
          </a:p>
          <a:p>
            <a:pPr marL="123825" indent="-123825"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Font typeface="Wingdings 3" panose="05040102010807070707" pitchFamily="18" charset="2"/>
              <a:buChar char=""/>
              <a:defRPr/>
            </a:pPr>
            <a:r>
              <a:rPr lang="en-IN" b="0" dirty="0">
                <a:solidFill>
                  <a:srgbClr val="1A1A24"/>
                </a:solidFill>
              </a:rPr>
              <a:t>Worked with global technical and manufacturing teams to develop technical solutions based on process conditions, performance drivers, and operating constraints</a:t>
            </a:r>
          </a:p>
          <a:p>
            <a:pPr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defRPr/>
            </a:pPr>
            <a:endParaRPr kumimoji="0" lang="en-IN" b="0" i="0" u="none" strike="noStrike" kern="1200" cap="none" spc="0" normalizeH="0" baseline="0" noProof="0" dirty="0">
              <a:ln>
                <a:noFill/>
              </a:ln>
              <a:solidFill>
                <a:srgbClr val="1A1A24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123825" indent="-123825"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Font typeface="Wingdings 3" panose="05040102010807070707" pitchFamily="18" charset="2"/>
              <a:buChar char=""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Experience supporting the evaluation of mill operating conditions, process performance, and equipment behaviour, with focus on identifying factors impacting efficiency and operating outcomes</a:t>
            </a:r>
          </a:p>
          <a:p>
            <a:pPr marL="123825" indent="-123825"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Font typeface="Wingdings 3" panose="05040102010807070707" pitchFamily="18" charset="2"/>
              <a:buChar char=""/>
              <a:defRPr/>
            </a:pPr>
            <a:endParaRPr lang="en-IN" b="0" dirty="0">
              <a:solidFill>
                <a:srgbClr val="1A1A24"/>
              </a:solidFill>
              <a:latin typeface="EYInterstate Light"/>
            </a:endParaRPr>
          </a:p>
          <a:p>
            <a:pPr marL="123825" indent="-123825"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Font typeface="Wingdings 3" panose="05040102010807070707" pitchFamily="18" charset="2"/>
              <a:buChar char=""/>
              <a:defRPr/>
            </a:pPr>
            <a:r>
              <a:rPr lang="en-IN" b="0" dirty="0">
                <a:solidFill>
                  <a:srgbClr val="1A1A24"/>
                </a:solidFill>
              </a:rPr>
              <a:t>Extensive knowledge across cement process operations, grinding technology, comminution, and process optimisation</a:t>
            </a:r>
            <a:endParaRPr kumimoji="0" lang="en-IN" b="0" i="0" u="none" strike="noStrike" kern="1200" cap="none" spc="0" normalizeH="0" baseline="0" noProof="0" dirty="0">
              <a:ln>
                <a:noFill/>
              </a:ln>
              <a:solidFill>
                <a:srgbClr val="1A1A24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123825" indent="-123825"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Font typeface="Wingdings 3" panose="05040102010807070707" pitchFamily="18" charset="2"/>
              <a:buChar char=""/>
              <a:defRPr/>
            </a:pPr>
            <a:endParaRPr lang="en-IN" b="0" dirty="0">
              <a:solidFill>
                <a:srgbClr val="1A1A24"/>
              </a:solidFill>
              <a:latin typeface="EYInterstate Light"/>
            </a:endParaRPr>
          </a:p>
          <a:p>
            <a:pPr marL="123825" indent="-123825"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Font typeface="Wingdings 3" panose="05040102010807070707" pitchFamily="18" charset="2"/>
              <a:buChar char=""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Provided industry expertise on physical wear mechanisms and process drivers, evaluating relationships between operating parameters, performance, and efficiency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1A1A24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123825" marR="0" lvl="0" indent="-123825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Experience discussing and applying physics-based and process modelling approaches to predict operational behaviour and support optimisation initiatives</a:t>
            </a:r>
          </a:p>
          <a:p>
            <a:pPr marL="123825" marR="0" lvl="0" indent="-123825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endParaRPr lang="en-IN" b="0" dirty="0">
              <a:solidFill>
                <a:srgbClr val="1A1A24"/>
              </a:solidFill>
              <a:latin typeface="EYInterstate Light"/>
            </a:endParaRPr>
          </a:p>
          <a:p>
            <a:pPr marL="123825" marR="0" lvl="0" indent="-123825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endParaRPr lang="en-IN" b="0" dirty="0">
              <a:solidFill>
                <a:srgbClr val="1A1A24"/>
              </a:solidFill>
              <a:latin typeface="EYInterstate Light"/>
            </a:endParaRPr>
          </a:p>
        </p:txBody>
      </p:sp>
    </p:spTree>
    <p:extLst>
      <p:ext uri="{BB962C8B-B14F-4D97-AF65-F5344CB8AC3E}">
        <p14:creationId xmlns:p14="http://schemas.microsoft.com/office/powerpoint/2010/main" val="515127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4513D-1998-1DEC-ECD8-29B397AE3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3" name="think-cell data - do not delete" hidden="1">
            <a:extLst>
              <a:ext uri="{FF2B5EF4-FFF2-40B4-BE49-F238E27FC236}">
                <a16:creationId xmlns:a16="http://schemas.microsoft.com/office/drawing/2014/main" id="{650EEEC7-6DDB-F582-5AF6-2A3C5FD1B7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42" imgH="442" progId="TCLayout.ActiveDocument.1">
                  <p:embed/>
                </p:oleObj>
              </mc:Choice>
              <mc:Fallback>
                <p:oleObj name="think-cell Slide" r:id="rId4" imgW="442" imgH="442" progId="TCLayout.ActiveDocument.1">
                  <p:embed/>
                  <p:pic>
                    <p:nvPicPr>
                      <p:cNvPr id="18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50EEEC7-6DDB-F582-5AF6-2A3C5FD1B7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868E307-FF1C-7948-6DCA-D49F2BCD9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IN" sz="2000" dirty="0">
                <a:latin typeface="EYInterstate Light" panose="02000506000000020004" pitchFamily="2" charset="0"/>
              </a:rPr>
              <a:t>Select credentials demonstrating experience in heat balance, SCH optimisation, cement processing optimisation</a:t>
            </a:r>
          </a:p>
        </p:txBody>
      </p:sp>
      <p:sp>
        <p:nvSpPr>
          <p:cNvPr id="54" name="Rectangle 20">
            <a:extLst>
              <a:ext uri="{FF2B5EF4-FFF2-40B4-BE49-F238E27FC236}">
                <a16:creationId xmlns:a16="http://schemas.microsoft.com/office/drawing/2014/main" id="{50BDD36F-344E-6A06-D7A5-7A89B4749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3043" y="1590116"/>
            <a:ext cx="65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A9AFA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D942DEA7-DC1F-0DE4-3C4B-EFD0AD12E4FD}"/>
              </a:ext>
            </a:extLst>
          </p:cNvPr>
          <p:cNvSpPr/>
          <p:nvPr/>
        </p:nvSpPr>
        <p:spPr>
          <a:xfrm>
            <a:off x="610609" y="1334293"/>
            <a:ext cx="2556000" cy="230400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612000" rIns="72000" bIns="72000" rtlCol="0" anchor="t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JSW Cement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1A9AFA"/>
              </a:buClr>
              <a:buSzPct val="75000"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Undertook Golden Batch/Kiln Optimization (₹0.5-1.2 Cr/MTPA typical impact; 0.3%-0.5% SHC reduction),  Kiln Coal Optimization (₹0.5-1.2 Cr/MTPA),  AI-Powered Root Cause Analysis for High SEC/SPC (₹0.5-1.0 Cr/MTPA) and  Energy Intelligence Platform (₹0.2-0.6 Cr/MTPA)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86" name="Rectangle 20">
            <a:extLst>
              <a:ext uri="{FF2B5EF4-FFF2-40B4-BE49-F238E27FC236}">
                <a16:creationId xmlns:a16="http://schemas.microsoft.com/office/drawing/2014/main" id="{018797C2-448D-9CFC-E737-F6B4F355D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0343" y="1643472"/>
            <a:ext cx="65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A9AFA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C2FCDB4B-C35F-1419-85B8-63FF58E18743}"/>
              </a:ext>
            </a:extLst>
          </p:cNvPr>
          <p:cNvSpPr/>
          <p:nvPr/>
        </p:nvSpPr>
        <p:spPr>
          <a:xfrm>
            <a:off x="3407393" y="1334293"/>
            <a:ext cx="2556000" cy="2304000"/>
          </a:xfrm>
          <a:prstGeom prst="roundRect">
            <a:avLst>
              <a:gd name="adj" fmla="val 7446"/>
            </a:avLst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612000" rIns="72000" bIns="72000" rtlCol="0" anchor="t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1A9AFA"/>
              </a:buClr>
              <a:buSzPct val="75000"/>
              <a:buFontTx/>
              <a:buNone/>
              <a:tabLst/>
              <a:defRPr/>
            </a:pPr>
            <a:r>
              <a:rPr kumimoji="0" lang="en-IN" sz="105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JSW Steel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1A9AFA"/>
              </a:buClr>
              <a:buSzPct val="75000"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EMS - Vibration, CBM - Process twins</a:t>
            </a:r>
          </a:p>
        </p:txBody>
      </p:sp>
      <p:sp>
        <p:nvSpPr>
          <p:cNvPr id="229" name="Rectangle 20">
            <a:extLst>
              <a:ext uri="{FF2B5EF4-FFF2-40B4-BE49-F238E27FC236}">
                <a16:creationId xmlns:a16="http://schemas.microsoft.com/office/drawing/2014/main" id="{9BF47463-DDCD-1FC5-E283-580F6C93C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8425" y="4204393"/>
            <a:ext cx="65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A9AFA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Arial" pitchFamily="34" charset="0"/>
            </a:endParaRPr>
          </a:p>
        </p:txBody>
      </p:sp>
      <p:sp>
        <p:nvSpPr>
          <p:cNvPr id="230" name="Rectangle 20">
            <a:extLst>
              <a:ext uri="{FF2B5EF4-FFF2-40B4-BE49-F238E27FC236}">
                <a16:creationId xmlns:a16="http://schemas.microsoft.com/office/drawing/2014/main" id="{3D3F39D1-E771-ABFB-8511-1F7B691A9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9827" y="4184600"/>
            <a:ext cx="65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A9AFA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Arial" pitchFamily="34" charset="0"/>
            </a:endParaRPr>
          </a:p>
        </p:txBody>
      </p:sp>
      <p:sp>
        <p:nvSpPr>
          <p:cNvPr id="231" name="Rectangle: Rounded Corners 230">
            <a:extLst>
              <a:ext uri="{FF2B5EF4-FFF2-40B4-BE49-F238E27FC236}">
                <a16:creationId xmlns:a16="http://schemas.microsoft.com/office/drawing/2014/main" id="{E34DB3DC-E14D-697E-164D-DC35D84F37E4}"/>
              </a:ext>
            </a:extLst>
          </p:cNvPr>
          <p:cNvSpPr/>
          <p:nvPr/>
        </p:nvSpPr>
        <p:spPr>
          <a:xfrm>
            <a:off x="6204177" y="1334293"/>
            <a:ext cx="2556000" cy="2304000"/>
          </a:xfrm>
          <a:prstGeom prst="roundRect">
            <a:avLst>
              <a:gd name="adj" fmla="val 7446"/>
            </a:avLst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612000" rIns="72000" bIns="72000" rtlCol="0" anchor="t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1A9AFA"/>
              </a:buClr>
              <a:buSzPct val="75000"/>
              <a:buFontTx/>
              <a:buNone/>
              <a:tabLst/>
              <a:defRPr/>
            </a:pPr>
            <a:r>
              <a:rPr kumimoji="0" lang="en-IN" sz="105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Hira Group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1A9AFA"/>
              </a:buClr>
              <a:buSzPct val="75000"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Installed QRT (Quick Response Temperature) system which provides early warnings on deviations from zone-wise temperatures as a failsafe precautionary measure</a:t>
            </a:r>
          </a:p>
        </p:txBody>
      </p:sp>
      <p:sp>
        <p:nvSpPr>
          <p:cNvPr id="244" name="Rectangle 20">
            <a:extLst>
              <a:ext uri="{FF2B5EF4-FFF2-40B4-BE49-F238E27FC236}">
                <a16:creationId xmlns:a16="http://schemas.microsoft.com/office/drawing/2014/main" id="{664E7305-6A82-3BF0-3DF3-BCA2AE7AE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6202" y="1648820"/>
            <a:ext cx="65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A9AFA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Arial" pitchFamily="34" charset="0"/>
            </a:endParaRPr>
          </a:p>
        </p:txBody>
      </p:sp>
      <p:sp>
        <p:nvSpPr>
          <p:cNvPr id="245" name="Rectangle: Rounded Corners 244">
            <a:extLst>
              <a:ext uri="{FF2B5EF4-FFF2-40B4-BE49-F238E27FC236}">
                <a16:creationId xmlns:a16="http://schemas.microsoft.com/office/drawing/2014/main" id="{5E4609CB-06C0-EEBE-EE16-A4B56A2B7D22}"/>
              </a:ext>
            </a:extLst>
          </p:cNvPr>
          <p:cNvSpPr/>
          <p:nvPr/>
        </p:nvSpPr>
        <p:spPr>
          <a:xfrm>
            <a:off x="9000962" y="1334293"/>
            <a:ext cx="2556000" cy="2304000"/>
          </a:xfrm>
          <a:prstGeom prst="roundRect">
            <a:avLst>
              <a:gd name="adj" fmla="val 7446"/>
            </a:avLst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612000" rIns="72000" bIns="72000" rtlCol="0" anchor="t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1A9AFA"/>
              </a:buClr>
              <a:buSzPct val="75000"/>
              <a:buFontTx/>
              <a:buNone/>
              <a:tabLst/>
              <a:defRPr/>
            </a:pPr>
            <a:endParaRPr kumimoji="0" lang="en-IN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6" name="Rectangle 20">
            <a:extLst>
              <a:ext uri="{FF2B5EF4-FFF2-40B4-BE49-F238E27FC236}">
                <a16:creationId xmlns:a16="http://schemas.microsoft.com/office/drawing/2014/main" id="{7FFB4603-9A8F-8B15-39E5-0B351DBEB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54345" y="4155076"/>
            <a:ext cx="65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A9AFA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Arial" pitchFamily="34" charset="0"/>
            </a:endParaRPr>
          </a:p>
        </p:txBody>
      </p:sp>
      <p:sp>
        <p:nvSpPr>
          <p:cNvPr id="275" name="Rectangle 20">
            <a:extLst>
              <a:ext uri="{FF2B5EF4-FFF2-40B4-BE49-F238E27FC236}">
                <a16:creationId xmlns:a16="http://schemas.microsoft.com/office/drawing/2014/main" id="{05D5721C-8C69-962F-9276-41FC936FE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051" y="4106870"/>
            <a:ext cx="65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A9AFA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Arial" pitchFamily="34" charset="0"/>
            </a:endParaRPr>
          </a:p>
        </p:txBody>
      </p:sp>
      <p:sp>
        <p:nvSpPr>
          <p:cNvPr id="276" name="Rectangle: Rounded Corners 275">
            <a:extLst>
              <a:ext uri="{FF2B5EF4-FFF2-40B4-BE49-F238E27FC236}">
                <a16:creationId xmlns:a16="http://schemas.microsoft.com/office/drawing/2014/main" id="{C5DC59A5-F7D0-DA7D-BA8D-42EF090284D5}"/>
              </a:ext>
            </a:extLst>
          </p:cNvPr>
          <p:cNvSpPr/>
          <p:nvPr/>
        </p:nvSpPr>
        <p:spPr>
          <a:xfrm>
            <a:off x="3407393" y="3803304"/>
            <a:ext cx="2556000" cy="2304000"/>
          </a:xfrm>
          <a:prstGeom prst="roundRect">
            <a:avLst>
              <a:gd name="adj" fmla="val 7446"/>
            </a:avLst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612000" rIns="72000" bIns="72000" rtlCol="0" anchor="t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1A9AFA"/>
              </a:buClr>
              <a:buSzPct val="75000"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289" name="Rectangle 20">
            <a:extLst>
              <a:ext uri="{FF2B5EF4-FFF2-40B4-BE49-F238E27FC236}">
                <a16:creationId xmlns:a16="http://schemas.microsoft.com/office/drawing/2014/main" id="{6E96FB8B-D195-F5CA-38BC-60CDB6FF5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8398" y="4106870"/>
            <a:ext cx="65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A9AFA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Arial" pitchFamily="34" charset="0"/>
            </a:endParaRPr>
          </a:p>
        </p:txBody>
      </p:sp>
      <p:sp>
        <p:nvSpPr>
          <p:cNvPr id="290" name="Rectangle: Rounded Corners 289">
            <a:extLst>
              <a:ext uri="{FF2B5EF4-FFF2-40B4-BE49-F238E27FC236}">
                <a16:creationId xmlns:a16="http://schemas.microsoft.com/office/drawing/2014/main" id="{F0915490-F119-0043-968E-AD2DC7D549CB}"/>
              </a:ext>
            </a:extLst>
          </p:cNvPr>
          <p:cNvSpPr/>
          <p:nvPr/>
        </p:nvSpPr>
        <p:spPr>
          <a:xfrm>
            <a:off x="6204178" y="3803304"/>
            <a:ext cx="2556000" cy="2304000"/>
          </a:xfrm>
          <a:prstGeom prst="roundRect">
            <a:avLst>
              <a:gd name="adj" fmla="val 7446"/>
            </a:avLst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612000" rIns="72000" bIns="72000" rtlCol="0" anchor="t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1A9AFA"/>
              </a:buClr>
              <a:buSzPct val="75000"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303" name="Rectangle 20">
            <a:extLst>
              <a:ext uri="{FF2B5EF4-FFF2-40B4-BE49-F238E27FC236}">
                <a16:creationId xmlns:a16="http://schemas.microsoft.com/office/drawing/2014/main" id="{EBF1A8A2-4143-5015-D14C-C3B716A1F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49035" y="4097101"/>
            <a:ext cx="65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A9AFA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Arial" pitchFamily="34" charset="0"/>
            </a:endParaRPr>
          </a:p>
        </p:txBody>
      </p:sp>
      <p:sp>
        <p:nvSpPr>
          <p:cNvPr id="304" name="Rectangle: Rounded Corners 303">
            <a:extLst>
              <a:ext uri="{FF2B5EF4-FFF2-40B4-BE49-F238E27FC236}">
                <a16:creationId xmlns:a16="http://schemas.microsoft.com/office/drawing/2014/main" id="{6E184EDD-400E-D8FA-41DC-88BEBA324EC3}"/>
              </a:ext>
            </a:extLst>
          </p:cNvPr>
          <p:cNvSpPr/>
          <p:nvPr/>
        </p:nvSpPr>
        <p:spPr>
          <a:xfrm>
            <a:off x="9000963" y="3803304"/>
            <a:ext cx="2556000" cy="2304000"/>
          </a:xfrm>
          <a:prstGeom prst="roundRect">
            <a:avLst>
              <a:gd name="adj" fmla="val 7446"/>
            </a:avLst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612000" rIns="72000" bIns="72000" rtlCol="0" anchor="t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1A9AFA"/>
              </a:buClr>
              <a:buSzPct val="75000"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310" name="Rectangle 20">
            <a:extLst>
              <a:ext uri="{FF2B5EF4-FFF2-40B4-BE49-F238E27FC236}">
                <a16:creationId xmlns:a16="http://schemas.microsoft.com/office/drawing/2014/main" id="{5EB077D7-36AB-1556-A4C6-AB4C302DA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3139" y="4199025"/>
            <a:ext cx="65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A9AFA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Arial" pitchFamily="34" charset="0"/>
            </a:endParaRPr>
          </a:p>
        </p:txBody>
      </p:sp>
      <p:sp>
        <p:nvSpPr>
          <p:cNvPr id="323" name="Rectangle 20">
            <a:extLst>
              <a:ext uri="{FF2B5EF4-FFF2-40B4-BE49-F238E27FC236}">
                <a16:creationId xmlns:a16="http://schemas.microsoft.com/office/drawing/2014/main" id="{5A659696-87FD-C6F5-F2E6-0C8234D4E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3868" y="4101502"/>
            <a:ext cx="65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A9AFA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Arial" pitchFamily="34" charset="0"/>
            </a:endParaRPr>
          </a:p>
        </p:txBody>
      </p:sp>
      <p:sp>
        <p:nvSpPr>
          <p:cNvPr id="324" name="Rectangle: Rounded Corners 323">
            <a:extLst>
              <a:ext uri="{FF2B5EF4-FFF2-40B4-BE49-F238E27FC236}">
                <a16:creationId xmlns:a16="http://schemas.microsoft.com/office/drawing/2014/main" id="{3B9ECA46-210D-3B42-FB2B-4E000E6C93B2}"/>
              </a:ext>
            </a:extLst>
          </p:cNvPr>
          <p:cNvSpPr/>
          <p:nvPr/>
        </p:nvSpPr>
        <p:spPr>
          <a:xfrm>
            <a:off x="610608" y="3803304"/>
            <a:ext cx="2556000" cy="2304000"/>
          </a:xfrm>
          <a:prstGeom prst="roundRect">
            <a:avLst>
              <a:gd name="adj" fmla="val 7446"/>
            </a:avLst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612000" rIns="72000" bIns="72000" rtlCol="0" anchor="t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5AC058-EDE7-DDA0-BB76-9EF34056E975}"/>
              </a:ext>
            </a:extLst>
          </p:cNvPr>
          <p:cNvSpPr txBox="1"/>
          <p:nvPr/>
        </p:nvSpPr>
        <p:spPr>
          <a:xfrm>
            <a:off x="4166083" y="6640904"/>
            <a:ext cx="3859834" cy="231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Confidential - Not to be shared with anyone except intended recipients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BDF97F-AC78-26C4-BE24-AC38657624FC}"/>
              </a:ext>
            </a:extLst>
          </p:cNvPr>
          <p:cNvGrpSpPr/>
          <p:nvPr/>
        </p:nvGrpSpPr>
        <p:grpSpPr>
          <a:xfrm>
            <a:off x="731480" y="1450822"/>
            <a:ext cx="1054354" cy="423124"/>
            <a:chOff x="6236455" y="6243862"/>
            <a:chExt cx="1352959" cy="447818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D0945B6-8EE7-E1BA-B1A0-5CBEF72A9C0C}"/>
                </a:ext>
              </a:extLst>
            </p:cNvPr>
            <p:cNvSpPr/>
            <p:nvPr/>
          </p:nvSpPr>
          <p:spPr>
            <a:xfrm>
              <a:off x="6236455" y="6243862"/>
              <a:ext cx="1352959" cy="447818"/>
            </a:xfrm>
            <a:prstGeom prst="roundRect">
              <a:avLst>
                <a:gd name="adj" fmla="val 1109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1A9AFA"/>
                </a:buClr>
                <a:buSzPct val="75000"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grpSp>
          <p:nvGrpSpPr>
            <p:cNvPr id="14" name="Google Shape;201;g409e4f1e4a5_0_0">
              <a:extLst>
                <a:ext uri="{FF2B5EF4-FFF2-40B4-BE49-F238E27FC236}">
                  <a16:creationId xmlns:a16="http://schemas.microsoft.com/office/drawing/2014/main" id="{FF600BC4-6BAD-B887-E8AD-D6E36E982181}"/>
                </a:ext>
              </a:extLst>
            </p:cNvPr>
            <p:cNvGrpSpPr/>
            <p:nvPr/>
          </p:nvGrpSpPr>
          <p:grpSpPr>
            <a:xfrm>
              <a:off x="6331464" y="6369850"/>
              <a:ext cx="1049946" cy="218550"/>
              <a:chOff x="4059287" y="2048033"/>
              <a:chExt cx="4075704" cy="848371"/>
            </a:xfrm>
          </p:grpSpPr>
          <p:sp>
            <p:nvSpPr>
              <p:cNvPr id="18" name="Google Shape;202;g409e4f1e4a5_0_0">
                <a:extLst>
                  <a:ext uri="{FF2B5EF4-FFF2-40B4-BE49-F238E27FC236}">
                    <a16:creationId xmlns:a16="http://schemas.microsoft.com/office/drawing/2014/main" id="{5583AEAD-D30D-D6EB-1D21-15D6616AAA9D}"/>
                  </a:ext>
                </a:extLst>
              </p:cNvPr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avLst/>
                <a:gdLst/>
                <a:ahLst/>
                <a:cxnLst/>
                <a:rect l="l" t="t" r="r" b="b"/>
                <a:pathLst>
                  <a:path w="672035" h="761954" extrusionOk="0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2F55D4"/>
              </a:solidFill>
              <a:ln>
                <a:noFill/>
              </a:ln>
            </p:spPr>
            <p:txBody>
              <a:bodyPr spcFirstLastPara="1" wrap="square" lIns="45700" tIns="22825" rIns="45700" bIns="228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  <a:tabLst/>
                  <a:defRPr/>
                </a:pPr>
                <a:endParaRPr kumimoji="0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203;g409e4f1e4a5_0_0">
                <a:extLst>
                  <a:ext uri="{FF2B5EF4-FFF2-40B4-BE49-F238E27FC236}">
                    <a16:creationId xmlns:a16="http://schemas.microsoft.com/office/drawing/2014/main" id="{ED9EAFF0-BC15-E2FE-13BA-780F16E2BD07}"/>
                  </a:ext>
                </a:extLst>
              </p:cNvPr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avLst/>
                <a:gdLst/>
                <a:ahLst/>
                <a:cxnLst/>
                <a:rect l="l" t="t" r="r" b="b"/>
                <a:pathLst>
                  <a:path w="219342" h="333696" extrusionOk="0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F55D4"/>
              </a:solidFill>
              <a:ln>
                <a:noFill/>
              </a:ln>
            </p:spPr>
            <p:txBody>
              <a:bodyPr spcFirstLastPara="1" wrap="square" lIns="45700" tIns="22825" rIns="45700" bIns="228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  <a:tabLst/>
                  <a:defRPr/>
                </a:pPr>
                <a:endParaRPr kumimoji="0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4;g409e4f1e4a5_0_0">
                <a:extLst>
                  <a:ext uri="{FF2B5EF4-FFF2-40B4-BE49-F238E27FC236}">
                    <a16:creationId xmlns:a16="http://schemas.microsoft.com/office/drawing/2014/main" id="{0A43EF28-4D41-125A-1744-D552F8075FA0}"/>
                  </a:ext>
                </a:extLst>
              </p:cNvPr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avLst/>
                <a:gdLst/>
                <a:ahLst/>
                <a:cxnLst/>
                <a:rect l="l" t="t" r="r" b="b"/>
                <a:pathLst>
                  <a:path w="361633" h="333696" extrusionOk="0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2F55D4"/>
              </a:solidFill>
              <a:ln>
                <a:noFill/>
              </a:ln>
            </p:spPr>
            <p:txBody>
              <a:bodyPr spcFirstLastPara="1" wrap="square" lIns="45700" tIns="22825" rIns="45700" bIns="228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  <a:tabLst/>
                  <a:defRPr/>
                </a:pPr>
                <a:endParaRPr kumimoji="0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05;g409e4f1e4a5_0_0">
                <a:extLst>
                  <a:ext uri="{FF2B5EF4-FFF2-40B4-BE49-F238E27FC236}">
                    <a16:creationId xmlns:a16="http://schemas.microsoft.com/office/drawing/2014/main" id="{44868514-AFF2-9D76-3356-0A53CF93B2D3}"/>
                  </a:ext>
                </a:extLst>
              </p:cNvPr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avLst/>
                <a:gdLst/>
                <a:ahLst/>
                <a:cxnLst/>
                <a:rect l="l" t="t" r="r" b="b"/>
                <a:pathLst>
                  <a:path w="206961" h="333696" extrusionOk="0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2F55D4"/>
              </a:solidFill>
              <a:ln>
                <a:noFill/>
              </a:ln>
            </p:spPr>
            <p:txBody>
              <a:bodyPr spcFirstLastPara="1" wrap="square" lIns="45700" tIns="22825" rIns="45700" bIns="228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  <a:tabLst/>
                  <a:defRPr/>
                </a:pPr>
                <a:endParaRPr kumimoji="0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06;g409e4f1e4a5_0_0">
                <a:extLst>
                  <a:ext uri="{FF2B5EF4-FFF2-40B4-BE49-F238E27FC236}">
                    <a16:creationId xmlns:a16="http://schemas.microsoft.com/office/drawing/2014/main" id="{FE4B9834-9944-D015-DF0C-0593B4278050}"/>
                  </a:ext>
                </a:extLst>
              </p:cNvPr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avLst/>
                <a:gdLst/>
                <a:ahLst/>
                <a:cxnLst/>
                <a:rect l="l" t="t" r="r" b="b"/>
                <a:pathLst>
                  <a:path w="303641" h="333696" extrusionOk="0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2F55D4"/>
              </a:solidFill>
              <a:ln>
                <a:noFill/>
              </a:ln>
            </p:spPr>
            <p:txBody>
              <a:bodyPr spcFirstLastPara="1" wrap="square" lIns="45700" tIns="22825" rIns="45700" bIns="228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  <a:tabLst/>
                  <a:defRPr/>
                </a:pPr>
                <a:endParaRPr kumimoji="0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07;g409e4f1e4a5_0_0">
                <a:extLst>
                  <a:ext uri="{FF2B5EF4-FFF2-40B4-BE49-F238E27FC236}">
                    <a16:creationId xmlns:a16="http://schemas.microsoft.com/office/drawing/2014/main" id="{DC3A3E66-6BC8-9BBA-66B7-751208E729BF}"/>
                  </a:ext>
                </a:extLst>
              </p:cNvPr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avLst/>
                <a:gdLst/>
                <a:ahLst/>
                <a:cxnLst/>
                <a:rect l="l" t="t" r="r" b="b"/>
                <a:pathLst>
                  <a:path w="306166" h="351452" extrusionOk="0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2F55D4"/>
              </a:solidFill>
              <a:ln>
                <a:noFill/>
              </a:ln>
            </p:spPr>
            <p:txBody>
              <a:bodyPr spcFirstLastPara="1" wrap="square" lIns="45700" tIns="22825" rIns="45700" bIns="228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  <a:tabLst/>
                  <a:defRPr/>
                </a:pPr>
                <a:endParaRPr kumimoji="0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08;g409e4f1e4a5_0_0">
                <a:extLst>
                  <a:ext uri="{FF2B5EF4-FFF2-40B4-BE49-F238E27FC236}">
                    <a16:creationId xmlns:a16="http://schemas.microsoft.com/office/drawing/2014/main" id="{8DE6EC4F-0145-7E2C-A521-5A4B10A54F21}"/>
                  </a:ext>
                </a:extLst>
              </p:cNvPr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avLst/>
                <a:gdLst/>
                <a:ahLst/>
                <a:cxnLst/>
                <a:rect l="l" t="t" r="r" b="b"/>
                <a:pathLst>
                  <a:path w="359597" h="351452" extrusionOk="0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2F55D4"/>
              </a:solidFill>
              <a:ln>
                <a:noFill/>
              </a:ln>
            </p:spPr>
            <p:txBody>
              <a:bodyPr spcFirstLastPara="1" wrap="square" lIns="45700" tIns="22825" rIns="45700" bIns="228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  <a:tabLst/>
                  <a:defRPr/>
                </a:pPr>
                <a:endParaRPr kumimoji="0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09;g409e4f1e4a5_0_0">
                <a:extLst>
                  <a:ext uri="{FF2B5EF4-FFF2-40B4-BE49-F238E27FC236}">
                    <a16:creationId xmlns:a16="http://schemas.microsoft.com/office/drawing/2014/main" id="{73F191D2-7908-27CC-742B-9C9655BD5347}"/>
                  </a:ext>
                </a:extLst>
              </p:cNvPr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avLst/>
                <a:gdLst/>
                <a:ahLst/>
                <a:cxnLst/>
                <a:rect l="l" t="t" r="r" b="b"/>
                <a:pathLst>
                  <a:path w="192952" h="301442" extrusionOk="0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2F55D4"/>
              </a:solidFill>
              <a:ln>
                <a:noFill/>
              </a:ln>
            </p:spPr>
            <p:txBody>
              <a:bodyPr spcFirstLastPara="1" wrap="square" lIns="45700" tIns="22825" rIns="45700" bIns="228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  <a:tabLst/>
                  <a:defRPr/>
                </a:pPr>
                <a:endParaRPr kumimoji="0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10;g409e4f1e4a5_0_0">
                <a:extLst>
                  <a:ext uri="{FF2B5EF4-FFF2-40B4-BE49-F238E27FC236}">
                    <a16:creationId xmlns:a16="http://schemas.microsoft.com/office/drawing/2014/main" id="{A4BB3507-1872-FE99-023D-AB98C6932F42}"/>
                  </a:ext>
                </a:extLst>
              </p:cNvPr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avLst/>
                <a:gdLst/>
                <a:ahLst/>
                <a:cxnLst/>
                <a:rect l="l" t="t" r="r" b="b"/>
                <a:pathLst>
                  <a:path w="325143" h="338990" extrusionOk="0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2F55D4"/>
              </a:solidFill>
              <a:ln>
                <a:noFill/>
              </a:ln>
            </p:spPr>
            <p:txBody>
              <a:bodyPr spcFirstLastPara="1" wrap="square" lIns="45700" tIns="22825" rIns="45700" bIns="228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  <a:tabLst/>
                  <a:defRPr/>
                </a:pPr>
                <a:endParaRPr kumimoji="0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11;g409e4f1e4a5_0_0">
                <a:extLst>
                  <a:ext uri="{FF2B5EF4-FFF2-40B4-BE49-F238E27FC236}">
                    <a16:creationId xmlns:a16="http://schemas.microsoft.com/office/drawing/2014/main" id="{702BFF26-F477-DED1-EBF4-D54D860EE0EC}"/>
                  </a:ext>
                </a:extLst>
              </p:cNvPr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avLst/>
                <a:gdLst/>
                <a:ahLst/>
                <a:cxnLst/>
                <a:rect l="l" t="t" r="r" b="b"/>
                <a:pathLst>
                  <a:path w="228382" h="338990" extrusionOk="0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2F55D4"/>
              </a:solidFill>
              <a:ln>
                <a:noFill/>
              </a:ln>
            </p:spPr>
            <p:txBody>
              <a:bodyPr spcFirstLastPara="1" wrap="square" lIns="45700" tIns="22825" rIns="45700" bIns="228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  <a:tabLst/>
                  <a:defRPr/>
                </a:pPr>
                <a:endParaRPr kumimoji="0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12;g409e4f1e4a5_0_0">
                <a:extLst>
                  <a:ext uri="{FF2B5EF4-FFF2-40B4-BE49-F238E27FC236}">
                    <a16:creationId xmlns:a16="http://schemas.microsoft.com/office/drawing/2014/main" id="{6C1A0742-4EF6-699E-CE3D-7DFA9C9C62E3}"/>
                  </a:ext>
                </a:extLst>
              </p:cNvPr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avLst/>
                <a:gdLst/>
                <a:ahLst/>
                <a:cxnLst/>
                <a:rect l="l" t="t" r="r" b="b"/>
                <a:pathLst>
                  <a:path w="216735" h="358700" extrusionOk="0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2F55D4"/>
              </a:solidFill>
              <a:ln>
                <a:noFill/>
              </a:ln>
            </p:spPr>
            <p:txBody>
              <a:bodyPr spcFirstLastPara="1" wrap="square" lIns="45700" tIns="22825" rIns="45700" bIns="228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  <a:tabLst/>
                  <a:defRPr/>
                </a:pPr>
                <a:endParaRPr kumimoji="0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C4FACFB-32B3-4239-0A6F-A689C09E2DBF}"/>
              </a:ext>
            </a:extLst>
          </p:cNvPr>
          <p:cNvGrpSpPr/>
          <p:nvPr/>
        </p:nvGrpSpPr>
        <p:grpSpPr>
          <a:xfrm>
            <a:off x="3480864" y="1477963"/>
            <a:ext cx="1054354" cy="423124"/>
            <a:chOff x="6236455" y="6243862"/>
            <a:chExt cx="1352959" cy="447818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DD165366-5D9A-7AEB-679A-48805E62E0A3}"/>
                </a:ext>
              </a:extLst>
            </p:cNvPr>
            <p:cNvSpPr/>
            <p:nvPr/>
          </p:nvSpPr>
          <p:spPr>
            <a:xfrm>
              <a:off x="6236455" y="6243862"/>
              <a:ext cx="1352959" cy="447818"/>
            </a:xfrm>
            <a:prstGeom prst="roundRect">
              <a:avLst>
                <a:gd name="adj" fmla="val 1109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1A9AFA"/>
                </a:buClr>
                <a:buSzPct val="75000"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grpSp>
          <p:nvGrpSpPr>
            <p:cNvPr id="32" name="Google Shape;201;g409e4f1e4a5_0_0">
              <a:extLst>
                <a:ext uri="{FF2B5EF4-FFF2-40B4-BE49-F238E27FC236}">
                  <a16:creationId xmlns:a16="http://schemas.microsoft.com/office/drawing/2014/main" id="{C36870E5-068C-D3E6-5C1F-EB3A63EFE858}"/>
                </a:ext>
              </a:extLst>
            </p:cNvPr>
            <p:cNvGrpSpPr/>
            <p:nvPr/>
          </p:nvGrpSpPr>
          <p:grpSpPr>
            <a:xfrm>
              <a:off x="6331464" y="6369850"/>
              <a:ext cx="1049946" cy="218550"/>
              <a:chOff x="4059287" y="2048033"/>
              <a:chExt cx="4075704" cy="848371"/>
            </a:xfrm>
          </p:grpSpPr>
          <p:sp>
            <p:nvSpPr>
              <p:cNvPr id="33" name="Google Shape;202;g409e4f1e4a5_0_0">
                <a:extLst>
                  <a:ext uri="{FF2B5EF4-FFF2-40B4-BE49-F238E27FC236}">
                    <a16:creationId xmlns:a16="http://schemas.microsoft.com/office/drawing/2014/main" id="{391442CB-F6DC-AB49-BBDA-22BA1BCAA3DC}"/>
                  </a:ext>
                </a:extLst>
              </p:cNvPr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avLst/>
                <a:gdLst/>
                <a:ahLst/>
                <a:cxnLst/>
                <a:rect l="l" t="t" r="r" b="b"/>
                <a:pathLst>
                  <a:path w="672035" h="761954" extrusionOk="0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2F55D4"/>
              </a:solidFill>
              <a:ln>
                <a:noFill/>
              </a:ln>
            </p:spPr>
            <p:txBody>
              <a:bodyPr spcFirstLastPara="1" wrap="square" lIns="45700" tIns="22825" rIns="45700" bIns="228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  <a:tabLst/>
                  <a:defRPr/>
                </a:pPr>
                <a:endParaRPr kumimoji="0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203;g409e4f1e4a5_0_0">
                <a:extLst>
                  <a:ext uri="{FF2B5EF4-FFF2-40B4-BE49-F238E27FC236}">
                    <a16:creationId xmlns:a16="http://schemas.microsoft.com/office/drawing/2014/main" id="{15CBF79D-9E7B-2732-ABB7-29CA04E03270}"/>
                  </a:ext>
                </a:extLst>
              </p:cNvPr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avLst/>
                <a:gdLst/>
                <a:ahLst/>
                <a:cxnLst/>
                <a:rect l="l" t="t" r="r" b="b"/>
                <a:pathLst>
                  <a:path w="219342" h="333696" extrusionOk="0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F55D4"/>
              </a:solidFill>
              <a:ln>
                <a:noFill/>
              </a:ln>
            </p:spPr>
            <p:txBody>
              <a:bodyPr spcFirstLastPara="1" wrap="square" lIns="45700" tIns="22825" rIns="45700" bIns="228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  <a:tabLst/>
                  <a:defRPr/>
                </a:pPr>
                <a:endParaRPr kumimoji="0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204;g409e4f1e4a5_0_0">
                <a:extLst>
                  <a:ext uri="{FF2B5EF4-FFF2-40B4-BE49-F238E27FC236}">
                    <a16:creationId xmlns:a16="http://schemas.microsoft.com/office/drawing/2014/main" id="{E84517A8-63CC-569E-838B-144CAFEA5204}"/>
                  </a:ext>
                </a:extLst>
              </p:cNvPr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avLst/>
                <a:gdLst/>
                <a:ahLst/>
                <a:cxnLst/>
                <a:rect l="l" t="t" r="r" b="b"/>
                <a:pathLst>
                  <a:path w="361633" h="333696" extrusionOk="0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2F55D4"/>
              </a:solidFill>
              <a:ln>
                <a:noFill/>
              </a:ln>
            </p:spPr>
            <p:txBody>
              <a:bodyPr spcFirstLastPara="1" wrap="square" lIns="45700" tIns="22825" rIns="45700" bIns="228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  <a:tabLst/>
                  <a:defRPr/>
                </a:pPr>
                <a:endParaRPr kumimoji="0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205;g409e4f1e4a5_0_0">
                <a:extLst>
                  <a:ext uri="{FF2B5EF4-FFF2-40B4-BE49-F238E27FC236}">
                    <a16:creationId xmlns:a16="http://schemas.microsoft.com/office/drawing/2014/main" id="{7520FCBD-17D6-5713-3A98-2E7E51CD62C0}"/>
                  </a:ext>
                </a:extLst>
              </p:cNvPr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avLst/>
                <a:gdLst/>
                <a:ahLst/>
                <a:cxnLst/>
                <a:rect l="l" t="t" r="r" b="b"/>
                <a:pathLst>
                  <a:path w="206961" h="333696" extrusionOk="0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2F55D4"/>
              </a:solidFill>
              <a:ln>
                <a:noFill/>
              </a:ln>
            </p:spPr>
            <p:txBody>
              <a:bodyPr spcFirstLastPara="1" wrap="square" lIns="45700" tIns="22825" rIns="45700" bIns="228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  <a:tabLst/>
                  <a:defRPr/>
                </a:pPr>
                <a:endParaRPr kumimoji="0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206;g409e4f1e4a5_0_0">
                <a:extLst>
                  <a:ext uri="{FF2B5EF4-FFF2-40B4-BE49-F238E27FC236}">
                    <a16:creationId xmlns:a16="http://schemas.microsoft.com/office/drawing/2014/main" id="{4EC9B874-54A6-127F-D5F5-4B38C7E1965B}"/>
                  </a:ext>
                </a:extLst>
              </p:cNvPr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avLst/>
                <a:gdLst/>
                <a:ahLst/>
                <a:cxnLst/>
                <a:rect l="l" t="t" r="r" b="b"/>
                <a:pathLst>
                  <a:path w="303641" h="333696" extrusionOk="0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2F55D4"/>
              </a:solidFill>
              <a:ln>
                <a:noFill/>
              </a:ln>
            </p:spPr>
            <p:txBody>
              <a:bodyPr spcFirstLastPara="1" wrap="square" lIns="45700" tIns="22825" rIns="45700" bIns="228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  <a:tabLst/>
                  <a:defRPr/>
                </a:pPr>
                <a:endParaRPr kumimoji="0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207;g409e4f1e4a5_0_0">
                <a:extLst>
                  <a:ext uri="{FF2B5EF4-FFF2-40B4-BE49-F238E27FC236}">
                    <a16:creationId xmlns:a16="http://schemas.microsoft.com/office/drawing/2014/main" id="{3FC965C2-05EC-3123-694F-0CC229BF8C75}"/>
                  </a:ext>
                </a:extLst>
              </p:cNvPr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avLst/>
                <a:gdLst/>
                <a:ahLst/>
                <a:cxnLst/>
                <a:rect l="l" t="t" r="r" b="b"/>
                <a:pathLst>
                  <a:path w="306166" h="351452" extrusionOk="0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2F55D4"/>
              </a:solidFill>
              <a:ln>
                <a:noFill/>
              </a:ln>
            </p:spPr>
            <p:txBody>
              <a:bodyPr spcFirstLastPara="1" wrap="square" lIns="45700" tIns="22825" rIns="45700" bIns="228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  <a:tabLst/>
                  <a:defRPr/>
                </a:pPr>
                <a:endParaRPr kumimoji="0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208;g409e4f1e4a5_0_0">
                <a:extLst>
                  <a:ext uri="{FF2B5EF4-FFF2-40B4-BE49-F238E27FC236}">
                    <a16:creationId xmlns:a16="http://schemas.microsoft.com/office/drawing/2014/main" id="{328FE437-645E-5C55-F454-B2DD79532ECB}"/>
                  </a:ext>
                </a:extLst>
              </p:cNvPr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avLst/>
                <a:gdLst/>
                <a:ahLst/>
                <a:cxnLst/>
                <a:rect l="l" t="t" r="r" b="b"/>
                <a:pathLst>
                  <a:path w="359597" h="351452" extrusionOk="0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2F55D4"/>
              </a:solidFill>
              <a:ln>
                <a:noFill/>
              </a:ln>
            </p:spPr>
            <p:txBody>
              <a:bodyPr spcFirstLastPara="1" wrap="square" lIns="45700" tIns="22825" rIns="45700" bIns="228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  <a:tabLst/>
                  <a:defRPr/>
                </a:pPr>
                <a:endParaRPr kumimoji="0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209;g409e4f1e4a5_0_0">
                <a:extLst>
                  <a:ext uri="{FF2B5EF4-FFF2-40B4-BE49-F238E27FC236}">
                    <a16:creationId xmlns:a16="http://schemas.microsoft.com/office/drawing/2014/main" id="{5EF38BAB-7712-2F9A-7389-00C6992BE3D6}"/>
                  </a:ext>
                </a:extLst>
              </p:cNvPr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avLst/>
                <a:gdLst/>
                <a:ahLst/>
                <a:cxnLst/>
                <a:rect l="l" t="t" r="r" b="b"/>
                <a:pathLst>
                  <a:path w="192952" h="301442" extrusionOk="0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2F55D4"/>
              </a:solidFill>
              <a:ln>
                <a:noFill/>
              </a:ln>
            </p:spPr>
            <p:txBody>
              <a:bodyPr spcFirstLastPara="1" wrap="square" lIns="45700" tIns="22825" rIns="45700" bIns="228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  <a:tabLst/>
                  <a:defRPr/>
                </a:pPr>
                <a:endParaRPr kumimoji="0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210;g409e4f1e4a5_0_0">
                <a:extLst>
                  <a:ext uri="{FF2B5EF4-FFF2-40B4-BE49-F238E27FC236}">
                    <a16:creationId xmlns:a16="http://schemas.microsoft.com/office/drawing/2014/main" id="{3B32AE87-A78C-E2CA-7DC6-0D2D85E684C8}"/>
                  </a:ext>
                </a:extLst>
              </p:cNvPr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avLst/>
                <a:gdLst/>
                <a:ahLst/>
                <a:cxnLst/>
                <a:rect l="l" t="t" r="r" b="b"/>
                <a:pathLst>
                  <a:path w="325143" h="338990" extrusionOk="0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2F55D4"/>
              </a:solidFill>
              <a:ln>
                <a:noFill/>
              </a:ln>
            </p:spPr>
            <p:txBody>
              <a:bodyPr spcFirstLastPara="1" wrap="square" lIns="45700" tIns="22825" rIns="45700" bIns="228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  <a:tabLst/>
                  <a:defRPr/>
                </a:pPr>
                <a:endParaRPr kumimoji="0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211;g409e4f1e4a5_0_0">
                <a:extLst>
                  <a:ext uri="{FF2B5EF4-FFF2-40B4-BE49-F238E27FC236}">
                    <a16:creationId xmlns:a16="http://schemas.microsoft.com/office/drawing/2014/main" id="{EAD891C5-4DE9-025F-4AFE-568511682F5F}"/>
                  </a:ext>
                </a:extLst>
              </p:cNvPr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avLst/>
                <a:gdLst/>
                <a:ahLst/>
                <a:cxnLst/>
                <a:rect l="l" t="t" r="r" b="b"/>
                <a:pathLst>
                  <a:path w="228382" h="338990" extrusionOk="0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2F55D4"/>
              </a:solidFill>
              <a:ln>
                <a:noFill/>
              </a:ln>
            </p:spPr>
            <p:txBody>
              <a:bodyPr spcFirstLastPara="1" wrap="square" lIns="45700" tIns="22825" rIns="45700" bIns="228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  <a:tabLst/>
                  <a:defRPr/>
                </a:pPr>
                <a:endParaRPr kumimoji="0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212;g409e4f1e4a5_0_0">
                <a:extLst>
                  <a:ext uri="{FF2B5EF4-FFF2-40B4-BE49-F238E27FC236}">
                    <a16:creationId xmlns:a16="http://schemas.microsoft.com/office/drawing/2014/main" id="{0077EBFA-48CB-9659-F32E-A44B29710EBF}"/>
                  </a:ext>
                </a:extLst>
              </p:cNvPr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avLst/>
                <a:gdLst/>
                <a:ahLst/>
                <a:cxnLst/>
                <a:rect l="l" t="t" r="r" b="b"/>
                <a:pathLst>
                  <a:path w="216735" h="358700" extrusionOk="0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2F55D4"/>
              </a:solidFill>
              <a:ln>
                <a:noFill/>
              </a:ln>
            </p:spPr>
            <p:txBody>
              <a:bodyPr spcFirstLastPara="1" wrap="square" lIns="45700" tIns="22825" rIns="45700" bIns="228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  <a:tabLst/>
                  <a:defRPr/>
                </a:pPr>
                <a:endParaRPr kumimoji="0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44" name="Picture 43" descr="JSW Steel Logo PNG Vector (SVG) Free Download">
            <a:extLst>
              <a:ext uri="{FF2B5EF4-FFF2-40B4-BE49-F238E27FC236}">
                <a16:creationId xmlns:a16="http://schemas.microsoft.com/office/drawing/2014/main" id="{1204F421-A222-DBD7-8B37-80944086210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2223" b="30422"/>
          <a:stretch>
            <a:fillRect/>
          </a:stretch>
        </p:blipFill>
        <p:spPr>
          <a:xfrm>
            <a:off x="4808320" y="1425354"/>
            <a:ext cx="1059343" cy="395722"/>
          </a:xfrm>
          <a:prstGeom prst="rect">
            <a:avLst/>
          </a:prstGeom>
        </p:spPr>
      </p:pic>
      <p:pic>
        <p:nvPicPr>
          <p:cNvPr id="45" name="Picture 44" descr="JSW - Cement">
            <a:extLst>
              <a:ext uri="{FF2B5EF4-FFF2-40B4-BE49-F238E27FC236}">
                <a16:creationId xmlns:a16="http://schemas.microsoft.com/office/drawing/2014/main" id="{AF009BD4-35CA-3C72-3174-AEF911E7BF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9644" y="1432874"/>
            <a:ext cx="1034082" cy="29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2935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9g.6aq00WkbNTDofa0y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1893</TotalTime>
  <Words>414</Words>
  <Application>Microsoft Macintosh PowerPoint</Application>
  <PresentationFormat>Widescreen</PresentationFormat>
  <Paragraphs>38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EYInterstate Light</vt:lpstr>
      <vt:lpstr>Wingdings 3</vt:lpstr>
      <vt:lpstr>Office Theme</vt:lpstr>
      <vt:lpstr>think-cell Slide</vt:lpstr>
      <vt:lpstr>SME Profiles</vt:lpstr>
      <vt:lpstr>Select credentials demonstrating experience in heat balance, SCH optimisation, cement processing optimisation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Prasad Chaure</dc:creator>
  <cp:lastModifiedBy>Prasad Chaure</cp:lastModifiedBy>
  <cp:revision>2</cp:revision>
  <dcterms:created xsi:type="dcterms:W3CDTF">2026-09-21T02:56:11Z</dcterms:created>
  <dcterms:modified xsi:type="dcterms:W3CDTF">2026-09-22T10:29:43Z</dcterms:modified>
</cp:coreProperties>
</file>