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</p:sldIdLst>
  <p:sldSz cy="5143500" cx="9144000"/>
  <p:notesSz cx="6858000" cy="9144000"/>
  <p:embeddedFontLst>
    <p:embeddedFont>
      <p:font typeface="Lato"/>
      <p:regular r:id="rId10"/>
      <p:bold r:id="rId11"/>
      <p:italic r:id="rId12"/>
      <p:boldItalic r:id="rId13"/>
    </p:embeddedFont>
    <p:embeddedFont>
      <p:font typeface="Outfit"/>
      <p:regular r:id="rId14"/>
      <p:bold r:id="rId15"/>
    </p:embeddedFont>
    <p:embeddedFont>
      <p:font typeface="Outfit SemiBo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Lato-regular.fntdata"/><Relationship Id="rId11" Type="http://schemas.openxmlformats.org/officeDocument/2006/relationships/font" Target="fonts/Lato-bold.fntdata"/><Relationship Id="rId12" Type="http://schemas.openxmlformats.org/officeDocument/2006/relationships/font" Target="fonts/Lato-italic.fntdata"/><Relationship Id="rId13" Type="http://schemas.openxmlformats.org/officeDocument/2006/relationships/font" Target="fonts/Lato-boldItalic.fntdata"/><Relationship Id="rId14" Type="http://schemas.openxmlformats.org/officeDocument/2006/relationships/font" Target="fonts/Outfit-regular.fntdata"/><Relationship Id="rId15" Type="http://schemas.openxmlformats.org/officeDocument/2006/relationships/font" Target="fonts/Outfit-bold.fntdata"/><Relationship Id="rId16" Type="http://schemas.openxmlformats.org/officeDocument/2006/relationships/font" Target="fonts/OutfitSemiBold-regular.fntdata"/><Relationship Id="rId17" Type="http://schemas.openxmlformats.org/officeDocument/2006/relationships/font" Target="fonts/OutfitSemiBold-bold.fntdata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63851a84_0_33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b63851a84_0_33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25" lIns="42675" spcFirstLastPara="1" rIns="42675" wrap="square" tIns="21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/>
          </a:p>
        </p:txBody>
      </p:sp>
      <p:sp>
        <p:nvSpPr>
          <p:cNvPr id="144" name="Google Shape;144;g3fb63851a84_0_33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25" lIns="42675" spcFirstLastPara="1" rIns="42675" wrap="square" tIns="21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b63851a84_0_356:notes"/>
          <p:cNvSpPr/>
          <p:nvPr>
            <p:ph idx="2" type="sldImg"/>
          </p:nvPr>
        </p:nvSpPr>
        <p:spPr>
          <a:xfrm>
            <a:off x="73" y="0"/>
            <a:ext cx="1124700" cy="112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fb63851a84_0_356:notes"/>
          <p:cNvSpPr txBox="1"/>
          <p:nvPr>
            <p:ph idx="1" type="body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b63851a84_0_356:notes"/>
          <p:cNvSpPr txBox="1"/>
          <p:nvPr>
            <p:ph idx="12" type="sldNum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63851a84_0_462:notes"/>
          <p:cNvSpPr/>
          <p:nvPr>
            <p:ph idx="2" type="sldImg"/>
          </p:nvPr>
        </p:nvSpPr>
        <p:spPr>
          <a:xfrm>
            <a:off x="73" y="0"/>
            <a:ext cx="1124700" cy="112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fb63851a84_0_462:notes"/>
          <p:cNvSpPr txBox="1"/>
          <p:nvPr>
            <p:ph idx="1" type="body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b63851a84_0_462:notes"/>
          <p:cNvSpPr txBox="1"/>
          <p:nvPr>
            <p:ph idx="12" type="sldNum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556784" y="4749851"/>
            <a:ext cx="54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ctrTitle"/>
          </p:nvPr>
        </p:nvSpPr>
        <p:spPr>
          <a:xfrm>
            <a:off x="1143000" y="1939975"/>
            <a:ext cx="6858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" type="subTitle"/>
          </p:nvPr>
        </p:nvSpPr>
        <p:spPr>
          <a:xfrm>
            <a:off x="1143000" y="2701529"/>
            <a:ext cx="685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9pPr>
          </a:lstStyle>
          <a:p/>
        </p:txBody>
      </p:sp>
      <p:sp>
        <p:nvSpPr>
          <p:cNvPr id="100" name="Google Shape;100;p26"/>
          <p:cNvSpPr txBox="1"/>
          <p:nvPr>
            <p:ph idx="10" type="dt"/>
          </p:nvPr>
        </p:nvSpPr>
        <p:spPr>
          <a:xfrm>
            <a:off x="45720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1" name="Google Shape;101;p26"/>
          <p:cNvSpPr txBox="1"/>
          <p:nvPr>
            <p:ph idx="11" type="ftr"/>
          </p:nvPr>
        </p:nvSpPr>
        <p:spPr>
          <a:xfrm>
            <a:off x="3108960" y="4783455"/>
            <a:ext cx="2926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6583680" y="4783455"/>
            <a:ext cx="2103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Cover">
  <p:cSld name="1-Cov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5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6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1" name="Google Shape;131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OBJECT_2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36" name="Google Shape;136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>
            <p:ph type="title"/>
          </p:nvPr>
        </p:nvSpPr>
        <p:spPr>
          <a:xfrm>
            <a:off x="41850" y="385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hyperlink" Target="http://www.faclon.com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2.png"/><Relationship Id="rId11" Type="http://schemas.openxmlformats.org/officeDocument/2006/relationships/image" Target="../media/image8.png"/><Relationship Id="rId12" Type="http://schemas.openxmlformats.org/officeDocument/2006/relationships/image" Target="../media/image6.png"/><Relationship Id="rId13" Type="http://schemas.openxmlformats.org/officeDocument/2006/relationships/image" Target="../media/image15.png"/><Relationship Id="rId14" Type="http://schemas.openxmlformats.org/officeDocument/2006/relationships/image" Target="../media/image18.png"/><Relationship Id="rId15" Type="http://schemas.openxmlformats.org/officeDocument/2006/relationships/image" Target="../media/image1.png"/><Relationship Id="rId1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32.png"/><Relationship Id="rId11" Type="http://schemas.openxmlformats.org/officeDocument/2006/relationships/image" Target="../media/image30.png"/><Relationship Id="rId12" Type="http://schemas.openxmlformats.org/officeDocument/2006/relationships/image" Target="../media/image27.png"/><Relationship Id="rId13" Type="http://schemas.openxmlformats.org/officeDocument/2006/relationships/image" Target="../media/image36.png"/><Relationship Id="rId14" Type="http://schemas.openxmlformats.org/officeDocument/2006/relationships/image" Target="../media/image14.png"/><Relationship Id="rId15" Type="http://schemas.openxmlformats.org/officeDocument/2006/relationships/image" Target="../media/image23.png"/><Relationship Id="rId16" Type="http://schemas.openxmlformats.org/officeDocument/2006/relationships/image" Target="../media/image39.png"/><Relationship Id="rId17" Type="http://schemas.openxmlformats.org/officeDocument/2006/relationships/image" Target="../media/image22.png"/><Relationship Id="rId18" Type="http://schemas.openxmlformats.org/officeDocument/2006/relationships/image" Target="../media/image24.png"/><Relationship Id="rId19" Type="http://schemas.openxmlformats.org/officeDocument/2006/relationships/image" Target="../media/image37.png"/><Relationship Id="rId20" Type="http://schemas.openxmlformats.org/officeDocument/2006/relationships/image" Target="../media/image21.png"/><Relationship Id="rId21" Type="http://schemas.openxmlformats.org/officeDocument/2006/relationships/image" Target="../media/image34.png"/><Relationship Id="rId22" Type="http://schemas.openxmlformats.org/officeDocument/2006/relationships/image" Target="../media/image31.png"/><Relationship Id="rId23" Type="http://schemas.openxmlformats.org/officeDocument/2006/relationships/image" Target="../media/image26.png"/><Relationship Id="rId24" Type="http://schemas.openxmlformats.org/officeDocument/2006/relationships/image" Target="../media/image35.png"/><Relationship Id="rId25" Type="http://schemas.openxmlformats.org/officeDocument/2006/relationships/image" Target="../media/image25.png"/><Relationship Id="rId26" Type="http://schemas.openxmlformats.org/officeDocument/2006/relationships/image" Target="../media/image42.png"/><Relationship Id="rId27" Type="http://schemas.openxmlformats.org/officeDocument/2006/relationships/image" Target="../media/image33.png"/><Relationship Id="rId28" Type="http://schemas.openxmlformats.org/officeDocument/2006/relationships/image" Target="../media/image44.png"/><Relationship Id="rId29" Type="http://schemas.openxmlformats.org/officeDocument/2006/relationships/image" Target="../media/image38.png"/><Relationship Id="rId30" Type="http://schemas.openxmlformats.org/officeDocument/2006/relationships/image" Target="../media/image40.png"/><Relationship Id="rId31" Type="http://schemas.openxmlformats.org/officeDocument/2006/relationships/image" Target="../media/image49.png"/><Relationship Id="rId32" Type="http://schemas.openxmlformats.org/officeDocument/2006/relationships/image" Target="../media/image41.png"/><Relationship Id="rId33" Type="http://schemas.openxmlformats.org/officeDocument/2006/relationships/image" Target="../media/image4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0.png"/><Relationship Id="rId4" Type="http://schemas.openxmlformats.org/officeDocument/2006/relationships/image" Target="../media/image64.png"/><Relationship Id="rId5" Type="http://schemas.openxmlformats.org/officeDocument/2006/relationships/image" Target="../media/image97.png"/><Relationship Id="rId6" Type="http://schemas.openxmlformats.org/officeDocument/2006/relationships/image" Target="../media/image45.png"/><Relationship Id="rId7" Type="http://schemas.openxmlformats.org/officeDocument/2006/relationships/image" Target="../media/image51.png"/><Relationship Id="rId8" Type="http://schemas.openxmlformats.org/officeDocument/2006/relationships/image" Target="../media/image62.png"/><Relationship Id="rId9" Type="http://schemas.openxmlformats.org/officeDocument/2006/relationships/image" Target="../media/image48.png"/><Relationship Id="rId10" Type="http://schemas.openxmlformats.org/officeDocument/2006/relationships/image" Target="../media/image79.png"/><Relationship Id="rId11" Type="http://schemas.openxmlformats.org/officeDocument/2006/relationships/image" Target="../media/image59.png"/><Relationship Id="rId12" Type="http://schemas.openxmlformats.org/officeDocument/2006/relationships/image" Target="../media/image43.png"/><Relationship Id="rId13" Type="http://schemas.openxmlformats.org/officeDocument/2006/relationships/image" Target="../media/image55.png"/><Relationship Id="rId14" Type="http://schemas.openxmlformats.org/officeDocument/2006/relationships/image" Target="../media/image47.png"/><Relationship Id="rId15" Type="http://schemas.openxmlformats.org/officeDocument/2006/relationships/image" Target="../media/image95.png"/><Relationship Id="rId16" Type="http://schemas.openxmlformats.org/officeDocument/2006/relationships/image" Target="../media/image60.png"/><Relationship Id="rId17" Type="http://schemas.openxmlformats.org/officeDocument/2006/relationships/image" Target="../media/image53.png"/><Relationship Id="rId18" Type="http://schemas.openxmlformats.org/officeDocument/2006/relationships/image" Target="../media/image58.png"/><Relationship Id="rId19" Type="http://schemas.openxmlformats.org/officeDocument/2006/relationships/image" Target="../media/image52.png"/><Relationship Id="rId20" Type="http://schemas.openxmlformats.org/officeDocument/2006/relationships/image" Target="../media/image65.png"/><Relationship Id="rId21" Type="http://schemas.openxmlformats.org/officeDocument/2006/relationships/image" Target="../media/image56.png"/><Relationship Id="rId22" Type="http://schemas.openxmlformats.org/officeDocument/2006/relationships/image" Target="../media/image67.png"/><Relationship Id="rId23" Type="http://schemas.openxmlformats.org/officeDocument/2006/relationships/image" Target="../media/image57.png"/><Relationship Id="rId24" Type="http://schemas.openxmlformats.org/officeDocument/2006/relationships/image" Target="../media/image54.png"/><Relationship Id="rId25" Type="http://schemas.openxmlformats.org/officeDocument/2006/relationships/image" Target="../media/image115.png"/><Relationship Id="rId26" Type="http://schemas.openxmlformats.org/officeDocument/2006/relationships/image" Target="../media/image61.png"/><Relationship Id="rId27" Type="http://schemas.openxmlformats.org/officeDocument/2006/relationships/image" Target="../media/image71.png"/><Relationship Id="rId28" Type="http://schemas.openxmlformats.org/officeDocument/2006/relationships/image" Target="../media/image63.png"/><Relationship Id="rId29" Type="http://schemas.openxmlformats.org/officeDocument/2006/relationships/image" Target="../media/image66.png"/><Relationship Id="rId30" Type="http://schemas.openxmlformats.org/officeDocument/2006/relationships/image" Target="../media/image70.png"/><Relationship Id="rId31" Type="http://schemas.openxmlformats.org/officeDocument/2006/relationships/image" Target="../media/image69.png"/><Relationship Id="rId32" Type="http://schemas.openxmlformats.org/officeDocument/2006/relationships/image" Target="../media/image77.png"/><Relationship Id="rId33" Type="http://schemas.openxmlformats.org/officeDocument/2006/relationships/image" Target="../media/image82.png"/><Relationship Id="rId34" Type="http://schemas.openxmlformats.org/officeDocument/2006/relationships/image" Target="../media/image76.png"/><Relationship Id="rId35" Type="http://schemas.openxmlformats.org/officeDocument/2006/relationships/image" Target="../media/image68.png"/><Relationship Id="rId36" Type="http://schemas.openxmlformats.org/officeDocument/2006/relationships/image" Target="../media/image74.png"/><Relationship Id="rId37" Type="http://schemas.openxmlformats.org/officeDocument/2006/relationships/image" Target="../media/image73.png"/><Relationship Id="rId38" Type="http://schemas.openxmlformats.org/officeDocument/2006/relationships/image" Target="../media/image80.png"/><Relationship Id="rId39" Type="http://schemas.openxmlformats.org/officeDocument/2006/relationships/image" Target="../media/image75.png"/><Relationship Id="rId40" Type="http://schemas.openxmlformats.org/officeDocument/2006/relationships/image" Target="../media/image78.png"/><Relationship Id="rId41" Type="http://schemas.openxmlformats.org/officeDocument/2006/relationships/image" Target="../media/image72.png"/><Relationship Id="rId42" Type="http://schemas.openxmlformats.org/officeDocument/2006/relationships/image" Target="../media/image81.png"/><Relationship Id="rId43" Type="http://schemas.openxmlformats.org/officeDocument/2006/relationships/image" Target="../media/image85.png"/><Relationship Id="rId44" Type="http://schemas.openxmlformats.org/officeDocument/2006/relationships/image" Target="../media/image103.png"/><Relationship Id="rId45" Type="http://schemas.openxmlformats.org/officeDocument/2006/relationships/image" Target="../media/image99.png"/><Relationship Id="rId46" Type="http://schemas.openxmlformats.org/officeDocument/2006/relationships/image" Target="../media/image109.png"/><Relationship Id="rId47" Type="http://schemas.openxmlformats.org/officeDocument/2006/relationships/image" Target="../media/image84.png"/><Relationship Id="rId48" Type="http://schemas.openxmlformats.org/officeDocument/2006/relationships/image" Target="../media/image93.png"/><Relationship Id="rId49" Type="http://schemas.openxmlformats.org/officeDocument/2006/relationships/image" Target="../media/image83.png"/><Relationship Id="rId50" Type="http://schemas.openxmlformats.org/officeDocument/2006/relationships/image" Target="../media/image90.png"/><Relationship Id="rId51" Type="http://schemas.openxmlformats.org/officeDocument/2006/relationships/image" Target="../media/image92.png"/><Relationship Id="rId52" Type="http://schemas.openxmlformats.org/officeDocument/2006/relationships/image" Target="../media/image89.png"/><Relationship Id="rId53" Type="http://schemas.openxmlformats.org/officeDocument/2006/relationships/image" Target="../media/image86.png"/><Relationship Id="rId54" Type="http://schemas.openxmlformats.org/officeDocument/2006/relationships/image" Target="../media/image87.png"/><Relationship Id="rId55" Type="http://schemas.openxmlformats.org/officeDocument/2006/relationships/image" Target="../media/image91.png"/><Relationship Id="rId56" Type="http://schemas.openxmlformats.org/officeDocument/2006/relationships/image" Target="../media/image88.png"/><Relationship Id="rId57" Type="http://schemas.openxmlformats.org/officeDocument/2006/relationships/image" Target="../media/image106.png"/><Relationship Id="rId58" Type="http://schemas.openxmlformats.org/officeDocument/2006/relationships/image" Target="../media/image96.png"/><Relationship Id="rId59" Type="http://schemas.openxmlformats.org/officeDocument/2006/relationships/image" Target="../media/image101.png"/><Relationship Id="rId60" Type="http://schemas.openxmlformats.org/officeDocument/2006/relationships/image" Target="../media/image98.png"/><Relationship Id="rId61" Type="http://schemas.openxmlformats.org/officeDocument/2006/relationships/image" Target="../media/image94.png"/><Relationship Id="rId62" Type="http://schemas.openxmlformats.org/officeDocument/2006/relationships/image" Target="../media/image102.png"/><Relationship Id="rId63" Type="http://schemas.openxmlformats.org/officeDocument/2006/relationships/image" Target="../media/image107.png"/><Relationship Id="rId64" Type="http://schemas.openxmlformats.org/officeDocument/2006/relationships/image" Target="../media/image112.png"/><Relationship Id="rId65" Type="http://schemas.openxmlformats.org/officeDocument/2006/relationships/image" Target="../media/image104.png"/><Relationship Id="rId66" Type="http://schemas.openxmlformats.org/officeDocument/2006/relationships/image" Target="../media/image100.png"/><Relationship Id="rId67" Type="http://schemas.openxmlformats.org/officeDocument/2006/relationships/image" Target="../media/image113.png"/><Relationship Id="rId68" Type="http://schemas.openxmlformats.org/officeDocument/2006/relationships/image" Target="../media/image110.png"/><Relationship Id="rId69" Type="http://schemas.openxmlformats.org/officeDocument/2006/relationships/image" Target="../media/image105.png"/><Relationship Id="rId70" Type="http://schemas.openxmlformats.org/officeDocument/2006/relationships/image" Target="../media/image108.png"/><Relationship Id="rId71" Type="http://schemas.openxmlformats.org/officeDocument/2006/relationships/image" Target="../media/image114.png"/><Relationship Id="rId72" Type="http://schemas.openxmlformats.org/officeDocument/2006/relationships/image" Target="../media/image1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32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 title="Fro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28"/>
            <a:ext cx="9144003" cy="5143501"/>
          </a:xfrm>
          <a:prstGeom prst="rect">
            <a:avLst/>
          </a:prstGeom>
          <a:noFill/>
          <a:ln cap="flat" cmpd="sng" w="3575">
            <a:solidFill>
              <a:srgbClr val="002DC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35"/>
          <p:cNvSpPr/>
          <p:nvPr/>
        </p:nvSpPr>
        <p:spPr>
          <a:xfrm>
            <a:off x="421625" y="1637100"/>
            <a:ext cx="5095500" cy="490200"/>
          </a:xfrm>
          <a:prstGeom prst="roundRect">
            <a:avLst>
              <a:gd fmla="val 5060" name="adj"/>
            </a:avLst>
          </a:prstGeom>
          <a:gradFill>
            <a:gsLst>
              <a:gs pos="0">
                <a:srgbClr val="051320"/>
              </a:gs>
              <a:gs pos="36000">
                <a:srgbClr val="2F55D4"/>
              </a:gs>
              <a:gs pos="100000">
                <a:srgbClr val="3CC583"/>
              </a:gs>
            </a:gsLst>
            <a:lin ang="50" scaled="0"/>
          </a:gra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 b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35"/>
          <p:cNvSpPr/>
          <p:nvPr/>
        </p:nvSpPr>
        <p:spPr>
          <a:xfrm>
            <a:off x="6540349" y="4824425"/>
            <a:ext cx="2229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" sz="1100" u="sng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www.faclon.com</a:t>
            </a:r>
            <a:r>
              <a:rPr b="0" i="0" lang="en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35"/>
          <p:cNvSpPr/>
          <p:nvPr/>
        </p:nvSpPr>
        <p:spPr>
          <a:xfrm>
            <a:off x="449375" y="1637100"/>
            <a:ext cx="67911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</a:pPr>
            <a:r>
              <a:rPr b="0" lang="en" sz="1600">
                <a:solidFill>
                  <a:schemeClr val="lt1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SAP Integration for Pipe Testing Stations</a:t>
            </a:r>
            <a:endParaRPr b="0" sz="1600">
              <a:solidFill>
                <a:srgbClr val="FFFFFF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grpSp>
        <p:nvGrpSpPr>
          <p:cNvPr id="151" name="Google Shape;151;p35"/>
          <p:cNvGrpSpPr/>
          <p:nvPr/>
        </p:nvGrpSpPr>
        <p:grpSpPr>
          <a:xfrm>
            <a:off x="457257" y="571500"/>
            <a:ext cx="1638505" cy="342900"/>
            <a:chOff x="1219352" y="1524000"/>
            <a:chExt cx="4369347" cy="914400"/>
          </a:xfrm>
        </p:grpSpPr>
        <p:pic>
          <p:nvPicPr>
            <p:cNvPr descr=" " id="152" name="Google Shape;152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19352" y="1524000"/>
              <a:ext cx="720455" cy="821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3" name="Google Shape;15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82763" y="1671665"/>
              <a:ext cx="235141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4" name="Google Shape;154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54792" y="1671665"/>
              <a:ext cx="387684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71676" y="1671665"/>
              <a:ext cx="221868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6" name="Google Shape;156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915252" y="1671665"/>
              <a:ext cx="325515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7" name="Google Shape;157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776674" y="1661291"/>
              <a:ext cx="328232" cy="37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8" name="Google Shape;158;p3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446447" y="1661291"/>
              <a:ext cx="385501" cy="37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9" name="Google Shape;159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960799" y="2101559"/>
              <a:ext cx="206860" cy="324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0" name="Google Shape;160;p3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336339" y="2061090"/>
              <a:ext cx="348574" cy="365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1" name="Google Shape;161;p3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893994" y="2061090"/>
              <a:ext cx="244840" cy="365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3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356349" y="2051779"/>
              <a:ext cx="232350" cy="386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35"/>
          <p:cNvSpPr txBox="1"/>
          <p:nvPr/>
        </p:nvSpPr>
        <p:spPr>
          <a:xfrm>
            <a:off x="556853" y="2239550"/>
            <a:ext cx="2773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Date: 15th Sep, 2026</a:t>
            </a:r>
            <a:endParaRPr sz="1200" b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383158" y="1161600"/>
            <a:ext cx="38031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chemeClr val="lt1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Welspun Corporation</a:t>
            </a:r>
            <a:endParaRPr b="0" sz="2000">
              <a:solidFill>
                <a:schemeClr val="lt1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pic>
        <p:nvPicPr>
          <p:cNvPr id="165" name="Google Shape;165;p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7256" y="3385799"/>
            <a:ext cx="2382674" cy="668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1" name="Google Shape;1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85" y="1023938"/>
            <a:ext cx="604834" cy="604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2" name="Google Shape;1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6048" y="519113"/>
            <a:ext cx="6148355" cy="2596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5705" y="485775"/>
            <a:ext cx="4846588" cy="46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4" name="Google Shape;17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97559" y="2727305"/>
            <a:ext cx="4846587" cy="46351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6"/>
          <p:cNvSpPr/>
          <p:nvPr/>
        </p:nvSpPr>
        <p:spPr>
          <a:xfrm>
            <a:off x="233361" y="238125"/>
            <a:ext cx="4295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36"/>
          <p:cNvSpPr/>
          <p:nvPr/>
        </p:nvSpPr>
        <p:spPr>
          <a:xfrm>
            <a:off x="233361" y="238125"/>
            <a:ext cx="2881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000"/>
              <a:buFont typeface="Inter"/>
              <a:buNone/>
            </a:pPr>
            <a:r>
              <a:rPr b="0" i="0" lang="en" sz="18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Faclon Labs</a:t>
            </a:r>
            <a:r>
              <a:rPr b="0" i="0" lang="en" sz="1800" u="none" cap="none" strike="noStrike">
                <a:solidFill>
                  <a:srgbClr val="192839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 at a Glance</a:t>
            </a:r>
            <a:endParaRPr b="0" i="0" sz="1800" u="none" cap="none" strike="noStrike">
              <a:solidFill>
                <a:schemeClr val="dk1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sp>
        <p:nvSpPr>
          <p:cNvPr id="177" name="Google Shape;177;p36"/>
          <p:cNvSpPr/>
          <p:nvPr/>
        </p:nvSpPr>
        <p:spPr>
          <a:xfrm>
            <a:off x="233347" y="561975"/>
            <a:ext cx="544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66D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Leaders in Industrial Data Integration, Visualization, and AI based Optimization 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78" name="Google Shape;17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4002" y="-597694"/>
            <a:ext cx="4610076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9" name="Google Shape;179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561" y="1786494"/>
            <a:ext cx="1983265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0" name="Google Shape;180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47547" y="1786494"/>
            <a:ext cx="841137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1" name="Google Shape;181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62717" y="1109663"/>
            <a:ext cx="19050" cy="63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2" name="Google Shape;182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62717" y="1869845"/>
            <a:ext cx="19050" cy="639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3" name="Google Shape;183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81106" y="1869845"/>
            <a:ext cx="19050" cy="6399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/>
          <p:nvPr/>
        </p:nvSpPr>
        <p:spPr>
          <a:xfrm>
            <a:off x="1354943" y="1885950"/>
            <a:ext cx="9144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5 B+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Data Points Daily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36"/>
          <p:cNvSpPr/>
          <p:nvPr/>
        </p:nvSpPr>
        <p:spPr>
          <a:xfrm>
            <a:off x="2616999" y="1885950"/>
            <a:ext cx="7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1</a:t>
            </a:r>
            <a:r>
              <a:rPr b="0" lang="en" sz="2300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5</a:t>
            </a: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0+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Employees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36"/>
          <p:cNvSpPr/>
          <p:nvPr/>
        </p:nvSpPr>
        <p:spPr>
          <a:xfrm>
            <a:off x="2494762" y="1128713"/>
            <a:ext cx="966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400+</a:t>
            </a:r>
            <a:r>
              <a:rPr b="0" i="0" lang="en" sz="8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Deployments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1454955" y="1128713"/>
            <a:ext cx="7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1</a:t>
            </a:r>
            <a:r>
              <a:rPr b="0" lang="en" sz="2300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83</a:t>
            </a: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Customers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240524" y="1857375"/>
            <a:ext cx="952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60k+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Assets Connected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6270600" y="3286125"/>
            <a:ext cx="779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Backed By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90" name="Google Shape;190;p3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16559" y="2793206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6"/>
          <p:cNvSpPr/>
          <p:nvPr/>
        </p:nvSpPr>
        <p:spPr>
          <a:xfrm>
            <a:off x="2509440" y="2890838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92" name="Google Shape;192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09439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3" name="Google Shape;193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509225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/>
          <p:nvPr/>
        </p:nvSpPr>
        <p:spPr>
          <a:xfrm>
            <a:off x="3090051" y="2869406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6"/>
          <p:cNvSpPr/>
          <p:nvPr/>
        </p:nvSpPr>
        <p:spPr>
          <a:xfrm>
            <a:off x="3090051" y="2869406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Utkarsh Srivastava​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36"/>
          <p:cNvSpPr/>
          <p:nvPr/>
        </p:nvSpPr>
        <p:spPr>
          <a:xfrm>
            <a:off x="3090051" y="3069431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CTO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36"/>
          <p:cNvSpPr/>
          <p:nvPr/>
        </p:nvSpPr>
        <p:spPr>
          <a:xfrm>
            <a:off x="3090051" y="321706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Ex-White Hat Hacker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98" name="Google Shape;198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98673" y="3531394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6"/>
          <p:cNvSpPr/>
          <p:nvPr/>
        </p:nvSpPr>
        <p:spPr>
          <a:xfrm>
            <a:off x="2491554" y="36290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00" name="Google Shape;200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491554" y="3629025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1" name="Google Shape;201;p3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90850" y="3629764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/>
          <p:nvPr/>
        </p:nvSpPr>
        <p:spPr>
          <a:xfrm>
            <a:off x="3072165" y="36075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3072165" y="36075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Vivek Singh​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36"/>
          <p:cNvSpPr/>
          <p:nvPr/>
        </p:nvSpPr>
        <p:spPr>
          <a:xfrm>
            <a:off x="3072165" y="38076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Chief Data Scientist​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3072165" y="39552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B.Tech IIT Kanpur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06" name="Google Shape;206;p3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316559" y="4255294"/>
            <a:ext cx="2310185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6"/>
          <p:cNvSpPr/>
          <p:nvPr/>
        </p:nvSpPr>
        <p:spPr>
          <a:xfrm>
            <a:off x="2509440" y="43529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08" name="Google Shape;208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09439" y="4352925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/>
          <p:nvPr/>
        </p:nvSpPr>
        <p:spPr>
          <a:xfrm>
            <a:off x="3090051" y="43314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3090051" y="43314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lang="en" sz="1000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Parag Patil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36"/>
          <p:cNvSpPr/>
          <p:nvPr/>
        </p:nvSpPr>
        <p:spPr>
          <a:xfrm>
            <a:off x="3090051" y="45315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Chief Strategic Alliances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3090051" y="46791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Ex-Wipro, Infosys, RIL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13" name="Google Shape;213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943450" y="36147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3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682" y="2793206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6"/>
          <p:cNvSpPr/>
          <p:nvPr/>
        </p:nvSpPr>
        <p:spPr>
          <a:xfrm>
            <a:off x="281384" y="2869406"/>
            <a:ext cx="1936200" cy="519000"/>
          </a:xfrm>
          <a:prstGeom prst="rect">
            <a:avLst/>
          </a:prstGeom>
          <a:noFill/>
          <a:ln cap="flat" cmpd="sng" w="19050">
            <a:solidFill>
              <a:srgbClr val="D7D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16" name="Google Shape;216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1384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" name="Google Shape;217;p3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81169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/>
          <p:nvPr/>
        </p:nvSpPr>
        <p:spPr>
          <a:xfrm>
            <a:off x="861995" y="2869406"/>
            <a:ext cx="1355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861995" y="2869406"/>
            <a:ext cx="1396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Rishi Sharma​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36"/>
          <p:cNvSpPr/>
          <p:nvPr/>
        </p:nvSpPr>
        <p:spPr>
          <a:xfrm>
            <a:off x="861995" y="3069431"/>
            <a:ext cx="1387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CEO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861995" y="3217069"/>
            <a:ext cx="1387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B.Tech IIT Bombay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22" name="Google Shape;222;p3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6681" y="3531394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6"/>
          <p:cNvSpPr/>
          <p:nvPr/>
        </p:nvSpPr>
        <p:spPr>
          <a:xfrm>
            <a:off x="309561" y="36290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24" name="Google Shape;224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9561" y="3629025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6"/>
          <p:cNvSpPr/>
          <p:nvPr/>
        </p:nvSpPr>
        <p:spPr>
          <a:xfrm>
            <a:off x="890172" y="36075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36"/>
          <p:cNvSpPr/>
          <p:nvPr/>
        </p:nvSpPr>
        <p:spPr>
          <a:xfrm>
            <a:off x="890172" y="36075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lang="en" sz="1000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Parth Chaudhary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890172" y="38076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President of Solution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36"/>
          <p:cNvSpPr/>
          <p:nvPr/>
        </p:nvSpPr>
        <p:spPr>
          <a:xfrm>
            <a:off x="890172" y="39552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 Tech IIT Bombay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29" name="Google Shape;229;p3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6681" y="4255294"/>
            <a:ext cx="2310185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/>
          <p:nvPr/>
        </p:nvSpPr>
        <p:spPr>
          <a:xfrm>
            <a:off x="309561" y="43529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31" name="Google Shape;231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9561" y="4352925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p3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09561" y="4355306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/>
          <p:nvPr/>
        </p:nvSpPr>
        <p:spPr>
          <a:xfrm>
            <a:off x="890172" y="43314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890172" y="43314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 Naraniwal​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890172" y="45315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Chief</a:t>
            </a: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 Sales Officer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36"/>
          <p:cNvSpPr/>
          <p:nvPr/>
        </p:nvSpPr>
        <p:spPr>
          <a:xfrm>
            <a:off x="890172" y="46791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 Tech IIT Bombay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37" name="Google Shape;237;p3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02194" y="3531406"/>
            <a:ext cx="2136722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6"/>
          <p:cNvSpPr/>
          <p:nvPr/>
        </p:nvSpPr>
        <p:spPr>
          <a:xfrm>
            <a:off x="5795075" y="3629038"/>
            <a:ext cx="175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39" name="Google Shape;239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795075" y="36290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0" name="Google Shape;240;p3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816757" y="3650670"/>
            <a:ext cx="428623" cy="42856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/>
          <p:nvPr/>
        </p:nvSpPr>
        <p:spPr>
          <a:xfrm>
            <a:off x="6375686" y="3781438"/>
            <a:ext cx="117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2" name="Google Shape;242;p3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750569" y="4255294"/>
            <a:ext cx="2138352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/>
          <p:nvPr/>
        </p:nvSpPr>
        <p:spPr>
          <a:xfrm>
            <a:off x="4943449" y="4352925"/>
            <a:ext cx="1752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4" name="Google Shape;244;p3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943449" y="4352925"/>
            <a:ext cx="476248" cy="490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3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981549" y="4364981"/>
            <a:ext cx="428623" cy="441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/>
          <p:nvPr/>
        </p:nvSpPr>
        <p:spPr>
          <a:xfrm>
            <a:off x="5524061" y="4338638"/>
            <a:ext cx="1172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7" name="Google Shape;247;p3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803196" y="4250531"/>
            <a:ext cx="2136721" cy="89285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/>
          <p:nvPr/>
        </p:nvSpPr>
        <p:spPr>
          <a:xfrm>
            <a:off x="6996076" y="4357688"/>
            <a:ext cx="175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9" name="Google Shape;249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996076" y="435768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0" name="Google Shape;250;p36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996076" y="4376738"/>
            <a:ext cx="433385" cy="43333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6"/>
          <p:cNvSpPr/>
          <p:nvPr/>
        </p:nvSpPr>
        <p:spPr>
          <a:xfrm>
            <a:off x="7576688" y="4510088"/>
            <a:ext cx="117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36"/>
          <p:cNvSpPr/>
          <p:nvPr/>
        </p:nvSpPr>
        <p:spPr>
          <a:xfrm>
            <a:off x="5524061" y="4416187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Jay Kotak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5524061" y="4640024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Co-head, Kotak 811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6354478" y="3667534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Sarjan Shah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36"/>
          <p:cNvSpPr/>
          <p:nvPr/>
        </p:nvSpPr>
        <p:spPr>
          <a:xfrm>
            <a:off x="6354478" y="3891372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MD, Group Satellite </a:t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7555479" y="4416187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Siddharth Mehra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36"/>
          <p:cNvSpPr/>
          <p:nvPr/>
        </p:nvSpPr>
        <p:spPr>
          <a:xfrm>
            <a:off x="7555479" y="4640024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ED, Savita Oil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8" name="Google Shape;258;p36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97664" y="3638616"/>
            <a:ext cx="476253" cy="476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6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490863" y="4344875"/>
            <a:ext cx="476250" cy="47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36"/>
          <p:cNvGrpSpPr/>
          <p:nvPr/>
        </p:nvGrpSpPr>
        <p:grpSpPr>
          <a:xfrm>
            <a:off x="7770516" y="215751"/>
            <a:ext cx="1158723" cy="241192"/>
            <a:chOff x="4059287" y="2048033"/>
            <a:chExt cx="4075704" cy="848371"/>
          </a:xfrm>
        </p:grpSpPr>
        <p:sp>
          <p:nvSpPr>
            <p:cNvPr id="261" name="Google Shape;261;p36"/>
            <p:cNvSpPr/>
            <p:nvPr/>
          </p:nvSpPr>
          <p:spPr>
            <a:xfrm>
              <a:off x="4059287" y="2048033"/>
              <a:ext cx="672035" cy="761954"/>
            </a:xfrm>
            <a:custGeom>
              <a:rect b="b" l="l" r="r" t="t"/>
              <a:pathLst>
                <a:path extrusionOk="0" h="761954" w="672035">
                  <a:moveTo>
                    <a:pt x="339316" y="761955"/>
                  </a:moveTo>
                  <a:lnTo>
                    <a:pt x="145956" y="208835"/>
                  </a:lnTo>
                  <a:lnTo>
                    <a:pt x="74200" y="431354"/>
                  </a:lnTo>
                  <a:lnTo>
                    <a:pt x="190672" y="519726"/>
                  </a:lnTo>
                  <a:lnTo>
                    <a:pt x="211441" y="612252"/>
                  </a:lnTo>
                  <a:lnTo>
                    <a:pt x="0" y="458313"/>
                  </a:lnTo>
                  <a:lnTo>
                    <a:pt x="152147" y="0"/>
                  </a:lnTo>
                  <a:lnTo>
                    <a:pt x="339316" y="556052"/>
                  </a:lnTo>
                  <a:lnTo>
                    <a:pt x="524450" y="8145"/>
                  </a:lnTo>
                  <a:lnTo>
                    <a:pt x="672035" y="470856"/>
                  </a:lnTo>
                  <a:lnTo>
                    <a:pt x="461001" y="623654"/>
                  </a:lnTo>
                  <a:lnTo>
                    <a:pt x="483888" y="523879"/>
                  </a:lnTo>
                  <a:lnTo>
                    <a:pt x="596125" y="438602"/>
                  </a:lnTo>
                  <a:lnTo>
                    <a:pt x="521273" y="21820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2" name="Google Shape;262;p36"/>
            <p:cNvSpPr/>
            <p:nvPr/>
          </p:nvSpPr>
          <p:spPr>
            <a:xfrm>
              <a:off x="4864573" y="2185030"/>
              <a:ext cx="219342" cy="333696"/>
            </a:xfrm>
            <a:custGeom>
              <a:rect b="b" l="l" r="r" t="t"/>
              <a:pathLst>
                <a:path extrusionOk="0" h="333696" w="219342">
                  <a:moveTo>
                    <a:pt x="219342" y="0"/>
                  </a:moveTo>
                  <a:lnTo>
                    <a:pt x="219342" y="68173"/>
                  </a:lnTo>
                  <a:lnTo>
                    <a:pt x="80064" y="68173"/>
                  </a:lnTo>
                  <a:lnTo>
                    <a:pt x="80064" y="138545"/>
                  </a:lnTo>
                  <a:lnTo>
                    <a:pt x="209324" y="138545"/>
                  </a:lnTo>
                  <a:lnTo>
                    <a:pt x="209324" y="206473"/>
                  </a:lnTo>
                  <a:lnTo>
                    <a:pt x="80064" y="206473"/>
                  </a:lnTo>
                  <a:lnTo>
                    <a:pt x="80064" y="333696"/>
                  </a:lnTo>
                  <a:lnTo>
                    <a:pt x="0" y="33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3" name="Google Shape;263;p36"/>
            <p:cNvSpPr/>
            <p:nvPr/>
          </p:nvSpPr>
          <p:spPr>
            <a:xfrm>
              <a:off x="5118368" y="2185030"/>
              <a:ext cx="361633" cy="333696"/>
            </a:xfrm>
            <a:custGeom>
              <a:rect b="b" l="l" r="r" t="t"/>
              <a:pathLst>
                <a:path extrusionOk="0" h="333696" w="361633">
                  <a:moveTo>
                    <a:pt x="334022" y="267804"/>
                  </a:moveTo>
                  <a:lnTo>
                    <a:pt x="308284" y="206473"/>
                  </a:lnTo>
                  <a:lnTo>
                    <a:pt x="279777" y="138545"/>
                  </a:lnTo>
                  <a:lnTo>
                    <a:pt x="250293" y="68173"/>
                  </a:lnTo>
                  <a:lnTo>
                    <a:pt x="221704" y="0"/>
                  </a:lnTo>
                  <a:lnTo>
                    <a:pt x="139929" y="0"/>
                  </a:lnTo>
                  <a:lnTo>
                    <a:pt x="111341" y="68173"/>
                  </a:lnTo>
                  <a:lnTo>
                    <a:pt x="81856" y="138545"/>
                  </a:lnTo>
                  <a:lnTo>
                    <a:pt x="53349" y="206473"/>
                  </a:lnTo>
                  <a:lnTo>
                    <a:pt x="27611" y="267804"/>
                  </a:lnTo>
                  <a:lnTo>
                    <a:pt x="0" y="333696"/>
                  </a:lnTo>
                  <a:lnTo>
                    <a:pt x="90408" y="333696"/>
                  </a:lnTo>
                  <a:lnTo>
                    <a:pt x="113621" y="267804"/>
                  </a:lnTo>
                  <a:lnTo>
                    <a:pt x="244835" y="267804"/>
                  </a:lnTo>
                  <a:lnTo>
                    <a:pt x="268048" y="333696"/>
                  </a:lnTo>
                  <a:lnTo>
                    <a:pt x="361633" y="333696"/>
                  </a:lnTo>
                  <a:lnTo>
                    <a:pt x="334022" y="267804"/>
                  </a:lnTo>
                  <a:close/>
                  <a:moveTo>
                    <a:pt x="135124" y="206473"/>
                  </a:moveTo>
                  <a:lnTo>
                    <a:pt x="159070" y="138545"/>
                  </a:lnTo>
                  <a:lnTo>
                    <a:pt x="179269" y="81123"/>
                  </a:lnTo>
                  <a:lnTo>
                    <a:pt x="199387" y="138545"/>
                  </a:lnTo>
                  <a:lnTo>
                    <a:pt x="223333" y="206473"/>
                  </a:lnTo>
                  <a:lnTo>
                    <a:pt x="135124" y="20647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" name="Google Shape;264;p36"/>
            <p:cNvSpPr/>
            <p:nvPr/>
          </p:nvSpPr>
          <p:spPr>
            <a:xfrm>
              <a:off x="5880404" y="2185030"/>
              <a:ext cx="206961" cy="333696"/>
            </a:xfrm>
            <a:custGeom>
              <a:rect b="b" l="l" r="r" t="t"/>
              <a:pathLst>
                <a:path extrusionOk="0" h="333696" w="206961">
                  <a:moveTo>
                    <a:pt x="206962" y="267804"/>
                  </a:moveTo>
                  <a:lnTo>
                    <a:pt x="206962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78028" y="0"/>
                  </a:lnTo>
                  <a:lnTo>
                    <a:pt x="78028" y="267804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5" name="Google Shape;265;p36"/>
            <p:cNvSpPr/>
            <p:nvPr/>
          </p:nvSpPr>
          <p:spPr>
            <a:xfrm>
              <a:off x="6573941" y="2185030"/>
              <a:ext cx="303641" cy="333696"/>
            </a:xfrm>
            <a:custGeom>
              <a:rect b="b" l="l" r="r" t="t"/>
              <a:pathLst>
                <a:path extrusionOk="0" h="333696" w="303641">
                  <a:moveTo>
                    <a:pt x="303642" y="0"/>
                  </a:moveTo>
                  <a:lnTo>
                    <a:pt x="303642" y="171124"/>
                  </a:lnTo>
                  <a:lnTo>
                    <a:pt x="268293" y="206473"/>
                  </a:lnTo>
                  <a:lnTo>
                    <a:pt x="225939" y="248827"/>
                  </a:lnTo>
                  <a:lnTo>
                    <a:pt x="206962" y="267804"/>
                  </a:lnTo>
                  <a:lnTo>
                    <a:pt x="186111" y="288655"/>
                  </a:lnTo>
                  <a:lnTo>
                    <a:pt x="172916" y="267804"/>
                  </a:lnTo>
                  <a:lnTo>
                    <a:pt x="134391" y="206473"/>
                  </a:lnTo>
                  <a:lnTo>
                    <a:pt x="91630" y="138545"/>
                  </a:lnTo>
                  <a:lnTo>
                    <a:pt x="77621" y="116228"/>
                  </a:lnTo>
                  <a:lnTo>
                    <a:pt x="77621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90082" y="0"/>
                  </a:lnTo>
                  <a:lnTo>
                    <a:pt x="133006" y="68173"/>
                  </a:lnTo>
                  <a:lnTo>
                    <a:pt x="177233" y="138545"/>
                  </a:lnTo>
                  <a:lnTo>
                    <a:pt x="219912" y="206473"/>
                  </a:lnTo>
                  <a:lnTo>
                    <a:pt x="225939" y="216003"/>
                  </a:lnTo>
                  <a:lnTo>
                    <a:pt x="225939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6" name="Google Shape;266;p36"/>
            <p:cNvSpPr/>
            <p:nvPr/>
          </p:nvSpPr>
          <p:spPr>
            <a:xfrm>
              <a:off x="5512010" y="2175419"/>
              <a:ext cx="306166" cy="351452"/>
            </a:xfrm>
            <a:custGeom>
              <a:rect b="b" l="l" r="r" t="t"/>
              <a:pathLst>
                <a:path extrusionOk="0" h="351452" w="306166">
                  <a:moveTo>
                    <a:pt x="306167" y="300547"/>
                  </a:moveTo>
                  <a:cubicBezTo>
                    <a:pt x="286212" y="320013"/>
                    <a:pt x="261533" y="334755"/>
                    <a:pt x="234003" y="343307"/>
                  </a:cubicBezTo>
                  <a:cubicBezTo>
                    <a:pt x="216898" y="348602"/>
                    <a:pt x="198654" y="351452"/>
                    <a:pt x="179758" y="351452"/>
                  </a:cubicBezTo>
                  <a:cubicBezTo>
                    <a:pt x="160862" y="351452"/>
                    <a:pt x="142617" y="348602"/>
                    <a:pt x="125513" y="343307"/>
                  </a:cubicBezTo>
                  <a:cubicBezTo>
                    <a:pt x="87883" y="331660"/>
                    <a:pt x="55548" y="308284"/>
                    <a:pt x="33231" y="277415"/>
                  </a:cubicBezTo>
                  <a:cubicBezTo>
                    <a:pt x="19955" y="259252"/>
                    <a:pt x="10181" y="238482"/>
                    <a:pt x="4805" y="216084"/>
                  </a:cubicBezTo>
                  <a:cubicBezTo>
                    <a:pt x="1629" y="203134"/>
                    <a:pt x="0" y="189613"/>
                    <a:pt x="0" y="175685"/>
                  </a:cubicBezTo>
                  <a:cubicBezTo>
                    <a:pt x="0" y="166319"/>
                    <a:pt x="733" y="157115"/>
                    <a:pt x="2199" y="148156"/>
                  </a:cubicBezTo>
                  <a:cubicBezTo>
                    <a:pt x="6353" y="122418"/>
                    <a:pt x="16208" y="98553"/>
                    <a:pt x="30462" y="77784"/>
                  </a:cubicBezTo>
                  <a:cubicBezTo>
                    <a:pt x="52127" y="46344"/>
                    <a:pt x="83811" y="22154"/>
                    <a:pt x="121115" y="9611"/>
                  </a:cubicBezTo>
                  <a:cubicBezTo>
                    <a:pt x="139441" y="3339"/>
                    <a:pt x="159233" y="0"/>
                    <a:pt x="179758" y="0"/>
                  </a:cubicBezTo>
                  <a:cubicBezTo>
                    <a:pt x="200283" y="0"/>
                    <a:pt x="220075" y="3339"/>
                    <a:pt x="238401" y="9611"/>
                  </a:cubicBezTo>
                  <a:cubicBezTo>
                    <a:pt x="263650" y="18082"/>
                    <a:pt x="286456" y="32009"/>
                    <a:pt x="305189" y="49765"/>
                  </a:cubicBezTo>
                  <a:lnTo>
                    <a:pt x="251026" y="104906"/>
                  </a:lnTo>
                  <a:cubicBezTo>
                    <a:pt x="240274" y="92770"/>
                    <a:pt x="226917" y="83322"/>
                    <a:pt x="211930" y="77784"/>
                  </a:cubicBezTo>
                  <a:cubicBezTo>
                    <a:pt x="202238" y="74200"/>
                    <a:pt x="191731" y="72245"/>
                    <a:pt x="180898" y="72245"/>
                  </a:cubicBezTo>
                  <a:cubicBezTo>
                    <a:pt x="170065" y="72245"/>
                    <a:pt x="159640" y="74200"/>
                    <a:pt x="149948" y="77784"/>
                  </a:cubicBezTo>
                  <a:cubicBezTo>
                    <a:pt x="120056" y="88698"/>
                    <a:pt x="96761" y="115087"/>
                    <a:pt x="88046" y="148156"/>
                  </a:cubicBezTo>
                  <a:cubicBezTo>
                    <a:pt x="85521" y="157441"/>
                    <a:pt x="84218" y="167215"/>
                    <a:pt x="84218" y="177396"/>
                  </a:cubicBezTo>
                  <a:cubicBezTo>
                    <a:pt x="84218" y="191079"/>
                    <a:pt x="86580" y="204111"/>
                    <a:pt x="90978" y="216084"/>
                  </a:cubicBezTo>
                  <a:cubicBezTo>
                    <a:pt x="101567" y="245080"/>
                    <a:pt x="123558" y="267723"/>
                    <a:pt x="151006" y="277415"/>
                  </a:cubicBezTo>
                  <a:cubicBezTo>
                    <a:pt x="160373" y="280754"/>
                    <a:pt x="170473" y="282546"/>
                    <a:pt x="180898" y="282546"/>
                  </a:cubicBezTo>
                  <a:cubicBezTo>
                    <a:pt x="191323" y="282546"/>
                    <a:pt x="201423" y="280754"/>
                    <a:pt x="210790" y="277415"/>
                  </a:cubicBezTo>
                  <a:cubicBezTo>
                    <a:pt x="227487" y="271551"/>
                    <a:pt x="242148" y="260799"/>
                    <a:pt x="253469" y="246790"/>
                  </a:cubicBezTo>
                  <a:lnTo>
                    <a:pt x="306167" y="300547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7" name="Google Shape;267;p36"/>
            <p:cNvSpPr/>
            <p:nvPr/>
          </p:nvSpPr>
          <p:spPr>
            <a:xfrm>
              <a:off x="6136642" y="2175419"/>
              <a:ext cx="359597" cy="351452"/>
            </a:xfrm>
            <a:custGeom>
              <a:rect b="b" l="l" r="r" t="t"/>
              <a:pathLst>
                <a:path extrusionOk="0" h="351452" w="359597">
                  <a:moveTo>
                    <a:pt x="357398" y="148156"/>
                  </a:moveTo>
                  <a:cubicBezTo>
                    <a:pt x="353244" y="122418"/>
                    <a:pt x="343389" y="98553"/>
                    <a:pt x="329135" y="77784"/>
                  </a:cubicBezTo>
                  <a:cubicBezTo>
                    <a:pt x="307470" y="46344"/>
                    <a:pt x="275705" y="22154"/>
                    <a:pt x="238401" y="9611"/>
                  </a:cubicBezTo>
                  <a:cubicBezTo>
                    <a:pt x="219994" y="3339"/>
                    <a:pt x="200283" y="0"/>
                    <a:pt x="179758" y="0"/>
                  </a:cubicBezTo>
                  <a:cubicBezTo>
                    <a:pt x="159233" y="0"/>
                    <a:pt x="139522" y="3339"/>
                    <a:pt x="121115" y="9611"/>
                  </a:cubicBezTo>
                  <a:cubicBezTo>
                    <a:pt x="83811" y="22154"/>
                    <a:pt x="52128" y="46344"/>
                    <a:pt x="30462" y="77784"/>
                  </a:cubicBezTo>
                  <a:cubicBezTo>
                    <a:pt x="16209" y="98553"/>
                    <a:pt x="6353" y="122418"/>
                    <a:pt x="2199" y="148156"/>
                  </a:cubicBezTo>
                  <a:cubicBezTo>
                    <a:pt x="733" y="157115"/>
                    <a:pt x="0" y="166319"/>
                    <a:pt x="0" y="175685"/>
                  </a:cubicBezTo>
                  <a:cubicBezTo>
                    <a:pt x="0" y="189613"/>
                    <a:pt x="1629" y="203134"/>
                    <a:pt x="4805" y="216084"/>
                  </a:cubicBezTo>
                  <a:cubicBezTo>
                    <a:pt x="10181" y="238482"/>
                    <a:pt x="19955" y="259252"/>
                    <a:pt x="33231" y="277415"/>
                  </a:cubicBezTo>
                  <a:cubicBezTo>
                    <a:pt x="55548" y="308284"/>
                    <a:pt x="87883" y="331660"/>
                    <a:pt x="125594" y="343307"/>
                  </a:cubicBezTo>
                  <a:cubicBezTo>
                    <a:pt x="142699" y="348602"/>
                    <a:pt x="160862" y="351452"/>
                    <a:pt x="179758" y="351452"/>
                  </a:cubicBezTo>
                  <a:cubicBezTo>
                    <a:pt x="198654" y="351452"/>
                    <a:pt x="216817" y="348602"/>
                    <a:pt x="233921" y="343307"/>
                  </a:cubicBezTo>
                  <a:cubicBezTo>
                    <a:pt x="271632" y="331660"/>
                    <a:pt x="303967" y="308284"/>
                    <a:pt x="326366" y="277415"/>
                  </a:cubicBezTo>
                  <a:cubicBezTo>
                    <a:pt x="339642" y="259252"/>
                    <a:pt x="349416" y="238482"/>
                    <a:pt x="354792" y="216084"/>
                  </a:cubicBezTo>
                  <a:cubicBezTo>
                    <a:pt x="357968" y="203134"/>
                    <a:pt x="359597" y="189613"/>
                    <a:pt x="359597" y="175685"/>
                  </a:cubicBezTo>
                  <a:cubicBezTo>
                    <a:pt x="359597" y="166319"/>
                    <a:pt x="358864" y="157115"/>
                    <a:pt x="357398" y="148156"/>
                  </a:cubicBezTo>
                  <a:close/>
                  <a:moveTo>
                    <a:pt x="270736" y="216084"/>
                  </a:moveTo>
                  <a:cubicBezTo>
                    <a:pt x="260067" y="245080"/>
                    <a:pt x="237831" y="267723"/>
                    <a:pt x="210138" y="277415"/>
                  </a:cubicBezTo>
                  <a:cubicBezTo>
                    <a:pt x="200609" y="280754"/>
                    <a:pt x="190428" y="282546"/>
                    <a:pt x="179921" y="282546"/>
                  </a:cubicBezTo>
                  <a:cubicBezTo>
                    <a:pt x="169414" y="282546"/>
                    <a:pt x="159233" y="280754"/>
                    <a:pt x="149703" y="277415"/>
                  </a:cubicBezTo>
                  <a:cubicBezTo>
                    <a:pt x="121929" y="267723"/>
                    <a:pt x="99694" y="245080"/>
                    <a:pt x="89024" y="216084"/>
                  </a:cubicBezTo>
                  <a:cubicBezTo>
                    <a:pt x="84626" y="204111"/>
                    <a:pt x="82182" y="191079"/>
                    <a:pt x="82182" y="177396"/>
                  </a:cubicBezTo>
                  <a:cubicBezTo>
                    <a:pt x="82182" y="167215"/>
                    <a:pt x="83485" y="157441"/>
                    <a:pt x="86092" y="148156"/>
                  </a:cubicBezTo>
                  <a:cubicBezTo>
                    <a:pt x="94888" y="115087"/>
                    <a:pt x="118427" y="88698"/>
                    <a:pt x="148644" y="77784"/>
                  </a:cubicBezTo>
                  <a:cubicBezTo>
                    <a:pt x="158500" y="74200"/>
                    <a:pt x="169007" y="72245"/>
                    <a:pt x="179921" y="72245"/>
                  </a:cubicBezTo>
                  <a:cubicBezTo>
                    <a:pt x="190916" y="72245"/>
                    <a:pt x="201423" y="74200"/>
                    <a:pt x="211279" y="77784"/>
                  </a:cubicBezTo>
                  <a:cubicBezTo>
                    <a:pt x="241333" y="88779"/>
                    <a:pt x="264872" y="115087"/>
                    <a:pt x="273668" y="148156"/>
                  </a:cubicBezTo>
                  <a:cubicBezTo>
                    <a:pt x="276275" y="157441"/>
                    <a:pt x="277578" y="167215"/>
                    <a:pt x="277578" y="177396"/>
                  </a:cubicBezTo>
                  <a:cubicBezTo>
                    <a:pt x="277578" y="191079"/>
                    <a:pt x="275134" y="204111"/>
                    <a:pt x="270736" y="21608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8" name="Google Shape;268;p36"/>
            <p:cNvSpPr/>
            <p:nvPr/>
          </p:nvSpPr>
          <p:spPr>
            <a:xfrm>
              <a:off x="6616539" y="2583885"/>
              <a:ext cx="192952" cy="301442"/>
            </a:xfrm>
            <a:custGeom>
              <a:rect b="b" l="l" r="r" t="t"/>
              <a:pathLst>
                <a:path extrusionOk="0" h="301442" w="192952">
                  <a:moveTo>
                    <a:pt x="192953" y="276112"/>
                  </a:moveTo>
                  <a:lnTo>
                    <a:pt x="192953" y="301443"/>
                  </a:lnTo>
                  <a:lnTo>
                    <a:pt x="0" y="301443"/>
                  </a:lnTo>
                  <a:lnTo>
                    <a:pt x="0" y="34127"/>
                  </a:lnTo>
                  <a:lnTo>
                    <a:pt x="34860" y="0"/>
                  </a:lnTo>
                  <a:lnTo>
                    <a:pt x="34860" y="27611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36"/>
            <p:cNvSpPr/>
            <p:nvPr/>
          </p:nvSpPr>
          <p:spPr>
            <a:xfrm>
              <a:off x="6966851" y="2546337"/>
              <a:ext cx="325143" cy="338990"/>
            </a:xfrm>
            <a:custGeom>
              <a:rect b="b" l="l" r="r" t="t"/>
              <a:pathLst>
                <a:path extrusionOk="0" h="338990" w="325143">
                  <a:moveTo>
                    <a:pt x="314393" y="313660"/>
                  </a:moveTo>
                  <a:lnTo>
                    <a:pt x="287922" y="251270"/>
                  </a:lnTo>
                  <a:lnTo>
                    <a:pt x="275542" y="222193"/>
                  </a:lnTo>
                  <a:lnTo>
                    <a:pt x="256238" y="176744"/>
                  </a:lnTo>
                  <a:lnTo>
                    <a:pt x="244917" y="150110"/>
                  </a:lnTo>
                  <a:lnTo>
                    <a:pt x="192382" y="26715"/>
                  </a:lnTo>
                  <a:lnTo>
                    <a:pt x="181061" y="0"/>
                  </a:lnTo>
                  <a:lnTo>
                    <a:pt x="144164" y="0"/>
                  </a:lnTo>
                  <a:lnTo>
                    <a:pt x="132843" y="26715"/>
                  </a:lnTo>
                  <a:lnTo>
                    <a:pt x="80309" y="150110"/>
                  </a:lnTo>
                  <a:lnTo>
                    <a:pt x="68987" y="176744"/>
                  </a:lnTo>
                  <a:lnTo>
                    <a:pt x="49684" y="222193"/>
                  </a:lnTo>
                  <a:lnTo>
                    <a:pt x="37303" y="251270"/>
                  </a:lnTo>
                  <a:lnTo>
                    <a:pt x="10751" y="313660"/>
                  </a:lnTo>
                  <a:lnTo>
                    <a:pt x="0" y="338990"/>
                  </a:lnTo>
                  <a:lnTo>
                    <a:pt x="35186" y="338990"/>
                  </a:lnTo>
                  <a:lnTo>
                    <a:pt x="45530" y="313660"/>
                  </a:lnTo>
                  <a:lnTo>
                    <a:pt x="71105" y="251270"/>
                  </a:lnTo>
                  <a:lnTo>
                    <a:pt x="250781" y="251270"/>
                  </a:lnTo>
                  <a:lnTo>
                    <a:pt x="276356" y="313660"/>
                  </a:lnTo>
                  <a:lnTo>
                    <a:pt x="286700" y="338990"/>
                  </a:lnTo>
                  <a:lnTo>
                    <a:pt x="325144" y="338990"/>
                  </a:lnTo>
                  <a:lnTo>
                    <a:pt x="314393" y="313660"/>
                  </a:lnTo>
                  <a:close/>
                  <a:moveTo>
                    <a:pt x="82996" y="222193"/>
                  </a:moveTo>
                  <a:lnTo>
                    <a:pt x="101648" y="176744"/>
                  </a:lnTo>
                  <a:lnTo>
                    <a:pt x="112562" y="150110"/>
                  </a:lnTo>
                  <a:lnTo>
                    <a:pt x="160943" y="32172"/>
                  </a:lnTo>
                  <a:lnTo>
                    <a:pt x="209324" y="150110"/>
                  </a:lnTo>
                  <a:lnTo>
                    <a:pt x="220238" y="176744"/>
                  </a:lnTo>
                  <a:lnTo>
                    <a:pt x="238890" y="222193"/>
                  </a:lnTo>
                  <a:lnTo>
                    <a:pt x="82996" y="22219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0" name="Google Shape;270;p36"/>
            <p:cNvSpPr/>
            <p:nvPr/>
          </p:nvSpPr>
          <p:spPr>
            <a:xfrm>
              <a:off x="7486902" y="2546337"/>
              <a:ext cx="228382" cy="338990"/>
            </a:xfrm>
            <a:custGeom>
              <a:rect b="b" l="l" r="r" t="t"/>
              <a:pathLst>
                <a:path extrusionOk="0" h="338990" w="228382">
                  <a:moveTo>
                    <a:pt x="224148" y="222193"/>
                  </a:moveTo>
                  <a:cubicBezTo>
                    <a:pt x="218202" y="204029"/>
                    <a:pt x="206066" y="188228"/>
                    <a:pt x="189857" y="176744"/>
                  </a:cubicBezTo>
                  <a:cubicBezTo>
                    <a:pt x="180410" y="170065"/>
                    <a:pt x="169495" y="164771"/>
                    <a:pt x="157685" y="161432"/>
                  </a:cubicBezTo>
                  <a:cubicBezTo>
                    <a:pt x="164853" y="158581"/>
                    <a:pt x="171531" y="154753"/>
                    <a:pt x="177559" y="150110"/>
                  </a:cubicBezTo>
                  <a:cubicBezTo>
                    <a:pt x="197514" y="134717"/>
                    <a:pt x="210383" y="110771"/>
                    <a:pt x="210383" y="83811"/>
                  </a:cubicBezTo>
                  <a:cubicBezTo>
                    <a:pt x="210383" y="61738"/>
                    <a:pt x="201830" y="41702"/>
                    <a:pt x="187740" y="26715"/>
                  </a:cubicBezTo>
                  <a:cubicBezTo>
                    <a:pt x="172265" y="10263"/>
                    <a:pt x="150273" y="0"/>
                    <a:pt x="125839" y="0"/>
                  </a:cubicBezTo>
                  <a:lnTo>
                    <a:pt x="0" y="0"/>
                  </a:lnTo>
                  <a:lnTo>
                    <a:pt x="0" y="338990"/>
                  </a:lnTo>
                  <a:lnTo>
                    <a:pt x="127305" y="338990"/>
                  </a:lnTo>
                  <a:cubicBezTo>
                    <a:pt x="154509" y="338990"/>
                    <a:pt x="179106" y="329380"/>
                    <a:pt x="197188" y="313660"/>
                  </a:cubicBezTo>
                  <a:cubicBezTo>
                    <a:pt x="215595" y="297859"/>
                    <a:pt x="227406" y="275786"/>
                    <a:pt x="228301" y="251270"/>
                  </a:cubicBezTo>
                  <a:cubicBezTo>
                    <a:pt x="228383" y="250211"/>
                    <a:pt x="228383" y="249152"/>
                    <a:pt x="228383" y="248093"/>
                  </a:cubicBezTo>
                  <a:cubicBezTo>
                    <a:pt x="228383" y="239134"/>
                    <a:pt x="226917" y="230419"/>
                    <a:pt x="224148" y="222193"/>
                  </a:cubicBezTo>
                  <a:close/>
                  <a:moveTo>
                    <a:pt x="32172" y="26715"/>
                  </a:moveTo>
                  <a:lnTo>
                    <a:pt x="116146" y="26715"/>
                  </a:lnTo>
                  <a:cubicBezTo>
                    <a:pt x="150192" y="26715"/>
                    <a:pt x="177803" y="54326"/>
                    <a:pt x="177803" y="88372"/>
                  </a:cubicBezTo>
                  <a:cubicBezTo>
                    <a:pt x="177803" y="122499"/>
                    <a:pt x="150192" y="150110"/>
                    <a:pt x="116146" y="150110"/>
                  </a:cubicBezTo>
                  <a:lnTo>
                    <a:pt x="32172" y="150110"/>
                  </a:lnTo>
                  <a:lnTo>
                    <a:pt x="32172" y="26715"/>
                  </a:lnTo>
                  <a:close/>
                  <a:moveTo>
                    <a:pt x="32172" y="313660"/>
                  </a:moveTo>
                  <a:lnTo>
                    <a:pt x="32172" y="176744"/>
                  </a:lnTo>
                  <a:lnTo>
                    <a:pt x="125187" y="176744"/>
                  </a:lnTo>
                  <a:cubicBezTo>
                    <a:pt x="155893" y="176744"/>
                    <a:pt x="181957" y="195722"/>
                    <a:pt x="191649" y="222193"/>
                  </a:cubicBezTo>
                  <a:cubicBezTo>
                    <a:pt x="194337" y="229360"/>
                    <a:pt x="195803" y="237179"/>
                    <a:pt x="195803" y="245243"/>
                  </a:cubicBezTo>
                  <a:cubicBezTo>
                    <a:pt x="195803" y="247279"/>
                    <a:pt x="195722" y="249315"/>
                    <a:pt x="195559" y="251270"/>
                  </a:cubicBezTo>
                  <a:cubicBezTo>
                    <a:pt x="192383" y="286211"/>
                    <a:pt x="162084" y="313660"/>
                    <a:pt x="125187" y="313660"/>
                  </a:cubicBezTo>
                  <a:lnTo>
                    <a:pt x="32172" y="31366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1" name="Google Shape;271;p36"/>
            <p:cNvSpPr/>
            <p:nvPr/>
          </p:nvSpPr>
          <p:spPr>
            <a:xfrm>
              <a:off x="7918256" y="2537704"/>
              <a:ext cx="216735" cy="358700"/>
            </a:xfrm>
            <a:custGeom>
              <a:rect b="b" l="l" r="r" t="t"/>
              <a:pathLst>
                <a:path extrusionOk="0" h="358700" w="216735">
                  <a:moveTo>
                    <a:pt x="216736" y="259904"/>
                  </a:moveTo>
                  <a:lnTo>
                    <a:pt x="216736" y="260392"/>
                  </a:lnTo>
                  <a:cubicBezTo>
                    <a:pt x="216736" y="283850"/>
                    <a:pt x="207044" y="305434"/>
                    <a:pt x="190916" y="322293"/>
                  </a:cubicBezTo>
                  <a:cubicBezTo>
                    <a:pt x="180898" y="332800"/>
                    <a:pt x="168436" y="341434"/>
                    <a:pt x="154264" y="347624"/>
                  </a:cubicBezTo>
                  <a:cubicBezTo>
                    <a:pt x="138301" y="354710"/>
                    <a:pt x="120219" y="358701"/>
                    <a:pt x="100997" y="358701"/>
                  </a:cubicBezTo>
                  <a:cubicBezTo>
                    <a:pt x="81775" y="358701"/>
                    <a:pt x="63693" y="354710"/>
                    <a:pt x="47729" y="347624"/>
                  </a:cubicBezTo>
                  <a:cubicBezTo>
                    <a:pt x="33557" y="341434"/>
                    <a:pt x="21095" y="332800"/>
                    <a:pt x="11077" y="322293"/>
                  </a:cubicBezTo>
                  <a:cubicBezTo>
                    <a:pt x="6923" y="317976"/>
                    <a:pt x="3177" y="313334"/>
                    <a:pt x="0" y="308447"/>
                  </a:cubicBezTo>
                  <a:lnTo>
                    <a:pt x="23295" y="290365"/>
                  </a:lnTo>
                  <a:cubicBezTo>
                    <a:pt x="31114" y="303886"/>
                    <a:pt x="43983" y="315044"/>
                    <a:pt x="59865" y="322293"/>
                  </a:cubicBezTo>
                  <a:cubicBezTo>
                    <a:pt x="72653" y="328158"/>
                    <a:pt x="87314" y="331497"/>
                    <a:pt x="103033" y="331497"/>
                  </a:cubicBezTo>
                  <a:cubicBezTo>
                    <a:pt x="118753" y="331497"/>
                    <a:pt x="133495" y="328158"/>
                    <a:pt x="146282" y="322293"/>
                  </a:cubicBezTo>
                  <a:cubicBezTo>
                    <a:pt x="172997" y="309995"/>
                    <a:pt x="191161" y="286700"/>
                    <a:pt x="191568" y="259904"/>
                  </a:cubicBezTo>
                  <a:lnTo>
                    <a:pt x="191568" y="259008"/>
                  </a:lnTo>
                  <a:cubicBezTo>
                    <a:pt x="191568" y="248989"/>
                    <a:pt x="189125" y="239541"/>
                    <a:pt x="184564" y="230826"/>
                  </a:cubicBezTo>
                  <a:cubicBezTo>
                    <a:pt x="172428" y="207287"/>
                    <a:pt x="145468" y="190102"/>
                    <a:pt x="113214" y="187088"/>
                  </a:cubicBezTo>
                  <a:cubicBezTo>
                    <a:pt x="110852" y="186844"/>
                    <a:pt x="108409" y="186681"/>
                    <a:pt x="105965" y="186681"/>
                  </a:cubicBezTo>
                  <a:cubicBezTo>
                    <a:pt x="105884" y="186600"/>
                    <a:pt x="105721" y="186600"/>
                    <a:pt x="105640" y="186681"/>
                  </a:cubicBezTo>
                  <a:cubicBezTo>
                    <a:pt x="102219" y="186355"/>
                    <a:pt x="98798" y="185948"/>
                    <a:pt x="95458" y="185378"/>
                  </a:cubicBezTo>
                  <a:cubicBezTo>
                    <a:pt x="80227" y="182853"/>
                    <a:pt x="66136" y="177722"/>
                    <a:pt x="53838" y="170635"/>
                  </a:cubicBezTo>
                  <a:cubicBezTo>
                    <a:pt x="47810" y="167133"/>
                    <a:pt x="42109" y="163142"/>
                    <a:pt x="36978" y="158744"/>
                  </a:cubicBezTo>
                  <a:cubicBezTo>
                    <a:pt x="17349" y="141884"/>
                    <a:pt x="5294" y="118915"/>
                    <a:pt x="5294" y="93585"/>
                  </a:cubicBezTo>
                  <a:cubicBezTo>
                    <a:pt x="5294" y="71512"/>
                    <a:pt x="14417" y="51313"/>
                    <a:pt x="29648" y="35349"/>
                  </a:cubicBezTo>
                  <a:cubicBezTo>
                    <a:pt x="40480" y="24027"/>
                    <a:pt x="54408" y="14824"/>
                    <a:pt x="70372" y="8634"/>
                  </a:cubicBezTo>
                  <a:cubicBezTo>
                    <a:pt x="84707" y="3095"/>
                    <a:pt x="100671" y="0"/>
                    <a:pt x="117450" y="0"/>
                  </a:cubicBezTo>
                  <a:cubicBezTo>
                    <a:pt x="134228" y="0"/>
                    <a:pt x="150192" y="3095"/>
                    <a:pt x="164527" y="8634"/>
                  </a:cubicBezTo>
                  <a:cubicBezTo>
                    <a:pt x="180491" y="14824"/>
                    <a:pt x="194338" y="24027"/>
                    <a:pt x="205170" y="35349"/>
                  </a:cubicBezTo>
                  <a:cubicBezTo>
                    <a:pt x="207288" y="37467"/>
                    <a:pt x="209242" y="39747"/>
                    <a:pt x="211116" y="42109"/>
                  </a:cubicBezTo>
                  <a:lnTo>
                    <a:pt x="184319" y="62960"/>
                  </a:lnTo>
                  <a:cubicBezTo>
                    <a:pt x="176581" y="50987"/>
                    <a:pt x="164608" y="41295"/>
                    <a:pt x="150273" y="35349"/>
                  </a:cubicBezTo>
                  <a:cubicBezTo>
                    <a:pt x="140174" y="31195"/>
                    <a:pt x="128852" y="28833"/>
                    <a:pt x="116880" y="28833"/>
                  </a:cubicBezTo>
                  <a:cubicBezTo>
                    <a:pt x="104906" y="28833"/>
                    <a:pt x="93585" y="31195"/>
                    <a:pt x="83485" y="35349"/>
                  </a:cubicBezTo>
                  <a:cubicBezTo>
                    <a:pt x="57340" y="46181"/>
                    <a:pt x="39340" y="69232"/>
                    <a:pt x="39340" y="95947"/>
                  </a:cubicBezTo>
                  <a:cubicBezTo>
                    <a:pt x="39340" y="124698"/>
                    <a:pt x="60191" y="149133"/>
                    <a:pt x="89512" y="158744"/>
                  </a:cubicBezTo>
                  <a:cubicBezTo>
                    <a:pt x="94155" y="160291"/>
                    <a:pt x="99124" y="161432"/>
                    <a:pt x="104173" y="162165"/>
                  </a:cubicBezTo>
                  <a:cubicBezTo>
                    <a:pt x="108327" y="162735"/>
                    <a:pt x="112562" y="163061"/>
                    <a:pt x="116880" y="163061"/>
                  </a:cubicBezTo>
                  <a:cubicBezTo>
                    <a:pt x="116961" y="162979"/>
                    <a:pt x="117042" y="163061"/>
                    <a:pt x="117124" y="163061"/>
                  </a:cubicBezTo>
                  <a:cubicBezTo>
                    <a:pt x="134554" y="165097"/>
                    <a:pt x="150762" y="170473"/>
                    <a:pt x="164772" y="178373"/>
                  </a:cubicBezTo>
                  <a:cubicBezTo>
                    <a:pt x="168599" y="180491"/>
                    <a:pt x="172346" y="182853"/>
                    <a:pt x="175848" y="185378"/>
                  </a:cubicBezTo>
                  <a:cubicBezTo>
                    <a:pt x="192301" y="197269"/>
                    <a:pt x="204763" y="212907"/>
                    <a:pt x="211360" y="230826"/>
                  </a:cubicBezTo>
                  <a:cubicBezTo>
                    <a:pt x="214781" y="239948"/>
                    <a:pt x="216654" y="249722"/>
                    <a:pt x="216736" y="25990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2" name="Google Shape;272;p36"/>
          <p:cNvSpPr txBox="1"/>
          <p:nvPr/>
        </p:nvSpPr>
        <p:spPr>
          <a:xfrm>
            <a:off x="8361434" y="4775269"/>
            <a:ext cx="68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 b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 b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233361" y="238125"/>
            <a:ext cx="4295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233361" y="238125"/>
            <a:ext cx="185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000"/>
              <a:buFont typeface="Inter"/>
              <a:buNone/>
            </a:pPr>
            <a:r>
              <a:rPr b="0" i="0" lang="en" sz="18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Key</a:t>
            </a:r>
            <a:r>
              <a:rPr b="0" i="0" lang="en" sz="1800" u="none" cap="none" strike="noStrike">
                <a:solidFill>
                  <a:srgbClr val="192839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 </a:t>
            </a:r>
            <a:r>
              <a:rPr b="0" lang="en" sz="1800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Customers</a:t>
            </a:r>
            <a:endParaRPr b="0" sz="1800">
              <a:solidFill>
                <a:srgbClr val="2F55D4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233350" y="561975"/>
            <a:ext cx="476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66D"/>
              </a:buClr>
              <a:buSzPts val="1000"/>
              <a:buFont typeface="Inter"/>
              <a:buNone/>
            </a:pPr>
            <a:r>
              <a:rPr b="0" i="0" lang="en" sz="925" u="none" cap="none" strike="noStrike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Trusted and Ideal digital partner for Industrial setups, commercial setups and OEMs</a:t>
            </a:r>
            <a:endParaRPr b="0" i="0" sz="9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81" name="Google Shape;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25" y="814400"/>
            <a:ext cx="8723302" cy="422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25" y="814400"/>
            <a:ext cx="8723302" cy="422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3" name="Google Shape;28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5745" y="847027"/>
            <a:ext cx="1047787" cy="4176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4" name="Google Shape;28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893" y="847027"/>
            <a:ext cx="1047798" cy="417649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/>
          <p:nvPr/>
        </p:nvSpPr>
        <p:spPr>
          <a:xfrm>
            <a:off x="354554" y="944744"/>
            <a:ext cx="786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Automobile &amp;  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ancillary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86" name="Google Shape;28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721" y="2540912"/>
            <a:ext cx="805868" cy="412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7" name="Google Shape;287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7245" y="4456095"/>
            <a:ext cx="713715" cy="43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8" name="Google Shape;28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4425" y="852565"/>
            <a:ext cx="1933794" cy="2058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9" name="Google Shape;28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5332" y="3107607"/>
            <a:ext cx="872330" cy="53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/>
          <p:nvPr/>
        </p:nvSpPr>
        <p:spPr>
          <a:xfrm>
            <a:off x="2808032" y="944744"/>
            <a:ext cx="3903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Metals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91" name="Google Shape;291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66944" y="847027"/>
            <a:ext cx="1050566" cy="417649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/>
          <p:nvPr/>
        </p:nvSpPr>
        <p:spPr>
          <a:xfrm>
            <a:off x="1616290" y="944744"/>
            <a:ext cx="573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Consumer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Goods 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93" name="Google Shape;293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61097" y="2600610"/>
            <a:ext cx="473550" cy="420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4" name="Google Shape;294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4943" y="1983047"/>
            <a:ext cx="470782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43788" y="853088"/>
            <a:ext cx="1255015" cy="2051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6" name="Google Shape;296;p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89579" y="1202099"/>
            <a:ext cx="371086" cy="44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7"/>
          <p:cNvSpPr/>
          <p:nvPr/>
        </p:nvSpPr>
        <p:spPr>
          <a:xfrm>
            <a:off x="5268374" y="944744"/>
            <a:ext cx="1066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5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Consumer Durables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7834634" y="944744"/>
            <a:ext cx="935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Energy, Oil &amp; Gas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99" name="Google Shape;299;p3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18392" y="2505848"/>
            <a:ext cx="1011354" cy="252356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/>
          <p:nvPr/>
        </p:nvSpPr>
        <p:spPr>
          <a:xfrm>
            <a:off x="3897566" y="2571621"/>
            <a:ext cx="45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Pharma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01" name="Google Shape;301;p3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564171" y="4588985"/>
            <a:ext cx="720023" cy="21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2" name="Google Shape;302;p3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30601" y="1409685"/>
            <a:ext cx="736630" cy="238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3" name="Google Shape;303;p3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76849" y="2866464"/>
            <a:ext cx="739404" cy="33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4" name="Google Shape;304;p3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97098" y="1379347"/>
            <a:ext cx="401549" cy="418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5" name="Google Shape;305;p3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50699" y="852565"/>
            <a:ext cx="815221" cy="205841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/>
          <p:nvPr/>
        </p:nvSpPr>
        <p:spPr>
          <a:xfrm>
            <a:off x="6885800" y="944744"/>
            <a:ext cx="578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Chemicals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07" name="Google Shape;307;p3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842475" y="1323955"/>
            <a:ext cx="639709" cy="318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8" name="Google Shape;308;p3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672174" y="3791415"/>
            <a:ext cx="504013" cy="481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9" name="Google Shape;309;p3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732540" y="1479043"/>
            <a:ext cx="678480" cy="384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0" name="Google Shape;310;p3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815620" y="3849567"/>
            <a:ext cx="606478" cy="60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1" name="Google Shape;311;p3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734437" y="2979402"/>
            <a:ext cx="3068969" cy="2057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2" name="Google Shape;312;p3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877591" y="4020663"/>
            <a:ext cx="1011815" cy="995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3" name="Google Shape;313;p3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45219" y="3359395"/>
            <a:ext cx="720018" cy="329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4" name="Google Shape;314;p3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138511" y="1188263"/>
            <a:ext cx="808637" cy="534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5" name="Google Shape;315;p3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141281" y="1188268"/>
            <a:ext cx="805864" cy="534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6" name="Google Shape;316;p3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961834" y="3749869"/>
            <a:ext cx="664632" cy="501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7" name="Google Shape;317;p3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3627293" y="848261"/>
            <a:ext cx="1008812" cy="16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7"/>
          <p:cNvSpPr/>
          <p:nvPr/>
        </p:nvSpPr>
        <p:spPr>
          <a:xfrm>
            <a:off x="3930020" y="944744"/>
            <a:ext cx="4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Cement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19" name="Google Shape;319;p37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776849" y="1348876"/>
            <a:ext cx="697864" cy="39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0" name="Google Shape;320;p37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735309" y="1836284"/>
            <a:ext cx="803099" cy="379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1" name="Google Shape;321;p3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070117" y="3292939"/>
            <a:ext cx="534475" cy="4402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2" name="Google Shape;322;p3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070117" y="3292944"/>
            <a:ext cx="534474" cy="437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3" name="Google Shape;323;p37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5068931" y="1331744"/>
            <a:ext cx="418158" cy="415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4" name="Google Shape;324;p37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726164" y="1799475"/>
            <a:ext cx="861251" cy="42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5" name="Google Shape;325;p37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875509" y="2986856"/>
            <a:ext cx="1013641" cy="955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6" name="Google Shape;326;p37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818712" y="1929985"/>
            <a:ext cx="642477" cy="326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7" name="Google Shape;327;p3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083963" y="3868962"/>
            <a:ext cx="534475" cy="409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8" name="Google Shape;328;p3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083964" y="3868965"/>
            <a:ext cx="534474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9" name="Google Shape;329;p37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589095" y="3340012"/>
            <a:ext cx="736634" cy="22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0" name="Google Shape;330;p37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4942729" y="2334754"/>
            <a:ext cx="603707" cy="398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1" name="Google Shape;331;p3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072886" y="4325889"/>
            <a:ext cx="589861" cy="606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2" name="Google Shape;332;p3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072886" y="4325889"/>
            <a:ext cx="587092" cy="60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7"/>
          <p:cNvSpPr/>
          <p:nvPr/>
        </p:nvSpPr>
        <p:spPr>
          <a:xfrm>
            <a:off x="5828573" y="3059202"/>
            <a:ext cx="955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Commercial Infra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34" name="Google Shape;334;p37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839985" y="4386818"/>
            <a:ext cx="739402" cy="415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5" name="Google Shape;335;p37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8027740" y="4151428"/>
            <a:ext cx="742173" cy="412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6" name="Google Shape;336;p37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8027740" y="4151428"/>
            <a:ext cx="739401" cy="4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7"/>
          <p:cNvSpPr/>
          <p:nvPr/>
        </p:nvSpPr>
        <p:spPr>
          <a:xfrm>
            <a:off x="8060611" y="3038162"/>
            <a:ext cx="45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OEM tie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37"/>
          <p:cNvSpPr/>
          <p:nvPr/>
        </p:nvSpPr>
        <p:spPr>
          <a:xfrm>
            <a:off x="8481047" y="3038162"/>
            <a:ext cx="90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-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8533416" y="3038162"/>
            <a:ext cx="2214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40" name="Google Shape;340;p37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799640" y="2434441"/>
            <a:ext cx="697860" cy="227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1" name="Google Shape;341;p37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6676316" y="4447745"/>
            <a:ext cx="1002487" cy="332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2" name="Google Shape;342;p37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679086" y="4447745"/>
            <a:ext cx="999717" cy="332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3" name="Google Shape;343;p37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7028018" y="3292941"/>
            <a:ext cx="418163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4" name="Google Shape;344;p37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8013893" y="3218171"/>
            <a:ext cx="720017" cy="373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5" name="Google Shape;345;p37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6828628" y="3940964"/>
            <a:ext cx="805866" cy="21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6" name="Google Shape;346;p37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8066509" y="3600330"/>
            <a:ext cx="642476" cy="279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7" name="Google Shape;347;p37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8049894" y="4568314"/>
            <a:ext cx="664634" cy="32954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/>
          <p:cNvSpPr/>
          <p:nvPr/>
        </p:nvSpPr>
        <p:spPr>
          <a:xfrm>
            <a:off x="8047125" y="4079426"/>
            <a:ext cx="713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Partnerships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49" name="Google Shape;349;p37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6859091" y="2403994"/>
            <a:ext cx="587094" cy="285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0" name="Google Shape;350;p37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3865467" y="3406480"/>
            <a:ext cx="504012" cy="285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1" name="Google Shape;351;p37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4801491" y="1950997"/>
            <a:ext cx="891712" cy="207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37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7714807" y="1886127"/>
            <a:ext cx="534475" cy="265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3" name="Google Shape;353;p37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8348979" y="1733814"/>
            <a:ext cx="473551" cy="459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4" name="Google Shape;354;p37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728654" y="2340292"/>
            <a:ext cx="534475" cy="42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5" name="Google Shape;355;p37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728654" y="2343061"/>
            <a:ext cx="534474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6" name="Google Shape;356;p37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301901" y="2376296"/>
            <a:ext cx="537244" cy="393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7" name="Google Shape;357;p37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301901" y="2376296"/>
            <a:ext cx="537244" cy="393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8" name="Google Shape;358;p37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3890391" y="4489290"/>
            <a:ext cx="473550" cy="443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9" name="Google Shape;359;p37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342905" y="1574476"/>
            <a:ext cx="805865" cy="290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0" name="Google Shape;360;p37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396302" y="3898711"/>
            <a:ext cx="736623" cy="31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1" name="Google Shape;361;p37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2671377" y="2260285"/>
            <a:ext cx="680678" cy="231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2" name="Google Shape;362;p37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811375" y="1694646"/>
            <a:ext cx="400683" cy="386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3" name="Google Shape;363;p37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2705169" y="4081821"/>
            <a:ext cx="608266" cy="24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4" name="Google Shape;364;p37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2598964" y="1325773"/>
            <a:ext cx="825503" cy="231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5" name="Google Shape;365;p37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2753444" y="4357808"/>
            <a:ext cx="569646" cy="564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6" name="Google Shape;366;p37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2636583" y="3426432"/>
            <a:ext cx="762746" cy="487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7" name="Google Shape;367;p37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2676204" y="3155627"/>
            <a:ext cx="661368" cy="19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 title="Screenshot 2025-11-01 at 2.43.15 PM.png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2646870" y="2631148"/>
            <a:ext cx="742174" cy="393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 title="Screenshot 2025-11-01 at 6.54.00 PM.png"/>
          <p:cNvPicPr preferRelativeResize="0"/>
          <p:nvPr/>
        </p:nvPicPr>
        <p:blipFill rotWithShape="1">
          <a:blip r:embed="rId72">
            <a:alphaModFix/>
          </a:blip>
          <a:srcRect b="20479" l="0" r="6629" t="21688"/>
          <a:stretch/>
        </p:blipFill>
        <p:spPr>
          <a:xfrm>
            <a:off x="279930" y="2141629"/>
            <a:ext cx="935706" cy="21548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8361434" y="4775269"/>
            <a:ext cx="68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 b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 b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1" name="Google Shape;371;p37"/>
          <p:cNvGrpSpPr/>
          <p:nvPr/>
        </p:nvGrpSpPr>
        <p:grpSpPr>
          <a:xfrm>
            <a:off x="7770516" y="215751"/>
            <a:ext cx="1158723" cy="241192"/>
            <a:chOff x="4059287" y="2048033"/>
            <a:chExt cx="4075704" cy="848371"/>
          </a:xfrm>
        </p:grpSpPr>
        <p:sp>
          <p:nvSpPr>
            <p:cNvPr id="372" name="Google Shape;372;p37"/>
            <p:cNvSpPr/>
            <p:nvPr/>
          </p:nvSpPr>
          <p:spPr>
            <a:xfrm>
              <a:off x="4059287" y="2048033"/>
              <a:ext cx="672035" cy="761954"/>
            </a:xfrm>
            <a:custGeom>
              <a:rect b="b" l="l" r="r" t="t"/>
              <a:pathLst>
                <a:path extrusionOk="0" h="761954" w="672035">
                  <a:moveTo>
                    <a:pt x="339316" y="761955"/>
                  </a:moveTo>
                  <a:lnTo>
                    <a:pt x="145956" y="208835"/>
                  </a:lnTo>
                  <a:lnTo>
                    <a:pt x="74200" y="431354"/>
                  </a:lnTo>
                  <a:lnTo>
                    <a:pt x="190672" y="519726"/>
                  </a:lnTo>
                  <a:lnTo>
                    <a:pt x="211441" y="612252"/>
                  </a:lnTo>
                  <a:lnTo>
                    <a:pt x="0" y="458313"/>
                  </a:lnTo>
                  <a:lnTo>
                    <a:pt x="152147" y="0"/>
                  </a:lnTo>
                  <a:lnTo>
                    <a:pt x="339316" y="556052"/>
                  </a:lnTo>
                  <a:lnTo>
                    <a:pt x="524450" y="8145"/>
                  </a:lnTo>
                  <a:lnTo>
                    <a:pt x="672035" y="470856"/>
                  </a:lnTo>
                  <a:lnTo>
                    <a:pt x="461001" y="623654"/>
                  </a:lnTo>
                  <a:lnTo>
                    <a:pt x="483888" y="523879"/>
                  </a:lnTo>
                  <a:lnTo>
                    <a:pt x="596125" y="438602"/>
                  </a:lnTo>
                  <a:lnTo>
                    <a:pt x="521273" y="21820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864573" y="2185030"/>
              <a:ext cx="219342" cy="333696"/>
            </a:xfrm>
            <a:custGeom>
              <a:rect b="b" l="l" r="r" t="t"/>
              <a:pathLst>
                <a:path extrusionOk="0" h="333696" w="219342">
                  <a:moveTo>
                    <a:pt x="219342" y="0"/>
                  </a:moveTo>
                  <a:lnTo>
                    <a:pt x="219342" y="68173"/>
                  </a:lnTo>
                  <a:lnTo>
                    <a:pt x="80064" y="68173"/>
                  </a:lnTo>
                  <a:lnTo>
                    <a:pt x="80064" y="138545"/>
                  </a:lnTo>
                  <a:lnTo>
                    <a:pt x="209324" y="138545"/>
                  </a:lnTo>
                  <a:lnTo>
                    <a:pt x="209324" y="206473"/>
                  </a:lnTo>
                  <a:lnTo>
                    <a:pt x="80064" y="206473"/>
                  </a:lnTo>
                  <a:lnTo>
                    <a:pt x="80064" y="333696"/>
                  </a:lnTo>
                  <a:lnTo>
                    <a:pt x="0" y="33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5118368" y="2185030"/>
              <a:ext cx="361633" cy="333696"/>
            </a:xfrm>
            <a:custGeom>
              <a:rect b="b" l="l" r="r" t="t"/>
              <a:pathLst>
                <a:path extrusionOk="0" h="333696" w="361633">
                  <a:moveTo>
                    <a:pt x="334022" y="267804"/>
                  </a:moveTo>
                  <a:lnTo>
                    <a:pt x="308284" y="206473"/>
                  </a:lnTo>
                  <a:lnTo>
                    <a:pt x="279777" y="138545"/>
                  </a:lnTo>
                  <a:lnTo>
                    <a:pt x="250293" y="68173"/>
                  </a:lnTo>
                  <a:lnTo>
                    <a:pt x="221704" y="0"/>
                  </a:lnTo>
                  <a:lnTo>
                    <a:pt x="139929" y="0"/>
                  </a:lnTo>
                  <a:lnTo>
                    <a:pt x="111341" y="68173"/>
                  </a:lnTo>
                  <a:lnTo>
                    <a:pt x="81856" y="138545"/>
                  </a:lnTo>
                  <a:lnTo>
                    <a:pt x="53349" y="206473"/>
                  </a:lnTo>
                  <a:lnTo>
                    <a:pt x="27611" y="267804"/>
                  </a:lnTo>
                  <a:lnTo>
                    <a:pt x="0" y="333696"/>
                  </a:lnTo>
                  <a:lnTo>
                    <a:pt x="90408" y="333696"/>
                  </a:lnTo>
                  <a:lnTo>
                    <a:pt x="113621" y="267804"/>
                  </a:lnTo>
                  <a:lnTo>
                    <a:pt x="244835" y="267804"/>
                  </a:lnTo>
                  <a:lnTo>
                    <a:pt x="268048" y="333696"/>
                  </a:lnTo>
                  <a:lnTo>
                    <a:pt x="361633" y="333696"/>
                  </a:lnTo>
                  <a:lnTo>
                    <a:pt x="334022" y="267804"/>
                  </a:lnTo>
                  <a:close/>
                  <a:moveTo>
                    <a:pt x="135124" y="206473"/>
                  </a:moveTo>
                  <a:lnTo>
                    <a:pt x="159070" y="138545"/>
                  </a:lnTo>
                  <a:lnTo>
                    <a:pt x="179269" y="81123"/>
                  </a:lnTo>
                  <a:lnTo>
                    <a:pt x="199387" y="138545"/>
                  </a:lnTo>
                  <a:lnTo>
                    <a:pt x="223333" y="206473"/>
                  </a:lnTo>
                  <a:lnTo>
                    <a:pt x="135124" y="20647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5880404" y="2185030"/>
              <a:ext cx="206961" cy="333696"/>
            </a:xfrm>
            <a:custGeom>
              <a:rect b="b" l="l" r="r" t="t"/>
              <a:pathLst>
                <a:path extrusionOk="0" h="333696" w="206961">
                  <a:moveTo>
                    <a:pt x="206962" y="267804"/>
                  </a:moveTo>
                  <a:lnTo>
                    <a:pt x="206962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78028" y="0"/>
                  </a:lnTo>
                  <a:lnTo>
                    <a:pt x="78028" y="267804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6573941" y="2185030"/>
              <a:ext cx="303641" cy="333696"/>
            </a:xfrm>
            <a:custGeom>
              <a:rect b="b" l="l" r="r" t="t"/>
              <a:pathLst>
                <a:path extrusionOk="0" h="333696" w="303641">
                  <a:moveTo>
                    <a:pt x="303642" y="0"/>
                  </a:moveTo>
                  <a:lnTo>
                    <a:pt x="303642" y="171124"/>
                  </a:lnTo>
                  <a:lnTo>
                    <a:pt x="268293" y="206473"/>
                  </a:lnTo>
                  <a:lnTo>
                    <a:pt x="225939" y="248827"/>
                  </a:lnTo>
                  <a:lnTo>
                    <a:pt x="206962" y="267804"/>
                  </a:lnTo>
                  <a:lnTo>
                    <a:pt x="186111" y="288655"/>
                  </a:lnTo>
                  <a:lnTo>
                    <a:pt x="172916" y="267804"/>
                  </a:lnTo>
                  <a:lnTo>
                    <a:pt x="134391" y="206473"/>
                  </a:lnTo>
                  <a:lnTo>
                    <a:pt x="91630" y="138545"/>
                  </a:lnTo>
                  <a:lnTo>
                    <a:pt x="77621" y="116228"/>
                  </a:lnTo>
                  <a:lnTo>
                    <a:pt x="77621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90082" y="0"/>
                  </a:lnTo>
                  <a:lnTo>
                    <a:pt x="133006" y="68173"/>
                  </a:lnTo>
                  <a:lnTo>
                    <a:pt x="177233" y="138545"/>
                  </a:lnTo>
                  <a:lnTo>
                    <a:pt x="219912" y="206473"/>
                  </a:lnTo>
                  <a:lnTo>
                    <a:pt x="225939" y="216003"/>
                  </a:lnTo>
                  <a:lnTo>
                    <a:pt x="225939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5512010" y="2175419"/>
              <a:ext cx="306166" cy="351452"/>
            </a:xfrm>
            <a:custGeom>
              <a:rect b="b" l="l" r="r" t="t"/>
              <a:pathLst>
                <a:path extrusionOk="0" h="351452" w="306166">
                  <a:moveTo>
                    <a:pt x="306167" y="300547"/>
                  </a:moveTo>
                  <a:cubicBezTo>
                    <a:pt x="286212" y="320013"/>
                    <a:pt x="261533" y="334755"/>
                    <a:pt x="234003" y="343307"/>
                  </a:cubicBezTo>
                  <a:cubicBezTo>
                    <a:pt x="216898" y="348602"/>
                    <a:pt x="198654" y="351452"/>
                    <a:pt x="179758" y="351452"/>
                  </a:cubicBezTo>
                  <a:cubicBezTo>
                    <a:pt x="160862" y="351452"/>
                    <a:pt x="142617" y="348602"/>
                    <a:pt x="125513" y="343307"/>
                  </a:cubicBezTo>
                  <a:cubicBezTo>
                    <a:pt x="87883" y="331660"/>
                    <a:pt x="55548" y="308284"/>
                    <a:pt x="33231" y="277415"/>
                  </a:cubicBezTo>
                  <a:cubicBezTo>
                    <a:pt x="19955" y="259252"/>
                    <a:pt x="10181" y="238482"/>
                    <a:pt x="4805" y="216084"/>
                  </a:cubicBezTo>
                  <a:cubicBezTo>
                    <a:pt x="1629" y="203134"/>
                    <a:pt x="0" y="189613"/>
                    <a:pt x="0" y="175685"/>
                  </a:cubicBezTo>
                  <a:cubicBezTo>
                    <a:pt x="0" y="166319"/>
                    <a:pt x="733" y="157115"/>
                    <a:pt x="2199" y="148156"/>
                  </a:cubicBezTo>
                  <a:cubicBezTo>
                    <a:pt x="6353" y="122418"/>
                    <a:pt x="16208" y="98553"/>
                    <a:pt x="30462" y="77784"/>
                  </a:cubicBezTo>
                  <a:cubicBezTo>
                    <a:pt x="52127" y="46344"/>
                    <a:pt x="83811" y="22154"/>
                    <a:pt x="121115" y="9611"/>
                  </a:cubicBezTo>
                  <a:cubicBezTo>
                    <a:pt x="139441" y="3339"/>
                    <a:pt x="159233" y="0"/>
                    <a:pt x="179758" y="0"/>
                  </a:cubicBezTo>
                  <a:cubicBezTo>
                    <a:pt x="200283" y="0"/>
                    <a:pt x="220075" y="3339"/>
                    <a:pt x="238401" y="9611"/>
                  </a:cubicBezTo>
                  <a:cubicBezTo>
                    <a:pt x="263650" y="18082"/>
                    <a:pt x="286456" y="32009"/>
                    <a:pt x="305189" y="49765"/>
                  </a:cubicBezTo>
                  <a:lnTo>
                    <a:pt x="251026" y="104906"/>
                  </a:lnTo>
                  <a:cubicBezTo>
                    <a:pt x="240274" y="92770"/>
                    <a:pt x="226917" y="83322"/>
                    <a:pt x="211930" y="77784"/>
                  </a:cubicBezTo>
                  <a:cubicBezTo>
                    <a:pt x="202238" y="74200"/>
                    <a:pt x="191731" y="72245"/>
                    <a:pt x="180898" y="72245"/>
                  </a:cubicBezTo>
                  <a:cubicBezTo>
                    <a:pt x="170065" y="72245"/>
                    <a:pt x="159640" y="74200"/>
                    <a:pt x="149948" y="77784"/>
                  </a:cubicBezTo>
                  <a:cubicBezTo>
                    <a:pt x="120056" y="88698"/>
                    <a:pt x="96761" y="115087"/>
                    <a:pt x="88046" y="148156"/>
                  </a:cubicBezTo>
                  <a:cubicBezTo>
                    <a:pt x="85521" y="157441"/>
                    <a:pt x="84218" y="167215"/>
                    <a:pt x="84218" y="177396"/>
                  </a:cubicBezTo>
                  <a:cubicBezTo>
                    <a:pt x="84218" y="191079"/>
                    <a:pt x="86580" y="204111"/>
                    <a:pt x="90978" y="216084"/>
                  </a:cubicBezTo>
                  <a:cubicBezTo>
                    <a:pt x="101567" y="245080"/>
                    <a:pt x="123558" y="267723"/>
                    <a:pt x="151006" y="277415"/>
                  </a:cubicBezTo>
                  <a:cubicBezTo>
                    <a:pt x="160373" y="280754"/>
                    <a:pt x="170473" y="282546"/>
                    <a:pt x="180898" y="282546"/>
                  </a:cubicBezTo>
                  <a:cubicBezTo>
                    <a:pt x="191323" y="282546"/>
                    <a:pt x="201423" y="280754"/>
                    <a:pt x="210790" y="277415"/>
                  </a:cubicBezTo>
                  <a:cubicBezTo>
                    <a:pt x="227487" y="271551"/>
                    <a:pt x="242148" y="260799"/>
                    <a:pt x="253469" y="246790"/>
                  </a:cubicBezTo>
                  <a:lnTo>
                    <a:pt x="306167" y="300547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136642" y="2175419"/>
              <a:ext cx="359597" cy="351452"/>
            </a:xfrm>
            <a:custGeom>
              <a:rect b="b" l="l" r="r" t="t"/>
              <a:pathLst>
                <a:path extrusionOk="0" h="351452" w="359597">
                  <a:moveTo>
                    <a:pt x="357398" y="148156"/>
                  </a:moveTo>
                  <a:cubicBezTo>
                    <a:pt x="353244" y="122418"/>
                    <a:pt x="343389" y="98553"/>
                    <a:pt x="329135" y="77784"/>
                  </a:cubicBezTo>
                  <a:cubicBezTo>
                    <a:pt x="307470" y="46344"/>
                    <a:pt x="275705" y="22154"/>
                    <a:pt x="238401" y="9611"/>
                  </a:cubicBezTo>
                  <a:cubicBezTo>
                    <a:pt x="219994" y="3339"/>
                    <a:pt x="200283" y="0"/>
                    <a:pt x="179758" y="0"/>
                  </a:cubicBezTo>
                  <a:cubicBezTo>
                    <a:pt x="159233" y="0"/>
                    <a:pt x="139522" y="3339"/>
                    <a:pt x="121115" y="9611"/>
                  </a:cubicBezTo>
                  <a:cubicBezTo>
                    <a:pt x="83811" y="22154"/>
                    <a:pt x="52128" y="46344"/>
                    <a:pt x="30462" y="77784"/>
                  </a:cubicBezTo>
                  <a:cubicBezTo>
                    <a:pt x="16209" y="98553"/>
                    <a:pt x="6353" y="122418"/>
                    <a:pt x="2199" y="148156"/>
                  </a:cubicBezTo>
                  <a:cubicBezTo>
                    <a:pt x="733" y="157115"/>
                    <a:pt x="0" y="166319"/>
                    <a:pt x="0" y="175685"/>
                  </a:cubicBezTo>
                  <a:cubicBezTo>
                    <a:pt x="0" y="189613"/>
                    <a:pt x="1629" y="203134"/>
                    <a:pt x="4805" y="216084"/>
                  </a:cubicBezTo>
                  <a:cubicBezTo>
                    <a:pt x="10181" y="238482"/>
                    <a:pt x="19955" y="259252"/>
                    <a:pt x="33231" y="277415"/>
                  </a:cubicBezTo>
                  <a:cubicBezTo>
                    <a:pt x="55548" y="308284"/>
                    <a:pt x="87883" y="331660"/>
                    <a:pt x="125594" y="343307"/>
                  </a:cubicBezTo>
                  <a:cubicBezTo>
                    <a:pt x="142699" y="348602"/>
                    <a:pt x="160862" y="351452"/>
                    <a:pt x="179758" y="351452"/>
                  </a:cubicBezTo>
                  <a:cubicBezTo>
                    <a:pt x="198654" y="351452"/>
                    <a:pt x="216817" y="348602"/>
                    <a:pt x="233921" y="343307"/>
                  </a:cubicBezTo>
                  <a:cubicBezTo>
                    <a:pt x="271632" y="331660"/>
                    <a:pt x="303967" y="308284"/>
                    <a:pt x="326366" y="277415"/>
                  </a:cubicBezTo>
                  <a:cubicBezTo>
                    <a:pt x="339642" y="259252"/>
                    <a:pt x="349416" y="238482"/>
                    <a:pt x="354792" y="216084"/>
                  </a:cubicBezTo>
                  <a:cubicBezTo>
                    <a:pt x="357968" y="203134"/>
                    <a:pt x="359597" y="189613"/>
                    <a:pt x="359597" y="175685"/>
                  </a:cubicBezTo>
                  <a:cubicBezTo>
                    <a:pt x="359597" y="166319"/>
                    <a:pt x="358864" y="157115"/>
                    <a:pt x="357398" y="148156"/>
                  </a:cubicBezTo>
                  <a:close/>
                  <a:moveTo>
                    <a:pt x="270736" y="216084"/>
                  </a:moveTo>
                  <a:cubicBezTo>
                    <a:pt x="260067" y="245080"/>
                    <a:pt x="237831" y="267723"/>
                    <a:pt x="210138" y="277415"/>
                  </a:cubicBezTo>
                  <a:cubicBezTo>
                    <a:pt x="200609" y="280754"/>
                    <a:pt x="190428" y="282546"/>
                    <a:pt x="179921" y="282546"/>
                  </a:cubicBezTo>
                  <a:cubicBezTo>
                    <a:pt x="169414" y="282546"/>
                    <a:pt x="159233" y="280754"/>
                    <a:pt x="149703" y="277415"/>
                  </a:cubicBezTo>
                  <a:cubicBezTo>
                    <a:pt x="121929" y="267723"/>
                    <a:pt x="99694" y="245080"/>
                    <a:pt x="89024" y="216084"/>
                  </a:cubicBezTo>
                  <a:cubicBezTo>
                    <a:pt x="84626" y="204111"/>
                    <a:pt x="82182" y="191079"/>
                    <a:pt x="82182" y="177396"/>
                  </a:cubicBezTo>
                  <a:cubicBezTo>
                    <a:pt x="82182" y="167215"/>
                    <a:pt x="83485" y="157441"/>
                    <a:pt x="86092" y="148156"/>
                  </a:cubicBezTo>
                  <a:cubicBezTo>
                    <a:pt x="94888" y="115087"/>
                    <a:pt x="118427" y="88698"/>
                    <a:pt x="148644" y="77784"/>
                  </a:cubicBezTo>
                  <a:cubicBezTo>
                    <a:pt x="158500" y="74200"/>
                    <a:pt x="169007" y="72245"/>
                    <a:pt x="179921" y="72245"/>
                  </a:cubicBezTo>
                  <a:cubicBezTo>
                    <a:pt x="190916" y="72245"/>
                    <a:pt x="201423" y="74200"/>
                    <a:pt x="211279" y="77784"/>
                  </a:cubicBezTo>
                  <a:cubicBezTo>
                    <a:pt x="241333" y="88779"/>
                    <a:pt x="264872" y="115087"/>
                    <a:pt x="273668" y="148156"/>
                  </a:cubicBezTo>
                  <a:cubicBezTo>
                    <a:pt x="276275" y="157441"/>
                    <a:pt x="277578" y="167215"/>
                    <a:pt x="277578" y="177396"/>
                  </a:cubicBezTo>
                  <a:cubicBezTo>
                    <a:pt x="277578" y="191079"/>
                    <a:pt x="275134" y="204111"/>
                    <a:pt x="270736" y="21608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616539" y="2583885"/>
              <a:ext cx="192952" cy="301442"/>
            </a:xfrm>
            <a:custGeom>
              <a:rect b="b" l="l" r="r" t="t"/>
              <a:pathLst>
                <a:path extrusionOk="0" h="301442" w="192952">
                  <a:moveTo>
                    <a:pt x="192953" y="276112"/>
                  </a:moveTo>
                  <a:lnTo>
                    <a:pt x="192953" y="301443"/>
                  </a:lnTo>
                  <a:lnTo>
                    <a:pt x="0" y="301443"/>
                  </a:lnTo>
                  <a:lnTo>
                    <a:pt x="0" y="34127"/>
                  </a:lnTo>
                  <a:lnTo>
                    <a:pt x="34860" y="0"/>
                  </a:lnTo>
                  <a:lnTo>
                    <a:pt x="34860" y="27611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6966851" y="2546337"/>
              <a:ext cx="325143" cy="338990"/>
            </a:xfrm>
            <a:custGeom>
              <a:rect b="b" l="l" r="r" t="t"/>
              <a:pathLst>
                <a:path extrusionOk="0" h="338990" w="325143">
                  <a:moveTo>
                    <a:pt x="314393" y="313660"/>
                  </a:moveTo>
                  <a:lnTo>
                    <a:pt x="287922" y="251270"/>
                  </a:lnTo>
                  <a:lnTo>
                    <a:pt x="275542" y="222193"/>
                  </a:lnTo>
                  <a:lnTo>
                    <a:pt x="256238" y="176744"/>
                  </a:lnTo>
                  <a:lnTo>
                    <a:pt x="244917" y="150110"/>
                  </a:lnTo>
                  <a:lnTo>
                    <a:pt x="192382" y="26715"/>
                  </a:lnTo>
                  <a:lnTo>
                    <a:pt x="181061" y="0"/>
                  </a:lnTo>
                  <a:lnTo>
                    <a:pt x="144164" y="0"/>
                  </a:lnTo>
                  <a:lnTo>
                    <a:pt x="132843" y="26715"/>
                  </a:lnTo>
                  <a:lnTo>
                    <a:pt x="80309" y="150110"/>
                  </a:lnTo>
                  <a:lnTo>
                    <a:pt x="68987" y="176744"/>
                  </a:lnTo>
                  <a:lnTo>
                    <a:pt x="49684" y="222193"/>
                  </a:lnTo>
                  <a:lnTo>
                    <a:pt x="37303" y="251270"/>
                  </a:lnTo>
                  <a:lnTo>
                    <a:pt x="10751" y="313660"/>
                  </a:lnTo>
                  <a:lnTo>
                    <a:pt x="0" y="338990"/>
                  </a:lnTo>
                  <a:lnTo>
                    <a:pt x="35186" y="338990"/>
                  </a:lnTo>
                  <a:lnTo>
                    <a:pt x="45530" y="313660"/>
                  </a:lnTo>
                  <a:lnTo>
                    <a:pt x="71105" y="251270"/>
                  </a:lnTo>
                  <a:lnTo>
                    <a:pt x="250781" y="251270"/>
                  </a:lnTo>
                  <a:lnTo>
                    <a:pt x="276356" y="313660"/>
                  </a:lnTo>
                  <a:lnTo>
                    <a:pt x="286700" y="338990"/>
                  </a:lnTo>
                  <a:lnTo>
                    <a:pt x="325144" y="338990"/>
                  </a:lnTo>
                  <a:lnTo>
                    <a:pt x="314393" y="313660"/>
                  </a:lnTo>
                  <a:close/>
                  <a:moveTo>
                    <a:pt x="82996" y="222193"/>
                  </a:moveTo>
                  <a:lnTo>
                    <a:pt x="101648" y="176744"/>
                  </a:lnTo>
                  <a:lnTo>
                    <a:pt x="112562" y="150110"/>
                  </a:lnTo>
                  <a:lnTo>
                    <a:pt x="160943" y="32172"/>
                  </a:lnTo>
                  <a:lnTo>
                    <a:pt x="209324" y="150110"/>
                  </a:lnTo>
                  <a:lnTo>
                    <a:pt x="220238" y="176744"/>
                  </a:lnTo>
                  <a:lnTo>
                    <a:pt x="238890" y="222193"/>
                  </a:lnTo>
                  <a:lnTo>
                    <a:pt x="82996" y="22219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486902" y="2546337"/>
              <a:ext cx="228382" cy="338990"/>
            </a:xfrm>
            <a:custGeom>
              <a:rect b="b" l="l" r="r" t="t"/>
              <a:pathLst>
                <a:path extrusionOk="0" h="338990" w="228382">
                  <a:moveTo>
                    <a:pt x="224148" y="222193"/>
                  </a:moveTo>
                  <a:cubicBezTo>
                    <a:pt x="218202" y="204029"/>
                    <a:pt x="206066" y="188228"/>
                    <a:pt x="189857" y="176744"/>
                  </a:cubicBezTo>
                  <a:cubicBezTo>
                    <a:pt x="180410" y="170065"/>
                    <a:pt x="169495" y="164771"/>
                    <a:pt x="157685" y="161432"/>
                  </a:cubicBezTo>
                  <a:cubicBezTo>
                    <a:pt x="164853" y="158581"/>
                    <a:pt x="171531" y="154753"/>
                    <a:pt x="177559" y="150110"/>
                  </a:cubicBezTo>
                  <a:cubicBezTo>
                    <a:pt x="197514" y="134717"/>
                    <a:pt x="210383" y="110771"/>
                    <a:pt x="210383" y="83811"/>
                  </a:cubicBezTo>
                  <a:cubicBezTo>
                    <a:pt x="210383" y="61738"/>
                    <a:pt x="201830" y="41702"/>
                    <a:pt x="187740" y="26715"/>
                  </a:cubicBezTo>
                  <a:cubicBezTo>
                    <a:pt x="172265" y="10263"/>
                    <a:pt x="150273" y="0"/>
                    <a:pt x="125839" y="0"/>
                  </a:cubicBezTo>
                  <a:lnTo>
                    <a:pt x="0" y="0"/>
                  </a:lnTo>
                  <a:lnTo>
                    <a:pt x="0" y="338990"/>
                  </a:lnTo>
                  <a:lnTo>
                    <a:pt x="127305" y="338990"/>
                  </a:lnTo>
                  <a:cubicBezTo>
                    <a:pt x="154509" y="338990"/>
                    <a:pt x="179106" y="329380"/>
                    <a:pt x="197188" y="313660"/>
                  </a:cubicBezTo>
                  <a:cubicBezTo>
                    <a:pt x="215595" y="297859"/>
                    <a:pt x="227406" y="275786"/>
                    <a:pt x="228301" y="251270"/>
                  </a:cubicBezTo>
                  <a:cubicBezTo>
                    <a:pt x="228383" y="250211"/>
                    <a:pt x="228383" y="249152"/>
                    <a:pt x="228383" y="248093"/>
                  </a:cubicBezTo>
                  <a:cubicBezTo>
                    <a:pt x="228383" y="239134"/>
                    <a:pt x="226917" y="230419"/>
                    <a:pt x="224148" y="222193"/>
                  </a:cubicBezTo>
                  <a:close/>
                  <a:moveTo>
                    <a:pt x="32172" y="26715"/>
                  </a:moveTo>
                  <a:lnTo>
                    <a:pt x="116146" y="26715"/>
                  </a:lnTo>
                  <a:cubicBezTo>
                    <a:pt x="150192" y="26715"/>
                    <a:pt x="177803" y="54326"/>
                    <a:pt x="177803" y="88372"/>
                  </a:cubicBezTo>
                  <a:cubicBezTo>
                    <a:pt x="177803" y="122499"/>
                    <a:pt x="150192" y="150110"/>
                    <a:pt x="116146" y="150110"/>
                  </a:cubicBezTo>
                  <a:lnTo>
                    <a:pt x="32172" y="150110"/>
                  </a:lnTo>
                  <a:lnTo>
                    <a:pt x="32172" y="26715"/>
                  </a:lnTo>
                  <a:close/>
                  <a:moveTo>
                    <a:pt x="32172" y="313660"/>
                  </a:moveTo>
                  <a:lnTo>
                    <a:pt x="32172" y="176744"/>
                  </a:lnTo>
                  <a:lnTo>
                    <a:pt x="125187" y="176744"/>
                  </a:lnTo>
                  <a:cubicBezTo>
                    <a:pt x="155893" y="176744"/>
                    <a:pt x="181957" y="195722"/>
                    <a:pt x="191649" y="222193"/>
                  </a:cubicBezTo>
                  <a:cubicBezTo>
                    <a:pt x="194337" y="229360"/>
                    <a:pt x="195803" y="237179"/>
                    <a:pt x="195803" y="245243"/>
                  </a:cubicBezTo>
                  <a:cubicBezTo>
                    <a:pt x="195803" y="247279"/>
                    <a:pt x="195722" y="249315"/>
                    <a:pt x="195559" y="251270"/>
                  </a:cubicBezTo>
                  <a:cubicBezTo>
                    <a:pt x="192383" y="286211"/>
                    <a:pt x="162084" y="313660"/>
                    <a:pt x="125187" y="313660"/>
                  </a:cubicBezTo>
                  <a:lnTo>
                    <a:pt x="32172" y="31366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7918256" y="2537704"/>
              <a:ext cx="216735" cy="358700"/>
            </a:xfrm>
            <a:custGeom>
              <a:rect b="b" l="l" r="r" t="t"/>
              <a:pathLst>
                <a:path extrusionOk="0" h="358700" w="216735">
                  <a:moveTo>
                    <a:pt x="216736" y="259904"/>
                  </a:moveTo>
                  <a:lnTo>
                    <a:pt x="216736" y="260392"/>
                  </a:lnTo>
                  <a:cubicBezTo>
                    <a:pt x="216736" y="283850"/>
                    <a:pt x="207044" y="305434"/>
                    <a:pt x="190916" y="322293"/>
                  </a:cubicBezTo>
                  <a:cubicBezTo>
                    <a:pt x="180898" y="332800"/>
                    <a:pt x="168436" y="341434"/>
                    <a:pt x="154264" y="347624"/>
                  </a:cubicBezTo>
                  <a:cubicBezTo>
                    <a:pt x="138301" y="354710"/>
                    <a:pt x="120219" y="358701"/>
                    <a:pt x="100997" y="358701"/>
                  </a:cubicBezTo>
                  <a:cubicBezTo>
                    <a:pt x="81775" y="358701"/>
                    <a:pt x="63693" y="354710"/>
                    <a:pt x="47729" y="347624"/>
                  </a:cubicBezTo>
                  <a:cubicBezTo>
                    <a:pt x="33557" y="341434"/>
                    <a:pt x="21095" y="332800"/>
                    <a:pt x="11077" y="322293"/>
                  </a:cubicBezTo>
                  <a:cubicBezTo>
                    <a:pt x="6923" y="317976"/>
                    <a:pt x="3177" y="313334"/>
                    <a:pt x="0" y="308447"/>
                  </a:cubicBezTo>
                  <a:lnTo>
                    <a:pt x="23295" y="290365"/>
                  </a:lnTo>
                  <a:cubicBezTo>
                    <a:pt x="31114" y="303886"/>
                    <a:pt x="43983" y="315044"/>
                    <a:pt x="59865" y="322293"/>
                  </a:cubicBezTo>
                  <a:cubicBezTo>
                    <a:pt x="72653" y="328158"/>
                    <a:pt x="87314" y="331497"/>
                    <a:pt x="103033" y="331497"/>
                  </a:cubicBezTo>
                  <a:cubicBezTo>
                    <a:pt x="118753" y="331497"/>
                    <a:pt x="133495" y="328158"/>
                    <a:pt x="146282" y="322293"/>
                  </a:cubicBezTo>
                  <a:cubicBezTo>
                    <a:pt x="172997" y="309995"/>
                    <a:pt x="191161" y="286700"/>
                    <a:pt x="191568" y="259904"/>
                  </a:cubicBezTo>
                  <a:lnTo>
                    <a:pt x="191568" y="259008"/>
                  </a:lnTo>
                  <a:cubicBezTo>
                    <a:pt x="191568" y="248989"/>
                    <a:pt x="189125" y="239541"/>
                    <a:pt x="184564" y="230826"/>
                  </a:cubicBezTo>
                  <a:cubicBezTo>
                    <a:pt x="172428" y="207287"/>
                    <a:pt x="145468" y="190102"/>
                    <a:pt x="113214" y="187088"/>
                  </a:cubicBezTo>
                  <a:cubicBezTo>
                    <a:pt x="110852" y="186844"/>
                    <a:pt x="108409" y="186681"/>
                    <a:pt x="105965" y="186681"/>
                  </a:cubicBezTo>
                  <a:cubicBezTo>
                    <a:pt x="105884" y="186600"/>
                    <a:pt x="105721" y="186600"/>
                    <a:pt x="105640" y="186681"/>
                  </a:cubicBezTo>
                  <a:cubicBezTo>
                    <a:pt x="102219" y="186355"/>
                    <a:pt x="98798" y="185948"/>
                    <a:pt x="95458" y="185378"/>
                  </a:cubicBezTo>
                  <a:cubicBezTo>
                    <a:pt x="80227" y="182853"/>
                    <a:pt x="66136" y="177722"/>
                    <a:pt x="53838" y="170635"/>
                  </a:cubicBezTo>
                  <a:cubicBezTo>
                    <a:pt x="47810" y="167133"/>
                    <a:pt x="42109" y="163142"/>
                    <a:pt x="36978" y="158744"/>
                  </a:cubicBezTo>
                  <a:cubicBezTo>
                    <a:pt x="17349" y="141884"/>
                    <a:pt x="5294" y="118915"/>
                    <a:pt x="5294" y="93585"/>
                  </a:cubicBezTo>
                  <a:cubicBezTo>
                    <a:pt x="5294" y="71512"/>
                    <a:pt x="14417" y="51313"/>
                    <a:pt x="29648" y="35349"/>
                  </a:cubicBezTo>
                  <a:cubicBezTo>
                    <a:pt x="40480" y="24027"/>
                    <a:pt x="54408" y="14824"/>
                    <a:pt x="70372" y="8634"/>
                  </a:cubicBezTo>
                  <a:cubicBezTo>
                    <a:pt x="84707" y="3095"/>
                    <a:pt x="100671" y="0"/>
                    <a:pt x="117450" y="0"/>
                  </a:cubicBezTo>
                  <a:cubicBezTo>
                    <a:pt x="134228" y="0"/>
                    <a:pt x="150192" y="3095"/>
                    <a:pt x="164527" y="8634"/>
                  </a:cubicBezTo>
                  <a:cubicBezTo>
                    <a:pt x="180491" y="14824"/>
                    <a:pt x="194338" y="24027"/>
                    <a:pt x="205170" y="35349"/>
                  </a:cubicBezTo>
                  <a:cubicBezTo>
                    <a:pt x="207288" y="37467"/>
                    <a:pt x="209242" y="39747"/>
                    <a:pt x="211116" y="42109"/>
                  </a:cubicBezTo>
                  <a:lnTo>
                    <a:pt x="184319" y="62960"/>
                  </a:lnTo>
                  <a:cubicBezTo>
                    <a:pt x="176581" y="50987"/>
                    <a:pt x="164608" y="41295"/>
                    <a:pt x="150273" y="35349"/>
                  </a:cubicBezTo>
                  <a:cubicBezTo>
                    <a:pt x="140174" y="31195"/>
                    <a:pt x="128852" y="28833"/>
                    <a:pt x="116880" y="28833"/>
                  </a:cubicBezTo>
                  <a:cubicBezTo>
                    <a:pt x="104906" y="28833"/>
                    <a:pt x="93585" y="31195"/>
                    <a:pt x="83485" y="35349"/>
                  </a:cubicBezTo>
                  <a:cubicBezTo>
                    <a:pt x="57340" y="46181"/>
                    <a:pt x="39340" y="69232"/>
                    <a:pt x="39340" y="95947"/>
                  </a:cubicBezTo>
                  <a:cubicBezTo>
                    <a:pt x="39340" y="124698"/>
                    <a:pt x="60191" y="149133"/>
                    <a:pt x="89512" y="158744"/>
                  </a:cubicBezTo>
                  <a:cubicBezTo>
                    <a:pt x="94155" y="160291"/>
                    <a:pt x="99124" y="161432"/>
                    <a:pt x="104173" y="162165"/>
                  </a:cubicBezTo>
                  <a:cubicBezTo>
                    <a:pt x="108327" y="162735"/>
                    <a:pt x="112562" y="163061"/>
                    <a:pt x="116880" y="163061"/>
                  </a:cubicBezTo>
                  <a:cubicBezTo>
                    <a:pt x="116961" y="162979"/>
                    <a:pt x="117042" y="163061"/>
                    <a:pt x="117124" y="163061"/>
                  </a:cubicBezTo>
                  <a:cubicBezTo>
                    <a:pt x="134554" y="165097"/>
                    <a:pt x="150762" y="170473"/>
                    <a:pt x="164772" y="178373"/>
                  </a:cubicBezTo>
                  <a:cubicBezTo>
                    <a:pt x="168599" y="180491"/>
                    <a:pt x="172346" y="182853"/>
                    <a:pt x="175848" y="185378"/>
                  </a:cubicBezTo>
                  <a:cubicBezTo>
                    <a:pt x="192301" y="197269"/>
                    <a:pt x="204763" y="212907"/>
                    <a:pt x="211360" y="230826"/>
                  </a:cubicBezTo>
                  <a:cubicBezTo>
                    <a:pt x="214781" y="239948"/>
                    <a:pt x="216654" y="249722"/>
                    <a:pt x="216736" y="25990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PROJECTS  ·  OVERVIEW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Objective &amp; Business Outcome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Automatically capture each test result, let the operator review it, and push it to SAP with the correct rules applied.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" name="Column headers"/>
          <p:cNvGrpSpPr/>
          <p:nvPr/>
        </p:nvGrpSpPr>
        <p:grpSpPr>
          <a:xfrm>
            <a:off x="1783080" y="1033272"/>
            <a:ext cx="7086600" cy="182880"/>
            <a:chOff x="1783080" y="1033272"/>
            <a:chExt cx="7086600" cy="182880"/>
          </a:xfrm>
        </p:grpSpPr>
        <p:sp>
          <p:nvSpPr>
            <p:cNvPr id="20" name="Icon history"/>
            <p:cNvSpPr/>
            <p:nvPr/>
          </p:nvSpPr>
          <p:spPr>
            <a:xfrm>
              <a:off x="1783080" y="105613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2000"/>
                  </a:moveTo>
                  <a:cubicBezTo>
                    <a:pt x="3000" y="13579"/>
                    <a:pt x="3415" y="15131"/>
                    <a:pt x="4205" y="16500"/>
                  </a:cubicBezTo>
                  <a:cubicBezTo>
                    <a:pt x="4995" y="17868"/>
                    <a:pt x="6131" y="19004"/>
                    <a:pt x="7499" y="19794"/>
                  </a:cubicBezTo>
                  <a:cubicBezTo>
                    <a:pt x="8868" y="20584"/>
                    <a:pt x="10420" y="21000"/>
                    <a:pt x="11999" y="21000"/>
                  </a:cubicBezTo>
                  <a:cubicBezTo>
                    <a:pt x="13579" y="21000"/>
                    <a:pt x="15131" y="20584"/>
                    <a:pt x="16499" y="19794"/>
                  </a:cubicBezTo>
                  <a:cubicBezTo>
                    <a:pt x="17868" y="19004"/>
                    <a:pt x="19004" y="17868"/>
                    <a:pt x="19794" y="16500"/>
                  </a:cubicBezTo>
                  <a:cubicBezTo>
                    <a:pt x="20584" y="15131"/>
                    <a:pt x="21000" y="13579"/>
                    <a:pt x="21000" y="12000"/>
                  </a:cubicBezTo>
                  <a:cubicBezTo>
                    <a:pt x="21000" y="10420"/>
                    <a:pt x="20584" y="8868"/>
                    <a:pt x="19794" y="7500"/>
                  </a:cubicBezTo>
                  <a:cubicBezTo>
                    <a:pt x="19004" y="6131"/>
                    <a:pt x="17868" y="4995"/>
                    <a:pt x="16500" y="4205"/>
                  </a:cubicBezTo>
                  <a:cubicBezTo>
                    <a:pt x="15131" y="3415"/>
                    <a:pt x="13579" y="3000"/>
                    <a:pt x="12000" y="3000"/>
                  </a:cubicBezTo>
                  <a:cubicBezTo>
                    <a:pt x="10753" y="3004"/>
                    <a:pt x="9519" y="3248"/>
                    <a:pt x="8364" y="3717"/>
                  </a:cubicBezTo>
                  <a:cubicBezTo>
                    <a:pt x="7210" y="4187"/>
                    <a:pt x="6156" y="4873"/>
                    <a:pt x="5260" y="5740"/>
                  </a:cubicBezTo>
                  <a:lnTo>
                    <a:pt x="3000" y="8000"/>
                  </a:lnTo>
                </a:path>
                <a:path w="24000" h="24000" fill="none">
                  <a:moveTo>
                    <a:pt x="3000" y="3000"/>
                  </a:moveTo>
                  <a:lnTo>
                    <a:pt x="3000" y="8000"/>
                  </a:lnTo>
                  <a:lnTo>
                    <a:pt x="8000" y="8000"/>
                  </a:lnTo>
                </a:path>
                <a:path w="24000" h="24000" fill="none">
                  <a:moveTo>
                    <a:pt x="12000" y="7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12573" cap="rnd">
              <a:solidFill>
                <a:srgbClr val="40566D"/>
              </a:solidFill>
              <a:round/>
            </a:ln>
          </p:spPr>
        </p:sp>
        <p:sp>
          <p:nvSpPr>
            <p:cNvPr id="21" name="Current procedure header"/>
            <p:cNvSpPr txBox="1"/>
            <p:nvPr/>
          </p:nvSpPr>
          <p:spPr>
            <a:xfrm>
              <a:off x="1965960" y="1033272"/>
              <a:ext cx="19933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CURRENT PROCEDURE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22" name="Icon crosshair"/>
            <p:cNvSpPr/>
            <p:nvPr/>
          </p:nvSpPr>
          <p:spPr>
            <a:xfrm>
              <a:off x="4206240" y="105613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3755"/>
                    <a:pt x="21537" y="15479"/>
                    <a:pt x="20660" y="17000"/>
                  </a:cubicBezTo>
                  <a:cubicBezTo>
                    <a:pt x="19782" y="18520"/>
                    <a:pt x="18520" y="19782"/>
                    <a:pt x="17000" y="20660"/>
                  </a:cubicBezTo>
                  <a:cubicBezTo>
                    <a:pt x="15479" y="21537"/>
                    <a:pt x="13755" y="22000"/>
                    <a:pt x="12000" y="22000"/>
                  </a:cubicBezTo>
                  <a:cubicBezTo>
                    <a:pt x="10244" y="22000"/>
                    <a:pt x="8520" y="21537"/>
                    <a:pt x="7000" y="20660"/>
                  </a:cubicBezTo>
                  <a:cubicBezTo>
                    <a:pt x="5479" y="19782"/>
                    <a:pt x="4217" y="18520"/>
                    <a:pt x="3339" y="17000"/>
                  </a:cubicBezTo>
                  <a:cubicBezTo>
                    <a:pt x="2462" y="15479"/>
                    <a:pt x="2000" y="13755"/>
                    <a:pt x="2000" y="12000"/>
                  </a:cubicBezTo>
                  <a:cubicBezTo>
                    <a:pt x="1999" y="10244"/>
                    <a:pt x="2462" y="8520"/>
                    <a:pt x="3339" y="7000"/>
                  </a:cubicBezTo>
                  <a:cubicBezTo>
                    <a:pt x="4217" y="5479"/>
                    <a:pt x="5479" y="4217"/>
                    <a:pt x="6999" y="3339"/>
                  </a:cubicBezTo>
                  <a:cubicBezTo>
                    <a:pt x="8520" y="2462"/>
                    <a:pt x="10244" y="2000"/>
                    <a:pt x="11999" y="2000"/>
                  </a:cubicBezTo>
                  <a:cubicBezTo>
                    <a:pt x="13755" y="1999"/>
                    <a:pt x="15479" y="2462"/>
                    <a:pt x="17000" y="3339"/>
                  </a:cubicBezTo>
                  <a:cubicBezTo>
                    <a:pt x="18520" y="4217"/>
                    <a:pt x="19782" y="5479"/>
                    <a:pt x="20660" y="7000"/>
                  </a:cubicBezTo>
                  <a:cubicBezTo>
                    <a:pt x="21537" y="8520"/>
                    <a:pt x="22000" y="10244"/>
                    <a:pt x="22000" y="11999"/>
                  </a:cubicBezTo>
                  <a:close/>
                </a:path>
                <a:path w="24000" h="24000" fill="none">
                  <a:moveTo>
                    <a:pt x="22000" y="12000"/>
                  </a:moveTo>
                  <a:lnTo>
                    <a:pt x="18000" y="12000"/>
                  </a:lnTo>
                </a:path>
                <a:path w="24000" h="24000" fill="none">
                  <a:moveTo>
                    <a:pt x="6000" y="12000"/>
                  </a:moveTo>
                  <a:lnTo>
                    <a:pt x="2000" y="12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00" y="2000"/>
                  </a:lnTo>
                </a:path>
                <a:path w="24000" h="24000" fill="none">
                  <a:moveTo>
                    <a:pt x="12000" y="22000"/>
                  </a:moveTo>
                  <a:lnTo>
                    <a:pt x="12000" y="18000"/>
                  </a:ln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23" name="Objective header"/>
            <p:cNvSpPr txBox="1"/>
            <p:nvPr/>
          </p:nvSpPr>
          <p:spPr>
            <a:xfrm>
              <a:off x="4389120" y="1033272"/>
              <a:ext cx="19933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OBJECTIVE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24" name="Icon badge-check"/>
            <p:cNvSpPr/>
            <p:nvPr/>
          </p:nvSpPr>
          <p:spPr>
            <a:xfrm>
              <a:off x="6629400" y="105613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850" y="8620"/>
                  </a:moveTo>
                  <a:cubicBezTo>
                    <a:pt x="3704" y="7962"/>
                    <a:pt x="3726" y="7278"/>
                    <a:pt x="3915" y="6632"/>
                  </a:cubicBezTo>
                  <a:cubicBezTo>
                    <a:pt x="4103" y="5985"/>
                    <a:pt x="4452" y="5397"/>
                    <a:pt x="4929" y="4921"/>
                  </a:cubicBezTo>
                  <a:cubicBezTo>
                    <a:pt x="5406" y="4446"/>
                    <a:pt x="5995" y="4098"/>
                    <a:pt x="6642" y="3910"/>
                  </a:cubicBezTo>
                  <a:cubicBezTo>
                    <a:pt x="7289" y="3723"/>
                    <a:pt x="7972" y="3702"/>
                    <a:pt x="8630" y="3849"/>
                  </a:cubicBezTo>
                  <a:cubicBezTo>
                    <a:pt x="8991" y="3284"/>
                    <a:pt x="9490" y="2818"/>
                    <a:pt x="10078" y="2496"/>
                  </a:cubicBezTo>
                  <a:cubicBezTo>
                    <a:pt x="10667" y="2173"/>
                    <a:pt x="11328" y="2004"/>
                    <a:pt x="12000" y="2004"/>
                  </a:cubicBezTo>
                  <a:cubicBezTo>
                    <a:pt x="12671" y="2004"/>
                    <a:pt x="13332" y="2173"/>
                    <a:pt x="13921" y="2496"/>
                  </a:cubicBezTo>
                  <a:cubicBezTo>
                    <a:pt x="14509" y="2818"/>
                    <a:pt x="15008" y="3284"/>
                    <a:pt x="15370" y="3849"/>
                  </a:cubicBezTo>
                  <a:cubicBezTo>
                    <a:pt x="16028" y="3702"/>
                    <a:pt x="16713" y="3722"/>
                    <a:pt x="17360" y="3910"/>
                  </a:cubicBezTo>
                  <a:cubicBezTo>
                    <a:pt x="18008" y="4098"/>
                    <a:pt x="18598" y="4447"/>
                    <a:pt x="19075" y="4924"/>
                  </a:cubicBezTo>
                  <a:cubicBezTo>
                    <a:pt x="19552" y="5401"/>
                    <a:pt x="19901" y="5991"/>
                    <a:pt x="20089" y="6639"/>
                  </a:cubicBezTo>
                  <a:cubicBezTo>
                    <a:pt x="20277" y="7286"/>
                    <a:pt x="20297" y="7971"/>
                    <a:pt x="20150" y="8629"/>
                  </a:cubicBezTo>
                  <a:cubicBezTo>
                    <a:pt x="20715" y="8991"/>
                    <a:pt x="21181" y="9490"/>
                    <a:pt x="21503" y="10078"/>
                  </a:cubicBezTo>
                  <a:cubicBezTo>
                    <a:pt x="21826" y="10667"/>
                    <a:pt x="21995" y="11328"/>
                    <a:pt x="21995" y="12000"/>
                  </a:cubicBezTo>
                  <a:cubicBezTo>
                    <a:pt x="21995" y="12671"/>
                    <a:pt x="21826" y="13332"/>
                    <a:pt x="21503" y="13921"/>
                  </a:cubicBezTo>
                  <a:cubicBezTo>
                    <a:pt x="21181" y="14509"/>
                    <a:pt x="20715" y="15008"/>
                    <a:pt x="20150" y="15370"/>
                  </a:cubicBezTo>
                  <a:cubicBezTo>
                    <a:pt x="20297" y="16027"/>
                    <a:pt x="20276" y="16710"/>
                    <a:pt x="20089" y="17357"/>
                  </a:cubicBezTo>
                  <a:cubicBezTo>
                    <a:pt x="19901" y="18004"/>
                    <a:pt x="19553" y="18593"/>
                    <a:pt x="19078" y="19070"/>
                  </a:cubicBezTo>
                  <a:cubicBezTo>
                    <a:pt x="18602" y="19547"/>
                    <a:pt x="18014" y="19896"/>
                    <a:pt x="17367" y="20084"/>
                  </a:cubicBezTo>
                  <a:cubicBezTo>
                    <a:pt x="16721" y="20273"/>
                    <a:pt x="16037" y="20295"/>
                    <a:pt x="15380" y="20150"/>
                  </a:cubicBezTo>
                  <a:cubicBezTo>
                    <a:pt x="15018" y="20717"/>
                    <a:pt x="14520" y="21185"/>
                    <a:pt x="13930" y="21509"/>
                  </a:cubicBezTo>
                  <a:cubicBezTo>
                    <a:pt x="13340" y="21833"/>
                    <a:pt x="12677" y="22003"/>
                    <a:pt x="12005" y="22003"/>
                  </a:cubicBezTo>
                  <a:cubicBezTo>
                    <a:pt x="11332" y="22003"/>
                    <a:pt x="10669" y="21833"/>
                    <a:pt x="10079" y="21509"/>
                  </a:cubicBezTo>
                  <a:cubicBezTo>
                    <a:pt x="9489" y="21185"/>
                    <a:pt x="8991" y="20717"/>
                    <a:pt x="8630" y="20150"/>
                  </a:cubicBezTo>
                  <a:cubicBezTo>
                    <a:pt x="7972" y="20297"/>
                    <a:pt x="7289" y="20276"/>
                    <a:pt x="6642" y="20089"/>
                  </a:cubicBezTo>
                  <a:cubicBezTo>
                    <a:pt x="5995" y="19901"/>
                    <a:pt x="5406" y="19553"/>
                    <a:pt x="4929" y="19078"/>
                  </a:cubicBezTo>
                  <a:cubicBezTo>
                    <a:pt x="4452" y="18602"/>
                    <a:pt x="4103" y="18014"/>
                    <a:pt x="3915" y="17367"/>
                  </a:cubicBezTo>
                  <a:cubicBezTo>
                    <a:pt x="3726" y="16721"/>
                    <a:pt x="3704" y="16037"/>
                    <a:pt x="3850" y="15379"/>
                  </a:cubicBezTo>
                  <a:cubicBezTo>
                    <a:pt x="3279" y="15019"/>
                    <a:pt x="2810" y="14520"/>
                    <a:pt x="2485" y="13929"/>
                  </a:cubicBezTo>
                  <a:cubicBezTo>
                    <a:pt x="2159" y="13338"/>
                    <a:pt x="1989" y="12674"/>
                    <a:pt x="1989" y="11999"/>
                  </a:cubicBezTo>
                  <a:cubicBezTo>
                    <a:pt x="1989" y="11325"/>
                    <a:pt x="2159" y="10661"/>
                    <a:pt x="2485" y="10070"/>
                  </a:cubicBezTo>
                  <a:cubicBezTo>
                    <a:pt x="2810" y="9479"/>
                    <a:pt x="3279" y="8980"/>
                    <a:pt x="3850" y="8620"/>
                  </a:cubicBezTo>
                  <a:close/>
                </a:path>
                <a:path w="24000" h="24000" fill="none">
                  <a:moveTo>
                    <a:pt x="16000" y="9000"/>
                  </a:moveTo>
                  <a:lnTo>
                    <a:pt x="10500" y="14500"/>
                  </a:lnTo>
                  <a:lnTo>
                    <a:pt x="8000" y="12000"/>
                  </a:lnTo>
                </a:path>
              </a:pathLst>
            </a:custGeom>
            <a:noFill/>
            <a:ln w="12573" cap="rnd">
              <a:solidFill>
                <a:srgbClr val="008743"/>
              </a:solidFill>
              <a:round/>
            </a:ln>
          </p:spPr>
        </p:sp>
        <p:sp>
          <p:nvSpPr>
            <p:cNvPr id="25" name="Business outcome header"/>
            <p:cNvSpPr txBox="1"/>
            <p:nvPr/>
          </p:nvSpPr>
          <p:spPr>
            <a:xfrm>
              <a:off x="6812280" y="1033272"/>
              <a:ext cx="20574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BUSINESS OUTCOME</a:t>
              </a:r>
              <a:endParaRPr lang="en-US" sz="700" dirty="0">
                <a:latin typeface="Inter SemiBold"/>
              </a:endParaRPr>
            </a:p>
          </p:txBody>
        </p:sp>
      </p:grpSp>
      <p:grpSp>
        <p:nvGrpSpPr>
          <p:cNvPr id="26" name="Project 01 identity"/>
          <p:cNvGrpSpPr/>
          <p:nvPr/>
        </p:nvGrpSpPr>
        <p:grpSpPr>
          <a:xfrm>
            <a:off x="274320" y="1280160"/>
            <a:ext cx="1371600" cy="1691640"/>
            <a:chOff x="274320" y="1280160"/>
            <a:chExt cx="1371600" cy="1691640"/>
          </a:xfrm>
        </p:grpSpPr>
        <p:sp>
          <p:nvSpPr>
            <p:cNvPr id="27" name="Project 01 panel"/>
            <p:cNvSpPr/>
            <p:nvPr/>
          </p:nvSpPr>
          <p:spPr>
            <a:xfrm>
              <a:off x="274320" y="1280160"/>
              <a:ext cx="1371600" cy="1691640"/>
            </a:xfrm>
            <a:prstGeom prst="roundRect">
              <a:avLst>
                <a:gd name="adj" fmla="val 466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8" name="Icon scan-line"/>
            <p:cNvSpPr/>
            <p:nvPr/>
          </p:nvSpPr>
          <p:spPr>
            <a:xfrm>
              <a:off x="420624" y="143560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7000"/>
                  </a:moveTo>
                  <a:lnTo>
                    <a:pt x="3000" y="5000"/>
                  </a:lnTo>
                  <a:cubicBezTo>
                    <a:pt x="3000" y="4648"/>
                    <a:pt x="3092" y="4304"/>
                    <a:pt x="3267" y="4000"/>
                  </a:cubicBezTo>
                  <a:cubicBezTo>
                    <a:pt x="3443" y="3695"/>
                    <a:pt x="3695" y="3443"/>
                    <a:pt x="3999" y="3267"/>
                  </a:cubicBezTo>
                  <a:cubicBezTo>
                    <a:pt x="4304" y="3092"/>
                    <a:pt x="4648" y="3000"/>
                    <a:pt x="5000" y="3000"/>
                  </a:cubicBezTo>
                  <a:lnTo>
                    <a:pt x="7000" y="3000"/>
                  </a:lnTo>
                </a:path>
                <a:path w="24000" h="24000" fill="none">
                  <a:moveTo>
                    <a:pt x="17000" y="3000"/>
                  </a:moveTo>
                  <a:lnTo>
                    <a:pt x="19000" y="3000"/>
                  </a:lnTo>
                  <a:cubicBezTo>
                    <a:pt x="19351" y="3000"/>
                    <a:pt x="19695" y="3092"/>
                    <a:pt x="20000" y="3267"/>
                  </a:cubicBezTo>
                  <a:cubicBezTo>
                    <a:pt x="20304" y="3443"/>
                    <a:pt x="20556" y="3695"/>
                    <a:pt x="20732" y="4000"/>
                  </a:cubicBezTo>
                  <a:cubicBezTo>
                    <a:pt x="20907" y="4304"/>
                    <a:pt x="21000" y="4648"/>
                    <a:pt x="21000" y="5000"/>
                  </a:cubicBezTo>
                  <a:lnTo>
                    <a:pt x="21000" y="7000"/>
                  </a:lnTo>
                </a:path>
                <a:path w="24000" h="24000" fill="none">
                  <a:moveTo>
                    <a:pt x="21000" y="17000"/>
                  </a:moveTo>
                  <a:lnTo>
                    <a:pt x="21000" y="19000"/>
                  </a:lnTo>
                  <a:cubicBezTo>
                    <a:pt x="21000" y="19351"/>
                    <a:pt x="20907" y="19695"/>
                    <a:pt x="20732" y="20000"/>
                  </a:cubicBezTo>
                  <a:cubicBezTo>
                    <a:pt x="20556" y="20304"/>
                    <a:pt x="20304" y="20556"/>
                    <a:pt x="20000" y="20732"/>
                  </a:cubicBezTo>
                  <a:cubicBezTo>
                    <a:pt x="19695" y="20907"/>
                    <a:pt x="19351" y="21000"/>
                    <a:pt x="19000" y="21000"/>
                  </a:cubicBezTo>
                  <a:lnTo>
                    <a:pt x="17000" y="21000"/>
                  </a:lnTo>
                </a:path>
                <a:path w="24000" h="24000" fill="none">
                  <a:moveTo>
                    <a:pt x="7000" y="21000"/>
                  </a:moveTo>
                  <a:lnTo>
                    <a:pt x="5000" y="21000"/>
                  </a:lnTo>
                  <a:cubicBezTo>
                    <a:pt x="4648" y="21000"/>
                    <a:pt x="4304" y="20907"/>
                    <a:pt x="4000" y="20732"/>
                  </a:cubicBezTo>
                  <a:cubicBezTo>
                    <a:pt x="3695" y="20556"/>
                    <a:pt x="3443" y="20304"/>
                    <a:pt x="3267" y="20000"/>
                  </a:cubicBezTo>
                  <a:cubicBezTo>
                    <a:pt x="3092" y="19695"/>
                    <a:pt x="3000" y="19351"/>
                    <a:pt x="3000" y="19000"/>
                  </a:cubicBezTo>
                  <a:lnTo>
                    <a:pt x="3000" y="17000"/>
                  </a:lnTo>
                </a:path>
                <a:path w="24000" h="24000" fill="none">
                  <a:moveTo>
                    <a:pt x="7000" y="12000"/>
                  </a:moveTo>
                  <a:lnTo>
                    <a:pt x="17000" y="12000"/>
                  </a:lnTo>
                </a:path>
              </a:pathLst>
            </a:custGeom>
            <a:noFill/>
            <a:ln w="20574" cap="rnd">
              <a:solidFill>
                <a:srgbClr val="FFFFFF"/>
              </a:solidFill>
              <a:round/>
            </a:ln>
          </p:spPr>
        </p:sp>
        <p:sp>
          <p:nvSpPr>
            <p:cNvPr id="29" name="Project number"/>
            <p:cNvSpPr txBox="1"/>
            <p:nvPr/>
          </p:nvSpPr>
          <p:spPr>
            <a:xfrm>
              <a:off x="914400" y="1371600"/>
              <a:ext cx="603504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2640"/>
                </a:lnSpc>
                <a:spcBef>
                  <a:spcPts val="0"/>
                </a:spcBef>
                <a:buNone/>
              </a:pPr>
              <a:r>
                <a:rPr lang="en-US" sz="2400" b="0" i="0" spc="0" dirty="0">
                  <a:solidFill>
                    <a:srgbClr val="B8D0FD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2400" dirty="0">
                <a:latin typeface="TASA Orbiter SemiBold"/>
              </a:endParaRPr>
            </a:p>
          </p:txBody>
        </p:sp>
        <p:sp>
          <p:nvSpPr>
            <p:cNvPr id="30" name="Project name"/>
            <p:cNvSpPr txBox="1"/>
            <p:nvPr/>
          </p:nvSpPr>
          <p:spPr>
            <a:xfrm>
              <a:off x="420624" y="1865376"/>
              <a:ext cx="114300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56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UT Stations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31" name="Project station"/>
            <p:cNvSpPr txBox="1"/>
            <p:nvPr/>
          </p:nvSpPr>
          <p:spPr>
            <a:xfrm>
              <a:off x="420624" y="2084832"/>
              <a:ext cx="11430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DCE8FE"/>
                  </a:solidFill>
                  <a:latin typeface="Inter"/>
                  <a:ea typeface="Inter"/>
                  <a:cs typeface="Inter"/>
                  <a:sym typeface="Inter"/>
                </a:rPr>
                <a:t>IUT &amp; FUT  ·  Ultrasonic testing</a:t>
              </a:r>
              <a:endParaRPr lang="en-US" sz="700" dirty="0">
                <a:latin typeface="Inter"/>
              </a:endParaRPr>
            </a:p>
          </p:txBody>
        </p:sp>
        <p:cxnSp>
          <p:nvCxnSpPr>
            <p:cNvPr id="32" name="Divider"/>
            <p:cNvCxnSpPr/>
            <p:nvPr/>
          </p:nvCxnSpPr>
          <p:spPr>
            <a:xfrm>
              <a:off x="420624" y="2377440"/>
              <a:ext cx="1078992" cy="0"/>
            </a:xfrm>
            <a:prstGeom prst="straightConnector1">
              <a:avLst/>
            </a:prstGeom>
            <a:noFill/>
            <a:ln w="9525">
              <a:solidFill>
                <a:srgbClr val="5A8DF7"/>
              </a:solidFill>
              <a:round/>
            </a:ln>
          </p:spPr>
        </p:cxnSp>
        <p:sp>
          <p:nvSpPr>
            <p:cNvPr id="33" name="Applications label"/>
            <p:cNvSpPr txBox="1"/>
            <p:nvPr/>
          </p:nvSpPr>
          <p:spPr>
            <a:xfrm>
              <a:off x="420624" y="2450592"/>
              <a:ext cx="1143000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00" b="0" i="0" cap="all" spc="84" dirty="0">
                  <a:solidFill>
                    <a:srgbClr val="B8D0F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APPLICATION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34" name="Applications"/>
            <p:cNvSpPr txBox="1"/>
            <p:nvPr/>
          </p:nvSpPr>
          <p:spPr>
            <a:xfrm>
              <a:off x="420624" y="2596896"/>
              <a:ext cx="1143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38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Entry Application</a:t>
              </a:r>
              <a:endParaRPr lang="en-US" sz="750" dirty="0">
                <a:latin typeface="Inter SemiBold"/>
              </a:endParaRPr>
            </a:p>
          </p:txBody>
        </p:sp>
      </p:grpSp>
      <p:grpSp>
        <p:nvGrpSpPr>
          <p:cNvPr id="35" name="Project 01 Current procedure"/>
          <p:cNvGrpSpPr/>
          <p:nvPr/>
        </p:nvGrpSpPr>
        <p:grpSpPr>
          <a:xfrm>
            <a:off x="1764792" y="1280160"/>
            <a:ext cx="2194560" cy="1691640"/>
            <a:chOff x="1764792" y="1280160"/>
            <a:chExt cx="2194560" cy="1691640"/>
          </a:xfrm>
        </p:grpSpPr>
        <p:sp>
          <p:nvSpPr>
            <p:cNvPr id="36" name="Current procedure card"/>
            <p:cNvSpPr/>
            <p:nvPr/>
          </p:nvSpPr>
          <p:spPr>
            <a:xfrm>
              <a:off x="1764792" y="1280160"/>
              <a:ext cx="2194560" cy="1691640"/>
            </a:xfrm>
            <a:prstGeom prst="roundRect">
              <a:avLst>
                <a:gd name="adj" fmla="val 3243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grpSp>
          <p:nvGrpSpPr>
            <p:cNvPr id="37" name="Current procedure 1"/>
            <p:cNvGrpSpPr/>
            <p:nvPr/>
          </p:nvGrpSpPr>
          <p:grpSpPr>
            <a:xfrm>
              <a:off x="1883664" y="1417320"/>
              <a:ext cx="1965960" cy="260096"/>
              <a:chOff x="1883664" y="1417320"/>
              <a:chExt cx="1965960" cy="260096"/>
            </a:xfrm>
          </p:grpSpPr>
          <p:sp>
            <p:nvSpPr>
              <p:cNvPr id="38" name="Icon eye"/>
              <p:cNvSpPr/>
              <p:nvPr/>
            </p:nvSpPr>
            <p:spPr>
              <a:xfrm>
                <a:off x="1883664" y="1428293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62" y="12348"/>
                    </a:moveTo>
                    <a:cubicBezTo>
                      <a:pt x="2020" y="12236"/>
                      <a:pt x="1999" y="12118"/>
                      <a:pt x="1999" y="12000"/>
                    </a:cubicBezTo>
                    <a:cubicBezTo>
                      <a:pt x="1999" y="11881"/>
                      <a:pt x="2020" y="11763"/>
                      <a:pt x="2062" y="11652"/>
                    </a:cubicBezTo>
                    <a:cubicBezTo>
                      <a:pt x="2709" y="10081"/>
                      <a:pt x="3720" y="8687"/>
                      <a:pt x="5010" y="7582"/>
                    </a:cubicBezTo>
                    <a:cubicBezTo>
                      <a:pt x="6301" y="6478"/>
                      <a:pt x="7835" y="5695"/>
                      <a:pt x="9487" y="5298"/>
                    </a:cubicBezTo>
                    <a:cubicBezTo>
                      <a:pt x="11138" y="4901"/>
                      <a:pt x="12861" y="4901"/>
                      <a:pt x="14512" y="5298"/>
                    </a:cubicBezTo>
                    <a:cubicBezTo>
                      <a:pt x="16164" y="5695"/>
                      <a:pt x="17698" y="6478"/>
                      <a:pt x="18989" y="7582"/>
                    </a:cubicBezTo>
                    <a:cubicBezTo>
                      <a:pt x="20279" y="8687"/>
                      <a:pt x="21290" y="10081"/>
                      <a:pt x="21938" y="11652"/>
                    </a:cubicBezTo>
                    <a:cubicBezTo>
                      <a:pt x="21979" y="11763"/>
                      <a:pt x="22000" y="11881"/>
                      <a:pt x="22000" y="12000"/>
                    </a:cubicBezTo>
                    <a:cubicBezTo>
                      <a:pt x="22000" y="12118"/>
                      <a:pt x="21979" y="12236"/>
                      <a:pt x="21938" y="12348"/>
                    </a:cubicBezTo>
                    <a:cubicBezTo>
                      <a:pt x="21290" y="13918"/>
                      <a:pt x="20279" y="15312"/>
                      <a:pt x="18989" y="16417"/>
                    </a:cubicBezTo>
                    <a:cubicBezTo>
                      <a:pt x="17698" y="17521"/>
                      <a:pt x="16164" y="18304"/>
                      <a:pt x="14512" y="18701"/>
                    </a:cubicBezTo>
                    <a:cubicBezTo>
                      <a:pt x="12861" y="19098"/>
                      <a:pt x="11138" y="19098"/>
                      <a:pt x="9487" y="18701"/>
                    </a:cubicBezTo>
                    <a:cubicBezTo>
                      <a:pt x="7835" y="18304"/>
                      <a:pt x="6301" y="17521"/>
                      <a:pt x="5010" y="16417"/>
                    </a:cubicBezTo>
                    <a:cubicBezTo>
                      <a:pt x="3720" y="15312"/>
                      <a:pt x="2709" y="13918"/>
                      <a:pt x="2062" y="12348"/>
                    </a:cubicBezTo>
                  </a:path>
                  <a:path w="24000" h="24000" fill="none">
                    <a:moveTo>
                      <a:pt x="15000" y="12000"/>
                    </a:moveTo>
                    <a:cubicBezTo>
                      <a:pt x="15000" y="12526"/>
                      <a:pt x="14861" y="13043"/>
                      <a:pt x="14598" y="13500"/>
                    </a:cubicBezTo>
                    <a:cubicBezTo>
                      <a:pt x="14334" y="13956"/>
                      <a:pt x="13956" y="14334"/>
                      <a:pt x="13500" y="14598"/>
                    </a:cubicBezTo>
                    <a:cubicBezTo>
                      <a:pt x="13043" y="14861"/>
                      <a:pt x="12526" y="15000"/>
                      <a:pt x="12000" y="15000"/>
                    </a:cubicBezTo>
                    <a:cubicBezTo>
                      <a:pt x="11473" y="15000"/>
                      <a:pt x="10956" y="14861"/>
                      <a:pt x="10500" y="14598"/>
                    </a:cubicBezTo>
                    <a:cubicBezTo>
                      <a:pt x="10043" y="14334"/>
                      <a:pt x="9665" y="13956"/>
                      <a:pt x="9401" y="13500"/>
                    </a:cubicBezTo>
                    <a:cubicBezTo>
                      <a:pt x="9138" y="13043"/>
                      <a:pt x="9000" y="12526"/>
                      <a:pt x="9000" y="12000"/>
                    </a:cubicBezTo>
                    <a:cubicBezTo>
                      <a:pt x="9000" y="11473"/>
                      <a:pt x="9138" y="10956"/>
                      <a:pt x="9401" y="10500"/>
                    </a:cubicBezTo>
                    <a:cubicBezTo>
                      <a:pt x="9665" y="10043"/>
                      <a:pt x="10043" y="9665"/>
                      <a:pt x="10499" y="9401"/>
                    </a:cubicBezTo>
                    <a:cubicBezTo>
                      <a:pt x="10956" y="9138"/>
                      <a:pt x="11473" y="9000"/>
                      <a:pt x="12000" y="9000"/>
                    </a:cubicBezTo>
                    <a:cubicBezTo>
                      <a:pt x="12526" y="9000"/>
                      <a:pt x="13043" y="9138"/>
                      <a:pt x="13500" y="9401"/>
                    </a:cubicBezTo>
                    <a:cubicBezTo>
                      <a:pt x="13956" y="9665"/>
                      <a:pt x="14334" y="10043"/>
                      <a:pt x="14598" y="10500"/>
                    </a:cubicBezTo>
                    <a:cubicBezTo>
                      <a:pt x="14861" y="10956"/>
                      <a:pt x="15000" y="11473"/>
                      <a:pt x="15000" y="12000"/>
                    </a:cubicBezTo>
                    <a:close/>
                  </a:path>
                </a:pathLst>
              </a:custGeom>
              <a:noFill/>
              <a:ln w="10287" cap="rnd">
                <a:solidFill>
                  <a:srgbClr val="6C849D"/>
                </a:solidFill>
                <a:round/>
              </a:ln>
            </p:spPr>
          </p:sp>
          <p:sp>
            <p:nvSpPr>
              <p:cNvPr id="39" name="Current procedure 1 text"/>
              <p:cNvSpPr txBox="1"/>
              <p:nvPr/>
            </p:nvSpPr>
            <p:spPr>
              <a:xfrm>
                <a:off x="2075688" y="1417320"/>
                <a:ext cx="1773936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Operator </a:t>
                </a: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counts the indications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shown on the UT machine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40" name="Current procedure 2"/>
            <p:cNvGrpSpPr/>
            <p:nvPr/>
          </p:nvGrpSpPr>
          <p:grpSpPr>
            <a:xfrm>
              <a:off x="1883664" y="1755140"/>
              <a:ext cx="1965960" cy="260096"/>
              <a:chOff x="1883664" y="1755140"/>
              <a:chExt cx="1965960" cy="260096"/>
            </a:xfrm>
          </p:grpSpPr>
          <p:sp>
            <p:nvSpPr>
              <p:cNvPr id="41" name="Icon keyboard"/>
              <p:cNvSpPr/>
              <p:nvPr/>
            </p:nvSpPr>
            <p:spPr>
              <a:xfrm>
                <a:off x="1883664" y="1766113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8000"/>
                    </a:moveTo>
                    <a:lnTo>
                      <a:pt x="10010" y="8000"/>
                    </a:lnTo>
                  </a:path>
                  <a:path w="24000" h="24000" fill="none">
                    <a:moveTo>
                      <a:pt x="12000" y="12000"/>
                    </a:moveTo>
                    <a:lnTo>
                      <a:pt x="12010" y="12000"/>
                    </a:lnTo>
                  </a:path>
                  <a:path w="24000" h="24000" fill="none">
                    <a:moveTo>
                      <a:pt x="14000" y="8000"/>
                    </a:moveTo>
                    <a:lnTo>
                      <a:pt x="14010" y="8000"/>
                    </a:lnTo>
                  </a:path>
                  <a:path w="24000" h="24000" fill="none">
                    <a:moveTo>
                      <a:pt x="16000" y="12000"/>
                    </a:moveTo>
                    <a:lnTo>
                      <a:pt x="16010" y="12000"/>
                    </a:lnTo>
                  </a:path>
                  <a:path w="24000" h="24000" fill="none">
                    <a:moveTo>
                      <a:pt x="18000" y="8000"/>
                    </a:moveTo>
                    <a:lnTo>
                      <a:pt x="18010" y="8000"/>
                    </a:lnTo>
                  </a:path>
                  <a:path w="24000" h="24000" fill="none">
                    <a:moveTo>
                      <a:pt x="6000" y="8000"/>
                    </a:moveTo>
                    <a:lnTo>
                      <a:pt x="6010" y="8000"/>
                    </a:lnTo>
                  </a:path>
                  <a:path w="24000" h="24000" fill="none">
                    <a:moveTo>
                      <a:pt x="7000" y="16000"/>
                    </a:moveTo>
                    <a:lnTo>
                      <a:pt x="17000" y="16000"/>
                    </a:lnTo>
                  </a:path>
                  <a:path w="24000" h="24000" fill="none">
                    <a:moveTo>
                      <a:pt x="8000" y="12000"/>
                    </a:moveTo>
                    <a:lnTo>
                      <a:pt x="8010" y="12000"/>
                    </a:lnTo>
                  </a:path>
                  <a:path w="24000" h="24000" fill="none">
                    <a:moveTo>
                      <a:pt x="4000" y="4000"/>
                    </a:moveTo>
                    <a:lnTo>
                      <a:pt x="20000" y="4000"/>
                    </a:lnTo>
                    <a:cubicBezTo>
                      <a:pt x="20351" y="4000"/>
                      <a:pt x="20695" y="4092"/>
                      <a:pt x="21000" y="4267"/>
                    </a:cubicBezTo>
                    <a:cubicBezTo>
                      <a:pt x="21304" y="4443"/>
                      <a:pt x="21556" y="4695"/>
                      <a:pt x="21732" y="5000"/>
                    </a:cubicBezTo>
                    <a:cubicBezTo>
                      <a:pt x="21907" y="5304"/>
                      <a:pt x="22000" y="5648"/>
                      <a:pt x="22000" y="6000"/>
                    </a:cubicBezTo>
                    <a:lnTo>
                      <a:pt x="22000" y="18000"/>
                    </a:lnTo>
                    <a:cubicBezTo>
                      <a:pt x="22000" y="18351"/>
                      <a:pt x="21907" y="18695"/>
                      <a:pt x="21732" y="19000"/>
                    </a:cubicBezTo>
                    <a:cubicBezTo>
                      <a:pt x="21556" y="19304"/>
                      <a:pt x="21304" y="19556"/>
                      <a:pt x="21000" y="19732"/>
                    </a:cubicBezTo>
                    <a:cubicBezTo>
                      <a:pt x="20695" y="19907"/>
                      <a:pt x="20351" y="20000"/>
                      <a:pt x="20000" y="20000"/>
                    </a:cubicBezTo>
                    <a:lnTo>
                      <a:pt x="4000" y="20000"/>
                    </a:lnTo>
                    <a:cubicBezTo>
                      <a:pt x="3648" y="20000"/>
                      <a:pt x="3304" y="19907"/>
                      <a:pt x="3000" y="19732"/>
                    </a:cubicBezTo>
                    <a:cubicBezTo>
                      <a:pt x="2695" y="19556"/>
                      <a:pt x="2443" y="19304"/>
                      <a:pt x="2267" y="19000"/>
                    </a:cubicBezTo>
                    <a:cubicBezTo>
                      <a:pt x="2092" y="18695"/>
                      <a:pt x="2000" y="18351"/>
                      <a:pt x="2000" y="18000"/>
                    </a:cubicBezTo>
                    <a:lnTo>
                      <a:pt x="2000" y="6000"/>
                    </a:lnTo>
                    <a:cubicBezTo>
                      <a:pt x="2000" y="5648"/>
                      <a:pt x="2092" y="5304"/>
                      <a:pt x="2267" y="5000"/>
                    </a:cubicBezTo>
                    <a:cubicBezTo>
                      <a:pt x="2443" y="4695"/>
                      <a:pt x="2695" y="4443"/>
                      <a:pt x="2999" y="4267"/>
                    </a:cubicBezTo>
                    <a:cubicBezTo>
                      <a:pt x="3304" y="4092"/>
                      <a:pt x="3648" y="4000"/>
                      <a:pt x="4000" y="4000"/>
                    </a:cubicBezTo>
                    <a:close/>
                  </a:path>
                </a:pathLst>
              </a:custGeom>
              <a:noFill/>
              <a:ln w="10287" cap="rnd">
                <a:solidFill>
                  <a:srgbClr val="6C849D"/>
                </a:solidFill>
                <a:round/>
              </a:ln>
            </p:spPr>
          </p:sp>
          <p:sp>
            <p:nvSpPr>
              <p:cNvPr id="42" name="Current procedure 2 text"/>
              <p:cNvSpPr txBox="1"/>
              <p:nvPr/>
            </p:nvSpPr>
            <p:spPr>
              <a:xfrm>
                <a:off x="2075688" y="1755140"/>
                <a:ext cx="1773936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Details </a:t>
                </a: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typed by hand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into SAP against each pipe number</a:t>
                </a:r>
                <a:endParaRPr lang="en-US" sz="800" dirty="0">
                  <a:latin typeface="Inter"/>
                </a:endParaRPr>
              </a:p>
            </p:txBody>
          </p:sp>
        </p:grpSp>
        <p:cxnSp>
          <p:nvCxnSpPr>
            <p:cNvPr id="43" name="Divider"/>
            <p:cNvCxnSpPr/>
            <p:nvPr/>
          </p:nvCxnSpPr>
          <p:spPr>
            <a:xfrm>
              <a:off x="1883664" y="2615184"/>
              <a:ext cx="1956816" cy="0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44" name="Chip Slow"/>
            <p:cNvGrpSpPr/>
            <p:nvPr/>
          </p:nvGrpSpPr>
          <p:grpSpPr>
            <a:xfrm>
              <a:off x="1883664" y="2697480"/>
              <a:ext cx="452216" cy="164592"/>
              <a:chOff x="1883664" y="2697480"/>
              <a:chExt cx="452216" cy="164592"/>
            </a:xfrm>
          </p:grpSpPr>
          <p:sp>
            <p:nvSpPr>
              <p:cNvPr id="45" name="Chip fill"/>
              <p:cNvSpPr/>
              <p:nvPr/>
            </p:nvSpPr>
            <p:spPr>
              <a:xfrm>
                <a:off x="1883664" y="2697480"/>
                <a:ext cx="452216" cy="164592"/>
              </a:xfrm>
              <a:prstGeom prst="roundRect">
                <a:avLst>
                  <a:gd name="adj" fmla="val 16666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</p:sp>
          <p:sp>
            <p:nvSpPr>
              <p:cNvPr id="46" name="Icon hourglass"/>
              <p:cNvSpPr/>
              <p:nvPr/>
            </p:nvSpPr>
            <p:spPr>
              <a:xfrm>
                <a:off x="1938528" y="272580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5000" y="22000"/>
                    </a:moveTo>
                    <a:lnTo>
                      <a:pt x="19000" y="22000"/>
                    </a:lnTo>
                  </a:path>
                  <a:path w="24000" h="24000" fill="none">
                    <a:moveTo>
                      <a:pt x="5000" y="2000"/>
                    </a:moveTo>
                    <a:lnTo>
                      <a:pt x="19000" y="2000"/>
                    </a:lnTo>
                  </a:path>
                  <a:path w="24000" h="24000" fill="none">
                    <a:moveTo>
                      <a:pt x="17000" y="22000"/>
                    </a:moveTo>
                    <a:lnTo>
                      <a:pt x="17000" y="17828"/>
                    </a:lnTo>
                    <a:cubicBezTo>
                      <a:pt x="16999" y="17565"/>
                      <a:pt x="16948" y="17305"/>
                      <a:pt x="16847" y="17062"/>
                    </a:cubicBezTo>
                    <a:cubicBezTo>
                      <a:pt x="16747" y="16820"/>
                      <a:pt x="16599" y="16599"/>
                      <a:pt x="16414" y="16413"/>
                    </a:cubicBezTo>
                    <a:lnTo>
                      <a:pt x="12000" y="12000"/>
                    </a:lnTo>
                    <a:lnTo>
                      <a:pt x="7586" y="16414"/>
                    </a:lnTo>
                    <a:cubicBezTo>
                      <a:pt x="7400" y="16599"/>
                      <a:pt x="7252" y="16820"/>
                      <a:pt x="7152" y="17062"/>
                    </a:cubicBezTo>
                    <a:cubicBezTo>
                      <a:pt x="7051" y="17305"/>
                      <a:pt x="7000" y="17565"/>
                      <a:pt x="7000" y="17828"/>
                    </a:cubicBezTo>
                    <a:lnTo>
                      <a:pt x="7000" y="22000"/>
                    </a:lnTo>
                  </a:path>
                  <a:path w="24000" h="24000" fill="none">
                    <a:moveTo>
                      <a:pt x="7000" y="2000"/>
                    </a:moveTo>
                    <a:lnTo>
                      <a:pt x="7000" y="6172"/>
                    </a:lnTo>
                    <a:cubicBezTo>
                      <a:pt x="7000" y="6434"/>
                      <a:pt x="7051" y="6694"/>
                      <a:pt x="7152" y="6937"/>
                    </a:cubicBezTo>
                    <a:cubicBezTo>
                      <a:pt x="7252" y="7179"/>
                      <a:pt x="7400" y="7400"/>
                      <a:pt x="7586" y="7585"/>
                    </a:cubicBezTo>
                    <a:lnTo>
                      <a:pt x="12000" y="12000"/>
                    </a:lnTo>
                    <a:lnTo>
                      <a:pt x="16414" y="7586"/>
                    </a:lnTo>
                    <a:cubicBezTo>
                      <a:pt x="16599" y="7400"/>
                      <a:pt x="16747" y="7179"/>
                      <a:pt x="16847" y="6937"/>
                    </a:cubicBezTo>
                    <a:cubicBezTo>
                      <a:pt x="16948" y="6694"/>
                      <a:pt x="16999" y="6434"/>
                      <a:pt x="17000" y="6172"/>
                    </a:cubicBezTo>
                    <a:lnTo>
                      <a:pt x="17000" y="2000"/>
                    </a:lnTo>
                  </a:path>
                </a:pathLst>
              </a:custGeom>
              <a:noFill/>
              <a:ln w="10345" cap="rnd">
                <a:solidFill>
                  <a:srgbClr val="B42318"/>
                </a:solidFill>
                <a:round/>
              </a:ln>
            </p:spPr>
          </p:sp>
          <p:sp>
            <p:nvSpPr>
              <p:cNvPr id="47" name="Chip label"/>
              <p:cNvSpPr txBox="1"/>
              <p:nvPr/>
            </p:nvSpPr>
            <p:spPr>
              <a:xfrm>
                <a:off x="2078482" y="2697480"/>
                <a:ext cx="220822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8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Slow</a:t>
                </a:r>
                <a:endParaRPr lang="en-US" sz="680" dirty="0">
                  <a:latin typeface="Inter SemiBold"/>
                </a:endParaRPr>
              </a:p>
            </p:txBody>
          </p:sp>
        </p:grpSp>
        <p:grpSp>
          <p:nvGrpSpPr>
            <p:cNvPr id="48" name="Chip Prone to mistakes"/>
            <p:cNvGrpSpPr/>
            <p:nvPr/>
          </p:nvGrpSpPr>
          <p:grpSpPr>
            <a:xfrm>
              <a:off x="2390744" y="2697480"/>
              <a:ext cx="994044" cy="164592"/>
              <a:chOff x="2390744" y="2697480"/>
              <a:chExt cx="994044" cy="164592"/>
            </a:xfrm>
          </p:grpSpPr>
          <p:sp>
            <p:nvSpPr>
              <p:cNvPr id="49" name="Chip fill"/>
              <p:cNvSpPr/>
              <p:nvPr/>
            </p:nvSpPr>
            <p:spPr>
              <a:xfrm>
                <a:off x="2390744" y="2697480"/>
                <a:ext cx="994044" cy="164592"/>
              </a:xfrm>
              <a:prstGeom prst="roundRect">
                <a:avLst>
                  <a:gd name="adj" fmla="val 16666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</p:sp>
          <p:sp>
            <p:nvSpPr>
              <p:cNvPr id="50" name="Icon triangle-alert"/>
              <p:cNvSpPr/>
              <p:nvPr/>
            </p:nvSpPr>
            <p:spPr>
              <a:xfrm>
                <a:off x="2445608" y="272580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730" y="18000"/>
                    </a:moveTo>
                    <a:lnTo>
                      <a:pt x="13730" y="4000"/>
                    </a:lnTo>
                    <a:cubicBezTo>
                      <a:pt x="13590" y="3754"/>
                      <a:pt x="13401" y="3540"/>
                      <a:pt x="13173" y="3373"/>
                    </a:cubicBezTo>
                    <a:cubicBezTo>
                      <a:pt x="12945" y="3206"/>
                      <a:pt x="12685" y="3089"/>
                      <a:pt x="12408" y="3030"/>
                    </a:cubicBezTo>
                    <a:cubicBezTo>
                      <a:pt x="12132" y="2971"/>
                      <a:pt x="11847" y="2971"/>
                      <a:pt x="11571" y="3030"/>
                    </a:cubicBezTo>
                    <a:cubicBezTo>
                      <a:pt x="11294" y="3089"/>
                      <a:pt x="11034" y="3206"/>
                      <a:pt x="10806" y="3373"/>
                    </a:cubicBezTo>
                    <a:cubicBezTo>
                      <a:pt x="10578" y="3540"/>
                      <a:pt x="10389" y="3754"/>
                      <a:pt x="10250" y="4000"/>
                    </a:cubicBezTo>
                    <a:lnTo>
                      <a:pt x="2250" y="18000"/>
                    </a:lnTo>
                    <a:cubicBezTo>
                      <a:pt x="2109" y="18243"/>
                      <a:pt x="2021" y="18514"/>
                      <a:pt x="1992" y="18794"/>
                    </a:cubicBezTo>
                    <a:cubicBezTo>
                      <a:pt x="1963" y="19074"/>
                      <a:pt x="1994" y="19357"/>
                      <a:pt x="2082" y="19624"/>
                    </a:cubicBezTo>
                    <a:cubicBezTo>
                      <a:pt x="2170" y="19892"/>
                      <a:pt x="2313" y="20138"/>
                      <a:pt x="2502" y="20346"/>
                    </a:cubicBezTo>
                    <a:cubicBezTo>
                      <a:pt x="2692" y="20554"/>
                      <a:pt x="2923" y="20720"/>
                      <a:pt x="3181" y="20832"/>
                    </a:cubicBezTo>
                    <a:cubicBezTo>
                      <a:pt x="3439" y="20945"/>
                      <a:pt x="3718" y="21002"/>
                      <a:pt x="4000" y="21000"/>
                    </a:cubicBezTo>
                    <a:lnTo>
                      <a:pt x="20000" y="21000"/>
                    </a:lnTo>
                    <a:cubicBezTo>
                      <a:pt x="20350" y="20999"/>
                      <a:pt x="20695" y="20906"/>
                      <a:pt x="20999" y="20731"/>
                    </a:cubicBezTo>
                    <a:cubicBezTo>
                      <a:pt x="21303" y="20555"/>
                      <a:pt x="21555" y="20303"/>
                      <a:pt x="21730" y="19999"/>
                    </a:cubicBezTo>
                    <a:cubicBezTo>
                      <a:pt x="21905" y="19695"/>
                      <a:pt x="21998" y="19350"/>
                      <a:pt x="21997" y="18999"/>
                    </a:cubicBezTo>
                    <a:cubicBezTo>
                      <a:pt x="21997" y="18648"/>
                      <a:pt x="21905" y="18303"/>
                      <a:pt x="21730" y="18000"/>
                    </a:cubicBezTo>
                  </a:path>
                  <a:path w="24000" h="24000" fill="none">
                    <a:moveTo>
                      <a:pt x="12000" y="9000"/>
                    </a:moveTo>
                    <a:lnTo>
                      <a:pt x="12000" y="13000"/>
                    </a:ln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10345" cap="rnd">
                <a:solidFill>
                  <a:srgbClr val="B42318"/>
                </a:solidFill>
                <a:round/>
              </a:ln>
            </p:spPr>
          </p:sp>
          <p:sp>
            <p:nvSpPr>
              <p:cNvPr id="51" name="Chip label"/>
              <p:cNvSpPr txBox="1"/>
              <p:nvPr/>
            </p:nvSpPr>
            <p:spPr>
              <a:xfrm>
                <a:off x="2585562" y="2697480"/>
                <a:ext cx="762650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8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Prone to mistakes</a:t>
                </a:r>
                <a:endParaRPr lang="en-US" sz="680" dirty="0">
                  <a:latin typeface="Inter SemiBold"/>
                </a:endParaRPr>
              </a:p>
            </p:txBody>
          </p:sp>
        </p:grpSp>
      </p:grpSp>
      <p:sp>
        <p:nvSpPr>
          <p:cNvPr id="52" name="Icon chevron-right"/>
          <p:cNvSpPr/>
          <p:nvPr/>
        </p:nvSpPr>
        <p:spPr>
          <a:xfrm>
            <a:off x="4000500" y="205282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4630" cap="rnd">
            <a:solidFill>
              <a:srgbClr val="90A5BB"/>
            </a:solidFill>
            <a:round/>
          </a:ln>
        </p:spPr>
      </p:sp>
      <p:grpSp>
        <p:nvGrpSpPr>
          <p:cNvPr id="53" name="Project 01 Objective"/>
          <p:cNvGrpSpPr/>
          <p:nvPr/>
        </p:nvGrpSpPr>
        <p:grpSpPr>
          <a:xfrm>
            <a:off x="4187952" y="1280160"/>
            <a:ext cx="2194560" cy="1691640"/>
            <a:chOff x="4187952" y="1280160"/>
            <a:chExt cx="2194560" cy="1691640"/>
          </a:xfrm>
        </p:grpSpPr>
        <p:sp>
          <p:nvSpPr>
            <p:cNvPr id="54" name="Objective card"/>
            <p:cNvSpPr/>
            <p:nvPr/>
          </p:nvSpPr>
          <p:spPr>
            <a:xfrm>
              <a:off x="4187952" y="1280160"/>
              <a:ext cx="2194560" cy="1691640"/>
            </a:xfrm>
            <a:prstGeom prst="roundRect">
              <a:avLst>
                <a:gd name="adj" fmla="val 3243"/>
              </a:avLst>
            </a:prstGeom>
            <a:solidFill>
              <a:srgbClr val="F4F8FF"/>
            </a:solidFill>
            <a:ln w="9525">
              <a:solidFill>
                <a:srgbClr val="B8D0FD"/>
              </a:solidFill>
              <a:round/>
            </a:ln>
          </p:spPr>
        </p:sp>
        <p:grpSp>
          <p:nvGrpSpPr>
            <p:cNvPr id="55" name="Objective 1"/>
            <p:cNvGrpSpPr/>
            <p:nvPr/>
          </p:nvGrpSpPr>
          <p:grpSpPr>
            <a:xfrm>
              <a:off x="4306824" y="1417320"/>
              <a:ext cx="1965960" cy="390144"/>
              <a:chOff x="4306824" y="1417320"/>
              <a:chExt cx="1965960" cy="390144"/>
            </a:xfrm>
          </p:grpSpPr>
          <p:sp>
            <p:nvSpPr>
              <p:cNvPr id="56" name="Icon file-scan"/>
              <p:cNvSpPr/>
              <p:nvPr/>
            </p:nvSpPr>
            <p:spPr>
              <a:xfrm>
                <a:off x="4306824" y="1428293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0000"/>
                    </a:moveTo>
                    <a:lnTo>
                      <a:pt x="20000" y="8000"/>
                    </a:lnTo>
                    <a:cubicBezTo>
                      <a:pt x="20000" y="7683"/>
                      <a:pt x="19938" y="7369"/>
                      <a:pt x="19817" y="7077"/>
                    </a:cubicBezTo>
                    <a:cubicBezTo>
                      <a:pt x="19696" y="6785"/>
                      <a:pt x="19518" y="6519"/>
                      <a:pt x="19294" y="6296"/>
                    </a:cubicBezTo>
                    <a:lnTo>
                      <a:pt x="15706" y="2708"/>
                    </a:lnTo>
                    <a:cubicBezTo>
                      <a:pt x="15482" y="2483"/>
                      <a:pt x="15216" y="2304"/>
                      <a:pt x="14923" y="2183"/>
                    </a:cubicBezTo>
                    <a:cubicBezTo>
                      <a:pt x="14631" y="2061"/>
                      <a:pt x="14317" y="1999"/>
                      <a:pt x="14000" y="2000"/>
                    </a:cubicBezTo>
                    <a:lnTo>
                      <a:pt x="6000" y="2000"/>
                    </a:lnTo>
                    <a:cubicBezTo>
                      <a:pt x="5648" y="2000"/>
                      <a:pt x="5304" y="2092"/>
                      <a:pt x="5000" y="2267"/>
                    </a:cubicBezTo>
                    <a:cubicBezTo>
                      <a:pt x="4695" y="2443"/>
                      <a:pt x="4443" y="2695"/>
                      <a:pt x="4267" y="2999"/>
                    </a:cubicBezTo>
                    <a:cubicBezTo>
                      <a:pt x="4092" y="3304"/>
                      <a:pt x="4000" y="3648"/>
                      <a:pt x="4000" y="4000"/>
                    </a:cubicBezTo>
                    <a:lnTo>
                      <a:pt x="4000" y="20000"/>
                    </a:lnTo>
                    <a:cubicBezTo>
                      <a:pt x="4000" y="20351"/>
                      <a:pt x="4092" y="20695"/>
                      <a:pt x="4267" y="21000"/>
                    </a:cubicBezTo>
                    <a:cubicBezTo>
                      <a:pt x="4443" y="21304"/>
                      <a:pt x="4695" y="21556"/>
                      <a:pt x="5000" y="21732"/>
                    </a:cubicBezTo>
                    <a:cubicBezTo>
                      <a:pt x="5304" y="21907"/>
                      <a:pt x="5648" y="22000"/>
                      <a:pt x="6000" y="22000"/>
                    </a:cubicBezTo>
                    <a:lnTo>
                      <a:pt x="10350" y="22000"/>
                    </a:lnTo>
                  </a:path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175"/>
                      <a:pt x="14046" y="7347"/>
                      <a:pt x="14133" y="7500"/>
                    </a:cubicBezTo>
                    <a:cubicBezTo>
                      <a:pt x="14221" y="7652"/>
                      <a:pt x="14347" y="7778"/>
                      <a:pt x="14500" y="7866"/>
                    </a:cubicBezTo>
                    <a:cubicBezTo>
                      <a:pt x="14652" y="7953"/>
                      <a:pt x="14824" y="8000"/>
                      <a:pt x="15000" y="8000"/>
                    </a:cubicBezTo>
                    <a:lnTo>
                      <a:pt x="20000" y="8000"/>
                    </a:lnTo>
                  </a:path>
                  <a:path w="24000" h="24000" fill="none">
                    <a:moveTo>
                      <a:pt x="16000" y="14000"/>
                    </a:moveTo>
                    <a:cubicBezTo>
                      <a:pt x="15648" y="14000"/>
                      <a:pt x="15304" y="14092"/>
                      <a:pt x="15000" y="14267"/>
                    </a:cubicBezTo>
                    <a:cubicBezTo>
                      <a:pt x="14695" y="14443"/>
                      <a:pt x="14443" y="14695"/>
                      <a:pt x="14267" y="15000"/>
                    </a:cubicBezTo>
                    <a:cubicBezTo>
                      <a:pt x="14092" y="15304"/>
                      <a:pt x="14000" y="15648"/>
                      <a:pt x="14000" y="16000"/>
                    </a:cubicBezTo>
                  </a:path>
                  <a:path w="24000" h="24000" fill="none">
                    <a:moveTo>
                      <a:pt x="16000" y="22000"/>
                    </a:moveTo>
                    <a:cubicBezTo>
                      <a:pt x="15648" y="22000"/>
                      <a:pt x="15304" y="21907"/>
                      <a:pt x="15000" y="21732"/>
                    </a:cubicBezTo>
                    <a:cubicBezTo>
                      <a:pt x="14695" y="21556"/>
                      <a:pt x="14443" y="21304"/>
                      <a:pt x="14267" y="21000"/>
                    </a:cubicBezTo>
                    <a:cubicBezTo>
                      <a:pt x="14092" y="20695"/>
                      <a:pt x="14000" y="20351"/>
                      <a:pt x="14000" y="20000"/>
                    </a:cubicBezTo>
                  </a:path>
                  <a:path w="24000" h="24000" fill="none">
                    <a:moveTo>
                      <a:pt x="20000" y="14000"/>
                    </a:moveTo>
                    <a:cubicBezTo>
                      <a:pt x="20351" y="14000"/>
                      <a:pt x="20695" y="14092"/>
                      <a:pt x="21000" y="14267"/>
                    </a:cubicBezTo>
                    <a:cubicBezTo>
                      <a:pt x="21304" y="14443"/>
                      <a:pt x="21556" y="14695"/>
                      <a:pt x="21732" y="15000"/>
                    </a:cubicBezTo>
                    <a:cubicBezTo>
                      <a:pt x="21907" y="15304"/>
                      <a:pt x="22000" y="15648"/>
                      <a:pt x="22000" y="16000"/>
                    </a:cubicBezTo>
                  </a:path>
                  <a:path w="24000" h="24000" fill="none">
                    <a:moveTo>
                      <a:pt x="20000" y="22000"/>
                    </a:moveTo>
                    <a:cubicBezTo>
                      <a:pt x="20351" y="22000"/>
                      <a:pt x="20695" y="21907"/>
                      <a:pt x="21000" y="21732"/>
                    </a:cubicBezTo>
                    <a:cubicBezTo>
                      <a:pt x="21304" y="21556"/>
                      <a:pt x="21556" y="21304"/>
                      <a:pt x="21732" y="21000"/>
                    </a:cubicBezTo>
                    <a:cubicBezTo>
                      <a:pt x="21907" y="20695"/>
                      <a:pt x="22000" y="20351"/>
                      <a:pt x="22000" y="20000"/>
                    </a:cubicBezTo>
                  </a:path>
                </a:pathLst>
              </a:custGeom>
              <a:noFill/>
              <a:ln w="10287" cap="rnd">
                <a:solidFill>
                  <a:srgbClr val="165FF2"/>
                </a:solidFill>
                <a:round/>
              </a:ln>
            </p:spPr>
          </p:sp>
          <p:sp>
            <p:nvSpPr>
              <p:cNvPr id="57" name="Objective 1 text"/>
              <p:cNvSpPr txBox="1"/>
              <p:nvPr/>
            </p:nvSpPr>
            <p:spPr>
              <a:xfrm>
                <a:off x="4498848" y="1417320"/>
                <a:ext cx="1773936" cy="3901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Capture each result automatically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from the machine's PDF report and JPEG image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58" name="Objective 2"/>
            <p:cNvGrpSpPr/>
            <p:nvPr/>
          </p:nvGrpSpPr>
          <p:grpSpPr>
            <a:xfrm>
              <a:off x="4306824" y="1885188"/>
              <a:ext cx="1965960" cy="390144"/>
              <a:chOff x="4306824" y="1885188"/>
              <a:chExt cx="1965960" cy="390144"/>
            </a:xfrm>
          </p:grpSpPr>
          <p:sp>
            <p:nvSpPr>
              <p:cNvPr id="59" name="Icon git-branch"/>
              <p:cNvSpPr/>
              <p:nvPr/>
            </p:nvSpPr>
            <p:spPr>
              <a:xfrm>
                <a:off x="4306824" y="1896161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6000"/>
                    </a:moveTo>
                    <a:cubicBezTo>
                      <a:pt x="13420" y="6000"/>
                      <a:pt x="11868" y="6415"/>
                      <a:pt x="10500" y="7205"/>
                    </a:cubicBezTo>
                    <a:cubicBezTo>
                      <a:pt x="9131" y="7995"/>
                      <a:pt x="7995" y="9131"/>
                      <a:pt x="7205" y="10499"/>
                    </a:cubicBezTo>
                    <a:cubicBezTo>
                      <a:pt x="6415" y="11868"/>
                      <a:pt x="6000" y="13420"/>
                      <a:pt x="6000" y="15000"/>
                    </a:cubicBezTo>
                    <a:lnTo>
                      <a:pt x="6000" y="3000"/>
                    </a:lnTo>
                  </a:path>
                  <a:path w="24000" h="24000" fill="none">
                    <a:moveTo>
                      <a:pt x="21000" y="6000"/>
                    </a:moveTo>
                    <a:cubicBezTo>
                      <a:pt x="21000" y="6526"/>
                      <a:pt x="20861" y="7043"/>
                      <a:pt x="20598" y="7500"/>
                    </a:cubicBezTo>
                    <a:cubicBezTo>
                      <a:pt x="20334" y="7956"/>
                      <a:pt x="19956" y="8334"/>
                      <a:pt x="19500" y="8598"/>
                    </a:cubicBezTo>
                    <a:cubicBezTo>
                      <a:pt x="19043" y="8861"/>
                      <a:pt x="18526" y="9000"/>
                      <a:pt x="18000" y="9000"/>
                    </a:cubicBezTo>
                    <a:cubicBezTo>
                      <a:pt x="17473" y="9000"/>
                      <a:pt x="16956" y="8861"/>
                      <a:pt x="16500" y="8598"/>
                    </a:cubicBezTo>
                    <a:cubicBezTo>
                      <a:pt x="16043" y="8334"/>
                      <a:pt x="15665" y="7956"/>
                      <a:pt x="15401" y="7500"/>
                    </a:cubicBezTo>
                    <a:cubicBezTo>
                      <a:pt x="15138" y="7043"/>
                      <a:pt x="15000" y="6526"/>
                      <a:pt x="15000" y="6000"/>
                    </a:cubicBezTo>
                    <a:cubicBezTo>
                      <a:pt x="15000" y="5473"/>
                      <a:pt x="15138" y="4956"/>
                      <a:pt x="15401" y="4500"/>
                    </a:cubicBezTo>
                    <a:cubicBezTo>
                      <a:pt x="15665" y="4043"/>
                      <a:pt x="16043" y="3665"/>
                      <a:pt x="16500" y="3401"/>
                    </a:cubicBezTo>
                    <a:cubicBezTo>
                      <a:pt x="16956" y="3138"/>
                      <a:pt x="17473" y="3000"/>
                      <a:pt x="18000" y="3000"/>
                    </a:cubicBezTo>
                    <a:cubicBezTo>
                      <a:pt x="18526" y="3000"/>
                      <a:pt x="19043" y="3138"/>
                      <a:pt x="19500" y="3401"/>
                    </a:cubicBezTo>
                    <a:cubicBezTo>
                      <a:pt x="19956" y="3665"/>
                      <a:pt x="20334" y="4043"/>
                      <a:pt x="20598" y="4500"/>
                    </a:cubicBezTo>
                    <a:cubicBezTo>
                      <a:pt x="20861" y="4956"/>
                      <a:pt x="21000" y="5473"/>
                      <a:pt x="21000" y="5999"/>
                    </a:cubicBezTo>
                    <a:close/>
                  </a:path>
                  <a:path w="24000" h="24000" fill="none">
                    <a:moveTo>
                      <a:pt x="9000" y="18000"/>
                    </a:moveTo>
                    <a:cubicBezTo>
                      <a:pt x="9000" y="18526"/>
                      <a:pt x="8861" y="19043"/>
                      <a:pt x="8598" y="19500"/>
                    </a:cubicBezTo>
                    <a:cubicBezTo>
                      <a:pt x="8334" y="19956"/>
                      <a:pt x="7956" y="20334"/>
                      <a:pt x="7500" y="20598"/>
                    </a:cubicBezTo>
                    <a:cubicBezTo>
                      <a:pt x="7043" y="20861"/>
                      <a:pt x="6526" y="21000"/>
                      <a:pt x="6000" y="21000"/>
                    </a:cubicBezTo>
                    <a:cubicBezTo>
                      <a:pt x="5473" y="21000"/>
                      <a:pt x="4956" y="20861"/>
                      <a:pt x="4500" y="20598"/>
                    </a:cubicBezTo>
                    <a:cubicBezTo>
                      <a:pt x="4043" y="20334"/>
                      <a:pt x="3665" y="19956"/>
                      <a:pt x="3401" y="19500"/>
                    </a:cubicBezTo>
                    <a:cubicBezTo>
                      <a:pt x="3138" y="19043"/>
                      <a:pt x="3000" y="18526"/>
                      <a:pt x="3000" y="18000"/>
                    </a:cubicBezTo>
                    <a:cubicBezTo>
                      <a:pt x="3000" y="17473"/>
                      <a:pt x="3138" y="16956"/>
                      <a:pt x="3401" y="16500"/>
                    </a:cubicBezTo>
                    <a:cubicBezTo>
                      <a:pt x="3665" y="16043"/>
                      <a:pt x="4043" y="15665"/>
                      <a:pt x="4499" y="15401"/>
                    </a:cubicBezTo>
                    <a:cubicBezTo>
                      <a:pt x="4956" y="15138"/>
                      <a:pt x="5473" y="15000"/>
                      <a:pt x="5999" y="15000"/>
                    </a:cubicBezTo>
                    <a:cubicBezTo>
                      <a:pt x="6526" y="15000"/>
                      <a:pt x="7043" y="15138"/>
                      <a:pt x="7500" y="15401"/>
                    </a:cubicBezTo>
                    <a:cubicBezTo>
                      <a:pt x="7956" y="15665"/>
                      <a:pt x="8334" y="16043"/>
                      <a:pt x="8598" y="16500"/>
                    </a:cubicBezTo>
                    <a:cubicBezTo>
                      <a:pt x="8861" y="16956"/>
                      <a:pt x="9000" y="17473"/>
                      <a:pt x="9000" y="18000"/>
                    </a:cubicBezTo>
                    <a:close/>
                  </a:path>
                </a:pathLst>
              </a:custGeom>
              <a:noFill/>
              <a:ln w="10287" cap="rnd">
                <a:solidFill>
                  <a:srgbClr val="165FF2"/>
                </a:solidFill>
                <a:round/>
              </a:ln>
            </p:spPr>
          </p:sp>
          <p:sp>
            <p:nvSpPr>
              <p:cNvPr id="60" name="Objective 2 text"/>
              <p:cNvSpPr txBox="1"/>
              <p:nvPr/>
            </p:nvSpPr>
            <p:spPr>
              <a:xfrm>
                <a:off x="4498848" y="1885188"/>
                <a:ext cx="1773936" cy="3901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Decide the result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from the prove-up rules saved per PO: MUT, X-Ray or SAT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61" name="Objective 3"/>
            <p:cNvGrpSpPr/>
            <p:nvPr/>
          </p:nvGrpSpPr>
          <p:grpSpPr>
            <a:xfrm>
              <a:off x="4306824" y="2353056"/>
              <a:ext cx="1965960" cy="390144"/>
              <a:chOff x="4306824" y="2353056"/>
              <a:chExt cx="1965960" cy="390144"/>
            </a:xfrm>
          </p:grpSpPr>
          <p:sp>
            <p:nvSpPr>
              <p:cNvPr id="62" name="Icon cloud-upload"/>
              <p:cNvSpPr/>
              <p:nvPr/>
            </p:nvSpPr>
            <p:spPr>
              <a:xfrm>
                <a:off x="4306824" y="2364029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13000"/>
                    </a:moveTo>
                    <a:lnTo>
                      <a:pt x="12000" y="21000"/>
                    </a:lnTo>
                  </a:path>
                  <a:path w="24000" h="24000" fill="none">
                    <a:moveTo>
                      <a:pt x="4000" y="14899"/>
                    </a:moveTo>
                    <a:cubicBezTo>
                      <a:pt x="3149" y="14030"/>
                      <a:pt x="2540" y="12955"/>
                      <a:pt x="2231" y="11779"/>
                    </a:cubicBezTo>
                    <a:cubicBezTo>
                      <a:pt x="1923" y="10603"/>
                      <a:pt x="1926" y="9368"/>
                      <a:pt x="2240" y="8193"/>
                    </a:cubicBezTo>
                    <a:cubicBezTo>
                      <a:pt x="2554" y="7019"/>
                      <a:pt x="3168" y="5947"/>
                      <a:pt x="4023" y="5082"/>
                    </a:cubicBezTo>
                    <a:cubicBezTo>
                      <a:pt x="4877" y="4218"/>
                      <a:pt x="5942" y="3590"/>
                      <a:pt x="7112" y="3262"/>
                    </a:cubicBezTo>
                    <a:cubicBezTo>
                      <a:pt x="8282" y="2934"/>
                      <a:pt x="9518" y="2916"/>
                      <a:pt x="10697" y="3211"/>
                    </a:cubicBezTo>
                    <a:cubicBezTo>
                      <a:pt x="11877" y="3505"/>
                      <a:pt x="12959" y="4101"/>
                      <a:pt x="13838" y="4941"/>
                    </a:cubicBezTo>
                    <a:cubicBezTo>
                      <a:pt x="14717" y="5781"/>
                      <a:pt x="15362" y="6835"/>
                      <a:pt x="15710" y="8000"/>
                    </a:cubicBezTo>
                    <a:lnTo>
                      <a:pt x="17500" y="8000"/>
                    </a:lnTo>
                    <a:cubicBezTo>
                      <a:pt x="18269" y="7999"/>
                      <a:pt x="19027" y="8197"/>
                      <a:pt x="19699" y="8573"/>
                    </a:cubicBezTo>
                    <a:cubicBezTo>
                      <a:pt x="20370" y="8949"/>
                      <a:pt x="20935" y="9492"/>
                      <a:pt x="21337" y="10148"/>
                    </a:cubicBezTo>
                    <a:cubicBezTo>
                      <a:pt x="21739" y="10805"/>
                      <a:pt x="21966" y="11554"/>
                      <a:pt x="21997" y="12323"/>
                    </a:cubicBezTo>
                    <a:cubicBezTo>
                      <a:pt x="22027" y="13092"/>
                      <a:pt x="21859" y="13857"/>
                      <a:pt x="21509" y="14543"/>
                    </a:cubicBezTo>
                    <a:cubicBezTo>
                      <a:pt x="21160" y="15229"/>
                      <a:pt x="20640" y="15814"/>
                      <a:pt x="20000" y="16242"/>
                    </a:cubicBezTo>
                  </a:path>
                  <a:path w="24000" h="24000" fill="none">
                    <a:moveTo>
                      <a:pt x="8000" y="17000"/>
                    </a:moveTo>
                    <a:lnTo>
                      <a:pt x="12000" y="13000"/>
                    </a:lnTo>
                    <a:lnTo>
                      <a:pt x="16000" y="17000"/>
                    </a:lnTo>
                  </a:path>
                </a:pathLst>
              </a:custGeom>
              <a:noFill/>
              <a:ln w="10287" cap="rnd">
                <a:solidFill>
                  <a:srgbClr val="165FF2"/>
                </a:solidFill>
                <a:round/>
              </a:ln>
            </p:spPr>
          </p:sp>
          <p:sp>
            <p:nvSpPr>
              <p:cNvPr id="63" name="Objective 3 text"/>
              <p:cNvSpPr txBox="1"/>
              <p:nvPr/>
            </p:nvSpPr>
            <p:spPr>
              <a:xfrm>
                <a:off x="4498848" y="2353056"/>
                <a:ext cx="1773936" cy="3901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Operator reviews and uploads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to SAP with the right endpoint and timestamp</a:t>
                </a:r>
                <a:endParaRPr lang="en-US" sz="800" dirty="0">
                  <a:latin typeface="Inter"/>
                </a:endParaRPr>
              </a:p>
            </p:txBody>
          </p:sp>
        </p:grpSp>
      </p:grpSp>
      <p:sp>
        <p:nvSpPr>
          <p:cNvPr id="64" name="Icon chevron-right"/>
          <p:cNvSpPr/>
          <p:nvPr/>
        </p:nvSpPr>
        <p:spPr>
          <a:xfrm>
            <a:off x="6423660" y="205282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4630" cap="rnd">
            <a:solidFill>
              <a:srgbClr val="90A5BB"/>
            </a:solidFill>
            <a:round/>
          </a:ln>
        </p:spPr>
      </p:sp>
      <p:grpSp>
        <p:nvGrpSpPr>
          <p:cNvPr id="65" name="Project 01 Business outcome"/>
          <p:cNvGrpSpPr/>
          <p:nvPr/>
        </p:nvGrpSpPr>
        <p:grpSpPr>
          <a:xfrm>
            <a:off x="6611112" y="1280160"/>
            <a:ext cx="2258568" cy="1691640"/>
            <a:chOff x="6611112" y="1280160"/>
            <a:chExt cx="2258568" cy="1691640"/>
          </a:xfrm>
        </p:grpSpPr>
        <p:sp>
          <p:nvSpPr>
            <p:cNvPr id="66" name="Business outcome card"/>
            <p:cNvSpPr/>
            <p:nvPr/>
          </p:nvSpPr>
          <p:spPr>
            <a:xfrm>
              <a:off x="6611112" y="1280160"/>
              <a:ext cx="2258568" cy="1691640"/>
            </a:xfrm>
            <a:prstGeom prst="roundRect">
              <a:avLst>
                <a:gd name="adj" fmla="val 3243"/>
              </a:avLst>
            </a:prstGeom>
            <a:solidFill>
              <a:srgbClr val="EBFAF3"/>
            </a:solidFill>
            <a:ln w="9525">
              <a:solidFill>
                <a:srgbClr val="B6ECD1"/>
              </a:solidFill>
              <a:round/>
            </a:ln>
          </p:spPr>
        </p:sp>
        <p:grpSp>
          <p:nvGrpSpPr>
            <p:cNvPr id="67" name="Business outcome 1"/>
            <p:cNvGrpSpPr/>
            <p:nvPr/>
          </p:nvGrpSpPr>
          <p:grpSpPr>
            <a:xfrm>
              <a:off x="6729984" y="1417320"/>
              <a:ext cx="2029968" cy="260096"/>
              <a:chOff x="6729984" y="1417320"/>
              <a:chExt cx="2029968" cy="260096"/>
            </a:xfrm>
          </p:grpSpPr>
          <p:sp>
            <p:nvSpPr>
              <p:cNvPr id="68" name="Icon circle-check"/>
              <p:cNvSpPr/>
              <p:nvPr/>
            </p:nvSpPr>
            <p:spPr>
              <a:xfrm>
                <a:off x="6729984" y="1428293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69" name="Business outcome 1 text"/>
              <p:cNvSpPr txBox="1"/>
              <p:nvPr/>
            </p:nvSpPr>
            <p:spPr>
              <a:xfrm>
                <a:off x="6922008" y="1417320"/>
                <a:ext cx="1837944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Faster entry: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no manual counting or re-typing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70" name="Business outcome 2"/>
            <p:cNvGrpSpPr/>
            <p:nvPr/>
          </p:nvGrpSpPr>
          <p:grpSpPr>
            <a:xfrm>
              <a:off x="6729984" y="1755140"/>
              <a:ext cx="2029968" cy="260096"/>
              <a:chOff x="6729984" y="1755140"/>
              <a:chExt cx="2029968" cy="260096"/>
            </a:xfrm>
          </p:grpSpPr>
          <p:sp>
            <p:nvSpPr>
              <p:cNvPr id="71" name="Icon circle-check"/>
              <p:cNvSpPr/>
              <p:nvPr/>
            </p:nvSpPr>
            <p:spPr>
              <a:xfrm>
                <a:off x="6729984" y="1766113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72" name="Business outcome 2 text"/>
              <p:cNvSpPr txBox="1"/>
              <p:nvPr/>
            </p:nvSpPr>
            <p:spPr>
              <a:xfrm>
                <a:off x="6922008" y="1755140"/>
                <a:ext cx="1837944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Fewer mistakes: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values parsed from the machine report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73" name="Business outcome 3"/>
            <p:cNvGrpSpPr/>
            <p:nvPr/>
          </p:nvGrpSpPr>
          <p:grpSpPr>
            <a:xfrm>
              <a:off x="6729984" y="2092960"/>
              <a:ext cx="2029968" cy="260096"/>
              <a:chOff x="6729984" y="2092960"/>
              <a:chExt cx="2029968" cy="260096"/>
            </a:xfrm>
          </p:grpSpPr>
          <p:sp>
            <p:nvSpPr>
              <p:cNvPr id="74" name="Icon circle-check"/>
              <p:cNvSpPr/>
              <p:nvPr/>
            </p:nvSpPr>
            <p:spPr>
              <a:xfrm>
                <a:off x="6729984" y="2103933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75" name="Business outcome 3 text"/>
              <p:cNvSpPr txBox="1"/>
              <p:nvPr/>
            </p:nvSpPr>
            <p:spPr>
              <a:xfrm>
                <a:off x="6922008" y="2092960"/>
                <a:ext cx="1837944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Consistent results: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PO rules applied to every pipe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76" name="Business outcome 4"/>
            <p:cNvGrpSpPr/>
            <p:nvPr/>
          </p:nvGrpSpPr>
          <p:grpSpPr>
            <a:xfrm>
              <a:off x="6729984" y="2430780"/>
              <a:ext cx="2029968" cy="260096"/>
              <a:chOff x="6729984" y="2430780"/>
              <a:chExt cx="2029968" cy="260096"/>
            </a:xfrm>
          </p:grpSpPr>
          <p:sp>
            <p:nvSpPr>
              <p:cNvPr id="77" name="Icon circle-check"/>
              <p:cNvSpPr/>
              <p:nvPr/>
            </p:nvSpPr>
            <p:spPr>
              <a:xfrm>
                <a:off x="6729984" y="2441753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78" name="Business outcome 4 text"/>
              <p:cNvSpPr txBox="1"/>
              <p:nvPr/>
            </p:nvSpPr>
            <p:spPr>
              <a:xfrm>
                <a:off x="6922008" y="2430780"/>
                <a:ext cx="1837944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Traceable records: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PDF report and JPEG image kept with each entry</a:t>
                </a:r>
                <a:endParaRPr lang="en-US" sz="800" dirty="0">
                  <a:latin typeface="Inter"/>
                </a:endParaRPr>
              </a:p>
            </p:txBody>
          </p:sp>
        </p:grpSp>
      </p:grpSp>
      <p:grpSp>
        <p:nvGrpSpPr>
          <p:cNvPr id="79" name="Project 02 identity"/>
          <p:cNvGrpSpPr/>
          <p:nvPr/>
        </p:nvGrpSpPr>
        <p:grpSpPr>
          <a:xfrm>
            <a:off x="274320" y="3081528"/>
            <a:ext cx="1371600" cy="1691640"/>
            <a:chOff x="274320" y="3081528"/>
            <a:chExt cx="1371600" cy="1691640"/>
          </a:xfrm>
        </p:grpSpPr>
        <p:sp>
          <p:nvSpPr>
            <p:cNvPr id="80" name="Project 02 panel"/>
            <p:cNvSpPr/>
            <p:nvPr/>
          </p:nvSpPr>
          <p:spPr>
            <a:xfrm>
              <a:off x="274320" y="3081528"/>
              <a:ext cx="1371600" cy="1691640"/>
            </a:xfrm>
            <a:prstGeom prst="roundRect">
              <a:avLst>
                <a:gd name="adj" fmla="val 4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81" name="Icon gauge"/>
            <p:cNvSpPr/>
            <p:nvPr/>
          </p:nvSpPr>
          <p:spPr>
            <a:xfrm>
              <a:off x="420624" y="323697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2560" y="17650"/>
                    <a:pt x="2107" y="16137"/>
                    <a:pt x="2016" y="14581"/>
                  </a:cubicBezTo>
                  <a:cubicBezTo>
                    <a:pt x="1926" y="13025"/>
                    <a:pt x="2200" y="11469"/>
                    <a:pt x="2817" y="10039"/>
                  </a:cubicBezTo>
                  <a:cubicBezTo>
                    <a:pt x="3434" y="8608"/>
                    <a:pt x="4378" y="7340"/>
                    <a:pt x="5571" y="6339"/>
                  </a:cubicBezTo>
                  <a:cubicBezTo>
                    <a:pt x="6765" y="5337"/>
                    <a:pt x="8177" y="4628"/>
                    <a:pt x="9693" y="4269"/>
                  </a:cubicBezTo>
                  <a:cubicBezTo>
                    <a:pt x="11210" y="3909"/>
                    <a:pt x="12789" y="3909"/>
                    <a:pt x="14306" y="4269"/>
                  </a:cubicBezTo>
                  <a:cubicBezTo>
                    <a:pt x="15822" y="4628"/>
                    <a:pt x="17234" y="5337"/>
                    <a:pt x="18428" y="6339"/>
                  </a:cubicBezTo>
                  <a:cubicBezTo>
                    <a:pt x="19621" y="7340"/>
                    <a:pt x="20565" y="8608"/>
                    <a:pt x="21182" y="10039"/>
                  </a:cubicBezTo>
                  <a:cubicBezTo>
                    <a:pt x="21799" y="11469"/>
                    <a:pt x="22073" y="13025"/>
                    <a:pt x="21983" y="14581"/>
                  </a:cubicBezTo>
                  <a:cubicBezTo>
                    <a:pt x="21892" y="16137"/>
                    <a:pt x="21439" y="17650"/>
                    <a:pt x="20660" y="19000"/>
                  </a:cubicBezTo>
                </a:path>
              </a:pathLst>
            </a:custGeom>
            <a:noFill/>
            <a:ln w="20574" cap="rnd">
              <a:solidFill>
                <a:srgbClr val="FFFFFF"/>
              </a:solidFill>
              <a:round/>
            </a:ln>
          </p:spPr>
        </p:sp>
        <p:sp>
          <p:nvSpPr>
            <p:cNvPr id="82" name="Project number"/>
            <p:cNvSpPr txBox="1"/>
            <p:nvPr/>
          </p:nvSpPr>
          <p:spPr>
            <a:xfrm>
              <a:off x="914400" y="3172968"/>
              <a:ext cx="603504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2640"/>
                </a:lnSpc>
                <a:spcBef>
                  <a:spcPts val="0"/>
                </a:spcBef>
                <a:buNone/>
              </a:pPr>
              <a:r>
                <a:rPr lang="en-US" sz="2400" b="0" i="0" spc="0" dirty="0">
                  <a:solidFill>
                    <a:srgbClr val="90A5BB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2400" dirty="0">
                <a:latin typeface="TASA Orbiter SemiBold"/>
              </a:endParaRPr>
            </a:p>
          </p:txBody>
        </p:sp>
        <p:sp>
          <p:nvSpPr>
            <p:cNvPr id="83" name="Project name"/>
            <p:cNvSpPr txBox="1"/>
            <p:nvPr/>
          </p:nvSpPr>
          <p:spPr>
            <a:xfrm>
              <a:off x="420624" y="3666744"/>
              <a:ext cx="114300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56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Hydrotester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84" name="Project station"/>
            <p:cNvSpPr txBox="1"/>
            <p:nvPr/>
          </p:nvSpPr>
          <p:spPr>
            <a:xfrm>
              <a:off x="420624" y="3886200"/>
              <a:ext cx="11430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BD5E2"/>
                  </a:solidFill>
                  <a:latin typeface="Inter"/>
                  <a:ea typeface="Inter"/>
                  <a:cs typeface="Inter"/>
                  <a:sym typeface="Inter"/>
                </a:rPr>
                <a:t>Hydrostatic pressure testing</a:t>
              </a:r>
              <a:endParaRPr lang="en-US" sz="700" dirty="0">
                <a:latin typeface="Inter"/>
              </a:endParaRPr>
            </a:p>
          </p:txBody>
        </p:sp>
        <p:cxnSp>
          <p:nvCxnSpPr>
            <p:cNvPr id="85" name="Divider"/>
            <p:cNvCxnSpPr/>
            <p:nvPr/>
          </p:nvCxnSpPr>
          <p:spPr>
            <a:xfrm>
              <a:off x="420624" y="4178808"/>
              <a:ext cx="1078992" cy="0"/>
            </a:xfrm>
            <a:prstGeom prst="straightConnector1">
              <a:avLst/>
            </a:prstGeom>
            <a:noFill/>
            <a:ln w="9525">
              <a:solidFill>
                <a:srgbClr val="40566D"/>
              </a:solidFill>
              <a:round/>
            </a:ln>
          </p:spPr>
        </p:cxnSp>
        <p:sp>
          <p:nvSpPr>
            <p:cNvPr id="86" name="Applications label"/>
            <p:cNvSpPr txBox="1"/>
            <p:nvPr/>
          </p:nvSpPr>
          <p:spPr>
            <a:xfrm>
              <a:off x="420624" y="4251960"/>
              <a:ext cx="1143000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00" b="0" i="0" cap="all" spc="84" dirty="0">
                  <a:solidFill>
                    <a:srgbClr val="90A5B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APPLICATIONS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87" name="Applications"/>
            <p:cNvSpPr txBox="1"/>
            <p:nvPr/>
          </p:nvSpPr>
          <p:spPr>
            <a:xfrm>
              <a:off x="420624" y="4398264"/>
              <a:ext cx="1143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38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Graph Application + SAP Entry Application</a:t>
              </a:r>
              <a:endParaRPr lang="en-US" sz="750" dirty="0">
                <a:latin typeface="Inter SemiBold"/>
              </a:endParaRPr>
            </a:p>
          </p:txBody>
        </p:sp>
      </p:grpSp>
      <p:grpSp>
        <p:nvGrpSpPr>
          <p:cNvPr id="88" name="Project 02 Current procedure"/>
          <p:cNvGrpSpPr/>
          <p:nvPr/>
        </p:nvGrpSpPr>
        <p:grpSpPr>
          <a:xfrm>
            <a:off x="1764792" y="3081528"/>
            <a:ext cx="2194560" cy="1691640"/>
            <a:chOff x="1764792" y="3081528"/>
            <a:chExt cx="2194560" cy="1691640"/>
          </a:xfrm>
        </p:grpSpPr>
        <p:sp>
          <p:nvSpPr>
            <p:cNvPr id="89" name="Current procedure card"/>
            <p:cNvSpPr/>
            <p:nvPr/>
          </p:nvSpPr>
          <p:spPr>
            <a:xfrm>
              <a:off x="1764792" y="3081528"/>
              <a:ext cx="2194560" cy="1691640"/>
            </a:xfrm>
            <a:prstGeom prst="roundRect">
              <a:avLst>
                <a:gd name="adj" fmla="val 3243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grpSp>
          <p:nvGrpSpPr>
            <p:cNvPr id="90" name="Current procedure 1"/>
            <p:cNvGrpSpPr/>
            <p:nvPr/>
          </p:nvGrpSpPr>
          <p:grpSpPr>
            <a:xfrm>
              <a:off x="1883664" y="3218688"/>
              <a:ext cx="1965960" cy="260096"/>
              <a:chOff x="1883664" y="3218688"/>
              <a:chExt cx="1965960" cy="260096"/>
            </a:xfrm>
          </p:grpSpPr>
          <p:sp>
            <p:nvSpPr>
              <p:cNvPr id="91" name="Icon keyboard"/>
              <p:cNvSpPr/>
              <p:nvPr/>
            </p:nvSpPr>
            <p:spPr>
              <a:xfrm>
                <a:off x="1883664" y="3229661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8000"/>
                    </a:moveTo>
                    <a:lnTo>
                      <a:pt x="10010" y="8000"/>
                    </a:lnTo>
                  </a:path>
                  <a:path w="24000" h="24000" fill="none">
                    <a:moveTo>
                      <a:pt x="12000" y="12000"/>
                    </a:moveTo>
                    <a:lnTo>
                      <a:pt x="12010" y="12000"/>
                    </a:lnTo>
                  </a:path>
                  <a:path w="24000" h="24000" fill="none">
                    <a:moveTo>
                      <a:pt x="14000" y="8000"/>
                    </a:moveTo>
                    <a:lnTo>
                      <a:pt x="14010" y="8000"/>
                    </a:lnTo>
                  </a:path>
                  <a:path w="24000" h="24000" fill="none">
                    <a:moveTo>
                      <a:pt x="16000" y="12000"/>
                    </a:moveTo>
                    <a:lnTo>
                      <a:pt x="16010" y="12000"/>
                    </a:lnTo>
                  </a:path>
                  <a:path w="24000" h="24000" fill="none">
                    <a:moveTo>
                      <a:pt x="18000" y="8000"/>
                    </a:moveTo>
                    <a:lnTo>
                      <a:pt x="18010" y="8000"/>
                    </a:lnTo>
                  </a:path>
                  <a:path w="24000" h="24000" fill="none">
                    <a:moveTo>
                      <a:pt x="6000" y="8000"/>
                    </a:moveTo>
                    <a:lnTo>
                      <a:pt x="6010" y="8000"/>
                    </a:lnTo>
                  </a:path>
                  <a:path w="24000" h="24000" fill="none">
                    <a:moveTo>
                      <a:pt x="7000" y="16000"/>
                    </a:moveTo>
                    <a:lnTo>
                      <a:pt x="17000" y="16000"/>
                    </a:lnTo>
                  </a:path>
                  <a:path w="24000" h="24000" fill="none">
                    <a:moveTo>
                      <a:pt x="8000" y="12000"/>
                    </a:moveTo>
                    <a:lnTo>
                      <a:pt x="8010" y="12000"/>
                    </a:lnTo>
                  </a:path>
                  <a:path w="24000" h="24000" fill="none">
                    <a:moveTo>
                      <a:pt x="4000" y="4000"/>
                    </a:moveTo>
                    <a:lnTo>
                      <a:pt x="20000" y="4000"/>
                    </a:lnTo>
                    <a:cubicBezTo>
                      <a:pt x="20351" y="4000"/>
                      <a:pt x="20695" y="4092"/>
                      <a:pt x="21000" y="4267"/>
                    </a:cubicBezTo>
                    <a:cubicBezTo>
                      <a:pt x="21304" y="4443"/>
                      <a:pt x="21556" y="4695"/>
                      <a:pt x="21732" y="5000"/>
                    </a:cubicBezTo>
                    <a:cubicBezTo>
                      <a:pt x="21907" y="5304"/>
                      <a:pt x="22000" y="5648"/>
                      <a:pt x="22000" y="6000"/>
                    </a:cubicBezTo>
                    <a:lnTo>
                      <a:pt x="22000" y="18000"/>
                    </a:lnTo>
                    <a:cubicBezTo>
                      <a:pt x="22000" y="18351"/>
                      <a:pt x="21907" y="18695"/>
                      <a:pt x="21732" y="19000"/>
                    </a:cubicBezTo>
                    <a:cubicBezTo>
                      <a:pt x="21556" y="19304"/>
                      <a:pt x="21304" y="19556"/>
                      <a:pt x="21000" y="19732"/>
                    </a:cubicBezTo>
                    <a:cubicBezTo>
                      <a:pt x="20695" y="19907"/>
                      <a:pt x="20351" y="20000"/>
                      <a:pt x="20000" y="20000"/>
                    </a:cubicBezTo>
                    <a:lnTo>
                      <a:pt x="4000" y="20000"/>
                    </a:lnTo>
                    <a:cubicBezTo>
                      <a:pt x="3648" y="20000"/>
                      <a:pt x="3304" y="19907"/>
                      <a:pt x="3000" y="19732"/>
                    </a:cubicBezTo>
                    <a:cubicBezTo>
                      <a:pt x="2695" y="19556"/>
                      <a:pt x="2443" y="19304"/>
                      <a:pt x="2267" y="19000"/>
                    </a:cubicBezTo>
                    <a:cubicBezTo>
                      <a:pt x="2092" y="18695"/>
                      <a:pt x="2000" y="18351"/>
                      <a:pt x="2000" y="18000"/>
                    </a:cubicBezTo>
                    <a:lnTo>
                      <a:pt x="2000" y="6000"/>
                    </a:lnTo>
                    <a:cubicBezTo>
                      <a:pt x="2000" y="5648"/>
                      <a:pt x="2092" y="5304"/>
                      <a:pt x="2267" y="5000"/>
                    </a:cubicBezTo>
                    <a:cubicBezTo>
                      <a:pt x="2443" y="4695"/>
                      <a:pt x="2695" y="4443"/>
                      <a:pt x="2999" y="4267"/>
                    </a:cubicBezTo>
                    <a:cubicBezTo>
                      <a:pt x="3304" y="4092"/>
                      <a:pt x="3648" y="4000"/>
                      <a:pt x="4000" y="4000"/>
                    </a:cubicBezTo>
                    <a:close/>
                  </a:path>
                </a:pathLst>
              </a:custGeom>
              <a:noFill/>
              <a:ln w="10287" cap="rnd">
                <a:solidFill>
                  <a:srgbClr val="6C849D"/>
                </a:solidFill>
                <a:round/>
              </a:ln>
            </p:spPr>
          </p:sp>
          <p:sp>
            <p:nvSpPr>
              <p:cNvPr id="92" name="Current procedure 1 text"/>
              <p:cNvSpPr txBox="1"/>
              <p:nvPr/>
            </p:nvSpPr>
            <p:spPr>
              <a:xfrm>
                <a:off x="2075688" y="3218688"/>
                <a:ext cx="1773936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Test results </a:t>
                </a: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entered directly into SAP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by hand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93" name="Current procedure 2"/>
            <p:cNvGrpSpPr/>
            <p:nvPr/>
          </p:nvGrpSpPr>
          <p:grpSpPr>
            <a:xfrm>
              <a:off x="1883664" y="3556508"/>
              <a:ext cx="1965960" cy="260096"/>
              <a:chOff x="1883664" y="3556508"/>
              <a:chExt cx="1965960" cy="260096"/>
            </a:xfrm>
          </p:grpSpPr>
          <p:sp>
            <p:nvSpPr>
              <p:cNvPr id="94" name="Icon printer"/>
              <p:cNvSpPr/>
              <p:nvPr/>
            </p:nvSpPr>
            <p:spPr>
              <a:xfrm>
                <a:off x="1883664" y="3567481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000" y="18000"/>
                    </a:moveTo>
                    <a:lnTo>
                      <a:pt x="4000" y="18000"/>
                    </a:lnTo>
                    <a:cubicBezTo>
                      <a:pt x="3648" y="18000"/>
                      <a:pt x="3304" y="17907"/>
                      <a:pt x="3000" y="17732"/>
                    </a:cubicBezTo>
                    <a:cubicBezTo>
                      <a:pt x="2695" y="17556"/>
                      <a:pt x="2443" y="17304"/>
                      <a:pt x="2267" y="17000"/>
                    </a:cubicBezTo>
                    <a:cubicBezTo>
                      <a:pt x="2092" y="16695"/>
                      <a:pt x="2000" y="16351"/>
                      <a:pt x="2000" y="16000"/>
                    </a:cubicBezTo>
                    <a:lnTo>
                      <a:pt x="2000" y="11000"/>
                    </a:lnTo>
                    <a:cubicBezTo>
                      <a:pt x="2000" y="10648"/>
                      <a:pt x="2092" y="10304"/>
                      <a:pt x="2267" y="10000"/>
                    </a:cubicBezTo>
                    <a:cubicBezTo>
                      <a:pt x="2443" y="9695"/>
                      <a:pt x="2695" y="9443"/>
                      <a:pt x="2999" y="9267"/>
                    </a:cubicBezTo>
                    <a:cubicBezTo>
                      <a:pt x="3304" y="9092"/>
                      <a:pt x="3648" y="9000"/>
                      <a:pt x="4000" y="9000"/>
                    </a:cubicBezTo>
                    <a:lnTo>
                      <a:pt x="20000" y="9000"/>
                    </a:lnTo>
                    <a:cubicBezTo>
                      <a:pt x="20351" y="9000"/>
                      <a:pt x="20695" y="9092"/>
                      <a:pt x="21000" y="9267"/>
                    </a:cubicBezTo>
                    <a:cubicBezTo>
                      <a:pt x="21304" y="9443"/>
                      <a:pt x="21556" y="9695"/>
                      <a:pt x="21732" y="10000"/>
                    </a:cubicBezTo>
                    <a:cubicBezTo>
                      <a:pt x="21907" y="10304"/>
                      <a:pt x="22000" y="10648"/>
                      <a:pt x="22000" y="11000"/>
                    </a:cubicBezTo>
                    <a:lnTo>
                      <a:pt x="22000" y="16000"/>
                    </a:lnTo>
                    <a:cubicBezTo>
                      <a:pt x="22000" y="16351"/>
                      <a:pt x="21907" y="16695"/>
                      <a:pt x="21732" y="17000"/>
                    </a:cubicBezTo>
                    <a:cubicBezTo>
                      <a:pt x="21556" y="17304"/>
                      <a:pt x="21304" y="17556"/>
                      <a:pt x="21000" y="17732"/>
                    </a:cubicBezTo>
                    <a:cubicBezTo>
                      <a:pt x="20695" y="17907"/>
                      <a:pt x="20351" y="18000"/>
                      <a:pt x="20000" y="18000"/>
                    </a:cubicBezTo>
                    <a:lnTo>
                      <a:pt x="18000" y="18000"/>
                    </a:lnTo>
                  </a:path>
                  <a:path w="24000" h="24000" fill="none">
                    <a:moveTo>
                      <a:pt x="6000" y="9000"/>
                    </a:moveTo>
                    <a:lnTo>
                      <a:pt x="6000" y="3000"/>
                    </a:lnTo>
                    <a:cubicBezTo>
                      <a:pt x="6000" y="2824"/>
                      <a:pt x="6046" y="2652"/>
                      <a:pt x="6133" y="2500"/>
                    </a:cubicBezTo>
                    <a:cubicBezTo>
                      <a:pt x="6221" y="2347"/>
                      <a:pt x="6347" y="2221"/>
                      <a:pt x="6500" y="2133"/>
                    </a:cubicBezTo>
                    <a:cubicBezTo>
                      <a:pt x="6652" y="2046"/>
                      <a:pt x="6824" y="2000"/>
                      <a:pt x="7000" y="2000"/>
                    </a:cubicBezTo>
                    <a:lnTo>
                      <a:pt x="17000" y="2000"/>
                    </a:lnTo>
                    <a:cubicBezTo>
                      <a:pt x="17175" y="2000"/>
                      <a:pt x="17347" y="2046"/>
                      <a:pt x="17500" y="2133"/>
                    </a:cubicBezTo>
                    <a:cubicBezTo>
                      <a:pt x="17652" y="2221"/>
                      <a:pt x="17778" y="2347"/>
                      <a:pt x="17866" y="2500"/>
                    </a:cubicBezTo>
                    <a:cubicBezTo>
                      <a:pt x="17953" y="2652"/>
                      <a:pt x="18000" y="2824"/>
                      <a:pt x="18000" y="3000"/>
                    </a:cubicBezTo>
                    <a:lnTo>
                      <a:pt x="18000" y="9000"/>
                    </a:lnTo>
                  </a:path>
                  <a:path w="24000" h="24000" fill="none">
                    <a:moveTo>
                      <a:pt x="7000" y="14000"/>
                    </a:moveTo>
                    <a:lnTo>
                      <a:pt x="17000" y="14000"/>
                    </a:lnTo>
                    <a:cubicBezTo>
                      <a:pt x="17175" y="14000"/>
                      <a:pt x="17347" y="14046"/>
                      <a:pt x="17500" y="14133"/>
                    </a:cubicBezTo>
                    <a:cubicBezTo>
                      <a:pt x="17652" y="14221"/>
                      <a:pt x="17778" y="14347"/>
                      <a:pt x="17866" y="14500"/>
                    </a:cubicBezTo>
                    <a:cubicBezTo>
                      <a:pt x="17953" y="14652"/>
                      <a:pt x="18000" y="14824"/>
                      <a:pt x="18000" y="15000"/>
                    </a:cubicBezTo>
                    <a:lnTo>
                      <a:pt x="18000" y="21000"/>
                    </a:lnTo>
                    <a:cubicBezTo>
                      <a:pt x="18000" y="21175"/>
                      <a:pt x="17953" y="21347"/>
                      <a:pt x="17866" y="21500"/>
                    </a:cubicBezTo>
                    <a:cubicBezTo>
                      <a:pt x="17778" y="21652"/>
                      <a:pt x="17652" y="21778"/>
                      <a:pt x="17500" y="21866"/>
                    </a:cubicBezTo>
                    <a:cubicBezTo>
                      <a:pt x="17347" y="21953"/>
                      <a:pt x="17175" y="22000"/>
                      <a:pt x="17000" y="22000"/>
                    </a:cubicBezTo>
                    <a:lnTo>
                      <a:pt x="7000" y="22000"/>
                    </a:lnTo>
                    <a:cubicBezTo>
                      <a:pt x="6824" y="22000"/>
                      <a:pt x="6652" y="21953"/>
                      <a:pt x="6500" y="21866"/>
                    </a:cubicBezTo>
                    <a:cubicBezTo>
                      <a:pt x="6347" y="21778"/>
                      <a:pt x="6221" y="21652"/>
                      <a:pt x="6133" y="21500"/>
                    </a:cubicBezTo>
                    <a:cubicBezTo>
                      <a:pt x="6046" y="21347"/>
                      <a:pt x="6000" y="21175"/>
                      <a:pt x="6000" y="21000"/>
                    </a:cubicBezTo>
                    <a:lnTo>
                      <a:pt x="6000" y="15000"/>
                    </a:lnTo>
                    <a:cubicBezTo>
                      <a:pt x="6000" y="14824"/>
                      <a:pt x="6046" y="14652"/>
                      <a:pt x="6133" y="14500"/>
                    </a:cubicBezTo>
                    <a:cubicBezTo>
                      <a:pt x="6221" y="14347"/>
                      <a:pt x="6347" y="14221"/>
                      <a:pt x="6500" y="14133"/>
                    </a:cubicBezTo>
                    <a:cubicBezTo>
                      <a:pt x="6652" y="14046"/>
                      <a:pt x="6824" y="14000"/>
                      <a:pt x="7000" y="14000"/>
                    </a:cubicBezTo>
                    <a:close/>
                  </a:path>
                </a:pathLst>
              </a:custGeom>
              <a:noFill/>
              <a:ln w="10287" cap="rnd">
                <a:solidFill>
                  <a:srgbClr val="6C849D"/>
                </a:solidFill>
                <a:round/>
              </a:ln>
            </p:spPr>
          </p:sp>
          <p:sp>
            <p:nvSpPr>
              <p:cNvPr id="95" name="Current procedure 2 text"/>
              <p:cNvSpPr txBox="1"/>
              <p:nvPr/>
            </p:nvSpPr>
            <p:spPr>
              <a:xfrm>
                <a:off x="2075688" y="3556508"/>
                <a:ext cx="1773936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Pressure graph produced on a </a:t>
                </a: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manual printer</a:t>
                </a:r>
                <a:endParaRPr lang="en-US" sz="800" dirty="0">
                  <a:latin typeface="Inter"/>
                </a:endParaRPr>
              </a:p>
            </p:txBody>
          </p:sp>
        </p:grpSp>
        <p:cxnSp>
          <p:nvCxnSpPr>
            <p:cNvPr id="96" name="Divider"/>
            <p:cNvCxnSpPr/>
            <p:nvPr/>
          </p:nvCxnSpPr>
          <p:spPr>
            <a:xfrm>
              <a:off x="1883664" y="4416552"/>
              <a:ext cx="1956816" cy="0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97" name="Chip Slow"/>
            <p:cNvGrpSpPr/>
            <p:nvPr/>
          </p:nvGrpSpPr>
          <p:grpSpPr>
            <a:xfrm>
              <a:off x="1883664" y="4498848"/>
              <a:ext cx="452216" cy="164592"/>
              <a:chOff x="1883664" y="4498848"/>
              <a:chExt cx="452216" cy="164592"/>
            </a:xfrm>
          </p:grpSpPr>
          <p:sp>
            <p:nvSpPr>
              <p:cNvPr id="98" name="Chip fill"/>
              <p:cNvSpPr/>
              <p:nvPr/>
            </p:nvSpPr>
            <p:spPr>
              <a:xfrm>
                <a:off x="1883664" y="4498848"/>
                <a:ext cx="452216" cy="164592"/>
              </a:xfrm>
              <a:prstGeom prst="roundRect">
                <a:avLst>
                  <a:gd name="adj" fmla="val 16666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</p:sp>
          <p:sp>
            <p:nvSpPr>
              <p:cNvPr id="99" name="Icon hourglass"/>
              <p:cNvSpPr/>
              <p:nvPr/>
            </p:nvSpPr>
            <p:spPr>
              <a:xfrm>
                <a:off x="1938528" y="4527169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5000" y="22000"/>
                    </a:moveTo>
                    <a:lnTo>
                      <a:pt x="19000" y="22000"/>
                    </a:lnTo>
                  </a:path>
                  <a:path w="24000" h="24000" fill="none">
                    <a:moveTo>
                      <a:pt x="5000" y="2000"/>
                    </a:moveTo>
                    <a:lnTo>
                      <a:pt x="19000" y="2000"/>
                    </a:lnTo>
                  </a:path>
                  <a:path w="24000" h="24000" fill="none">
                    <a:moveTo>
                      <a:pt x="17000" y="22000"/>
                    </a:moveTo>
                    <a:lnTo>
                      <a:pt x="17000" y="17828"/>
                    </a:lnTo>
                    <a:cubicBezTo>
                      <a:pt x="16999" y="17565"/>
                      <a:pt x="16948" y="17305"/>
                      <a:pt x="16847" y="17062"/>
                    </a:cubicBezTo>
                    <a:cubicBezTo>
                      <a:pt x="16747" y="16820"/>
                      <a:pt x="16599" y="16599"/>
                      <a:pt x="16414" y="16413"/>
                    </a:cubicBezTo>
                    <a:lnTo>
                      <a:pt x="12000" y="12000"/>
                    </a:lnTo>
                    <a:lnTo>
                      <a:pt x="7586" y="16414"/>
                    </a:lnTo>
                    <a:cubicBezTo>
                      <a:pt x="7400" y="16599"/>
                      <a:pt x="7252" y="16820"/>
                      <a:pt x="7152" y="17062"/>
                    </a:cubicBezTo>
                    <a:cubicBezTo>
                      <a:pt x="7051" y="17305"/>
                      <a:pt x="7000" y="17565"/>
                      <a:pt x="7000" y="17828"/>
                    </a:cubicBezTo>
                    <a:lnTo>
                      <a:pt x="7000" y="22000"/>
                    </a:lnTo>
                  </a:path>
                  <a:path w="24000" h="24000" fill="none">
                    <a:moveTo>
                      <a:pt x="7000" y="2000"/>
                    </a:moveTo>
                    <a:lnTo>
                      <a:pt x="7000" y="6172"/>
                    </a:lnTo>
                    <a:cubicBezTo>
                      <a:pt x="7000" y="6434"/>
                      <a:pt x="7051" y="6694"/>
                      <a:pt x="7152" y="6937"/>
                    </a:cubicBezTo>
                    <a:cubicBezTo>
                      <a:pt x="7252" y="7179"/>
                      <a:pt x="7400" y="7400"/>
                      <a:pt x="7586" y="7585"/>
                    </a:cubicBezTo>
                    <a:lnTo>
                      <a:pt x="12000" y="12000"/>
                    </a:lnTo>
                    <a:lnTo>
                      <a:pt x="16414" y="7586"/>
                    </a:lnTo>
                    <a:cubicBezTo>
                      <a:pt x="16599" y="7400"/>
                      <a:pt x="16747" y="7179"/>
                      <a:pt x="16847" y="6937"/>
                    </a:cubicBezTo>
                    <a:cubicBezTo>
                      <a:pt x="16948" y="6694"/>
                      <a:pt x="16999" y="6434"/>
                      <a:pt x="17000" y="6172"/>
                    </a:cubicBezTo>
                    <a:lnTo>
                      <a:pt x="17000" y="2000"/>
                    </a:lnTo>
                  </a:path>
                </a:pathLst>
              </a:custGeom>
              <a:noFill/>
              <a:ln w="10345" cap="rnd">
                <a:solidFill>
                  <a:srgbClr val="B42318"/>
                </a:solidFill>
                <a:round/>
              </a:ln>
            </p:spPr>
          </p:sp>
          <p:sp>
            <p:nvSpPr>
              <p:cNvPr id="100" name="Chip label"/>
              <p:cNvSpPr txBox="1"/>
              <p:nvPr/>
            </p:nvSpPr>
            <p:spPr>
              <a:xfrm>
                <a:off x="2078482" y="4498848"/>
                <a:ext cx="220822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8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Slow</a:t>
                </a:r>
                <a:endParaRPr lang="en-US" sz="680" dirty="0">
                  <a:latin typeface="Inter SemiBold"/>
                </a:endParaRPr>
              </a:p>
            </p:txBody>
          </p:sp>
        </p:grpSp>
        <p:grpSp>
          <p:nvGrpSpPr>
            <p:cNvPr id="101" name="Chip Prone to mistakes"/>
            <p:cNvGrpSpPr/>
            <p:nvPr/>
          </p:nvGrpSpPr>
          <p:grpSpPr>
            <a:xfrm>
              <a:off x="2390744" y="4498848"/>
              <a:ext cx="994044" cy="164592"/>
              <a:chOff x="2390744" y="4498848"/>
              <a:chExt cx="994044" cy="164592"/>
            </a:xfrm>
          </p:grpSpPr>
          <p:sp>
            <p:nvSpPr>
              <p:cNvPr id="102" name="Chip fill"/>
              <p:cNvSpPr/>
              <p:nvPr/>
            </p:nvSpPr>
            <p:spPr>
              <a:xfrm>
                <a:off x="2390744" y="4498848"/>
                <a:ext cx="994044" cy="164592"/>
              </a:xfrm>
              <a:prstGeom prst="roundRect">
                <a:avLst>
                  <a:gd name="adj" fmla="val 16666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03" name="Icon triangle-alert"/>
              <p:cNvSpPr/>
              <p:nvPr/>
            </p:nvSpPr>
            <p:spPr>
              <a:xfrm>
                <a:off x="2445608" y="4527169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730" y="18000"/>
                    </a:moveTo>
                    <a:lnTo>
                      <a:pt x="13730" y="4000"/>
                    </a:lnTo>
                    <a:cubicBezTo>
                      <a:pt x="13590" y="3754"/>
                      <a:pt x="13401" y="3540"/>
                      <a:pt x="13173" y="3373"/>
                    </a:cubicBezTo>
                    <a:cubicBezTo>
                      <a:pt x="12945" y="3206"/>
                      <a:pt x="12685" y="3089"/>
                      <a:pt x="12408" y="3030"/>
                    </a:cubicBezTo>
                    <a:cubicBezTo>
                      <a:pt x="12132" y="2971"/>
                      <a:pt x="11847" y="2971"/>
                      <a:pt x="11571" y="3030"/>
                    </a:cubicBezTo>
                    <a:cubicBezTo>
                      <a:pt x="11294" y="3089"/>
                      <a:pt x="11034" y="3206"/>
                      <a:pt x="10806" y="3373"/>
                    </a:cubicBezTo>
                    <a:cubicBezTo>
                      <a:pt x="10578" y="3540"/>
                      <a:pt x="10389" y="3754"/>
                      <a:pt x="10250" y="4000"/>
                    </a:cubicBezTo>
                    <a:lnTo>
                      <a:pt x="2250" y="18000"/>
                    </a:lnTo>
                    <a:cubicBezTo>
                      <a:pt x="2109" y="18243"/>
                      <a:pt x="2021" y="18514"/>
                      <a:pt x="1992" y="18794"/>
                    </a:cubicBezTo>
                    <a:cubicBezTo>
                      <a:pt x="1963" y="19074"/>
                      <a:pt x="1994" y="19357"/>
                      <a:pt x="2082" y="19624"/>
                    </a:cubicBezTo>
                    <a:cubicBezTo>
                      <a:pt x="2170" y="19892"/>
                      <a:pt x="2313" y="20138"/>
                      <a:pt x="2502" y="20346"/>
                    </a:cubicBezTo>
                    <a:cubicBezTo>
                      <a:pt x="2692" y="20554"/>
                      <a:pt x="2923" y="20720"/>
                      <a:pt x="3181" y="20832"/>
                    </a:cubicBezTo>
                    <a:cubicBezTo>
                      <a:pt x="3439" y="20945"/>
                      <a:pt x="3718" y="21002"/>
                      <a:pt x="4000" y="21000"/>
                    </a:cubicBezTo>
                    <a:lnTo>
                      <a:pt x="20000" y="21000"/>
                    </a:lnTo>
                    <a:cubicBezTo>
                      <a:pt x="20350" y="20999"/>
                      <a:pt x="20695" y="20906"/>
                      <a:pt x="20999" y="20731"/>
                    </a:cubicBezTo>
                    <a:cubicBezTo>
                      <a:pt x="21303" y="20555"/>
                      <a:pt x="21555" y="20303"/>
                      <a:pt x="21730" y="19999"/>
                    </a:cubicBezTo>
                    <a:cubicBezTo>
                      <a:pt x="21905" y="19695"/>
                      <a:pt x="21998" y="19350"/>
                      <a:pt x="21997" y="18999"/>
                    </a:cubicBezTo>
                    <a:cubicBezTo>
                      <a:pt x="21997" y="18648"/>
                      <a:pt x="21905" y="18303"/>
                      <a:pt x="21730" y="18000"/>
                    </a:cubicBezTo>
                  </a:path>
                  <a:path w="24000" h="24000" fill="none">
                    <a:moveTo>
                      <a:pt x="12000" y="9000"/>
                    </a:moveTo>
                    <a:lnTo>
                      <a:pt x="12000" y="13000"/>
                    </a:ln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10345" cap="rnd">
                <a:solidFill>
                  <a:srgbClr val="B42318"/>
                </a:solidFill>
                <a:round/>
              </a:ln>
            </p:spPr>
          </p:sp>
          <p:sp>
            <p:nvSpPr>
              <p:cNvPr id="104" name="Chip label"/>
              <p:cNvSpPr txBox="1"/>
              <p:nvPr/>
            </p:nvSpPr>
            <p:spPr>
              <a:xfrm>
                <a:off x="2585562" y="4498848"/>
                <a:ext cx="762650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8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Prone to mistakes</a:t>
                </a:r>
                <a:endParaRPr lang="en-US" sz="680" dirty="0">
                  <a:latin typeface="Inter SemiBold"/>
                </a:endParaRPr>
              </a:p>
            </p:txBody>
          </p:sp>
        </p:grpSp>
      </p:grpSp>
      <p:sp>
        <p:nvSpPr>
          <p:cNvPr id="105" name="Icon chevron-right"/>
          <p:cNvSpPr/>
          <p:nvPr/>
        </p:nvSpPr>
        <p:spPr>
          <a:xfrm>
            <a:off x="4000500" y="385419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4630" cap="rnd">
            <a:solidFill>
              <a:srgbClr val="90A5BB"/>
            </a:solidFill>
            <a:round/>
          </a:ln>
        </p:spPr>
      </p:sp>
      <p:grpSp>
        <p:nvGrpSpPr>
          <p:cNvPr id="106" name="Project 02 Objective"/>
          <p:cNvGrpSpPr/>
          <p:nvPr/>
        </p:nvGrpSpPr>
        <p:grpSpPr>
          <a:xfrm>
            <a:off x="4187952" y="3081528"/>
            <a:ext cx="2194560" cy="1691640"/>
            <a:chOff x="4187952" y="3081528"/>
            <a:chExt cx="2194560" cy="1691640"/>
          </a:xfrm>
        </p:grpSpPr>
        <p:sp>
          <p:nvSpPr>
            <p:cNvPr id="107" name="Objective card"/>
            <p:cNvSpPr/>
            <p:nvPr/>
          </p:nvSpPr>
          <p:spPr>
            <a:xfrm>
              <a:off x="4187952" y="3081528"/>
              <a:ext cx="2194560" cy="1691640"/>
            </a:xfrm>
            <a:prstGeom prst="roundRect">
              <a:avLst>
                <a:gd name="adj" fmla="val 3243"/>
              </a:avLst>
            </a:prstGeom>
            <a:solidFill>
              <a:srgbClr val="F4F8FF"/>
            </a:solidFill>
            <a:ln w="9525">
              <a:solidFill>
                <a:srgbClr val="B8D0FD"/>
              </a:solidFill>
              <a:round/>
            </a:ln>
          </p:spPr>
        </p:sp>
        <p:grpSp>
          <p:nvGrpSpPr>
            <p:cNvPr id="108" name="Objective 1"/>
            <p:cNvGrpSpPr/>
            <p:nvPr/>
          </p:nvGrpSpPr>
          <p:grpSpPr>
            <a:xfrm>
              <a:off x="4306824" y="3218688"/>
              <a:ext cx="1965960" cy="260096"/>
              <a:chOff x="4306824" y="3218688"/>
              <a:chExt cx="1965960" cy="260096"/>
            </a:xfrm>
          </p:grpSpPr>
          <p:sp>
            <p:nvSpPr>
              <p:cNvPr id="109" name="Icon scan-qr-code"/>
              <p:cNvSpPr/>
              <p:nvPr/>
            </p:nvSpPr>
            <p:spPr>
              <a:xfrm>
                <a:off x="4306824" y="3229661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7000" y="12000"/>
                    </a:moveTo>
                    <a:lnTo>
                      <a:pt x="17000" y="16000"/>
                    </a:lnTo>
                    <a:cubicBezTo>
                      <a:pt x="17000" y="16175"/>
                      <a:pt x="16953" y="16347"/>
                      <a:pt x="16866" y="16500"/>
                    </a:cubicBezTo>
                    <a:cubicBezTo>
                      <a:pt x="16778" y="16652"/>
                      <a:pt x="16652" y="16778"/>
                      <a:pt x="16500" y="16866"/>
                    </a:cubicBezTo>
                    <a:cubicBezTo>
                      <a:pt x="16347" y="16953"/>
                      <a:pt x="16175" y="17000"/>
                      <a:pt x="16000" y="17000"/>
                    </a:cubicBezTo>
                    <a:lnTo>
                      <a:pt x="12000" y="17000"/>
                    </a:lnTo>
                  </a:path>
                  <a:path w="24000" h="24000" fill="none">
                    <a:moveTo>
                      <a:pt x="17000" y="3000"/>
                    </a:moveTo>
                    <a:lnTo>
                      <a:pt x="19000" y="3000"/>
                    </a:lnTo>
                    <a:cubicBezTo>
                      <a:pt x="19351" y="3000"/>
                      <a:pt x="19695" y="3092"/>
                      <a:pt x="20000" y="3267"/>
                    </a:cubicBezTo>
                    <a:cubicBezTo>
                      <a:pt x="20304" y="3443"/>
                      <a:pt x="20556" y="3695"/>
                      <a:pt x="20732" y="4000"/>
                    </a:cubicBezTo>
                    <a:cubicBezTo>
                      <a:pt x="20907" y="4304"/>
                      <a:pt x="21000" y="4648"/>
                      <a:pt x="21000" y="5000"/>
                    </a:cubicBezTo>
                    <a:lnTo>
                      <a:pt x="21000" y="7000"/>
                    </a:lnTo>
                  </a:path>
                  <a:path w="24000" h="24000" fill="none">
                    <a:moveTo>
                      <a:pt x="17000" y="8000"/>
                    </a:moveTo>
                    <a:lnTo>
                      <a:pt x="17000" y="7000"/>
                    </a:lnTo>
                  </a:path>
                  <a:path w="24000" h="24000" fill="none">
                    <a:moveTo>
                      <a:pt x="21000" y="17000"/>
                    </a:moveTo>
                    <a:lnTo>
                      <a:pt x="21000" y="19000"/>
                    </a:lnTo>
                    <a:cubicBezTo>
                      <a:pt x="21000" y="19351"/>
                      <a:pt x="20907" y="19695"/>
                      <a:pt x="20732" y="20000"/>
                    </a:cubicBezTo>
                    <a:cubicBezTo>
                      <a:pt x="20556" y="20304"/>
                      <a:pt x="20304" y="20556"/>
                      <a:pt x="20000" y="20732"/>
                    </a:cubicBezTo>
                    <a:cubicBezTo>
                      <a:pt x="19695" y="20907"/>
                      <a:pt x="19351" y="21000"/>
                      <a:pt x="19000" y="21000"/>
                    </a:cubicBezTo>
                    <a:lnTo>
                      <a:pt x="17000" y="21000"/>
                    </a:lnTo>
                  </a:path>
                  <a:path w="24000" h="24000" fill="none">
                    <a:moveTo>
                      <a:pt x="3000" y="7000"/>
                    </a:moveTo>
                    <a:lnTo>
                      <a:pt x="3000" y="5000"/>
                    </a:lnTo>
                    <a:cubicBezTo>
                      <a:pt x="3000" y="4648"/>
                      <a:pt x="3092" y="4304"/>
                      <a:pt x="3267" y="4000"/>
                    </a:cubicBezTo>
                    <a:cubicBezTo>
                      <a:pt x="3443" y="3695"/>
                      <a:pt x="3695" y="3443"/>
                      <a:pt x="3999" y="3267"/>
                    </a:cubicBezTo>
                    <a:cubicBezTo>
                      <a:pt x="4304" y="3092"/>
                      <a:pt x="4648" y="3000"/>
                      <a:pt x="5000" y="3000"/>
                    </a:cubicBezTo>
                    <a:lnTo>
                      <a:pt x="7000" y="3000"/>
                    </a:lnTo>
                  </a:path>
                  <a:path w="24000" h="24000" fill="none">
                    <a:moveTo>
                      <a:pt x="7000" y="17000"/>
                    </a:moveTo>
                    <a:lnTo>
                      <a:pt x="7010" y="17000"/>
                    </a:lnTo>
                  </a:path>
                  <a:path w="24000" h="24000" fill="none">
                    <a:moveTo>
                      <a:pt x="7000" y="21000"/>
                    </a:moveTo>
                    <a:lnTo>
                      <a:pt x="5000" y="21000"/>
                    </a:lnTo>
                    <a:cubicBezTo>
                      <a:pt x="4648" y="21000"/>
                      <a:pt x="4304" y="20907"/>
                      <a:pt x="4000" y="20732"/>
                    </a:cubicBezTo>
                    <a:cubicBezTo>
                      <a:pt x="3695" y="20556"/>
                      <a:pt x="3443" y="20304"/>
                      <a:pt x="3267" y="20000"/>
                    </a:cubicBezTo>
                    <a:cubicBezTo>
                      <a:pt x="3092" y="19695"/>
                      <a:pt x="3000" y="19351"/>
                      <a:pt x="3000" y="19000"/>
                    </a:cubicBezTo>
                    <a:lnTo>
                      <a:pt x="3000" y="17000"/>
                    </a:lnTo>
                  </a:path>
                  <a:path w="24000" h="24000" fill="none">
                    <a:moveTo>
                      <a:pt x="8000" y="7000"/>
                    </a:moveTo>
                    <a:lnTo>
                      <a:pt x="11000" y="7000"/>
                    </a:lnTo>
                    <a:cubicBezTo>
                      <a:pt x="11175" y="7000"/>
                      <a:pt x="11347" y="7046"/>
                      <a:pt x="11500" y="7133"/>
                    </a:cubicBezTo>
                    <a:cubicBezTo>
                      <a:pt x="11652" y="7221"/>
                      <a:pt x="11778" y="7347"/>
                      <a:pt x="11866" y="7500"/>
                    </a:cubicBezTo>
                    <a:cubicBezTo>
                      <a:pt x="11953" y="7652"/>
                      <a:pt x="12000" y="7824"/>
                      <a:pt x="12000" y="8000"/>
                    </a:cubicBezTo>
                    <a:lnTo>
                      <a:pt x="12000" y="11000"/>
                    </a:lnTo>
                    <a:cubicBezTo>
                      <a:pt x="12000" y="11175"/>
                      <a:pt x="11953" y="11347"/>
                      <a:pt x="11866" y="11500"/>
                    </a:cubicBezTo>
                    <a:cubicBezTo>
                      <a:pt x="11778" y="11652"/>
                      <a:pt x="11652" y="11778"/>
                      <a:pt x="11500" y="11866"/>
                    </a:cubicBezTo>
                    <a:cubicBezTo>
                      <a:pt x="11347" y="11953"/>
                      <a:pt x="11175" y="12000"/>
                      <a:pt x="11000" y="12000"/>
                    </a:cubicBezTo>
                    <a:lnTo>
                      <a:pt x="8000" y="12000"/>
                    </a:lnTo>
                    <a:cubicBezTo>
                      <a:pt x="7824" y="12000"/>
                      <a:pt x="7652" y="11953"/>
                      <a:pt x="7500" y="11866"/>
                    </a:cubicBezTo>
                    <a:cubicBezTo>
                      <a:pt x="7347" y="11778"/>
                      <a:pt x="7221" y="11652"/>
                      <a:pt x="7133" y="11500"/>
                    </a:cubicBezTo>
                    <a:cubicBezTo>
                      <a:pt x="7046" y="11347"/>
                      <a:pt x="7000" y="11175"/>
                      <a:pt x="7000" y="11000"/>
                    </a:cubicBezTo>
                    <a:lnTo>
                      <a:pt x="7000" y="8000"/>
                    </a:lnTo>
                    <a:cubicBezTo>
                      <a:pt x="7000" y="7824"/>
                      <a:pt x="7046" y="7652"/>
                      <a:pt x="7133" y="7500"/>
                    </a:cubicBezTo>
                    <a:cubicBezTo>
                      <a:pt x="7221" y="7347"/>
                      <a:pt x="7347" y="7221"/>
                      <a:pt x="7500" y="7133"/>
                    </a:cubicBezTo>
                    <a:cubicBezTo>
                      <a:pt x="7652" y="7046"/>
                      <a:pt x="7824" y="7000"/>
                      <a:pt x="8000" y="7000"/>
                    </a:cubicBezTo>
                    <a:close/>
                  </a:path>
                </a:pathLst>
              </a:custGeom>
              <a:noFill/>
              <a:ln w="10287" cap="rnd">
                <a:solidFill>
                  <a:srgbClr val="165FF2"/>
                </a:solidFill>
                <a:round/>
              </a:ln>
            </p:spPr>
          </p:sp>
          <p:sp>
            <p:nvSpPr>
              <p:cNvPr id="110" name="Objective 1 text"/>
              <p:cNvSpPr txBox="1"/>
              <p:nvPr/>
            </p:nvSpPr>
            <p:spPr>
              <a:xfrm>
                <a:off x="4498848" y="3218688"/>
                <a:ext cx="1773936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Pipe number entered before every test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— scanned, selected or typed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111" name="Objective 2"/>
            <p:cNvGrpSpPr/>
            <p:nvPr/>
          </p:nvGrpSpPr>
          <p:grpSpPr>
            <a:xfrm>
              <a:off x="4306824" y="3556508"/>
              <a:ext cx="1965960" cy="390144"/>
              <a:chOff x="4306824" y="3556508"/>
              <a:chExt cx="1965960" cy="390144"/>
            </a:xfrm>
          </p:grpSpPr>
          <p:sp>
            <p:nvSpPr>
              <p:cNvPr id="112" name="Icon chart-line"/>
              <p:cNvSpPr/>
              <p:nvPr/>
            </p:nvSpPr>
            <p:spPr>
              <a:xfrm>
                <a:off x="4306824" y="3567481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3000"/>
                    </a:moveTo>
                    <a:lnTo>
                      <a:pt x="3000" y="19000"/>
                    </a:lnTo>
                    <a:cubicBezTo>
                      <a:pt x="3000" y="19351"/>
                      <a:pt x="3092" y="19695"/>
                      <a:pt x="3267" y="20000"/>
                    </a:cubicBezTo>
                    <a:cubicBezTo>
                      <a:pt x="3443" y="20304"/>
                      <a:pt x="3695" y="20556"/>
                      <a:pt x="3999" y="20732"/>
                    </a:cubicBezTo>
                    <a:cubicBezTo>
                      <a:pt x="4304" y="20907"/>
                      <a:pt x="4648" y="21000"/>
                      <a:pt x="5000" y="21000"/>
                    </a:cubicBezTo>
                    <a:lnTo>
                      <a:pt x="21000" y="21000"/>
                    </a:lnTo>
                  </a:path>
                  <a:path w="24000" h="24000" fill="none">
                    <a:moveTo>
                      <a:pt x="19000" y="9000"/>
                    </a:moveTo>
                    <a:lnTo>
                      <a:pt x="14000" y="14000"/>
                    </a:lnTo>
                    <a:lnTo>
                      <a:pt x="10000" y="10000"/>
                    </a:lnTo>
                    <a:lnTo>
                      <a:pt x="7000" y="13000"/>
                    </a:lnTo>
                  </a:path>
                </a:pathLst>
              </a:custGeom>
              <a:noFill/>
              <a:ln w="10287" cap="rnd">
                <a:solidFill>
                  <a:srgbClr val="165FF2"/>
                </a:solidFill>
                <a:round/>
              </a:ln>
            </p:spPr>
          </p:sp>
          <p:sp>
            <p:nvSpPr>
              <p:cNvPr id="113" name="Objective 2 text"/>
              <p:cNvSpPr txBox="1"/>
              <p:nvPr/>
            </p:nvSpPr>
            <p:spPr>
              <a:xfrm>
                <a:off x="4498848" y="3556508"/>
                <a:ext cx="1773936" cy="3901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Capture the pressure-vs-time curve digitally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from the SCADA over OPC UA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114" name="Objective 3"/>
            <p:cNvGrpSpPr/>
            <p:nvPr/>
          </p:nvGrpSpPr>
          <p:grpSpPr>
            <a:xfrm>
              <a:off x="4306824" y="4024376"/>
              <a:ext cx="1965960" cy="390144"/>
              <a:chOff x="4306824" y="4024376"/>
              <a:chExt cx="1965960" cy="390144"/>
            </a:xfrm>
          </p:grpSpPr>
          <p:sp>
            <p:nvSpPr>
              <p:cNvPr id="115" name="Icon cloud-upload"/>
              <p:cNvSpPr/>
              <p:nvPr/>
            </p:nvSpPr>
            <p:spPr>
              <a:xfrm>
                <a:off x="4306824" y="4035349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13000"/>
                    </a:moveTo>
                    <a:lnTo>
                      <a:pt x="12000" y="21000"/>
                    </a:lnTo>
                  </a:path>
                  <a:path w="24000" h="24000" fill="none">
                    <a:moveTo>
                      <a:pt x="4000" y="14899"/>
                    </a:moveTo>
                    <a:cubicBezTo>
                      <a:pt x="3149" y="14030"/>
                      <a:pt x="2540" y="12955"/>
                      <a:pt x="2231" y="11779"/>
                    </a:cubicBezTo>
                    <a:cubicBezTo>
                      <a:pt x="1923" y="10603"/>
                      <a:pt x="1926" y="9368"/>
                      <a:pt x="2240" y="8193"/>
                    </a:cubicBezTo>
                    <a:cubicBezTo>
                      <a:pt x="2554" y="7019"/>
                      <a:pt x="3168" y="5947"/>
                      <a:pt x="4023" y="5082"/>
                    </a:cubicBezTo>
                    <a:cubicBezTo>
                      <a:pt x="4877" y="4218"/>
                      <a:pt x="5942" y="3590"/>
                      <a:pt x="7112" y="3262"/>
                    </a:cubicBezTo>
                    <a:cubicBezTo>
                      <a:pt x="8282" y="2934"/>
                      <a:pt x="9518" y="2916"/>
                      <a:pt x="10697" y="3211"/>
                    </a:cubicBezTo>
                    <a:cubicBezTo>
                      <a:pt x="11877" y="3505"/>
                      <a:pt x="12959" y="4101"/>
                      <a:pt x="13838" y="4941"/>
                    </a:cubicBezTo>
                    <a:cubicBezTo>
                      <a:pt x="14717" y="5781"/>
                      <a:pt x="15362" y="6835"/>
                      <a:pt x="15710" y="8000"/>
                    </a:cubicBezTo>
                    <a:lnTo>
                      <a:pt x="17500" y="8000"/>
                    </a:lnTo>
                    <a:cubicBezTo>
                      <a:pt x="18269" y="7999"/>
                      <a:pt x="19027" y="8197"/>
                      <a:pt x="19699" y="8573"/>
                    </a:cubicBezTo>
                    <a:cubicBezTo>
                      <a:pt x="20370" y="8949"/>
                      <a:pt x="20935" y="9492"/>
                      <a:pt x="21337" y="10148"/>
                    </a:cubicBezTo>
                    <a:cubicBezTo>
                      <a:pt x="21739" y="10805"/>
                      <a:pt x="21966" y="11554"/>
                      <a:pt x="21997" y="12323"/>
                    </a:cubicBezTo>
                    <a:cubicBezTo>
                      <a:pt x="22027" y="13092"/>
                      <a:pt x="21859" y="13857"/>
                      <a:pt x="21509" y="14543"/>
                    </a:cubicBezTo>
                    <a:cubicBezTo>
                      <a:pt x="21160" y="15229"/>
                      <a:pt x="20640" y="15814"/>
                      <a:pt x="20000" y="16242"/>
                    </a:cubicBezTo>
                  </a:path>
                  <a:path w="24000" h="24000" fill="none">
                    <a:moveTo>
                      <a:pt x="8000" y="17000"/>
                    </a:moveTo>
                    <a:lnTo>
                      <a:pt x="12000" y="13000"/>
                    </a:lnTo>
                    <a:lnTo>
                      <a:pt x="16000" y="17000"/>
                    </a:lnTo>
                  </a:path>
                </a:pathLst>
              </a:custGeom>
              <a:noFill/>
              <a:ln w="10287" cap="rnd">
                <a:solidFill>
                  <a:srgbClr val="165FF2"/>
                </a:solidFill>
                <a:round/>
              </a:ln>
            </p:spPr>
          </p:sp>
          <p:sp>
            <p:nvSpPr>
              <p:cNvPr id="116" name="Objective 3 text"/>
              <p:cNvSpPr txBox="1"/>
              <p:nvPr/>
            </p:nvSpPr>
            <p:spPr>
              <a:xfrm>
                <a:off x="4498848" y="4024376"/>
                <a:ext cx="1773936" cy="3901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Operator reviews, corrects and uploads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to SAP with both graph images</a:t>
                </a:r>
                <a:endParaRPr lang="en-US" sz="800" dirty="0">
                  <a:latin typeface="Inter"/>
                </a:endParaRPr>
              </a:p>
            </p:txBody>
          </p:sp>
        </p:grpSp>
      </p:grpSp>
      <p:sp>
        <p:nvSpPr>
          <p:cNvPr id="117" name="Icon chevron-right"/>
          <p:cNvSpPr/>
          <p:nvPr/>
        </p:nvSpPr>
        <p:spPr>
          <a:xfrm>
            <a:off x="6423660" y="385419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4630" cap="rnd">
            <a:solidFill>
              <a:srgbClr val="90A5BB"/>
            </a:solidFill>
            <a:round/>
          </a:ln>
        </p:spPr>
      </p:sp>
      <p:grpSp>
        <p:nvGrpSpPr>
          <p:cNvPr id="118" name="Project 02 Business outcome"/>
          <p:cNvGrpSpPr/>
          <p:nvPr/>
        </p:nvGrpSpPr>
        <p:grpSpPr>
          <a:xfrm>
            <a:off x="6611112" y="3081528"/>
            <a:ext cx="2258568" cy="1691640"/>
            <a:chOff x="6611112" y="3081528"/>
            <a:chExt cx="2258568" cy="1691640"/>
          </a:xfrm>
        </p:grpSpPr>
        <p:sp>
          <p:nvSpPr>
            <p:cNvPr id="119" name="Business outcome card"/>
            <p:cNvSpPr/>
            <p:nvPr/>
          </p:nvSpPr>
          <p:spPr>
            <a:xfrm>
              <a:off x="6611112" y="3081528"/>
              <a:ext cx="2258568" cy="1691640"/>
            </a:xfrm>
            <a:prstGeom prst="roundRect">
              <a:avLst>
                <a:gd name="adj" fmla="val 3243"/>
              </a:avLst>
            </a:prstGeom>
            <a:solidFill>
              <a:srgbClr val="EBFAF3"/>
            </a:solidFill>
            <a:ln w="9525">
              <a:solidFill>
                <a:srgbClr val="B6ECD1"/>
              </a:solidFill>
              <a:round/>
            </a:ln>
          </p:spPr>
        </p:sp>
        <p:grpSp>
          <p:nvGrpSpPr>
            <p:cNvPr id="120" name="Business outcome 1"/>
            <p:cNvGrpSpPr/>
            <p:nvPr/>
          </p:nvGrpSpPr>
          <p:grpSpPr>
            <a:xfrm>
              <a:off x="6729984" y="3218688"/>
              <a:ext cx="2029968" cy="260096"/>
              <a:chOff x="6729984" y="3218688"/>
              <a:chExt cx="2029968" cy="260096"/>
            </a:xfrm>
          </p:grpSpPr>
          <p:sp>
            <p:nvSpPr>
              <p:cNvPr id="121" name="Icon circle-check"/>
              <p:cNvSpPr/>
              <p:nvPr/>
            </p:nvSpPr>
            <p:spPr>
              <a:xfrm>
                <a:off x="6729984" y="3229661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122" name="Business outcome 1 text"/>
              <p:cNvSpPr txBox="1"/>
              <p:nvPr/>
            </p:nvSpPr>
            <p:spPr>
              <a:xfrm>
                <a:off x="6922008" y="3218688"/>
                <a:ext cx="1837944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Printer eliminated: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graphs captured and stored digitally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123" name="Business outcome 2"/>
            <p:cNvGrpSpPr/>
            <p:nvPr/>
          </p:nvGrpSpPr>
          <p:grpSpPr>
            <a:xfrm>
              <a:off x="6729984" y="3556508"/>
              <a:ext cx="2029968" cy="390144"/>
              <a:chOff x="6729984" y="3556508"/>
              <a:chExt cx="2029968" cy="390144"/>
            </a:xfrm>
          </p:grpSpPr>
          <p:sp>
            <p:nvSpPr>
              <p:cNvPr id="124" name="Icon circle-check"/>
              <p:cNvSpPr/>
              <p:nvPr/>
            </p:nvSpPr>
            <p:spPr>
              <a:xfrm>
                <a:off x="6729984" y="3567481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125" name="Business outcome 2 text"/>
              <p:cNvSpPr txBox="1"/>
              <p:nvPr/>
            </p:nvSpPr>
            <p:spPr>
              <a:xfrm>
                <a:off x="6922008" y="3556508"/>
                <a:ext cx="1837944" cy="3901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Fewer mistakes: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values captured from SCADA; corrections kept on record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126" name="Business outcome 3"/>
            <p:cNvGrpSpPr/>
            <p:nvPr/>
          </p:nvGrpSpPr>
          <p:grpSpPr>
            <a:xfrm>
              <a:off x="6729984" y="4024376"/>
              <a:ext cx="2029968" cy="260096"/>
              <a:chOff x="6729984" y="4024376"/>
              <a:chExt cx="2029968" cy="260096"/>
            </a:xfrm>
          </p:grpSpPr>
          <p:sp>
            <p:nvSpPr>
              <p:cNvPr id="127" name="Icon circle-check"/>
              <p:cNvSpPr/>
              <p:nvPr/>
            </p:nvSpPr>
            <p:spPr>
              <a:xfrm>
                <a:off x="6729984" y="4035349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128" name="Business outcome 3 text"/>
              <p:cNvSpPr txBox="1"/>
              <p:nvPr/>
            </p:nvSpPr>
            <p:spPr>
              <a:xfrm>
                <a:off x="6922008" y="4024376"/>
                <a:ext cx="1837944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Right pipe, right record: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no pipe number, no saved test</a:t>
                </a:r>
                <a:endParaRPr lang="en-US" sz="800" dirty="0">
                  <a:latin typeface="Inter"/>
                </a:endParaRPr>
              </a:p>
            </p:txBody>
          </p:sp>
        </p:grpSp>
        <p:grpSp>
          <p:nvGrpSpPr>
            <p:cNvPr id="129" name="Business outcome 4"/>
            <p:cNvGrpSpPr/>
            <p:nvPr/>
          </p:nvGrpSpPr>
          <p:grpSpPr>
            <a:xfrm>
              <a:off x="6729984" y="4362196"/>
              <a:ext cx="2029968" cy="260096"/>
              <a:chOff x="6729984" y="4362196"/>
              <a:chExt cx="2029968" cy="260096"/>
            </a:xfrm>
          </p:grpSpPr>
          <p:sp>
            <p:nvSpPr>
              <p:cNvPr id="130" name="Icon circle-check"/>
              <p:cNvSpPr/>
              <p:nvPr/>
            </p:nvSpPr>
            <p:spPr>
              <a:xfrm>
                <a:off x="6729984" y="4373169"/>
                <a:ext cx="123444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6000" y="9000"/>
                    </a:moveTo>
                    <a:lnTo>
                      <a:pt x="10500" y="14500"/>
                    </a:lnTo>
                    <a:lnTo>
                      <a:pt x="8000" y="12000"/>
                    </a:lnTo>
                  </a:path>
                </a:pathLst>
              </a:custGeom>
              <a:noFill/>
              <a:ln w="10287" cap="rnd">
                <a:solidFill>
                  <a:srgbClr val="00A251"/>
                </a:solidFill>
                <a:round/>
              </a:ln>
            </p:spPr>
          </p:sp>
          <p:sp>
            <p:nvSpPr>
              <p:cNvPr id="131" name="Business outcome 4 text"/>
              <p:cNvSpPr txBox="1"/>
              <p:nvPr/>
            </p:nvSpPr>
            <p:spPr>
              <a:xfrm>
                <a:off x="6922008" y="4362196"/>
                <a:ext cx="1837944" cy="260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4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Complete records:</a:t>
                </a:r>
                <a:r>
                  <a:rPr lang="en-US" sz="8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standard and actual graphs with each entry</a:t>
                </a:r>
                <a:endParaRPr lang="en-US" sz="800" dirty="0">
                  <a:latin typeface="Inter"/>
                </a:endParaRPr>
              </a:p>
            </p:txBody>
          </p:sp>
        </p:grpSp>
      </p:grpSp>
      <p:grpSp>
        <p:nvGrpSpPr>
          <p:cNvPr id="132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33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34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01  ·  UT STATIONS (IUT &amp; FUT)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Solution Architecture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What comes in, what the SAP Entry Application computes and verifies, and what reaches SAP.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Stage 1"/>
          <p:cNvGrpSpPr/>
          <p:nvPr/>
        </p:nvGrpSpPr>
        <p:grpSpPr>
          <a:xfrm>
            <a:off x="274320" y="1024128"/>
            <a:ext cx="2039112" cy="164592"/>
            <a:chOff x="274320" y="1024128"/>
            <a:chExt cx="2039112" cy="164592"/>
          </a:xfrm>
        </p:grpSpPr>
        <p:sp>
          <p:nvSpPr>
            <p:cNvPr id="22" name="Stage number"/>
            <p:cNvSpPr/>
            <p:nvPr/>
          </p:nvSpPr>
          <p:spPr>
            <a:xfrm>
              <a:off x="274320" y="1028700"/>
              <a:ext cx="155448" cy="155448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3" name="Stage digit"/>
            <p:cNvSpPr txBox="1"/>
            <p:nvPr/>
          </p:nvSpPr>
          <p:spPr>
            <a:xfrm>
              <a:off x="274320" y="1028700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650" dirty="0">
                <a:latin typeface="TASA Orbiter SemiBold"/>
              </a:endParaRPr>
            </a:p>
          </p:txBody>
        </p:sp>
        <p:sp>
          <p:nvSpPr>
            <p:cNvPr id="24" name="Stage name"/>
            <p:cNvSpPr txBox="1"/>
            <p:nvPr/>
          </p:nvSpPr>
          <p:spPr>
            <a:xfrm>
              <a:off x="484632" y="102412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INPUTS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25" name="Stage 2"/>
          <p:cNvGrpSpPr/>
          <p:nvPr/>
        </p:nvGrpSpPr>
        <p:grpSpPr>
          <a:xfrm>
            <a:off x="2194560" y="1024128"/>
            <a:ext cx="2039112" cy="164592"/>
            <a:chOff x="2194560" y="1024128"/>
            <a:chExt cx="2039112" cy="164592"/>
          </a:xfrm>
        </p:grpSpPr>
        <p:sp>
          <p:nvSpPr>
            <p:cNvPr id="26" name="Stage number"/>
            <p:cNvSpPr/>
            <p:nvPr/>
          </p:nvSpPr>
          <p:spPr>
            <a:xfrm>
              <a:off x="2194560" y="1028700"/>
              <a:ext cx="155448" cy="155448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7" name="Stage digit"/>
            <p:cNvSpPr txBox="1"/>
            <p:nvPr/>
          </p:nvSpPr>
          <p:spPr>
            <a:xfrm>
              <a:off x="2194560" y="1028700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650" dirty="0">
                <a:latin typeface="TASA Orbiter SemiBold"/>
              </a:endParaRPr>
            </a:p>
          </p:txBody>
        </p:sp>
        <p:sp>
          <p:nvSpPr>
            <p:cNvPr id="28" name="Stage name"/>
            <p:cNvSpPr txBox="1"/>
            <p:nvPr/>
          </p:nvSpPr>
          <p:spPr>
            <a:xfrm>
              <a:off x="2404872" y="102412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CAPTURE &amp; PARSE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29" name="Stage 3"/>
          <p:cNvGrpSpPr/>
          <p:nvPr/>
        </p:nvGrpSpPr>
        <p:grpSpPr>
          <a:xfrm>
            <a:off x="4023360" y="1024128"/>
            <a:ext cx="2039112" cy="164592"/>
            <a:chOff x="4023360" y="1024128"/>
            <a:chExt cx="2039112" cy="164592"/>
          </a:xfrm>
        </p:grpSpPr>
        <p:sp>
          <p:nvSpPr>
            <p:cNvPr id="30" name="Stage number"/>
            <p:cNvSpPr/>
            <p:nvPr/>
          </p:nvSpPr>
          <p:spPr>
            <a:xfrm>
              <a:off x="4023360" y="1028700"/>
              <a:ext cx="155448" cy="155448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1" name="Stage digit"/>
            <p:cNvSpPr txBox="1"/>
            <p:nvPr/>
          </p:nvSpPr>
          <p:spPr>
            <a:xfrm>
              <a:off x="4023360" y="1028700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650" dirty="0">
                <a:latin typeface="TASA Orbiter SemiBold"/>
              </a:endParaRPr>
            </a:p>
          </p:txBody>
        </p:sp>
        <p:sp>
          <p:nvSpPr>
            <p:cNvPr id="32" name="Stage name"/>
            <p:cNvSpPr txBox="1"/>
            <p:nvPr/>
          </p:nvSpPr>
          <p:spPr>
            <a:xfrm>
              <a:off x="4233672" y="102412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COMPUTE &amp; VERIFY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33" name="Stage 4"/>
          <p:cNvGrpSpPr/>
          <p:nvPr/>
        </p:nvGrpSpPr>
        <p:grpSpPr>
          <a:xfrm>
            <a:off x="6967728" y="1024128"/>
            <a:ext cx="2039112" cy="164592"/>
            <a:chOff x="6967728" y="1024128"/>
            <a:chExt cx="2039112" cy="164592"/>
          </a:xfrm>
        </p:grpSpPr>
        <p:sp>
          <p:nvSpPr>
            <p:cNvPr id="34" name="Stage number"/>
            <p:cNvSpPr/>
            <p:nvPr/>
          </p:nvSpPr>
          <p:spPr>
            <a:xfrm>
              <a:off x="6967728" y="1028700"/>
              <a:ext cx="155448" cy="155448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5" name="Stage digit"/>
            <p:cNvSpPr txBox="1"/>
            <p:nvPr/>
          </p:nvSpPr>
          <p:spPr>
            <a:xfrm>
              <a:off x="6967728" y="1028700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4</a:t>
              </a:r>
              <a:endParaRPr lang="en-US" sz="650" dirty="0">
                <a:latin typeface="TASA Orbiter SemiBold"/>
              </a:endParaRPr>
            </a:p>
          </p:txBody>
        </p:sp>
        <p:sp>
          <p:nvSpPr>
            <p:cNvPr id="36" name="Stage name"/>
            <p:cNvSpPr txBox="1"/>
            <p:nvPr/>
          </p:nvSpPr>
          <p:spPr>
            <a:xfrm>
              <a:off x="7178040" y="102412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PUSH TO SAP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37" name="Input · UT machine"/>
          <p:cNvGrpSpPr/>
          <p:nvPr/>
        </p:nvGrpSpPr>
        <p:grpSpPr>
          <a:xfrm>
            <a:off x="274320" y="1261872"/>
            <a:ext cx="1627632" cy="877824"/>
            <a:chOff x="274320" y="1261872"/>
            <a:chExt cx="1627632" cy="877824"/>
          </a:xfrm>
        </p:grpSpPr>
        <p:sp>
          <p:nvSpPr>
            <p:cNvPr id="38" name="UT machine card"/>
            <p:cNvSpPr/>
            <p:nvPr/>
          </p:nvSpPr>
          <p:spPr>
            <a:xfrm>
              <a:off x="274320" y="1261872"/>
              <a:ext cx="1627632" cy="877824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39" name="Icon monitor"/>
            <p:cNvSpPr/>
            <p:nvPr/>
          </p:nvSpPr>
          <p:spPr>
            <a:xfrm>
              <a:off x="365760" y="1357884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20000" y="3000"/>
                  </a:lnTo>
                  <a:cubicBezTo>
                    <a:pt x="20351" y="3000"/>
                    <a:pt x="20695" y="3092"/>
                    <a:pt x="21000" y="3267"/>
                  </a:cubicBezTo>
                  <a:cubicBezTo>
                    <a:pt x="21304" y="3443"/>
                    <a:pt x="21556" y="3695"/>
                    <a:pt x="21732" y="4000"/>
                  </a:cubicBezTo>
                  <a:cubicBezTo>
                    <a:pt x="21907" y="4304"/>
                    <a:pt x="22000" y="4648"/>
                    <a:pt x="22000" y="5000"/>
                  </a:cubicBezTo>
                  <a:lnTo>
                    <a:pt x="22000" y="15000"/>
                  </a:lnTo>
                  <a:cubicBezTo>
                    <a:pt x="22000" y="15351"/>
                    <a:pt x="21907" y="15695"/>
                    <a:pt x="21732" y="16000"/>
                  </a:cubicBezTo>
                  <a:cubicBezTo>
                    <a:pt x="21556" y="16304"/>
                    <a:pt x="21304" y="16556"/>
                    <a:pt x="21000" y="16732"/>
                  </a:cubicBezTo>
                  <a:cubicBezTo>
                    <a:pt x="20695" y="16907"/>
                    <a:pt x="20351" y="17000"/>
                    <a:pt x="20000" y="17000"/>
                  </a:cubicBezTo>
                  <a:lnTo>
                    <a:pt x="4000" y="17000"/>
                  </a:lnTo>
                  <a:cubicBezTo>
                    <a:pt x="3648" y="17000"/>
                    <a:pt x="3304" y="16907"/>
                    <a:pt x="3000" y="16732"/>
                  </a:cubicBezTo>
                  <a:cubicBezTo>
                    <a:pt x="2695" y="16556"/>
                    <a:pt x="2443" y="16304"/>
                    <a:pt x="2267" y="16000"/>
                  </a:cubicBezTo>
                  <a:cubicBezTo>
                    <a:pt x="2092" y="15695"/>
                    <a:pt x="2000" y="15351"/>
                    <a:pt x="2000" y="15000"/>
                  </a:cubicBezTo>
                  <a:lnTo>
                    <a:pt x="2000" y="5000"/>
                  </a:lnTo>
                  <a:cubicBezTo>
                    <a:pt x="2000" y="4648"/>
                    <a:pt x="2092" y="4304"/>
                    <a:pt x="2267" y="4000"/>
                  </a:cubicBezTo>
                  <a:cubicBezTo>
                    <a:pt x="2443" y="3695"/>
                    <a:pt x="2695" y="3443"/>
                    <a:pt x="2999" y="3267"/>
                  </a:cubicBezTo>
                  <a:cubicBezTo>
                    <a:pt x="3304" y="3092"/>
                    <a:pt x="3648" y="3000"/>
                    <a:pt x="4000" y="3000"/>
                  </a:cubicBezTo>
                  <a:close/>
                </a:path>
                <a:path w="24000" h="24000" fill="none">
                  <a:moveTo>
                    <a:pt x="8000" y="21000"/>
                  </a:moveTo>
                  <a:lnTo>
                    <a:pt x="16000" y="21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00" y="21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40" name="UT testing machine title"/>
            <p:cNvSpPr txBox="1"/>
            <p:nvPr/>
          </p:nvSpPr>
          <p:spPr>
            <a:xfrm>
              <a:off x="585216" y="1344168"/>
              <a:ext cx="12252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97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UT testing machine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41" name="UT testing machine sub"/>
            <p:cNvSpPr txBox="1"/>
            <p:nvPr/>
          </p:nvSpPr>
          <p:spPr>
            <a:xfrm>
              <a:off x="585216" y="1485900"/>
              <a:ext cx="1225296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4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IUT &amp; FUT  ·  per pipe tested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42" name="PDF test report tile"/>
            <p:cNvSpPr/>
            <p:nvPr/>
          </p:nvSpPr>
          <p:spPr>
            <a:xfrm>
              <a:off x="365760" y="1673352"/>
              <a:ext cx="699516" cy="384048"/>
            </a:xfrm>
            <a:prstGeom prst="roundRect">
              <a:avLst>
                <a:gd name="adj" fmla="val 9523"/>
              </a:avLst>
            </a:prstGeom>
            <a:solidFill>
              <a:srgbClr val="F4F8FF"/>
            </a:solidFill>
            <a:ln w="6350">
              <a:solidFill>
                <a:srgbClr val="B8D0FD"/>
              </a:solidFill>
              <a:round/>
            </a:ln>
          </p:spPr>
        </p:sp>
        <p:sp>
          <p:nvSpPr>
            <p:cNvPr id="43" name="Icon file-text"/>
            <p:cNvSpPr/>
            <p:nvPr/>
          </p:nvSpPr>
          <p:spPr>
            <a:xfrm>
              <a:off x="429768" y="172821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4000"/>
                  </a:lnTo>
                  <a:cubicBezTo>
                    <a:pt x="4000" y="3648"/>
                    <a:pt x="4092" y="3304"/>
                    <a:pt x="4267" y="3000"/>
                  </a:cubicBezTo>
                  <a:cubicBezTo>
                    <a:pt x="4443" y="2695"/>
                    <a:pt x="4695" y="2443"/>
                    <a:pt x="4999" y="2267"/>
                  </a:cubicBezTo>
                  <a:cubicBezTo>
                    <a:pt x="5304" y="2092"/>
                    <a:pt x="5648" y="2000"/>
                    <a:pt x="6000" y="2000"/>
                  </a:cubicBezTo>
                  <a:lnTo>
                    <a:pt x="14000" y="2000"/>
                  </a:lnTo>
                  <a:cubicBezTo>
                    <a:pt x="14316" y="1999"/>
                    <a:pt x="14630" y="2061"/>
                    <a:pt x="14922" y="2182"/>
                  </a:cubicBezTo>
                  <a:cubicBezTo>
                    <a:pt x="15214" y="2303"/>
                    <a:pt x="15480" y="2481"/>
                    <a:pt x="15704" y="2706"/>
                  </a:cubicBezTo>
                  <a:lnTo>
                    <a:pt x="19292" y="6294"/>
                  </a:lnTo>
                  <a:cubicBezTo>
                    <a:pt x="19516" y="6517"/>
                    <a:pt x="19695" y="6783"/>
                    <a:pt x="19816" y="7076"/>
                  </a:cubicBezTo>
                  <a:cubicBezTo>
                    <a:pt x="19938" y="7368"/>
                    <a:pt x="20000" y="7682"/>
                    <a:pt x="20000" y="8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175"/>
                    <a:pt x="14046" y="7347"/>
                    <a:pt x="14133" y="7500"/>
                  </a:cubicBezTo>
                  <a:cubicBezTo>
                    <a:pt x="14221" y="7652"/>
                    <a:pt x="14347" y="7778"/>
                    <a:pt x="14500" y="7866"/>
                  </a:cubicBezTo>
                  <a:cubicBezTo>
                    <a:pt x="14652" y="7953"/>
                    <a:pt x="14824" y="8000"/>
                    <a:pt x="15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1429" cap="rnd">
              <a:solidFill>
                <a:srgbClr val="165FF2"/>
              </a:solidFill>
              <a:round/>
            </a:ln>
          </p:spPr>
        </p:sp>
        <p:sp>
          <p:nvSpPr>
            <p:cNvPr id="44" name="PDF test report"/>
            <p:cNvSpPr txBox="1"/>
            <p:nvPr/>
          </p:nvSpPr>
          <p:spPr>
            <a:xfrm>
              <a:off x="429768" y="1874520"/>
              <a:ext cx="621792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94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0C192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PDF test report</a:t>
              </a:r>
              <a:endParaRPr lang="en-US" sz="620" dirty="0">
                <a:latin typeface="Inter Medium"/>
              </a:endParaRPr>
            </a:p>
          </p:txBody>
        </p:sp>
        <p:sp>
          <p:nvSpPr>
            <p:cNvPr id="45" name="JPEG indication image tile"/>
            <p:cNvSpPr/>
            <p:nvPr/>
          </p:nvSpPr>
          <p:spPr>
            <a:xfrm>
              <a:off x="1110996" y="1673352"/>
              <a:ext cx="699516" cy="384048"/>
            </a:xfrm>
            <a:prstGeom prst="roundRect">
              <a:avLst>
                <a:gd name="adj" fmla="val 9523"/>
              </a:avLst>
            </a:prstGeom>
            <a:solidFill>
              <a:srgbClr val="F4F8FF"/>
            </a:solidFill>
            <a:ln w="6350">
              <a:solidFill>
                <a:srgbClr val="B8D0FD"/>
              </a:solidFill>
              <a:round/>
            </a:ln>
          </p:spPr>
        </p:sp>
        <p:sp>
          <p:nvSpPr>
            <p:cNvPr id="46" name="Icon file-image"/>
            <p:cNvSpPr/>
            <p:nvPr/>
          </p:nvSpPr>
          <p:spPr>
            <a:xfrm>
              <a:off x="1175004" y="172821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4000"/>
                  </a:lnTo>
                  <a:cubicBezTo>
                    <a:pt x="4000" y="3648"/>
                    <a:pt x="4092" y="3304"/>
                    <a:pt x="4267" y="3000"/>
                  </a:cubicBezTo>
                  <a:cubicBezTo>
                    <a:pt x="4443" y="2695"/>
                    <a:pt x="4695" y="2443"/>
                    <a:pt x="4999" y="2267"/>
                  </a:cubicBezTo>
                  <a:cubicBezTo>
                    <a:pt x="5304" y="2092"/>
                    <a:pt x="5648" y="2000"/>
                    <a:pt x="6000" y="2000"/>
                  </a:cubicBezTo>
                  <a:lnTo>
                    <a:pt x="14000" y="2000"/>
                  </a:lnTo>
                  <a:cubicBezTo>
                    <a:pt x="14316" y="1999"/>
                    <a:pt x="14630" y="2061"/>
                    <a:pt x="14922" y="2182"/>
                  </a:cubicBezTo>
                  <a:cubicBezTo>
                    <a:pt x="15214" y="2303"/>
                    <a:pt x="15480" y="2481"/>
                    <a:pt x="15704" y="2706"/>
                  </a:cubicBezTo>
                  <a:lnTo>
                    <a:pt x="19292" y="6294"/>
                  </a:lnTo>
                  <a:cubicBezTo>
                    <a:pt x="19516" y="6517"/>
                    <a:pt x="19695" y="6783"/>
                    <a:pt x="19816" y="7076"/>
                  </a:cubicBezTo>
                  <a:cubicBezTo>
                    <a:pt x="19938" y="7368"/>
                    <a:pt x="20000" y="7682"/>
                    <a:pt x="20000" y="8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175"/>
                    <a:pt x="14046" y="7347"/>
                    <a:pt x="14133" y="7500"/>
                  </a:cubicBezTo>
                  <a:cubicBezTo>
                    <a:pt x="14221" y="7652"/>
                    <a:pt x="14347" y="7778"/>
                    <a:pt x="14500" y="7866"/>
                  </a:cubicBezTo>
                  <a:cubicBezTo>
                    <a:pt x="14652" y="7953"/>
                    <a:pt x="14824" y="8000"/>
                    <a:pt x="15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2000" y="12000"/>
                  </a:moveTo>
                  <a:cubicBezTo>
                    <a:pt x="12000" y="12351"/>
                    <a:pt x="11907" y="12695"/>
                    <a:pt x="11732" y="13000"/>
                  </a:cubicBezTo>
                  <a:cubicBezTo>
                    <a:pt x="11556" y="13304"/>
                    <a:pt x="11304" y="13556"/>
                    <a:pt x="11000" y="13732"/>
                  </a:cubicBezTo>
                  <a:cubicBezTo>
                    <a:pt x="10695" y="13907"/>
                    <a:pt x="10351" y="14000"/>
                    <a:pt x="10000" y="14000"/>
                  </a:cubicBezTo>
                  <a:cubicBezTo>
                    <a:pt x="9648" y="14000"/>
                    <a:pt x="9304" y="13907"/>
                    <a:pt x="9000" y="13732"/>
                  </a:cubicBezTo>
                  <a:cubicBezTo>
                    <a:pt x="8695" y="13556"/>
                    <a:pt x="8443" y="13304"/>
                    <a:pt x="8267" y="13000"/>
                  </a:cubicBezTo>
                  <a:cubicBezTo>
                    <a:pt x="8092" y="12695"/>
                    <a:pt x="8000" y="12351"/>
                    <a:pt x="8000" y="12000"/>
                  </a:cubicBezTo>
                  <a:cubicBezTo>
                    <a:pt x="8000" y="11648"/>
                    <a:pt x="8092" y="11304"/>
                    <a:pt x="8267" y="11000"/>
                  </a:cubicBezTo>
                  <a:cubicBezTo>
                    <a:pt x="8443" y="10695"/>
                    <a:pt x="8695" y="10443"/>
                    <a:pt x="9000" y="10267"/>
                  </a:cubicBezTo>
                  <a:cubicBezTo>
                    <a:pt x="9304" y="10092"/>
                    <a:pt x="9648" y="10000"/>
                    <a:pt x="10000" y="10000"/>
                  </a:cubicBezTo>
                  <a:cubicBezTo>
                    <a:pt x="10351" y="10000"/>
                    <a:pt x="10695" y="10092"/>
                    <a:pt x="11000" y="10267"/>
                  </a:cubicBezTo>
                  <a:cubicBezTo>
                    <a:pt x="11304" y="10443"/>
                    <a:pt x="11556" y="10695"/>
                    <a:pt x="11732" y="11000"/>
                  </a:cubicBezTo>
                  <a:cubicBezTo>
                    <a:pt x="11907" y="11304"/>
                    <a:pt x="12000" y="11648"/>
                    <a:pt x="12000" y="12000"/>
                  </a:cubicBezTo>
                  <a:close/>
                </a:path>
                <a:path w="24000" h="24000" fill="none">
                  <a:moveTo>
                    <a:pt x="20000" y="17000"/>
                  </a:moveTo>
                  <a:lnTo>
                    <a:pt x="18704" y="15704"/>
                  </a:lnTo>
                  <a:cubicBezTo>
                    <a:pt x="18404" y="15404"/>
                    <a:pt x="18032" y="15189"/>
                    <a:pt x="17623" y="15080"/>
                  </a:cubicBezTo>
                  <a:cubicBezTo>
                    <a:pt x="17215" y="14970"/>
                    <a:pt x="16784" y="14970"/>
                    <a:pt x="16376" y="15080"/>
                  </a:cubicBezTo>
                  <a:cubicBezTo>
                    <a:pt x="15967" y="15189"/>
                    <a:pt x="15595" y="15404"/>
                    <a:pt x="15296" y="15704"/>
                  </a:cubicBezTo>
                  <a:lnTo>
                    <a:pt x="9000" y="22000"/>
                  </a:lnTo>
                </a:path>
              </a:pathLst>
            </a:custGeom>
            <a:noFill/>
            <a:ln w="11429" cap="rnd">
              <a:solidFill>
                <a:srgbClr val="165FF2"/>
              </a:solidFill>
              <a:round/>
            </a:ln>
          </p:spPr>
        </p:sp>
        <p:sp>
          <p:nvSpPr>
            <p:cNvPr id="47" name="JPEG indication image"/>
            <p:cNvSpPr txBox="1"/>
            <p:nvPr/>
          </p:nvSpPr>
          <p:spPr>
            <a:xfrm>
              <a:off x="1175004" y="1874520"/>
              <a:ext cx="621792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94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0C192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JPEG indication image</a:t>
              </a:r>
              <a:endParaRPr lang="en-US" sz="620" dirty="0">
                <a:latin typeface="Inter Medium"/>
              </a:endParaRPr>
            </a:p>
          </p:txBody>
        </p:sp>
      </p:grpSp>
      <p:grpSp>
        <p:nvGrpSpPr>
          <p:cNvPr id="48" name="Input · SAP read"/>
          <p:cNvGrpSpPr/>
          <p:nvPr/>
        </p:nvGrpSpPr>
        <p:grpSpPr>
          <a:xfrm>
            <a:off x="274320" y="2212848"/>
            <a:ext cx="1627632" cy="822960"/>
            <a:chOff x="274320" y="2212848"/>
            <a:chExt cx="1627632" cy="822960"/>
          </a:xfrm>
        </p:grpSpPr>
        <p:sp>
          <p:nvSpPr>
            <p:cNvPr id="49" name="SAP read card"/>
            <p:cNvSpPr/>
            <p:nvPr/>
          </p:nvSpPr>
          <p:spPr>
            <a:xfrm>
              <a:off x="274320" y="2212848"/>
              <a:ext cx="1627632" cy="82296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50" name="Icon database"/>
            <p:cNvSpPr/>
            <p:nvPr/>
          </p:nvSpPr>
          <p:spPr>
            <a:xfrm>
              <a:off x="365760" y="23088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51" name="Welspun SAP title"/>
            <p:cNvSpPr txBox="1"/>
            <p:nvPr/>
          </p:nvSpPr>
          <p:spPr>
            <a:xfrm>
              <a:off x="585216" y="2295144"/>
              <a:ext cx="12252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97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SAP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52" name="Welspun SAP sub"/>
            <p:cNvSpPr txBox="1"/>
            <p:nvPr/>
          </p:nvSpPr>
          <p:spPr>
            <a:xfrm>
              <a:off x="585216" y="2436876"/>
              <a:ext cx="1225296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4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Read by the application</a:t>
              </a:r>
              <a:endParaRPr lang="en-US" sz="650" dirty="0">
                <a:latin typeface="Inter"/>
              </a:endParaRPr>
            </a:p>
          </p:txBody>
        </p:sp>
        <p:grpSp>
          <p:nvGrpSpPr>
            <p:cNvPr id="53" name="Chip PO numbers"/>
            <p:cNvGrpSpPr/>
            <p:nvPr/>
          </p:nvGrpSpPr>
          <p:grpSpPr>
            <a:xfrm>
              <a:off x="365760" y="2624328"/>
              <a:ext cx="555785" cy="146304"/>
              <a:chOff x="365760" y="2624328"/>
              <a:chExt cx="555785" cy="146304"/>
            </a:xfrm>
          </p:grpSpPr>
          <p:sp>
            <p:nvSpPr>
              <p:cNvPr id="54" name="Chip fill"/>
              <p:cNvSpPr/>
              <p:nvPr/>
            </p:nvSpPr>
            <p:spPr>
              <a:xfrm>
                <a:off x="365760" y="2624328"/>
                <a:ext cx="555785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55" name="Chip label"/>
              <p:cNvSpPr txBox="1"/>
              <p:nvPr/>
            </p:nvSpPr>
            <p:spPr>
              <a:xfrm>
                <a:off x="411480" y="2624328"/>
                <a:ext cx="482633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PO numbers</a:t>
                </a:r>
                <a:endParaRPr lang="en-US" sz="620" dirty="0">
                  <a:latin typeface="Inter Medium"/>
                </a:endParaRPr>
              </a:p>
            </p:txBody>
          </p:sp>
        </p:grpSp>
        <p:grpSp>
          <p:nvGrpSpPr>
            <p:cNvPr id="56" name="Chip General remarks"/>
            <p:cNvGrpSpPr/>
            <p:nvPr/>
          </p:nvGrpSpPr>
          <p:grpSpPr>
            <a:xfrm>
              <a:off x="958121" y="2624328"/>
              <a:ext cx="713800" cy="146304"/>
              <a:chOff x="958121" y="2624328"/>
              <a:chExt cx="713800" cy="146304"/>
            </a:xfrm>
          </p:grpSpPr>
          <p:sp>
            <p:nvSpPr>
              <p:cNvPr id="57" name="Chip fill"/>
              <p:cNvSpPr/>
              <p:nvPr/>
            </p:nvSpPr>
            <p:spPr>
              <a:xfrm>
                <a:off x="958121" y="2624328"/>
                <a:ext cx="713800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58" name="Chip label"/>
              <p:cNvSpPr txBox="1"/>
              <p:nvPr/>
            </p:nvSpPr>
            <p:spPr>
              <a:xfrm>
                <a:off x="1003841" y="2624328"/>
                <a:ext cx="640648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General remarks</a:t>
                </a:r>
                <a:endParaRPr lang="en-US" sz="620" dirty="0">
                  <a:latin typeface="Inter Medium"/>
                </a:endParaRPr>
              </a:p>
            </p:txBody>
          </p:sp>
        </p:grpSp>
        <p:grpSp>
          <p:nvGrpSpPr>
            <p:cNvPr id="59" name="Chip Previous-station pipe nos."/>
            <p:cNvGrpSpPr/>
            <p:nvPr/>
          </p:nvGrpSpPr>
          <p:grpSpPr>
            <a:xfrm>
              <a:off x="365760" y="2807208"/>
              <a:ext cx="1077013" cy="146304"/>
              <a:chOff x="365760" y="2807208"/>
              <a:chExt cx="1077013" cy="146304"/>
            </a:xfrm>
          </p:grpSpPr>
          <p:sp>
            <p:nvSpPr>
              <p:cNvPr id="60" name="Chip fill"/>
              <p:cNvSpPr/>
              <p:nvPr/>
            </p:nvSpPr>
            <p:spPr>
              <a:xfrm>
                <a:off x="365760" y="2807208"/>
                <a:ext cx="1077013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61" name="Chip label"/>
              <p:cNvSpPr txBox="1"/>
              <p:nvPr/>
            </p:nvSpPr>
            <p:spPr>
              <a:xfrm>
                <a:off x="411480" y="2807208"/>
                <a:ext cx="1003861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Previous-station pipe nos.</a:t>
                </a:r>
                <a:endParaRPr lang="en-US" sz="620" dirty="0">
                  <a:latin typeface="Inter Medium"/>
                </a:endParaRPr>
              </a:p>
            </p:txBody>
          </p:sp>
        </p:grpSp>
      </p:grpSp>
      <p:grpSp>
        <p:nvGrpSpPr>
          <p:cNvPr id="62" name="Input · Operator"/>
          <p:cNvGrpSpPr/>
          <p:nvPr/>
        </p:nvGrpSpPr>
        <p:grpSpPr>
          <a:xfrm>
            <a:off x="274320" y="3108960"/>
            <a:ext cx="1627632" cy="822960"/>
            <a:chOff x="274320" y="3108960"/>
            <a:chExt cx="1627632" cy="822960"/>
          </a:xfrm>
        </p:grpSpPr>
        <p:sp>
          <p:nvSpPr>
            <p:cNvPr id="63" name="Operator card"/>
            <p:cNvSpPr/>
            <p:nvPr/>
          </p:nvSpPr>
          <p:spPr>
            <a:xfrm>
              <a:off x="274320" y="3108960"/>
              <a:ext cx="1627632" cy="82296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4" name="Icon user"/>
            <p:cNvSpPr/>
            <p:nvPr/>
          </p:nvSpPr>
          <p:spPr>
            <a:xfrm>
              <a:off x="365760" y="3204972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8297"/>
                    <a:pt x="18815" y="17608"/>
                    <a:pt x="18464" y="17000"/>
                  </a:cubicBezTo>
                  <a:cubicBezTo>
                    <a:pt x="18113" y="16391"/>
                    <a:pt x="17608" y="15886"/>
                    <a:pt x="17000" y="15535"/>
                  </a:cubicBezTo>
                  <a:cubicBezTo>
                    <a:pt x="16391" y="15184"/>
                    <a:pt x="15702" y="15000"/>
                    <a:pt x="15000" y="15000"/>
                  </a:cubicBezTo>
                  <a:lnTo>
                    <a:pt x="9000" y="15000"/>
                  </a:lnTo>
                  <a:cubicBezTo>
                    <a:pt x="8297" y="15000"/>
                    <a:pt x="7608" y="15184"/>
                    <a:pt x="7000" y="15535"/>
                  </a:cubicBezTo>
                  <a:cubicBezTo>
                    <a:pt x="6391" y="15886"/>
                    <a:pt x="5886" y="16391"/>
                    <a:pt x="5535" y="17000"/>
                  </a:cubicBezTo>
                  <a:cubicBezTo>
                    <a:pt x="5184" y="17608"/>
                    <a:pt x="5000" y="18297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7702"/>
                    <a:pt x="15815" y="8391"/>
                    <a:pt x="15464" y="9000"/>
                  </a:cubicBezTo>
                  <a:cubicBezTo>
                    <a:pt x="15113" y="9608"/>
                    <a:pt x="14608" y="10113"/>
                    <a:pt x="14000" y="10464"/>
                  </a:cubicBezTo>
                  <a:cubicBezTo>
                    <a:pt x="13391" y="10815"/>
                    <a:pt x="12702" y="11000"/>
                    <a:pt x="12000" y="11000"/>
                  </a:cubicBezTo>
                  <a:cubicBezTo>
                    <a:pt x="11297" y="11000"/>
                    <a:pt x="10608" y="10815"/>
                    <a:pt x="10000" y="10464"/>
                  </a:cubicBezTo>
                  <a:cubicBezTo>
                    <a:pt x="9391" y="10113"/>
                    <a:pt x="8886" y="9608"/>
                    <a:pt x="8535" y="9000"/>
                  </a:cubicBezTo>
                  <a:cubicBezTo>
                    <a:pt x="8184" y="8391"/>
                    <a:pt x="8000" y="7702"/>
                    <a:pt x="8000" y="7000"/>
                  </a:cubicBezTo>
                  <a:cubicBezTo>
                    <a:pt x="8000" y="6297"/>
                    <a:pt x="8184" y="5608"/>
                    <a:pt x="8535" y="5000"/>
                  </a:cubicBezTo>
                  <a:cubicBezTo>
                    <a:pt x="8886" y="4391"/>
                    <a:pt x="9391" y="3886"/>
                    <a:pt x="9999" y="3535"/>
                  </a:cubicBezTo>
                  <a:cubicBezTo>
                    <a:pt x="10608" y="3184"/>
                    <a:pt x="11297" y="3000"/>
                    <a:pt x="12000" y="3000"/>
                  </a:cubicBezTo>
                  <a:cubicBezTo>
                    <a:pt x="12702" y="3000"/>
                    <a:pt x="13391" y="3184"/>
                    <a:pt x="14000" y="3535"/>
                  </a:cubicBezTo>
                  <a:cubicBezTo>
                    <a:pt x="14608" y="3886"/>
                    <a:pt x="15113" y="4391"/>
                    <a:pt x="15464" y="5000"/>
                  </a:cubicBezTo>
                  <a:cubicBezTo>
                    <a:pt x="15815" y="5608"/>
                    <a:pt x="16000" y="6297"/>
                    <a:pt x="16000" y="6999"/>
                  </a:cubicBezTo>
                  <a:close/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65" name="Operator title"/>
            <p:cNvSpPr txBox="1"/>
            <p:nvPr/>
          </p:nvSpPr>
          <p:spPr>
            <a:xfrm>
              <a:off x="585216" y="3191256"/>
              <a:ext cx="12252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97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Operator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66" name="Operator sub"/>
            <p:cNvSpPr txBox="1"/>
            <p:nvPr/>
          </p:nvSpPr>
          <p:spPr>
            <a:xfrm>
              <a:off x="585216" y="3332988"/>
              <a:ext cx="1225296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4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At the IUT / FUT station</a:t>
              </a:r>
              <a:endParaRPr lang="en-US" sz="650" dirty="0">
                <a:latin typeface="Inter"/>
              </a:endParaRPr>
            </a:p>
          </p:txBody>
        </p:sp>
        <p:grpSp>
          <p:nvGrpSpPr>
            <p:cNvPr id="67" name="Chip Prove-up rule per PO"/>
            <p:cNvGrpSpPr/>
            <p:nvPr/>
          </p:nvGrpSpPr>
          <p:grpSpPr>
            <a:xfrm>
              <a:off x="365760" y="3520440"/>
              <a:ext cx="882592" cy="146304"/>
              <a:chOff x="365760" y="3520440"/>
              <a:chExt cx="882592" cy="146304"/>
            </a:xfrm>
          </p:grpSpPr>
          <p:sp>
            <p:nvSpPr>
              <p:cNvPr id="68" name="Chip fill"/>
              <p:cNvSpPr/>
              <p:nvPr/>
            </p:nvSpPr>
            <p:spPr>
              <a:xfrm>
                <a:off x="365760" y="3520440"/>
                <a:ext cx="882592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69" name="Chip label"/>
              <p:cNvSpPr txBox="1"/>
              <p:nvPr/>
            </p:nvSpPr>
            <p:spPr>
              <a:xfrm>
                <a:off x="411480" y="3520440"/>
                <a:ext cx="809440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Prove-up rule per PO</a:t>
                </a:r>
                <a:endParaRPr lang="en-US" sz="620" dirty="0">
                  <a:latin typeface="Inter Medium"/>
                </a:endParaRPr>
              </a:p>
            </p:txBody>
          </p:sp>
        </p:grpSp>
        <p:grpSp>
          <p:nvGrpSpPr>
            <p:cNvPr id="70" name="Chip Pipe type"/>
            <p:cNvGrpSpPr/>
            <p:nvPr/>
          </p:nvGrpSpPr>
          <p:grpSpPr>
            <a:xfrm>
              <a:off x="1284928" y="3520440"/>
              <a:ext cx="446367" cy="146304"/>
              <a:chOff x="1284928" y="3520440"/>
              <a:chExt cx="446367" cy="146304"/>
            </a:xfrm>
          </p:grpSpPr>
          <p:sp>
            <p:nvSpPr>
              <p:cNvPr id="71" name="Chip fill"/>
              <p:cNvSpPr/>
              <p:nvPr/>
            </p:nvSpPr>
            <p:spPr>
              <a:xfrm>
                <a:off x="1284928" y="3520440"/>
                <a:ext cx="446367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2" name="Chip label"/>
              <p:cNvSpPr txBox="1"/>
              <p:nvPr/>
            </p:nvSpPr>
            <p:spPr>
              <a:xfrm>
                <a:off x="1330648" y="3520440"/>
                <a:ext cx="373215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Pipe type</a:t>
                </a:r>
                <a:endParaRPr lang="en-US" sz="620" dirty="0">
                  <a:latin typeface="Inter Medium"/>
                </a:endParaRPr>
              </a:p>
            </p:txBody>
          </p:sp>
        </p:grpSp>
        <p:grpSp>
          <p:nvGrpSpPr>
            <p:cNvPr id="73" name="Chip Remarks"/>
            <p:cNvGrpSpPr/>
            <p:nvPr/>
          </p:nvGrpSpPr>
          <p:grpSpPr>
            <a:xfrm>
              <a:off x="365760" y="3703320"/>
              <a:ext cx="420401" cy="146304"/>
              <a:chOff x="365760" y="3703320"/>
              <a:chExt cx="420401" cy="146304"/>
            </a:xfrm>
          </p:grpSpPr>
          <p:sp>
            <p:nvSpPr>
              <p:cNvPr id="74" name="Chip fill"/>
              <p:cNvSpPr/>
              <p:nvPr/>
            </p:nvSpPr>
            <p:spPr>
              <a:xfrm>
                <a:off x="365760" y="3703320"/>
                <a:ext cx="420401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5" name="Chip label"/>
              <p:cNvSpPr txBox="1"/>
              <p:nvPr/>
            </p:nvSpPr>
            <p:spPr>
              <a:xfrm>
                <a:off x="411480" y="3703320"/>
                <a:ext cx="347249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Remarks</a:t>
                </a:r>
                <a:endParaRPr lang="en-US" sz="620" dirty="0">
                  <a:latin typeface="Inter Medium"/>
                </a:endParaRPr>
              </a:p>
            </p:txBody>
          </p:sp>
        </p:grpSp>
        <p:grpSp>
          <p:nvGrpSpPr>
            <p:cNvPr id="76" name="Chip Checksum"/>
            <p:cNvGrpSpPr/>
            <p:nvPr/>
          </p:nvGrpSpPr>
          <p:grpSpPr>
            <a:xfrm>
              <a:off x="822737" y="3703320"/>
              <a:ext cx="491993" cy="146304"/>
              <a:chOff x="822737" y="3703320"/>
              <a:chExt cx="491993" cy="146304"/>
            </a:xfrm>
          </p:grpSpPr>
          <p:sp>
            <p:nvSpPr>
              <p:cNvPr id="77" name="Chip fill"/>
              <p:cNvSpPr/>
              <p:nvPr/>
            </p:nvSpPr>
            <p:spPr>
              <a:xfrm>
                <a:off x="822737" y="3703320"/>
                <a:ext cx="491993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8" name="Chip label"/>
              <p:cNvSpPr txBox="1"/>
              <p:nvPr/>
            </p:nvSpPr>
            <p:spPr>
              <a:xfrm>
                <a:off x="868457" y="3703320"/>
                <a:ext cx="418841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Checksum</a:t>
                </a:r>
                <a:endParaRPr lang="en-US" sz="620" dirty="0">
                  <a:latin typeface="Inter Medium"/>
                </a:endParaRPr>
              </a:p>
            </p:txBody>
          </p:sp>
        </p:grpSp>
      </p:grpSp>
      <p:cxnSp>
        <p:nvCxnSpPr>
          <p:cNvPr id="79" name="Input arrow"/>
          <p:cNvCxnSpPr/>
          <p:nvPr/>
        </p:nvCxnSpPr>
        <p:spPr>
          <a:xfrm>
            <a:off x="1906524" y="1700784"/>
            <a:ext cx="164592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cxnSp>
        <p:nvCxnSpPr>
          <p:cNvPr id="80" name="Input arrow"/>
          <p:cNvCxnSpPr/>
          <p:nvPr/>
        </p:nvCxnSpPr>
        <p:spPr>
          <a:xfrm>
            <a:off x="1906524" y="2624328"/>
            <a:ext cx="164592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cxnSp>
        <p:nvCxnSpPr>
          <p:cNvPr id="81" name="Input arrow"/>
          <p:cNvCxnSpPr/>
          <p:nvPr/>
        </p:nvCxnSpPr>
        <p:spPr>
          <a:xfrm>
            <a:off x="1906524" y="3520440"/>
            <a:ext cx="164592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82" name="SAP Entry Application"/>
          <p:cNvGrpSpPr/>
          <p:nvPr/>
        </p:nvGrpSpPr>
        <p:grpSpPr>
          <a:xfrm>
            <a:off x="2084832" y="1261872"/>
            <a:ext cx="4681728" cy="2670048"/>
            <a:chOff x="2084832" y="1261872"/>
            <a:chExt cx="4681728" cy="2670048"/>
          </a:xfrm>
        </p:grpSpPr>
        <p:sp>
          <p:nvSpPr>
            <p:cNvPr id="83" name="Application boundary"/>
            <p:cNvSpPr/>
            <p:nvPr/>
          </p:nvSpPr>
          <p:spPr>
            <a:xfrm>
              <a:off x="2084832" y="1261872"/>
              <a:ext cx="4681728" cy="2670048"/>
            </a:xfrm>
            <a:prstGeom prst="roundRect">
              <a:avLst>
                <a:gd name="adj" fmla="val 2739"/>
              </a:avLst>
            </a:prstGeom>
            <a:solidFill>
              <a:srgbClr val="F4F8FF"/>
            </a:solidFill>
            <a:ln w="9525">
              <a:solidFill>
                <a:srgbClr val="B8D0FD"/>
              </a:solidFill>
              <a:round/>
            </a:ln>
          </p:spPr>
        </p:sp>
        <p:sp>
          <p:nvSpPr>
            <p:cNvPr id="84" name="Icon server"/>
            <p:cNvSpPr/>
            <p:nvPr/>
          </p:nvSpPr>
          <p:spPr>
            <a:xfrm>
              <a:off x="2194560" y="1339596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20000" y="2000"/>
                  </a:lnTo>
                  <a:cubicBezTo>
                    <a:pt x="20351" y="2000"/>
                    <a:pt x="20695" y="2092"/>
                    <a:pt x="21000" y="2267"/>
                  </a:cubicBezTo>
                  <a:cubicBezTo>
                    <a:pt x="21304" y="2443"/>
                    <a:pt x="21556" y="2695"/>
                    <a:pt x="21732" y="3000"/>
                  </a:cubicBezTo>
                  <a:cubicBezTo>
                    <a:pt x="21907" y="3304"/>
                    <a:pt x="22000" y="3648"/>
                    <a:pt x="22000" y="4000"/>
                  </a:cubicBezTo>
                  <a:lnTo>
                    <a:pt x="22000" y="8000"/>
                  </a:lnTo>
                  <a:cubicBezTo>
                    <a:pt x="22000" y="8351"/>
                    <a:pt x="21907" y="8695"/>
                    <a:pt x="21732" y="9000"/>
                  </a:cubicBezTo>
                  <a:cubicBezTo>
                    <a:pt x="21556" y="9304"/>
                    <a:pt x="21304" y="9556"/>
                    <a:pt x="21000" y="9732"/>
                  </a:cubicBezTo>
                  <a:cubicBezTo>
                    <a:pt x="20695" y="9907"/>
                    <a:pt x="20351" y="10000"/>
                    <a:pt x="20000" y="10000"/>
                  </a:cubicBezTo>
                  <a:lnTo>
                    <a:pt x="4000" y="10000"/>
                  </a:lnTo>
                  <a:cubicBezTo>
                    <a:pt x="3648" y="10000"/>
                    <a:pt x="3304" y="9907"/>
                    <a:pt x="3000" y="9732"/>
                  </a:cubicBezTo>
                  <a:cubicBezTo>
                    <a:pt x="2695" y="9556"/>
                    <a:pt x="2443" y="9304"/>
                    <a:pt x="2267" y="9000"/>
                  </a:cubicBezTo>
                  <a:cubicBezTo>
                    <a:pt x="2092" y="8695"/>
                    <a:pt x="2000" y="8351"/>
                    <a:pt x="2000" y="8000"/>
                  </a:cubicBezTo>
                  <a:lnTo>
                    <a:pt x="2000" y="4000"/>
                  </a:lnTo>
                  <a:cubicBezTo>
                    <a:pt x="2000" y="3648"/>
                    <a:pt x="2092" y="3304"/>
                    <a:pt x="2267" y="3000"/>
                  </a:cubicBezTo>
                  <a:cubicBezTo>
                    <a:pt x="2443" y="2695"/>
                    <a:pt x="2695" y="2443"/>
                    <a:pt x="2999" y="2267"/>
                  </a:cubicBezTo>
                  <a:cubicBezTo>
                    <a:pt x="3304" y="2092"/>
                    <a:pt x="3648" y="2000"/>
                    <a:pt x="4000" y="2000"/>
                  </a:cubicBezTo>
                  <a:close/>
                </a:path>
                <a:path w="24000" h="24000" fill="none">
                  <a:moveTo>
                    <a:pt x="4000" y="14000"/>
                  </a:moveTo>
                  <a:lnTo>
                    <a:pt x="20000" y="14000"/>
                  </a:lnTo>
                  <a:cubicBezTo>
                    <a:pt x="20351" y="14000"/>
                    <a:pt x="20695" y="14092"/>
                    <a:pt x="21000" y="14267"/>
                  </a:cubicBezTo>
                  <a:cubicBezTo>
                    <a:pt x="21304" y="14443"/>
                    <a:pt x="21556" y="14695"/>
                    <a:pt x="21732" y="15000"/>
                  </a:cubicBezTo>
                  <a:cubicBezTo>
                    <a:pt x="21907" y="15304"/>
                    <a:pt x="22000" y="15648"/>
                    <a:pt x="22000" y="16000"/>
                  </a:cubicBezTo>
                  <a:lnTo>
                    <a:pt x="22000" y="20000"/>
                  </a:lnTo>
                  <a:cubicBezTo>
                    <a:pt x="22000" y="20351"/>
                    <a:pt x="21907" y="20695"/>
                    <a:pt x="21732" y="21000"/>
                  </a:cubicBezTo>
                  <a:cubicBezTo>
                    <a:pt x="21556" y="21304"/>
                    <a:pt x="21304" y="21556"/>
                    <a:pt x="21000" y="21732"/>
                  </a:cubicBezTo>
                  <a:cubicBezTo>
                    <a:pt x="20695" y="21907"/>
                    <a:pt x="20351" y="22000"/>
                    <a:pt x="20000" y="22000"/>
                  </a:cubicBezTo>
                  <a:lnTo>
                    <a:pt x="4000" y="22000"/>
                  </a:lnTo>
                  <a:cubicBezTo>
                    <a:pt x="3648" y="22000"/>
                    <a:pt x="3304" y="21907"/>
                    <a:pt x="3000" y="21732"/>
                  </a:cubicBezTo>
                  <a:cubicBezTo>
                    <a:pt x="2695" y="21556"/>
                    <a:pt x="2443" y="21304"/>
                    <a:pt x="2267" y="21000"/>
                  </a:cubicBezTo>
                  <a:cubicBezTo>
                    <a:pt x="2092" y="20695"/>
                    <a:pt x="2000" y="20351"/>
                    <a:pt x="2000" y="20000"/>
                  </a:cubicBezTo>
                  <a:lnTo>
                    <a:pt x="2000" y="16000"/>
                  </a:lnTo>
                  <a:cubicBezTo>
                    <a:pt x="2000" y="15648"/>
                    <a:pt x="2092" y="15304"/>
                    <a:pt x="2267" y="15000"/>
                  </a:cubicBezTo>
                  <a:cubicBezTo>
                    <a:pt x="2443" y="14695"/>
                    <a:pt x="2695" y="14443"/>
                    <a:pt x="2999" y="14267"/>
                  </a:cubicBezTo>
                  <a:cubicBezTo>
                    <a:pt x="3304" y="14092"/>
                    <a:pt x="3648" y="14000"/>
                    <a:pt x="4000" y="14000"/>
                  </a:cubicBezTo>
                  <a:close/>
                </a:path>
                <a:path w="24000" h="24000" fill="none">
                  <a:moveTo>
                    <a:pt x="6000" y="6000"/>
                  </a:moveTo>
                  <a:lnTo>
                    <a:pt x="6010" y="6000"/>
                  </a:lnTo>
                </a:path>
                <a:path w="24000" h="24000" fill="none">
                  <a:moveTo>
                    <a:pt x="6000" y="18000"/>
                  </a:moveTo>
                  <a:lnTo>
                    <a:pt x="6010" y="18000"/>
                  </a:lnTo>
                </a:path>
              </a:pathLst>
            </a:custGeom>
            <a:noFill/>
            <a:ln w="12192" cap="rnd">
              <a:solidFill>
                <a:srgbClr val="0E3FAA"/>
              </a:solidFill>
              <a:round/>
            </a:ln>
          </p:spPr>
        </p:sp>
        <p:sp>
          <p:nvSpPr>
            <p:cNvPr id="85" name="Application label"/>
            <p:cNvSpPr txBox="1"/>
            <p:nvPr/>
          </p:nvSpPr>
          <p:spPr>
            <a:xfrm>
              <a:off x="2395728" y="1325880"/>
              <a:ext cx="42062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2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E3F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Entry Application</a:t>
              </a:r>
              <a:r>
                <a:rPr lang="en-US" sz="7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   ·   hosted on the central server (IOsense platform)</a:t>
              </a:r>
              <a:endParaRPr lang="en-US" sz="720" dirty="0">
                <a:latin typeface="Inter"/>
              </a:endParaRPr>
            </a:p>
          </p:txBody>
        </p:sp>
        <p:grpSp>
          <p:nvGrpSpPr>
            <p:cNvPr id="86" name="Step · New entry per test"/>
            <p:cNvGrpSpPr/>
            <p:nvPr/>
          </p:nvGrpSpPr>
          <p:grpSpPr>
            <a:xfrm>
              <a:off x="2194560" y="1572768"/>
              <a:ext cx="1700784" cy="450342"/>
              <a:chOff x="2194560" y="1572768"/>
              <a:chExt cx="1700784" cy="450342"/>
            </a:xfrm>
          </p:grpSpPr>
          <p:sp>
            <p:nvSpPr>
              <p:cNvPr id="87" name="New entry per test card"/>
              <p:cNvSpPr/>
              <p:nvPr/>
            </p:nvSpPr>
            <p:spPr>
              <a:xfrm>
                <a:off x="2194560" y="1572768"/>
                <a:ext cx="1700784" cy="450342"/>
              </a:xfrm>
              <a:prstGeom prst="roundRect">
                <a:avLst>
                  <a:gd name="adj" fmla="val 10152"/>
                </a:avLst>
              </a:prstGeom>
              <a:solidFill>
                <a:srgbClr val="FFFFFF"/>
              </a:solidFill>
              <a:ln w="9525">
                <a:solidFill>
                  <a:srgbClr val="B8D0FD"/>
                </a:solidFill>
                <a:round/>
              </a:ln>
            </p:spPr>
          </p:sp>
          <p:sp>
            <p:nvSpPr>
              <p:cNvPr id="88" name="Icon file-check"/>
              <p:cNvSpPr/>
              <p:nvPr/>
            </p:nvSpPr>
            <p:spPr>
              <a:xfrm>
                <a:off x="2267712" y="1641348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000" y="22000"/>
                    </a:moveTo>
                    <a:cubicBezTo>
                      <a:pt x="5648" y="22000"/>
                      <a:pt x="5304" y="21907"/>
                      <a:pt x="5000" y="21732"/>
                    </a:cubicBezTo>
                    <a:cubicBezTo>
                      <a:pt x="4695" y="21556"/>
                      <a:pt x="4443" y="21304"/>
                      <a:pt x="4267" y="21000"/>
                    </a:cubicBezTo>
                    <a:cubicBezTo>
                      <a:pt x="4092" y="20695"/>
                      <a:pt x="4000" y="20351"/>
                      <a:pt x="4000" y="20000"/>
                    </a:cubicBezTo>
                    <a:lnTo>
                      <a:pt x="4000" y="4000"/>
                    </a:lnTo>
                    <a:cubicBezTo>
                      <a:pt x="4000" y="3648"/>
                      <a:pt x="4092" y="3304"/>
                      <a:pt x="4267" y="3000"/>
                    </a:cubicBezTo>
                    <a:cubicBezTo>
                      <a:pt x="4443" y="2695"/>
                      <a:pt x="4695" y="2443"/>
                      <a:pt x="4999" y="2267"/>
                    </a:cubicBezTo>
                    <a:cubicBezTo>
                      <a:pt x="5304" y="2092"/>
                      <a:pt x="5648" y="2000"/>
                      <a:pt x="6000" y="2000"/>
                    </a:cubicBezTo>
                    <a:lnTo>
                      <a:pt x="14000" y="2000"/>
                    </a:lnTo>
                    <a:cubicBezTo>
                      <a:pt x="14316" y="1999"/>
                      <a:pt x="14630" y="2061"/>
                      <a:pt x="14922" y="2182"/>
                    </a:cubicBezTo>
                    <a:cubicBezTo>
                      <a:pt x="15214" y="2303"/>
                      <a:pt x="15480" y="2481"/>
                      <a:pt x="15704" y="2706"/>
                    </a:cubicBezTo>
                    <a:lnTo>
                      <a:pt x="19292" y="6294"/>
                    </a:lnTo>
                    <a:cubicBezTo>
                      <a:pt x="19516" y="6517"/>
                      <a:pt x="19695" y="6783"/>
                      <a:pt x="19816" y="7076"/>
                    </a:cubicBezTo>
                    <a:cubicBezTo>
                      <a:pt x="19938" y="7368"/>
                      <a:pt x="20000" y="7682"/>
                      <a:pt x="20000" y="8000"/>
                    </a:cubicBezTo>
                    <a:lnTo>
                      <a:pt x="20000" y="20000"/>
                    </a:lnTo>
                    <a:cubicBezTo>
                      <a:pt x="20000" y="20351"/>
                      <a:pt x="19907" y="20695"/>
                      <a:pt x="19732" y="21000"/>
                    </a:cubicBezTo>
                    <a:cubicBezTo>
                      <a:pt x="19556" y="21304"/>
                      <a:pt x="19304" y="21556"/>
                      <a:pt x="19000" y="21732"/>
                    </a:cubicBezTo>
                    <a:cubicBezTo>
                      <a:pt x="18695" y="21907"/>
                      <a:pt x="18351" y="22000"/>
                      <a:pt x="18000" y="22000"/>
                    </a:cubicBezTo>
                    <a:close/>
                  </a:path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175"/>
                      <a:pt x="14046" y="7347"/>
                      <a:pt x="14133" y="7500"/>
                    </a:cubicBezTo>
                    <a:cubicBezTo>
                      <a:pt x="14221" y="7652"/>
                      <a:pt x="14347" y="7778"/>
                      <a:pt x="14500" y="7866"/>
                    </a:cubicBezTo>
                    <a:cubicBezTo>
                      <a:pt x="14652" y="7953"/>
                      <a:pt x="14824" y="8000"/>
                      <a:pt x="15000" y="8000"/>
                    </a:cubicBezTo>
                    <a:lnTo>
                      <a:pt x="20000" y="8000"/>
                    </a:lnTo>
                  </a:path>
                  <a:path w="24000" h="24000" fill="none">
                    <a:moveTo>
                      <a:pt x="9000" y="15000"/>
                    </a:moveTo>
                    <a:lnTo>
                      <a:pt x="11000" y="17000"/>
                    </a:lnTo>
                    <a:lnTo>
                      <a:pt x="15000" y="13000"/>
                    </a:lnTo>
                  </a:path>
                </a:pathLst>
              </a:custGeom>
              <a:noFill/>
              <a:ln w="12192" cap="rnd">
                <a:solidFill>
                  <a:srgbClr val="165FF2"/>
                </a:solidFill>
                <a:round/>
              </a:ln>
            </p:spPr>
          </p:sp>
          <p:sp>
            <p:nvSpPr>
              <p:cNvPr id="89" name="Step title"/>
              <p:cNvSpPr txBox="1"/>
              <p:nvPr/>
            </p:nvSpPr>
            <p:spPr>
              <a:xfrm>
                <a:off x="2468880" y="1627632"/>
                <a:ext cx="13716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New entry per test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90" name="Step description"/>
              <p:cNvSpPr txBox="1"/>
              <p:nvPr/>
            </p:nvSpPr>
            <p:spPr>
              <a:xfrm>
                <a:off x="2468880" y="1769364"/>
                <a:ext cx="1371600" cy="230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8"/>
                  </a:lnSpc>
                  <a:spcBef>
                    <a:spcPts val="0"/>
                  </a:spcBef>
                  <a:buNone/>
                </a:pPr>
                <a:r>
                  <a:rPr lang="en-US" sz="64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PDF + JPEG saved for every pipe tested, incl. retests</a:t>
                </a:r>
                <a:endParaRPr lang="en-US" sz="640" dirty="0">
                  <a:latin typeface="Inter"/>
                </a:endParaRPr>
              </a:p>
            </p:txBody>
          </p:sp>
        </p:grpSp>
        <p:grpSp>
          <p:nvGrpSpPr>
            <p:cNvPr id="91" name="Step · Report parser"/>
            <p:cNvGrpSpPr/>
            <p:nvPr/>
          </p:nvGrpSpPr>
          <p:grpSpPr>
            <a:xfrm>
              <a:off x="2194560" y="2068830"/>
              <a:ext cx="1700784" cy="450342"/>
              <a:chOff x="2194560" y="2068830"/>
              <a:chExt cx="1700784" cy="450342"/>
            </a:xfrm>
          </p:grpSpPr>
          <p:sp>
            <p:nvSpPr>
              <p:cNvPr id="92" name="Report parser card"/>
              <p:cNvSpPr/>
              <p:nvPr/>
            </p:nvSpPr>
            <p:spPr>
              <a:xfrm>
                <a:off x="2194560" y="2068830"/>
                <a:ext cx="1700784" cy="450342"/>
              </a:xfrm>
              <a:prstGeom prst="roundRect">
                <a:avLst>
                  <a:gd name="adj" fmla="val 10152"/>
                </a:avLst>
              </a:prstGeom>
              <a:solidFill>
                <a:srgbClr val="FFFFFF"/>
              </a:solidFill>
              <a:ln w="9525">
                <a:solidFill>
                  <a:srgbClr val="B8D0FD"/>
                </a:solidFill>
                <a:round/>
              </a:ln>
            </p:spPr>
          </p:sp>
          <p:sp>
            <p:nvSpPr>
              <p:cNvPr id="93" name="Icon file-scan"/>
              <p:cNvSpPr/>
              <p:nvPr/>
            </p:nvSpPr>
            <p:spPr>
              <a:xfrm>
                <a:off x="2267712" y="2137410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0000"/>
                    </a:moveTo>
                    <a:lnTo>
                      <a:pt x="20000" y="8000"/>
                    </a:lnTo>
                    <a:cubicBezTo>
                      <a:pt x="20000" y="7683"/>
                      <a:pt x="19938" y="7369"/>
                      <a:pt x="19817" y="7077"/>
                    </a:cubicBezTo>
                    <a:cubicBezTo>
                      <a:pt x="19696" y="6785"/>
                      <a:pt x="19518" y="6519"/>
                      <a:pt x="19294" y="6296"/>
                    </a:cubicBezTo>
                    <a:lnTo>
                      <a:pt x="15706" y="2708"/>
                    </a:lnTo>
                    <a:cubicBezTo>
                      <a:pt x="15482" y="2483"/>
                      <a:pt x="15216" y="2304"/>
                      <a:pt x="14923" y="2183"/>
                    </a:cubicBezTo>
                    <a:cubicBezTo>
                      <a:pt x="14631" y="2061"/>
                      <a:pt x="14317" y="1999"/>
                      <a:pt x="14000" y="2000"/>
                    </a:cubicBezTo>
                    <a:lnTo>
                      <a:pt x="6000" y="2000"/>
                    </a:lnTo>
                    <a:cubicBezTo>
                      <a:pt x="5648" y="2000"/>
                      <a:pt x="5304" y="2092"/>
                      <a:pt x="5000" y="2267"/>
                    </a:cubicBezTo>
                    <a:cubicBezTo>
                      <a:pt x="4695" y="2443"/>
                      <a:pt x="4443" y="2695"/>
                      <a:pt x="4267" y="2999"/>
                    </a:cubicBezTo>
                    <a:cubicBezTo>
                      <a:pt x="4092" y="3304"/>
                      <a:pt x="4000" y="3648"/>
                      <a:pt x="4000" y="4000"/>
                    </a:cubicBezTo>
                    <a:lnTo>
                      <a:pt x="4000" y="20000"/>
                    </a:lnTo>
                    <a:cubicBezTo>
                      <a:pt x="4000" y="20351"/>
                      <a:pt x="4092" y="20695"/>
                      <a:pt x="4267" y="21000"/>
                    </a:cubicBezTo>
                    <a:cubicBezTo>
                      <a:pt x="4443" y="21304"/>
                      <a:pt x="4695" y="21556"/>
                      <a:pt x="5000" y="21732"/>
                    </a:cubicBezTo>
                    <a:cubicBezTo>
                      <a:pt x="5304" y="21907"/>
                      <a:pt x="5648" y="22000"/>
                      <a:pt x="6000" y="22000"/>
                    </a:cubicBezTo>
                    <a:lnTo>
                      <a:pt x="10350" y="22000"/>
                    </a:lnTo>
                  </a:path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175"/>
                      <a:pt x="14046" y="7347"/>
                      <a:pt x="14133" y="7500"/>
                    </a:cubicBezTo>
                    <a:cubicBezTo>
                      <a:pt x="14221" y="7652"/>
                      <a:pt x="14347" y="7778"/>
                      <a:pt x="14500" y="7866"/>
                    </a:cubicBezTo>
                    <a:cubicBezTo>
                      <a:pt x="14652" y="7953"/>
                      <a:pt x="14824" y="8000"/>
                      <a:pt x="15000" y="8000"/>
                    </a:cubicBezTo>
                    <a:lnTo>
                      <a:pt x="20000" y="8000"/>
                    </a:lnTo>
                  </a:path>
                  <a:path w="24000" h="24000" fill="none">
                    <a:moveTo>
                      <a:pt x="16000" y="14000"/>
                    </a:moveTo>
                    <a:cubicBezTo>
                      <a:pt x="15648" y="14000"/>
                      <a:pt x="15304" y="14092"/>
                      <a:pt x="15000" y="14267"/>
                    </a:cubicBezTo>
                    <a:cubicBezTo>
                      <a:pt x="14695" y="14443"/>
                      <a:pt x="14443" y="14695"/>
                      <a:pt x="14267" y="15000"/>
                    </a:cubicBezTo>
                    <a:cubicBezTo>
                      <a:pt x="14092" y="15304"/>
                      <a:pt x="14000" y="15648"/>
                      <a:pt x="14000" y="16000"/>
                    </a:cubicBezTo>
                  </a:path>
                  <a:path w="24000" h="24000" fill="none">
                    <a:moveTo>
                      <a:pt x="16000" y="22000"/>
                    </a:moveTo>
                    <a:cubicBezTo>
                      <a:pt x="15648" y="22000"/>
                      <a:pt x="15304" y="21907"/>
                      <a:pt x="15000" y="21732"/>
                    </a:cubicBezTo>
                    <a:cubicBezTo>
                      <a:pt x="14695" y="21556"/>
                      <a:pt x="14443" y="21304"/>
                      <a:pt x="14267" y="21000"/>
                    </a:cubicBezTo>
                    <a:cubicBezTo>
                      <a:pt x="14092" y="20695"/>
                      <a:pt x="14000" y="20351"/>
                      <a:pt x="14000" y="20000"/>
                    </a:cubicBezTo>
                  </a:path>
                  <a:path w="24000" h="24000" fill="none">
                    <a:moveTo>
                      <a:pt x="20000" y="14000"/>
                    </a:moveTo>
                    <a:cubicBezTo>
                      <a:pt x="20351" y="14000"/>
                      <a:pt x="20695" y="14092"/>
                      <a:pt x="21000" y="14267"/>
                    </a:cubicBezTo>
                    <a:cubicBezTo>
                      <a:pt x="21304" y="14443"/>
                      <a:pt x="21556" y="14695"/>
                      <a:pt x="21732" y="15000"/>
                    </a:cubicBezTo>
                    <a:cubicBezTo>
                      <a:pt x="21907" y="15304"/>
                      <a:pt x="22000" y="15648"/>
                      <a:pt x="22000" y="16000"/>
                    </a:cubicBezTo>
                  </a:path>
                  <a:path w="24000" h="24000" fill="none">
                    <a:moveTo>
                      <a:pt x="20000" y="22000"/>
                    </a:moveTo>
                    <a:cubicBezTo>
                      <a:pt x="20351" y="22000"/>
                      <a:pt x="20695" y="21907"/>
                      <a:pt x="21000" y="21732"/>
                    </a:cubicBezTo>
                    <a:cubicBezTo>
                      <a:pt x="21304" y="21556"/>
                      <a:pt x="21556" y="21304"/>
                      <a:pt x="21732" y="21000"/>
                    </a:cubicBezTo>
                    <a:cubicBezTo>
                      <a:pt x="21907" y="20695"/>
                      <a:pt x="22000" y="20351"/>
                      <a:pt x="22000" y="20000"/>
                    </a:cubicBezTo>
                  </a:path>
                </a:pathLst>
              </a:custGeom>
              <a:noFill/>
              <a:ln w="12192" cap="rnd">
                <a:solidFill>
                  <a:srgbClr val="165FF2"/>
                </a:solidFill>
                <a:round/>
              </a:ln>
            </p:spPr>
          </p:sp>
          <p:sp>
            <p:nvSpPr>
              <p:cNvPr id="94" name="Step title"/>
              <p:cNvSpPr txBox="1"/>
              <p:nvPr/>
            </p:nvSpPr>
            <p:spPr>
              <a:xfrm>
                <a:off x="2468880" y="2123694"/>
                <a:ext cx="13716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Report parser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95" name="Step description"/>
              <p:cNvSpPr txBox="1"/>
              <p:nvPr/>
            </p:nvSpPr>
            <p:spPr>
              <a:xfrm>
                <a:off x="2468880" y="2265426"/>
                <a:ext cx="1371600" cy="230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8"/>
                  </a:lnSpc>
                  <a:spcBef>
                    <a:spcPts val="0"/>
                  </a:spcBef>
                  <a:buNone/>
                </a:pPr>
                <a:r>
                  <a:rPr lang="en-US" sz="64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Reads </a:t>
                </a:r>
                <a:r>
                  <a:rPr lang="en-US" sz="64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pipe no</a:t>
                </a:r>
                <a:r>
                  <a:rPr lang="en-US" sz="64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lang="en-US" sz="64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 date</a:t>
                </a:r>
                <a:r>
                  <a:rPr lang="en-US" sz="64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 and </a:t>
                </a:r>
                <a:r>
                  <a:rPr lang="en-US" sz="64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indication name &amp; count</a:t>
                </a:r>
                <a:endParaRPr lang="en-US" sz="640" dirty="0">
                  <a:latin typeface="Inter"/>
                </a:endParaRPr>
              </a:p>
            </p:txBody>
          </p:sp>
        </p:grpSp>
        <p:grpSp>
          <p:nvGrpSpPr>
            <p:cNvPr id="96" name="Step · Retest correction"/>
            <p:cNvGrpSpPr/>
            <p:nvPr/>
          </p:nvGrpSpPr>
          <p:grpSpPr>
            <a:xfrm>
              <a:off x="2194560" y="2564892"/>
              <a:ext cx="1700784" cy="450342"/>
              <a:chOff x="2194560" y="2564892"/>
              <a:chExt cx="1700784" cy="450342"/>
            </a:xfrm>
          </p:grpSpPr>
          <p:sp>
            <p:nvSpPr>
              <p:cNvPr id="97" name="Retest correction card"/>
              <p:cNvSpPr/>
              <p:nvPr/>
            </p:nvSpPr>
            <p:spPr>
              <a:xfrm>
                <a:off x="2194560" y="2564892"/>
                <a:ext cx="1700784" cy="450342"/>
              </a:xfrm>
              <a:prstGeom prst="roundRect">
                <a:avLst>
                  <a:gd name="adj" fmla="val 10152"/>
                </a:avLst>
              </a:prstGeom>
              <a:solidFill>
                <a:srgbClr val="FFFFFF"/>
              </a:solidFill>
              <a:ln w="9525">
                <a:solidFill>
                  <a:srgbClr val="B8D0FD"/>
                </a:solidFill>
                <a:round/>
              </a:ln>
            </p:spPr>
          </p:sp>
          <p:sp>
            <p:nvSpPr>
              <p:cNvPr id="98" name="Icon scissors"/>
              <p:cNvSpPr/>
              <p:nvPr/>
            </p:nvSpPr>
            <p:spPr>
              <a:xfrm>
                <a:off x="2267712" y="2633472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6000"/>
                    </a:moveTo>
                    <a:cubicBezTo>
                      <a:pt x="9000" y="6526"/>
                      <a:pt x="8861" y="7043"/>
                      <a:pt x="8598" y="7500"/>
                    </a:cubicBezTo>
                    <a:cubicBezTo>
                      <a:pt x="8334" y="7956"/>
                      <a:pt x="7956" y="8334"/>
                      <a:pt x="7500" y="8598"/>
                    </a:cubicBezTo>
                    <a:cubicBezTo>
                      <a:pt x="7043" y="8861"/>
                      <a:pt x="6526" y="9000"/>
                      <a:pt x="6000" y="9000"/>
                    </a:cubicBezTo>
                    <a:cubicBezTo>
                      <a:pt x="5473" y="9000"/>
                      <a:pt x="4956" y="8861"/>
                      <a:pt x="4500" y="8598"/>
                    </a:cubicBezTo>
                    <a:cubicBezTo>
                      <a:pt x="4043" y="8334"/>
                      <a:pt x="3665" y="7956"/>
                      <a:pt x="3401" y="7500"/>
                    </a:cubicBezTo>
                    <a:cubicBezTo>
                      <a:pt x="3138" y="7043"/>
                      <a:pt x="3000" y="6526"/>
                      <a:pt x="3000" y="6000"/>
                    </a:cubicBezTo>
                    <a:cubicBezTo>
                      <a:pt x="3000" y="5473"/>
                      <a:pt x="3138" y="4956"/>
                      <a:pt x="3401" y="4500"/>
                    </a:cubicBezTo>
                    <a:cubicBezTo>
                      <a:pt x="3665" y="4043"/>
                      <a:pt x="4043" y="3665"/>
                      <a:pt x="4499" y="3401"/>
                    </a:cubicBezTo>
                    <a:cubicBezTo>
                      <a:pt x="4956" y="3138"/>
                      <a:pt x="5473" y="3000"/>
                      <a:pt x="5999" y="3000"/>
                    </a:cubicBezTo>
                    <a:cubicBezTo>
                      <a:pt x="6526" y="3000"/>
                      <a:pt x="7043" y="3138"/>
                      <a:pt x="7500" y="3401"/>
                    </a:cubicBezTo>
                    <a:cubicBezTo>
                      <a:pt x="7956" y="3665"/>
                      <a:pt x="8334" y="4043"/>
                      <a:pt x="8598" y="4500"/>
                    </a:cubicBezTo>
                    <a:cubicBezTo>
                      <a:pt x="8861" y="4956"/>
                      <a:pt x="9000" y="5473"/>
                      <a:pt x="9000" y="5999"/>
                    </a:cubicBezTo>
                    <a:close/>
                  </a:path>
                  <a:path w="24000" h="24000" fill="none">
                    <a:moveTo>
                      <a:pt x="8119" y="8119"/>
                    </a:moveTo>
                    <a:lnTo>
                      <a:pt x="12000" y="12000"/>
                    </a:lnTo>
                  </a:path>
                  <a:path w="24000" h="24000" fill="none">
                    <a:moveTo>
                      <a:pt x="20000" y="4000"/>
                    </a:moveTo>
                    <a:lnTo>
                      <a:pt x="8119" y="15880"/>
                    </a:lnTo>
                  </a:path>
                  <a:path w="24000" h="24000" fill="none">
                    <a:moveTo>
                      <a:pt x="9000" y="18000"/>
                    </a:moveTo>
                    <a:cubicBezTo>
                      <a:pt x="9000" y="18526"/>
                      <a:pt x="8861" y="19043"/>
                      <a:pt x="8598" y="19500"/>
                    </a:cubicBezTo>
                    <a:cubicBezTo>
                      <a:pt x="8334" y="19956"/>
                      <a:pt x="7956" y="20334"/>
                      <a:pt x="7500" y="20598"/>
                    </a:cubicBezTo>
                    <a:cubicBezTo>
                      <a:pt x="7043" y="20861"/>
                      <a:pt x="6526" y="21000"/>
                      <a:pt x="6000" y="21000"/>
                    </a:cubicBezTo>
                    <a:cubicBezTo>
                      <a:pt x="5473" y="21000"/>
                      <a:pt x="4956" y="20861"/>
                      <a:pt x="4500" y="20598"/>
                    </a:cubicBezTo>
                    <a:cubicBezTo>
                      <a:pt x="4043" y="20334"/>
                      <a:pt x="3665" y="19956"/>
                      <a:pt x="3401" y="19500"/>
                    </a:cubicBezTo>
                    <a:cubicBezTo>
                      <a:pt x="3138" y="19043"/>
                      <a:pt x="3000" y="18526"/>
                      <a:pt x="3000" y="18000"/>
                    </a:cubicBezTo>
                    <a:cubicBezTo>
                      <a:pt x="3000" y="17473"/>
                      <a:pt x="3138" y="16956"/>
                      <a:pt x="3401" y="16500"/>
                    </a:cubicBezTo>
                    <a:cubicBezTo>
                      <a:pt x="3665" y="16043"/>
                      <a:pt x="4043" y="15665"/>
                      <a:pt x="4499" y="15401"/>
                    </a:cubicBezTo>
                    <a:cubicBezTo>
                      <a:pt x="4956" y="15138"/>
                      <a:pt x="5473" y="15000"/>
                      <a:pt x="5999" y="15000"/>
                    </a:cubicBezTo>
                    <a:cubicBezTo>
                      <a:pt x="6526" y="15000"/>
                      <a:pt x="7043" y="15138"/>
                      <a:pt x="7500" y="15401"/>
                    </a:cubicBezTo>
                    <a:cubicBezTo>
                      <a:pt x="7956" y="15665"/>
                      <a:pt x="8334" y="16043"/>
                      <a:pt x="8598" y="16500"/>
                    </a:cubicBezTo>
                    <a:cubicBezTo>
                      <a:pt x="8861" y="16956"/>
                      <a:pt x="9000" y="17473"/>
                      <a:pt x="9000" y="18000"/>
                    </a:cubicBezTo>
                    <a:close/>
                  </a:path>
                  <a:path w="24000" h="24000" fill="none">
                    <a:moveTo>
                      <a:pt x="14800" y="14800"/>
                    </a:moveTo>
                    <a:lnTo>
                      <a:pt x="20000" y="20000"/>
                    </a:lnTo>
                  </a:path>
                </a:pathLst>
              </a:custGeom>
              <a:noFill/>
              <a:ln w="12192" cap="rnd">
                <a:solidFill>
                  <a:srgbClr val="165FF2"/>
                </a:solidFill>
                <a:round/>
              </a:ln>
            </p:spPr>
          </p:sp>
          <p:sp>
            <p:nvSpPr>
              <p:cNvPr id="99" name="Step title"/>
              <p:cNvSpPr txBox="1"/>
              <p:nvPr/>
            </p:nvSpPr>
            <p:spPr>
              <a:xfrm>
                <a:off x="2468880" y="2619756"/>
                <a:ext cx="13716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Retest correction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100" name="Step description"/>
              <p:cNvSpPr txBox="1"/>
              <p:nvPr/>
            </p:nvSpPr>
            <p:spPr>
              <a:xfrm>
                <a:off x="2468880" y="2761488"/>
                <a:ext cx="1371600" cy="230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8"/>
                  </a:lnSpc>
                  <a:spcBef>
                    <a:spcPts val="0"/>
                  </a:spcBef>
                  <a:buNone/>
                </a:pPr>
                <a:r>
                  <a:rPr lang="en-US" sz="64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Suffix </a:t>
                </a:r>
                <a:r>
                  <a:rPr lang="en-US" sz="64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_1 / _2 / _3</a:t>
                </a:r>
                <a:r>
                  <a:rPr lang="en-US" sz="64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 removed to get the base pipe number</a:t>
                </a:r>
                <a:endParaRPr lang="en-US" sz="640" dirty="0">
                  <a:latin typeface="Inter"/>
                </a:endParaRPr>
              </a:p>
            </p:txBody>
          </p:sp>
        </p:grpSp>
        <p:grpSp>
          <p:nvGrpSpPr>
            <p:cNvPr id="101" name="Step · Remarks"/>
            <p:cNvGrpSpPr/>
            <p:nvPr/>
          </p:nvGrpSpPr>
          <p:grpSpPr>
            <a:xfrm>
              <a:off x="2194560" y="3060954"/>
              <a:ext cx="1700784" cy="450342"/>
              <a:chOff x="2194560" y="3060954"/>
              <a:chExt cx="1700784" cy="450342"/>
            </a:xfrm>
          </p:grpSpPr>
          <p:sp>
            <p:nvSpPr>
              <p:cNvPr id="102" name="Remarks card"/>
              <p:cNvSpPr/>
              <p:nvPr/>
            </p:nvSpPr>
            <p:spPr>
              <a:xfrm>
                <a:off x="2194560" y="3060954"/>
                <a:ext cx="1700784" cy="450342"/>
              </a:xfrm>
              <a:prstGeom prst="roundRect">
                <a:avLst>
                  <a:gd name="adj" fmla="val 10152"/>
                </a:avLst>
              </a:prstGeom>
              <a:solidFill>
                <a:srgbClr val="FFFFFF"/>
              </a:solidFill>
              <a:ln w="9525">
                <a:solidFill>
                  <a:srgbClr val="B8D0FD"/>
                </a:solidFill>
                <a:round/>
              </a:ln>
            </p:spPr>
          </p:sp>
          <p:sp>
            <p:nvSpPr>
              <p:cNvPr id="103" name="Icon message-square-text"/>
              <p:cNvSpPr/>
              <p:nvPr/>
            </p:nvSpPr>
            <p:spPr>
              <a:xfrm>
                <a:off x="2267712" y="3129534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7000"/>
                    </a:moveTo>
                    <a:cubicBezTo>
                      <a:pt x="22000" y="17351"/>
                      <a:pt x="21907" y="17695"/>
                      <a:pt x="21732" y="18000"/>
                    </a:cubicBezTo>
                    <a:cubicBezTo>
                      <a:pt x="21556" y="18304"/>
                      <a:pt x="21304" y="18556"/>
                      <a:pt x="21000" y="18732"/>
                    </a:cubicBezTo>
                    <a:cubicBezTo>
                      <a:pt x="20695" y="18907"/>
                      <a:pt x="20351" y="19000"/>
                      <a:pt x="20000" y="19000"/>
                    </a:cubicBezTo>
                    <a:lnTo>
                      <a:pt x="6828" y="19000"/>
                    </a:lnTo>
                    <a:cubicBezTo>
                      <a:pt x="6565" y="19000"/>
                      <a:pt x="6305" y="19051"/>
                      <a:pt x="6062" y="19152"/>
                    </a:cubicBezTo>
                    <a:cubicBezTo>
                      <a:pt x="5820" y="19252"/>
                      <a:pt x="5599" y="19400"/>
                      <a:pt x="5414" y="19586"/>
                    </a:cubicBezTo>
                    <a:lnTo>
                      <a:pt x="3212" y="21787"/>
                    </a:lnTo>
                    <a:cubicBezTo>
                      <a:pt x="3132" y="21867"/>
                      <a:pt x="3035" y="21926"/>
                      <a:pt x="2929" y="21961"/>
                    </a:cubicBezTo>
                    <a:cubicBezTo>
                      <a:pt x="2822" y="21995"/>
                      <a:pt x="2709" y="22004"/>
                      <a:pt x="2598" y="21987"/>
                    </a:cubicBezTo>
                    <a:cubicBezTo>
                      <a:pt x="2488" y="21969"/>
                      <a:pt x="2383" y="21926"/>
                      <a:pt x="2292" y="21860"/>
                    </a:cubicBezTo>
                    <a:cubicBezTo>
                      <a:pt x="2202" y="21794"/>
                      <a:pt x="2128" y="21708"/>
                      <a:pt x="2077" y="21608"/>
                    </a:cubicBezTo>
                    <a:cubicBezTo>
                      <a:pt x="2026" y="21508"/>
                      <a:pt x="2000" y="21398"/>
                      <a:pt x="2000" y="21286"/>
                    </a:cubicBezTo>
                    <a:lnTo>
                      <a:pt x="2000" y="5000"/>
                    </a:lnTo>
                    <a:cubicBezTo>
                      <a:pt x="2000" y="4648"/>
                      <a:pt x="2092" y="4304"/>
                      <a:pt x="2267" y="4000"/>
                    </a:cubicBezTo>
                    <a:cubicBezTo>
                      <a:pt x="2443" y="3695"/>
                      <a:pt x="2695" y="3443"/>
                      <a:pt x="2999" y="3267"/>
                    </a:cubicBezTo>
                    <a:cubicBezTo>
                      <a:pt x="3304" y="3092"/>
                      <a:pt x="3648" y="3000"/>
                      <a:pt x="4000" y="3000"/>
                    </a:cubicBezTo>
                    <a:lnTo>
                      <a:pt x="20000" y="3000"/>
                    </a:lnTo>
                    <a:cubicBezTo>
                      <a:pt x="20351" y="3000"/>
                      <a:pt x="20695" y="3092"/>
                      <a:pt x="21000" y="3267"/>
                    </a:cubicBezTo>
                    <a:cubicBezTo>
                      <a:pt x="21304" y="3443"/>
                      <a:pt x="21556" y="3695"/>
                      <a:pt x="21732" y="4000"/>
                    </a:cubicBezTo>
                    <a:cubicBezTo>
                      <a:pt x="21907" y="4304"/>
                      <a:pt x="22000" y="4648"/>
                      <a:pt x="22000" y="5000"/>
                    </a:cubicBezTo>
                    <a:close/>
                  </a:path>
                  <a:path w="24000" h="24000" fill="none">
                    <a:moveTo>
                      <a:pt x="7000" y="11000"/>
                    </a:moveTo>
                    <a:lnTo>
                      <a:pt x="17000" y="11000"/>
                    </a:lnTo>
                  </a:path>
                  <a:path w="24000" h="24000" fill="none">
                    <a:moveTo>
                      <a:pt x="7000" y="15000"/>
                    </a:moveTo>
                    <a:lnTo>
                      <a:pt x="13000" y="15000"/>
                    </a:lnTo>
                  </a:path>
                  <a:path w="24000" h="24000" fill="none">
                    <a:moveTo>
                      <a:pt x="7000" y="7000"/>
                    </a:moveTo>
                    <a:lnTo>
                      <a:pt x="15000" y="7000"/>
                    </a:lnTo>
                  </a:path>
                </a:pathLst>
              </a:custGeom>
              <a:noFill/>
              <a:ln w="12192" cap="rnd">
                <a:solidFill>
                  <a:srgbClr val="165FF2"/>
                </a:solidFill>
                <a:round/>
              </a:ln>
            </p:spPr>
          </p:sp>
          <p:sp>
            <p:nvSpPr>
              <p:cNvPr id="104" name="Step title"/>
              <p:cNvSpPr txBox="1"/>
              <p:nvPr/>
            </p:nvSpPr>
            <p:spPr>
              <a:xfrm>
                <a:off x="2468880" y="3115818"/>
                <a:ext cx="13716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Remarks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105" name="Step description"/>
              <p:cNvSpPr txBox="1"/>
              <p:nvPr/>
            </p:nvSpPr>
            <p:spPr>
              <a:xfrm>
                <a:off x="2468880" y="3257550"/>
                <a:ext cx="1371600" cy="230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8"/>
                  </a:lnSpc>
                  <a:spcBef>
                    <a:spcPts val="0"/>
                  </a:spcBef>
                  <a:buNone/>
                </a:pPr>
                <a:r>
                  <a:rPr lang="en-US" sz="64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Previous-station remarks (operator can append) + testing remarks</a:t>
                </a:r>
                <a:endParaRPr lang="en-US" sz="640" dirty="0">
                  <a:latin typeface="Inter"/>
                </a:endParaRPr>
              </a:p>
            </p:txBody>
          </p:sp>
        </p:grpSp>
        <p:grpSp>
          <p:nvGrpSpPr>
            <p:cNvPr id="106" name="Automatic result"/>
            <p:cNvGrpSpPr/>
            <p:nvPr/>
          </p:nvGrpSpPr>
          <p:grpSpPr>
            <a:xfrm>
              <a:off x="4023360" y="1572768"/>
              <a:ext cx="2633472" cy="914400"/>
              <a:chOff x="4023360" y="1572768"/>
              <a:chExt cx="2633472" cy="914400"/>
            </a:xfrm>
          </p:grpSpPr>
          <p:sp>
            <p:nvSpPr>
              <p:cNvPr id="107" name="Result card"/>
              <p:cNvSpPr/>
              <p:nvPr/>
            </p:nvSpPr>
            <p:spPr>
              <a:xfrm>
                <a:off x="4023360" y="1572768"/>
                <a:ext cx="2633472" cy="914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B8D0FD"/>
                </a:solidFill>
                <a:round/>
              </a:ln>
            </p:spPr>
          </p:sp>
          <p:sp>
            <p:nvSpPr>
              <p:cNvPr id="108" name="Icon git-branch"/>
              <p:cNvSpPr/>
              <p:nvPr/>
            </p:nvSpPr>
            <p:spPr>
              <a:xfrm>
                <a:off x="4096512" y="1641348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6000"/>
                    </a:moveTo>
                    <a:cubicBezTo>
                      <a:pt x="13420" y="6000"/>
                      <a:pt x="11868" y="6415"/>
                      <a:pt x="10500" y="7205"/>
                    </a:cubicBezTo>
                    <a:cubicBezTo>
                      <a:pt x="9131" y="7995"/>
                      <a:pt x="7995" y="9131"/>
                      <a:pt x="7205" y="10499"/>
                    </a:cubicBezTo>
                    <a:cubicBezTo>
                      <a:pt x="6415" y="11868"/>
                      <a:pt x="6000" y="13420"/>
                      <a:pt x="6000" y="15000"/>
                    </a:cubicBezTo>
                    <a:lnTo>
                      <a:pt x="6000" y="3000"/>
                    </a:lnTo>
                  </a:path>
                  <a:path w="24000" h="24000" fill="none">
                    <a:moveTo>
                      <a:pt x="21000" y="6000"/>
                    </a:moveTo>
                    <a:cubicBezTo>
                      <a:pt x="21000" y="6526"/>
                      <a:pt x="20861" y="7043"/>
                      <a:pt x="20598" y="7500"/>
                    </a:cubicBezTo>
                    <a:cubicBezTo>
                      <a:pt x="20334" y="7956"/>
                      <a:pt x="19956" y="8334"/>
                      <a:pt x="19500" y="8598"/>
                    </a:cubicBezTo>
                    <a:cubicBezTo>
                      <a:pt x="19043" y="8861"/>
                      <a:pt x="18526" y="9000"/>
                      <a:pt x="18000" y="9000"/>
                    </a:cubicBezTo>
                    <a:cubicBezTo>
                      <a:pt x="17473" y="9000"/>
                      <a:pt x="16956" y="8861"/>
                      <a:pt x="16500" y="8598"/>
                    </a:cubicBezTo>
                    <a:cubicBezTo>
                      <a:pt x="16043" y="8334"/>
                      <a:pt x="15665" y="7956"/>
                      <a:pt x="15401" y="7500"/>
                    </a:cubicBezTo>
                    <a:cubicBezTo>
                      <a:pt x="15138" y="7043"/>
                      <a:pt x="15000" y="6526"/>
                      <a:pt x="15000" y="6000"/>
                    </a:cubicBezTo>
                    <a:cubicBezTo>
                      <a:pt x="15000" y="5473"/>
                      <a:pt x="15138" y="4956"/>
                      <a:pt x="15401" y="4500"/>
                    </a:cubicBezTo>
                    <a:cubicBezTo>
                      <a:pt x="15665" y="4043"/>
                      <a:pt x="16043" y="3665"/>
                      <a:pt x="16500" y="3401"/>
                    </a:cubicBezTo>
                    <a:cubicBezTo>
                      <a:pt x="16956" y="3138"/>
                      <a:pt x="17473" y="3000"/>
                      <a:pt x="18000" y="3000"/>
                    </a:cubicBezTo>
                    <a:cubicBezTo>
                      <a:pt x="18526" y="3000"/>
                      <a:pt x="19043" y="3138"/>
                      <a:pt x="19500" y="3401"/>
                    </a:cubicBezTo>
                    <a:cubicBezTo>
                      <a:pt x="19956" y="3665"/>
                      <a:pt x="20334" y="4043"/>
                      <a:pt x="20598" y="4500"/>
                    </a:cubicBezTo>
                    <a:cubicBezTo>
                      <a:pt x="20861" y="4956"/>
                      <a:pt x="21000" y="5473"/>
                      <a:pt x="21000" y="5999"/>
                    </a:cubicBezTo>
                    <a:close/>
                  </a:path>
                  <a:path w="24000" h="24000" fill="none">
                    <a:moveTo>
                      <a:pt x="9000" y="18000"/>
                    </a:moveTo>
                    <a:cubicBezTo>
                      <a:pt x="9000" y="18526"/>
                      <a:pt x="8861" y="19043"/>
                      <a:pt x="8598" y="19500"/>
                    </a:cubicBezTo>
                    <a:cubicBezTo>
                      <a:pt x="8334" y="19956"/>
                      <a:pt x="7956" y="20334"/>
                      <a:pt x="7500" y="20598"/>
                    </a:cubicBezTo>
                    <a:cubicBezTo>
                      <a:pt x="7043" y="20861"/>
                      <a:pt x="6526" y="21000"/>
                      <a:pt x="6000" y="21000"/>
                    </a:cubicBezTo>
                    <a:cubicBezTo>
                      <a:pt x="5473" y="21000"/>
                      <a:pt x="4956" y="20861"/>
                      <a:pt x="4500" y="20598"/>
                    </a:cubicBezTo>
                    <a:cubicBezTo>
                      <a:pt x="4043" y="20334"/>
                      <a:pt x="3665" y="19956"/>
                      <a:pt x="3401" y="19500"/>
                    </a:cubicBezTo>
                    <a:cubicBezTo>
                      <a:pt x="3138" y="19043"/>
                      <a:pt x="3000" y="18526"/>
                      <a:pt x="3000" y="18000"/>
                    </a:cubicBezTo>
                    <a:cubicBezTo>
                      <a:pt x="3000" y="17473"/>
                      <a:pt x="3138" y="16956"/>
                      <a:pt x="3401" y="16500"/>
                    </a:cubicBezTo>
                    <a:cubicBezTo>
                      <a:pt x="3665" y="16043"/>
                      <a:pt x="4043" y="15665"/>
                      <a:pt x="4499" y="15401"/>
                    </a:cubicBezTo>
                    <a:cubicBezTo>
                      <a:pt x="4956" y="15138"/>
                      <a:pt x="5473" y="15000"/>
                      <a:pt x="5999" y="15000"/>
                    </a:cubicBezTo>
                    <a:cubicBezTo>
                      <a:pt x="6526" y="15000"/>
                      <a:pt x="7043" y="15138"/>
                      <a:pt x="7500" y="15401"/>
                    </a:cubicBezTo>
                    <a:cubicBezTo>
                      <a:pt x="7956" y="15665"/>
                      <a:pt x="8334" y="16043"/>
                      <a:pt x="8598" y="16500"/>
                    </a:cubicBezTo>
                    <a:cubicBezTo>
                      <a:pt x="8861" y="16956"/>
                      <a:pt x="9000" y="17473"/>
                      <a:pt x="9000" y="18000"/>
                    </a:cubicBezTo>
                    <a:close/>
                  </a:path>
                </a:pathLst>
              </a:custGeom>
              <a:noFill/>
              <a:ln w="12192" cap="rnd">
                <a:solidFill>
                  <a:srgbClr val="165FF2"/>
                </a:solidFill>
                <a:round/>
              </a:ln>
            </p:spPr>
          </p:sp>
          <p:sp>
            <p:nvSpPr>
              <p:cNvPr id="109" name="Automatic result title"/>
              <p:cNvSpPr txBox="1"/>
              <p:nvPr/>
            </p:nvSpPr>
            <p:spPr>
              <a:xfrm>
                <a:off x="4297680" y="1627632"/>
                <a:ext cx="230428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82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Automatic result</a:t>
                </a:r>
                <a:r>
                  <a:rPr lang="en-US" sz="680" b="0" i="0" spc="0" dirty="0">
                    <a:solidFill>
                      <a:srgbClr val="6C849D"/>
                    </a:solidFill>
                    <a:latin typeface="Inter"/>
                    <a:ea typeface="Inter"/>
                    <a:cs typeface="Inter"/>
                    <a:sym typeface="Inter"/>
                  </a:rPr>
                  <a:t>  ·  indications + PO prove-up rule</a:t>
                </a:r>
                <a:endParaRPr lang="en-US" sz="680" dirty="0">
                  <a:latin typeface="Inter"/>
                </a:endParaRPr>
              </a:p>
            </p:txBody>
          </p:sp>
          <p:sp>
            <p:nvSpPr>
              <p:cNvPr id="110" name="Decision 1"/>
              <p:cNvSpPr/>
              <p:nvPr/>
            </p:nvSpPr>
            <p:spPr>
              <a:xfrm>
                <a:off x="4133088" y="1837944"/>
                <a:ext cx="1024128" cy="201168"/>
              </a:xfrm>
              <a:prstGeom prst="roundRect">
                <a:avLst>
                  <a:gd name="adj" fmla="val 50000"/>
                </a:avLst>
              </a:prstGeom>
              <a:solidFill>
                <a:srgbClr val="F1F5FA"/>
              </a:solidFill>
              <a:ln w="9525">
                <a:solidFill>
                  <a:srgbClr val="B1C1D2"/>
                </a:solidFill>
                <a:round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60"/>
                  </a:lnSpc>
                  <a:spcBef>
                    <a:spcPts val="0"/>
                  </a:spcBef>
                  <a:buNone/>
                </a:pPr>
                <a:r>
                  <a:rPr lang="en-US" sz="66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Indications found?</a:t>
                </a:r>
                <a:endParaRPr lang="en-US" sz="660" dirty="0">
                  <a:latin typeface="Inter SemiBold"/>
                </a:endParaRPr>
              </a:p>
            </p:txBody>
          </p:sp>
          <p:sp>
            <p:nvSpPr>
              <p:cNvPr id="111" name="Decision 2"/>
              <p:cNvSpPr/>
              <p:nvPr/>
            </p:nvSpPr>
            <p:spPr>
              <a:xfrm>
                <a:off x="4133088" y="2176272"/>
                <a:ext cx="1024128" cy="201168"/>
              </a:xfrm>
              <a:prstGeom prst="roundRect">
                <a:avLst>
                  <a:gd name="adj" fmla="val 50000"/>
                </a:avLst>
              </a:prstGeom>
              <a:solidFill>
                <a:srgbClr val="F1F5FA"/>
              </a:solidFill>
              <a:ln w="9525">
                <a:solidFill>
                  <a:srgbClr val="B1C1D2"/>
                </a:solidFill>
                <a:round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60"/>
                  </a:lnSpc>
                  <a:spcBef>
                    <a:spcPts val="0"/>
                  </a:spcBef>
                  <a:buNone/>
                </a:pPr>
                <a:r>
                  <a:rPr lang="en-US" sz="66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 prove-up rule?</a:t>
                </a:r>
                <a:endParaRPr lang="en-US" sz="660" dirty="0">
                  <a:latin typeface="Inter SemiBold"/>
                </a:endParaRPr>
              </a:p>
            </p:txBody>
          </p:sp>
          <p:cxnSp>
            <p:nvCxnSpPr>
              <p:cNvPr id="112" name="Arrow"/>
              <p:cNvCxnSpPr/>
              <p:nvPr/>
            </p:nvCxnSpPr>
            <p:spPr>
              <a:xfrm>
                <a:off x="5157216" y="1938528"/>
                <a:ext cx="329184" cy="0"/>
              </a:xfrm>
              <a:prstGeom prst="straightConnector1">
                <a:avLst/>
              </a:prstGeom>
              <a:noFill/>
              <a:ln w="11430">
                <a:solidFill>
                  <a:srgbClr val="768EA7"/>
                </a:solidFill>
                <a:round/>
                <a:tailEnd type="triangle" w="med" len="med"/>
              </a:ln>
            </p:spPr>
          </p:cxnSp>
          <p:sp>
            <p:nvSpPr>
              <p:cNvPr id="113" name="No label"/>
              <p:cNvSpPr txBox="1"/>
              <p:nvPr/>
            </p:nvSpPr>
            <p:spPr>
              <a:xfrm>
                <a:off x="5221224" y="1833372"/>
                <a:ext cx="274320" cy="91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6C849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No</a:t>
                </a:r>
                <a:endParaRPr lang="en-US" sz="580" dirty="0">
                  <a:latin typeface="Inter SemiBold"/>
                </a:endParaRPr>
              </a:p>
            </p:txBody>
          </p:sp>
          <p:grpSp>
            <p:nvGrpSpPr>
              <p:cNvPr id="114" name="Chip SAT  ·  pipe accepted"/>
              <p:cNvGrpSpPr/>
              <p:nvPr/>
            </p:nvGrpSpPr>
            <p:grpSpPr>
              <a:xfrm>
                <a:off x="5504688" y="1860804"/>
                <a:ext cx="1081441" cy="155448"/>
                <a:chOff x="5504688" y="1860804"/>
                <a:chExt cx="1081441" cy="155448"/>
              </a:xfrm>
            </p:grpSpPr>
            <p:sp>
              <p:nvSpPr>
                <p:cNvPr id="115" name="Chip fill"/>
                <p:cNvSpPr/>
                <p:nvPr/>
              </p:nvSpPr>
              <p:spPr>
                <a:xfrm>
                  <a:off x="5504688" y="1860804"/>
                  <a:ext cx="1081441" cy="155448"/>
                </a:xfrm>
                <a:prstGeom prst="roundRect">
                  <a:avLst>
                    <a:gd name="adj" fmla="val 17647"/>
                  </a:avLst>
                </a:prstGeom>
                <a:solidFill>
                  <a:srgbClr val="00A251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16" name="Icon circle-check"/>
                <p:cNvSpPr/>
                <p:nvPr/>
              </p:nvSpPr>
              <p:spPr>
                <a:xfrm>
                  <a:off x="5559552" y="1886934"/>
                  <a:ext cx="103188" cy="103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16000" y="9000"/>
                      </a:moveTo>
                      <a:lnTo>
                        <a:pt x="10500" y="14500"/>
                      </a:lnTo>
                      <a:lnTo>
                        <a:pt x="8000" y="12000"/>
                      </a:lnTo>
                    </a:path>
                  </a:pathLst>
                </a:custGeom>
                <a:noFill/>
                <a:ln w="9888" cap="rnd">
                  <a:solidFill>
                    <a:srgbClr val="008743"/>
                  </a:solidFill>
                  <a:round/>
                </a:ln>
              </p:spPr>
            </p:sp>
            <p:sp>
              <p:nvSpPr>
                <p:cNvPr id="117" name="Chip label"/>
                <p:cNvSpPr txBox="1"/>
                <p:nvPr/>
              </p:nvSpPr>
              <p:spPr>
                <a:xfrm>
                  <a:off x="5694744" y="1860804"/>
                  <a:ext cx="854810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50"/>
                    </a:lnSpc>
                    <a:spcBef>
                      <a:spcPts val="0"/>
                    </a:spcBef>
                    <a:buNone/>
                  </a:pPr>
                  <a:r>
                    <a:rPr lang="en-US" sz="650" b="0" i="0" spc="0" dirty="0">
                      <a:solidFill>
                        <a:srgbClr val="008743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SAT  ·  pipe accepted</a:t>
                  </a:r>
                  <a:endParaRPr lang="en-US" sz="650" dirty="0">
                    <a:latin typeface="Inter SemiBold"/>
                  </a:endParaRPr>
                </a:p>
              </p:txBody>
            </p:sp>
          </p:grpSp>
          <p:cxnSp>
            <p:nvCxnSpPr>
              <p:cNvPr id="118" name="Arrow"/>
              <p:cNvCxnSpPr/>
              <p:nvPr/>
            </p:nvCxnSpPr>
            <p:spPr>
              <a:xfrm>
                <a:off x="4407408" y="2039112"/>
                <a:ext cx="0" cy="128016"/>
              </a:xfrm>
              <a:prstGeom prst="straightConnector1">
                <a:avLst/>
              </a:prstGeom>
              <a:noFill/>
              <a:ln w="11430">
                <a:solidFill>
                  <a:srgbClr val="768EA7"/>
                </a:solidFill>
                <a:round/>
                <a:tailEnd type="triangle" w="med" len="med"/>
              </a:ln>
            </p:spPr>
          </p:cxnSp>
          <p:sp>
            <p:nvSpPr>
              <p:cNvPr id="119" name="Yes label"/>
              <p:cNvSpPr txBox="1"/>
              <p:nvPr/>
            </p:nvSpPr>
            <p:spPr>
              <a:xfrm>
                <a:off x="4462272" y="2066544"/>
                <a:ext cx="274320" cy="91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6C849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Yes</a:t>
                </a:r>
                <a:endParaRPr lang="en-US" sz="580" dirty="0">
                  <a:latin typeface="Inter SemiBold"/>
                </a:endParaRPr>
              </a:p>
            </p:txBody>
          </p:sp>
          <p:sp>
            <p:nvSpPr>
              <p:cNvPr id="120" name="Rule branch"/>
              <p:cNvSpPr/>
              <p:nvPr/>
            </p:nvSpPr>
            <p:spPr>
              <a:xfrm>
                <a:off x="5157216" y="2176272"/>
                <a:ext cx="3291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329184" h="100584" fill="none">
                    <a:moveTo>
                      <a:pt x="0" y="100584"/>
                    </a:moveTo>
                    <a:lnTo>
                      <a:pt x="128016" y="100584"/>
                    </a:lnTo>
                    <a:lnTo>
                      <a:pt x="128016" y="0"/>
                    </a:lnTo>
                    <a:lnTo>
                      <a:pt x="329184" y="0"/>
                    </a:lnTo>
                  </a:path>
                </a:pathLst>
              </a:custGeom>
              <a:noFill/>
              <a:ln w="11430">
                <a:solidFill>
                  <a:srgbClr val="768EA7"/>
                </a:solidFill>
                <a:miter lim="800000"/>
                <a:tailEnd type="triangle" w="med" len="med"/>
              </a:ln>
            </p:spPr>
          </p:sp>
          <p:grpSp>
            <p:nvGrpSpPr>
              <p:cNvPr id="121" name="Chip MUT Prove-Up"/>
              <p:cNvGrpSpPr/>
              <p:nvPr/>
            </p:nvGrpSpPr>
            <p:grpSpPr>
              <a:xfrm>
                <a:off x="5504688" y="2098548"/>
                <a:ext cx="836448" cy="155448"/>
                <a:chOff x="5504688" y="2098548"/>
                <a:chExt cx="836448" cy="155448"/>
              </a:xfrm>
            </p:grpSpPr>
            <p:sp>
              <p:nvSpPr>
                <p:cNvPr id="122" name="Chip fill"/>
                <p:cNvSpPr/>
                <p:nvPr/>
              </p:nvSpPr>
              <p:spPr>
                <a:xfrm>
                  <a:off x="5504688" y="2098548"/>
                  <a:ext cx="836448" cy="155448"/>
                </a:xfrm>
                <a:prstGeom prst="roundRect">
                  <a:avLst>
                    <a:gd name="adj" fmla="val 17647"/>
                  </a:avLst>
                </a:prstGeom>
                <a:solidFill>
                  <a:srgbClr val="165FF2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23" name="Icon crosshair"/>
                <p:cNvSpPr/>
                <p:nvPr/>
              </p:nvSpPr>
              <p:spPr>
                <a:xfrm>
                  <a:off x="5559552" y="2124678"/>
                  <a:ext cx="103188" cy="103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22000" y="12000"/>
                      </a:moveTo>
                      <a:lnTo>
                        <a:pt x="18000" y="12000"/>
                      </a:lnTo>
                    </a:path>
                    <a:path w="24000" h="24000" fill="none">
                      <a:moveTo>
                        <a:pt x="6000" y="12000"/>
                      </a:moveTo>
                      <a:lnTo>
                        <a:pt x="2000" y="12000"/>
                      </a:lnTo>
                    </a:path>
                    <a:path w="24000" h="24000" fill="none">
                      <a:moveTo>
                        <a:pt x="12000" y="6000"/>
                      </a:moveTo>
                      <a:lnTo>
                        <a:pt x="12000" y="2000"/>
                      </a:lnTo>
                    </a:path>
                    <a:path w="24000" h="24000" fill="none">
                      <a:moveTo>
                        <a:pt x="12000" y="22000"/>
                      </a:moveTo>
                      <a:lnTo>
                        <a:pt x="12000" y="18000"/>
                      </a:lnTo>
                    </a:path>
                  </a:pathLst>
                </a:custGeom>
                <a:noFill/>
                <a:ln w="9888" cap="rnd">
                  <a:solidFill>
                    <a:srgbClr val="0E3FAA"/>
                  </a:solidFill>
                  <a:round/>
                </a:ln>
              </p:spPr>
            </p:sp>
            <p:sp>
              <p:nvSpPr>
                <p:cNvPr id="124" name="Chip label"/>
                <p:cNvSpPr txBox="1"/>
                <p:nvPr/>
              </p:nvSpPr>
              <p:spPr>
                <a:xfrm>
                  <a:off x="5694744" y="2098548"/>
                  <a:ext cx="609817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50"/>
                    </a:lnSpc>
                    <a:spcBef>
                      <a:spcPts val="0"/>
                    </a:spcBef>
                    <a:buNone/>
                  </a:pPr>
                  <a:r>
                    <a:rPr lang="en-US" sz="650" b="0" i="0" spc="0" dirty="0">
                      <a:solidFill>
                        <a:srgbClr val="0E3FA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MUT Prove-Up</a:t>
                  </a:r>
                  <a:endParaRPr lang="en-US" sz="650" dirty="0">
                    <a:latin typeface="Inter SemiBold"/>
                  </a:endParaRPr>
                </a:p>
              </p:txBody>
            </p:sp>
          </p:grpSp>
          <p:sp>
            <p:nvSpPr>
              <p:cNvPr id="125" name="Rule branch"/>
              <p:cNvSpPr/>
              <p:nvPr/>
            </p:nvSpPr>
            <p:spPr>
              <a:xfrm>
                <a:off x="5157216" y="2276856"/>
                <a:ext cx="3291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329184" h="100584" fill="none">
                    <a:moveTo>
                      <a:pt x="0" y="0"/>
                    </a:moveTo>
                    <a:lnTo>
                      <a:pt x="128016" y="0"/>
                    </a:lnTo>
                    <a:lnTo>
                      <a:pt x="128016" y="100584"/>
                    </a:lnTo>
                    <a:lnTo>
                      <a:pt x="329184" y="100584"/>
                    </a:lnTo>
                  </a:path>
                </a:pathLst>
              </a:custGeom>
              <a:noFill/>
              <a:ln w="11430">
                <a:solidFill>
                  <a:srgbClr val="768EA7"/>
                </a:solidFill>
                <a:miter lim="800000"/>
                <a:tailEnd type="triangle" w="med" len="med"/>
              </a:ln>
            </p:spPr>
          </p:sp>
          <p:grpSp>
            <p:nvGrpSpPr>
              <p:cNvPr id="126" name="Chip X-Ray Prove-Up"/>
              <p:cNvGrpSpPr/>
              <p:nvPr/>
            </p:nvGrpSpPr>
            <p:grpSpPr>
              <a:xfrm>
                <a:off x="5504688" y="2299716"/>
                <a:ext cx="887810" cy="155448"/>
                <a:chOff x="5504688" y="2299716"/>
                <a:chExt cx="887810" cy="155448"/>
              </a:xfrm>
            </p:grpSpPr>
            <p:sp>
              <p:nvSpPr>
                <p:cNvPr id="127" name="Chip fill"/>
                <p:cNvSpPr/>
                <p:nvPr/>
              </p:nvSpPr>
              <p:spPr>
                <a:xfrm>
                  <a:off x="5504688" y="2299716"/>
                  <a:ext cx="887810" cy="155448"/>
                </a:xfrm>
                <a:prstGeom prst="roundRect">
                  <a:avLst>
                    <a:gd name="adj" fmla="val 17647"/>
                  </a:avLst>
                </a:prstGeom>
                <a:solidFill>
                  <a:srgbClr val="165FF2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28" name="Icon scan-line"/>
                <p:cNvSpPr/>
                <p:nvPr/>
              </p:nvSpPr>
              <p:spPr>
                <a:xfrm>
                  <a:off x="5559552" y="2325846"/>
                  <a:ext cx="103188" cy="103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3000" y="7000"/>
                      </a:moveTo>
                      <a:lnTo>
                        <a:pt x="3000" y="5000"/>
                      </a:lnTo>
                      <a:cubicBezTo>
                        <a:pt x="3000" y="4648"/>
                        <a:pt x="3092" y="4304"/>
                        <a:pt x="3267" y="4000"/>
                      </a:cubicBezTo>
                      <a:cubicBezTo>
                        <a:pt x="3443" y="3695"/>
                        <a:pt x="3695" y="3443"/>
                        <a:pt x="3999" y="3267"/>
                      </a:cubicBezTo>
                      <a:cubicBezTo>
                        <a:pt x="4304" y="3092"/>
                        <a:pt x="4648" y="3000"/>
                        <a:pt x="5000" y="3000"/>
                      </a:cubicBezTo>
                      <a:lnTo>
                        <a:pt x="7000" y="3000"/>
                      </a:lnTo>
                    </a:path>
                    <a:path w="24000" h="24000" fill="none">
                      <a:moveTo>
                        <a:pt x="17000" y="3000"/>
                      </a:moveTo>
                      <a:lnTo>
                        <a:pt x="19000" y="3000"/>
                      </a:lnTo>
                      <a:cubicBezTo>
                        <a:pt x="19351" y="3000"/>
                        <a:pt x="19695" y="3092"/>
                        <a:pt x="20000" y="3267"/>
                      </a:cubicBezTo>
                      <a:cubicBezTo>
                        <a:pt x="20304" y="3443"/>
                        <a:pt x="20556" y="3695"/>
                        <a:pt x="20732" y="4000"/>
                      </a:cubicBezTo>
                      <a:cubicBezTo>
                        <a:pt x="20907" y="4304"/>
                        <a:pt x="21000" y="4648"/>
                        <a:pt x="21000" y="5000"/>
                      </a:cubicBezTo>
                      <a:lnTo>
                        <a:pt x="21000" y="7000"/>
                      </a:lnTo>
                    </a:path>
                    <a:path w="24000" h="24000" fill="none">
                      <a:moveTo>
                        <a:pt x="21000" y="17000"/>
                      </a:moveTo>
                      <a:lnTo>
                        <a:pt x="21000" y="19000"/>
                      </a:lnTo>
                      <a:cubicBezTo>
                        <a:pt x="21000" y="19351"/>
                        <a:pt x="20907" y="19695"/>
                        <a:pt x="20732" y="20000"/>
                      </a:cubicBezTo>
                      <a:cubicBezTo>
                        <a:pt x="20556" y="20304"/>
                        <a:pt x="20304" y="20556"/>
                        <a:pt x="20000" y="20732"/>
                      </a:cubicBezTo>
                      <a:cubicBezTo>
                        <a:pt x="19695" y="20907"/>
                        <a:pt x="19351" y="21000"/>
                        <a:pt x="19000" y="21000"/>
                      </a:cubicBezTo>
                      <a:lnTo>
                        <a:pt x="17000" y="21000"/>
                      </a:lnTo>
                    </a:path>
                    <a:path w="24000" h="24000" fill="none">
                      <a:moveTo>
                        <a:pt x="7000" y="21000"/>
                      </a:moveTo>
                      <a:lnTo>
                        <a:pt x="5000" y="21000"/>
                      </a:lnTo>
                      <a:cubicBezTo>
                        <a:pt x="4648" y="21000"/>
                        <a:pt x="4304" y="20907"/>
                        <a:pt x="4000" y="20732"/>
                      </a:cubicBezTo>
                      <a:cubicBezTo>
                        <a:pt x="3695" y="20556"/>
                        <a:pt x="3443" y="20304"/>
                        <a:pt x="3267" y="20000"/>
                      </a:cubicBezTo>
                      <a:cubicBezTo>
                        <a:pt x="3092" y="19695"/>
                        <a:pt x="3000" y="19351"/>
                        <a:pt x="3000" y="19000"/>
                      </a:cubicBezTo>
                      <a:lnTo>
                        <a:pt x="3000" y="17000"/>
                      </a:lnTo>
                    </a:path>
                    <a:path w="24000" h="24000" fill="none">
                      <a:moveTo>
                        <a:pt x="7000" y="12000"/>
                      </a:moveTo>
                      <a:lnTo>
                        <a:pt x="17000" y="12000"/>
                      </a:lnTo>
                    </a:path>
                  </a:pathLst>
                </a:custGeom>
                <a:noFill/>
                <a:ln w="9888" cap="rnd">
                  <a:solidFill>
                    <a:srgbClr val="0E3FAA"/>
                  </a:solidFill>
                  <a:round/>
                </a:ln>
              </p:spPr>
            </p:sp>
            <p:sp>
              <p:nvSpPr>
                <p:cNvPr id="129" name="Chip label"/>
                <p:cNvSpPr txBox="1"/>
                <p:nvPr/>
              </p:nvSpPr>
              <p:spPr>
                <a:xfrm>
                  <a:off x="5694744" y="2299716"/>
                  <a:ext cx="66117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50"/>
                    </a:lnSpc>
                    <a:spcBef>
                      <a:spcPts val="0"/>
                    </a:spcBef>
                    <a:buNone/>
                  </a:pPr>
                  <a:r>
                    <a:rPr lang="en-US" sz="650" b="0" i="0" spc="0" dirty="0">
                      <a:solidFill>
                        <a:srgbClr val="0E3FA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X-Ray Prove-Up</a:t>
                  </a:r>
                  <a:endParaRPr lang="en-US" sz="650" dirty="0">
                    <a:latin typeface="Inter SemiBold"/>
                  </a:endParaRPr>
                </a:p>
              </p:txBody>
            </p:sp>
          </p:grpSp>
        </p:grpSp>
        <p:grpSp>
          <p:nvGrpSpPr>
            <p:cNvPr id="130" name="Pipe classification"/>
            <p:cNvGrpSpPr/>
            <p:nvPr/>
          </p:nvGrpSpPr>
          <p:grpSpPr>
            <a:xfrm>
              <a:off x="4023360" y="2532888"/>
              <a:ext cx="2633472" cy="365760"/>
              <a:chOff x="4023360" y="2532888"/>
              <a:chExt cx="2633472" cy="365760"/>
            </a:xfrm>
          </p:grpSpPr>
          <p:sp>
            <p:nvSpPr>
              <p:cNvPr id="131" name="Classification card"/>
              <p:cNvSpPr/>
              <p:nvPr/>
            </p:nvSpPr>
            <p:spPr>
              <a:xfrm>
                <a:off x="4023360" y="2532888"/>
                <a:ext cx="2633472" cy="36576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9525">
                <a:solidFill>
                  <a:srgbClr val="B8D0FD"/>
                </a:solidFill>
                <a:round/>
              </a:ln>
            </p:spPr>
          </p:sp>
          <p:sp>
            <p:nvSpPr>
              <p:cNvPr id="132" name="Icon list-checks"/>
              <p:cNvSpPr/>
              <p:nvPr/>
            </p:nvSpPr>
            <p:spPr>
              <a:xfrm>
                <a:off x="4096512" y="2601468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3000" y="5000"/>
                    </a:moveTo>
                    <a:lnTo>
                      <a:pt x="21000" y="5000"/>
                    </a:lnTo>
                  </a:path>
                  <a:path w="24000" h="24000" fill="none">
                    <a:moveTo>
                      <a:pt x="13000" y="12000"/>
                    </a:moveTo>
                    <a:lnTo>
                      <a:pt x="21000" y="12000"/>
                    </a:lnTo>
                  </a:path>
                  <a:path w="24000" h="24000" fill="none">
                    <a:moveTo>
                      <a:pt x="13000" y="19000"/>
                    </a:moveTo>
                    <a:lnTo>
                      <a:pt x="21000" y="19000"/>
                    </a:lnTo>
                  </a:path>
                  <a:path w="24000" h="24000" fill="none">
                    <a:moveTo>
                      <a:pt x="3000" y="17000"/>
                    </a:moveTo>
                    <a:lnTo>
                      <a:pt x="5000" y="19000"/>
                    </a:lnTo>
                    <a:lnTo>
                      <a:pt x="9000" y="15000"/>
                    </a:lnTo>
                  </a:path>
                  <a:path w="24000" h="24000" fill="none">
                    <a:moveTo>
                      <a:pt x="3000" y="7000"/>
                    </a:moveTo>
                    <a:lnTo>
                      <a:pt x="5000" y="9000"/>
                    </a:lnTo>
                    <a:lnTo>
                      <a:pt x="9000" y="5000"/>
                    </a:lnTo>
                  </a:path>
                </a:pathLst>
              </a:custGeom>
              <a:noFill/>
              <a:ln w="12192" cap="rnd">
                <a:solidFill>
                  <a:srgbClr val="165FF2"/>
                </a:solidFill>
                <a:round/>
              </a:ln>
            </p:spPr>
          </p:sp>
          <p:sp>
            <p:nvSpPr>
              <p:cNvPr id="133" name="Pipe classification title"/>
              <p:cNvSpPr txBox="1"/>
              <p:nvPr/>
            </p:nvSpPr>
            <p:spPr>
              <a:xfrm>
                <a:off x="4297680" y="2587752"/>
                <a:ext cx="230428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82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Pipe classification</a:t>
                </a:r>
                <a:r>
                  <a:rPr lang="en-US" sz="680" b="0" i="0" spc="0" dirty="0">
                    <a:solidFill>
                      <a:srgbClr val="6C849D"/>
                    </a:solidFill>
                    <a:latin typeface="Inter"/>
                    <a:ea typeface="Inter"/>
                    <a:cs typeface="Inter"/>
                    <a:sym typeface="Inter"/>
                  </a:rPr>
                  <a:t>  ·  set by the operator</a:t>
                </a:r>
                <a:endParaRPr lang="en-US" sz="680" dirty="0">
                  <a:latin typeface="Inter"/>
                </a:endParaRPr>
              </a:p>
            </p:txBody>
          </p:sp>
          <p:grpSp>
            <p:nvGrpSpPr>
              <p:cNvPr id="134" name="Chip Regular"/>
              <p:cNvGrpSpPr/>
              <p:nvPr/>
            </p:nvGrpSpPr>
            <p:grpSpPr>
              <a:xfrm>
                <a:off x="4297680" y="2734056"/>
                <a:ext cx="383433" cy="137160"/>
                <a:chOff x="4297680" y="2734056"/>
                <a:chExt cx="383433" cy="137160"/>
              </a:xfrm>
            </p:grpSpPr>
            <p:sp>
              <p:nvSpPr>
                <p:cNvPr id="135" name="Chip fill"/>
                <p:cNvSpPr/>
                <p:nvPr/>
              </p:nvSpPr>
              <p:spPr>
                <a:xfrm>
                  <a:off x="4297680" y="2734056"/>
                  <a:ext cx="383433" cy="13716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6C849D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36" name="Chip label"/>
                <p:cNvSpPr txBox="1"/>
                <p:nvPr/>
              </p:nvSpPr>
              <p:spPr>
                <a:xfrm>
                  <a:off x="4343400" y="2734056"/>
                  <a:ext cx="31028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30"/>
                    </a:lnSpc>
                    <a:spcBef>
                      <a:spcPts val="0"/>
                    </a:spcBef>
                    <a:buNone/>
                  </a:pPr>
                  <a:r>
                    <a:rPr lang="en-US" sz="630" b="0" i="0" spc="0" dirty="0">
                      <a:solidFill>
                        <a:srgbClr val="40566D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Regular</a:t>
                  </a:r>
                  <a:endParaRPr lang="en-US" sz="630" dirty="0">
                    <a:latin typeface="Inter Medium"/>
                  </a:endParaRPr>
                </a:p>
              </p:txBody>
            </p:sp>
          </p:grpSp>
          <p:grpSp>
            <p:nvGrpSpPr>
              <p:cNvPr id="137" name="Chip Calibration  ·  OK / Not OK"/>
              <p:cNvGrpSpPr/>
              <p:nvPr/>
            </p:nvGrpSpPr>
            <p:grpSpPr>
              <a:xfrm>
                <a:off x="4717689" y="2734056"/>
                <a:ext cx="1077138" cy="137160"/>
                <a:chOff x="4717689" y="2734056"/>
                <a:chExt cx="1077138" cy="137160"/>
              </a:xfrm>
            </p:grpSpPr>
            <p:sp>
              <p:nvSpPr>
                <p:cNvPr id="138" name="Chip fill"/>
                <p:cNvSpPr/>
                <p:nvPr/>
              </p:nvSpPr>
              <p:spPr>
                <a:xfrm>
                  <a:off x="4717689" y="2734056"/>
                  <a:ext cx="1077138" cy="13716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6C849D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39" name="Chip label"/>
                <p:cNvSpPr txBox="1"/>
                <p:nvPr/>
              </p:nvSpPr>
              <p:spPr>
                <a:xfrm>
                  <a:off x="4763409" y="2734056"/>
                  <a:ext cx="100398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30"/>
                    </a:lnSpc>
                    <a:spcBef>
                      <a:spcPts val="0"/>
                    </a:spcBef>
                    <a:buNone/>
                  </a:pPr>
                  <a:r>
                    <a:rPr lang="en-US" sz="630" b="0" i="0" spc="0" dirty="0">
                      <a:solidFill>
                        <a:srgbClr val="40566D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Calibration  ·  OK / Not OK</a:t>
                  </a:r>
                  <a:endParaRPr lang="en-US" sz="630" dirty="0">
                    <a:latin typeface="Inter Medium"/>
                  </a:endParaRPr>
                </a:p>
              </p:txBody>
            </p:sp>
          </p:grpSp>
          <p:grpSp>
            <p:nvGrpSpPr>
              <p:cNvPr id="140" name="Chip Repeatability"/>
              <p:cNvGrpSpPr/>
              <p:nvPr/>
            </p:nvGrpSpPr>
            <p:grpSpPr>
              <a:xfrm>
                <a:off x="5831403" y="2734056"/>
                <a:ext cx="589765" cy="137160"/>
                <a:chOff x="5831403" y="2734056"/>
                <a:chExt cx="589765" cy="137160"/>
              </a:xfrm>
            </p:grpSpPr>
            <p:sp>
              <p:nvSpPr>
                <p:cNvPr id="141" name="Chip fill"/>
                <p:cNvSpPr/>
                <p:nvPr/>
              </p:nvSpPr>
              <p:spPr>
                <a:xfrm>
                  <a:off x="5831403" y="2734056"/>
                  <a:ext cx="589765" cy="13716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6C849D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42" name="Chip label"/>
                <p:cNvSpPr txBox="1"/>
                <p:nvPr/>
              </p:nvSpPr>
              <p:spPr>
                <a:xfrm>
                  <a:off x="5877123" y="2734056"/>
                  <a:ext cx="516613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30"/>
                    </a:lnSpc>
                    <a:spcBef>
                      <a:spcPts val="0"/>
                    </a:spcBef>
                    <a:buNone/>
                  </a:pPr>
                  <a:r>
                    <a:rPr lang="en-US" sz="630" b="0" i="0" spc="0" dirty="0">
                      <a:solidFill>
                        <a:srgbClr val="40566D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Repeatability</a:t>
                  </a:r>
                  <a:endParaRPr lang="en-US" sz="630" dirty="0">
                    <a:latin typeface="Inter Medium"/>
                  </a:endParaRPr>
                </a:p>
              </p:txBody>
            </p:sp>
          </p:grpSp>
        </p:grpSp>
        <p:grpSp>
          <p:nvGrpSpPr>
            <p:cNvPr id="143" name="SAP timestamp rule"/>
            <p:cNvGrpSpPr/>
            <p:nvPr/>
          </p:nvGrpSpPr>
          <p:grpSpPr>
            <a:xfrm>
              <a:off x="4023360" y="2944368"/>
              <a:ext cx="2633472" cy="566928"/>
              <a:chOff x="4023360" y="2944368"/>
              <a:chExt cx="2633472" cy="566928"/>
            </a:xfrm>
          </p:grpSpPr>
          <p:sp>
            <p:nvSpPr>
              <p:cNvPr id="144" name="Timestamp card"/>
              <p:cNvSpPr/>
              <p:nvPr/>
            </p:nvSpPr>
            <p:spPr>
              <a:xfrm>
                <a:off x="4023360" y="2944368"/>
                <a:ext cx="2633472" cy="566928"/>
              </a:xfrm>
              <a:prstGeom prst="roundRect">
                <a:avLst>
                  <a:gd name="adj" fmla="val 8064"/>
                </a:avLst>
              </a:prstGeom>
              <a:solidFill>
                <a:srgbClr val="FFFFFF"/>
              </a:solidFill>
              <a:ln w="9525">
                <a:solidFill>
                  <a:srgbClr val="B8D0FD"/>
                </a:solidFill>
                <a:round/>
              </a:ln>
            </p:spPr>
          </p:sp>
          <p:sp>
            <p:nvSpPr>
              <p:cNvPr id="145" name="Icon clock"/>
              <p:cNvSpPr/>
              <p:nvPr/>
            </p:nvSpPr>
            <p:spPr>
              <a:xfrm>
                <a:off x="4096512" y="3012948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12000" y="6000"/>
                    </a:moveTo>
                    <a:lnTo>
                      <a:pt x="12000" y="12000"/>
                    </a:lnTo>
                    <a:lnTo>
                      <a:pt x="16000" y="14000"/>
                    </a:lnTo>
                  </a:path>
                </a:pathLst>
              </a:custGeom>
              <a:noFill/>
              <a:ln w="12192" cap="rnd">
                <a:solidFill>
                  <a:srgbClr val="165FF2"/>
                </a:solidFill>
                <a:round/>
              </a:ln>
            </p:spPr>
          </p:sp>
          <p:sp>
            <p:nvSpPr>
              <p:cNvPr id="146" name="SAP timestamp rule title"/>
              <p:cNvSpPr txBox="1"/>
              <p:nvPr/>
            </p:nvSpPr>
            <p:spPr>
              <a:xfrm>
                <a:off x="4297680" y="2999232"/>
                <a:ext cx="230428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82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SAP timestamp rule</a:t>
                </a:r>
                <a:endParaRPr lang="en-US" sz="680" dirty="0">
                  <a:latin typeface="Inter"/>
                </a:endParaRPr>
              </a:p>
            </p:txBody>
          </p:sp>
          <p:sp>
            <p:nvSpPr>
              <p:cNvPr id="147" name="Timestamp rules"/>
              <p:cNvSpPr txBox="1"/>
              <p:nvPr/>
            </p:nvSpPr>
            <p:spPr>
              <a:xfrm>
                <a:off x="4297680" y="3154680"/>
                <a:ext cx="2286000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6"/>
                  </a:lnSpc>
                  <a:spcBef>
                    <a:spcPts val="0"/>
                  </a:spcBef>
                  <a:buNone/>
                </a:pPr>
                <a:r>
                  <a:rPr lang="en-US" sz="6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Regular:</a:t>
                </a:r>
                <a:r>
                  <a:rPr lang="en-US" sz="63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upload time; PDF test time if the upload succeeds in a later shift</a:t>
                </a:r>
                <a:endParaRPr lang="en-US" sz="630" dirty="0">
                  <a:latin typeface="Inter"/>
                </a:endParaRPr>
              </a:p>
              <a:p>
                <a:pPr algn="l">
                  <a:lnSpc>
                    <a:spcPts val="756"/>
                  </a:lnSpc>
                  <a:spcBef>
                    <a:spcPts val="200"/>
                  </a:spcBef>
                  <a:buNone/>
                </a:pPr>
                <a:r>
                  <a:rPr lang="en-US" sz="6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Calibration / repeatability:</a:t>
                </a:r>
                <a:r>
                  <a:rPr lang="en-US" sz="63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 always the PDF test time</a:t>
                </a:r>
                <a:endParaRPr lang="en-US" sz="630" dirty="0">
                  <a:latin typeface="Inter"/>
                </a:endParaRPr>
              </a:p>
            </p:txBody>
          </p:sp>
        </p:grpSp>
        <p:grpSp>
          <p:nvGrpSpPr>
            <p:cNvPr id="148" name="Operator review"/>
            <p:cNvGrpSpPr/>
            <p:nvPr/>
          </p:nvGrpSpPr>
          <p:grpSpPr>
            <a:xfrm>
              <a:off x="2194560" y="3566160"/>
              <a:ext cx="4462272" cy="274320"/>
              <a:chOff x="2194560" y="3566160"/>
              <a:chExt cx="4462272" cy="274320"/>
            </a:xfrm>
          </p:grpSpPr>
          <p:sp>
            <p:nvSpPr>
              <p:cNvPr id="149" name="Review strip"/>
              <p:cNvSpPr/>
              <p:nvPr/>
            </p:nvSpPr>
            <p:spPr>
              <a:xfrm>
                <a:off x="2194560" y="3566160"/>
                <a:ext cx="4462272" cy="274320"/>
              </a:xfrm>
              <a:prstGeom prst="roundRect">
                <a:avLst>
                  <a:gd name="adj" fmla="val 16666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150" name="Icon user-check"/>
              <p:cNvSpPr/>
              <p:nvPr/>
            </p:nvSpPr>
            <p:spPr>
              <a:xfrm>
                <a:off x="2286000" y="3630168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1000"/>
                    </a:moveTo>
                    <a:lnTo>
                      <a:pt x="18000" y="13000"/>
                    </a:lnTo>
                    <a:lnTo>
                      <a:pt x="22000" y="9000"/>
                    </a:lnTo>
                  </a:path>
                  <a:path w="24000" h="24000" fill="none">
                    <a:moveTo>
                      <a:pt x="16000" y="21000"/>
                    </a:moveTo>
                    <a:lnTo>
                      <a:pt x="16000" y="19000"/>
                    </a:lnTo>
                    <a:cubicBezTo>
                      <a:pt x="16000" y="18297"/>
                      <a:pt x="15815" y="17608"/>
                      <a:pt x="15464" y="17000"/>
                    </a:cubicBezTo>
                    <a:cubicBezTo>
                      <a:pt x="15113" y="16391"/>
                      <a:pt x="14608" y="15886"/>
                      <a:pt x="14000" y="15535"/>
                    </a:cubicBezTo>
                    <a:cubicBezTo>
                      <a:pt x="13391" y="15184"/>
                      <a:pt x="12702" y="15000"/>
                      <a:pt x="12000" y="15000"/>
                    </a:cubicBezTo>
                    <a:lnTo>
                      <a:pt x="6000" y="15000"/>
                    </a:lnTo>
                    <a:cubicBezTo>
                      <a:pt x="5297" y="15000"/>
                      <a:pt x="4608" y="15184"/>
                      <a:pt x="4000" y="15535"/>
                    </a:cubicBezTo>
                    <a:cubicBezTo>
                      <a:pt x="3391" y="15886"/>
                      <a:pt x="2886" y="16391"/>
                      <a:pt x="2535" y="17000"/>
                    </a:cubicBezTo>
                    <a:cubicBezTo>
                      <a:pt x="2184" y="17608"/>
                      <a:pt x="2000" y="18297"/>
                      <a:pt x="2000" y="19000"/>
                    </a:cubicBezTo>
                    <a:lnTo>
                      <a:pt x="2000" y="21000"/>
                    </a:lnTo>
                  </a:path>
                  <a:path w="24000" h="24000" fill="none">
                    <a:moveTo>
                      <a:pt x="13000" y="7000"/>
                    </a:moveTo>
                    <a:cubicBezTo>
                      <a:pt x="13000" y="7702"/>
                      <a:pt x="12815" y="8391"/>
                      <a:pt x="12464" y="9000"/>
                    </a:cubicBezTo>
                    <a:cubicBezTo>
                      <a:pt x="12113" y="9608"/>
                      <a:pt x="11608" y="10113"/>
                      <a:pt x="11000" y="10464"/>
                    </a:cubicBezTo>
                    <a:cubicBezTo>
                      <a:pt x="10391" y="10815"/>
                      <a:pt x="9702" y="11000"/>
                      <a:pt x="9000" y="11000"/>
                    </a:cubicBezTo>
                    <a:cubicBezTo>
                      <a:pt x="8297" y="11000"/>
                      <a:pt x="7608" y="10815"/>
                      <a:pt x="7000" y="10464"/>
                    </a:cubicBezTo>
                    <a:cubicBezTo>
                      <a:pt x="6391" y="10113"/>
                      <a:pt x="5886" y="9608"/>
                      <a:pt x="5535" y="9000"/>
                    </a:cubicBezTo>
                    <a:cubicBezTo>
                      <a:pt x="5184" y="8391"/>
                      <a:pt x="5000" y="7702"/>
                      <a:pt x="5000" y="7000"/>
                    </a:cubicBezTo>
                    <a:cubicBezTo>
                      <a:pt x="5000" y="6297"/>
                      <a:pt x="5184" y="5608"/>
                      <a:pt x="5535" y="5000"/>
                    </a:cubicBezTo>
                    <a:cubicBezTo>
                      <a:pt x="5886" y="4391"/>
                      <a:pt x="6391" y="3886"/>
                      <a:pt x="6999" y="3535"/>
                    </a:cubicBezTo>
                    <a:cubicBezTo>
                      <a:pt x="7608" y="3184"/>
                      <a:pt x="8297" y="3000"/>
                      <a:pt x="9000" y="3000"/>
                    </a:cubicBezTo>
                    <a:cubicBezTo>
                      <a:pt x="9702" y="3000"/>
                      <a:pt x="10391" y="3184"/>
                      <a:pt x="11000" y="3535"/>
                    </a:cubicBezTo>
                    <a:cubicBezTo>
                      <a:pt x="11608" y="3886"/>
                      <a:pt x="12113" y="4391"/>
                      <a:pt x="12464" y="5000"/>
                    </a:cubicBezTo>
                    <a:cubicBezTo>
                      <a:pt x="12815" y="5608"/>
                      <a:pt x="13000" y="6297"/>
                      <a:pt x="13000" y="6999"/>
                    </a:cubicBezTo>
                    <a:close/>
                  </a:path>
                </a:pathLst>
              </a:custGeom>
              <a:noFill/>
              <a:ln w="12192" cap="rnd">
                <a:solidFill>
                  <a:srgbClr val="FFFFFF"/>
                </a:solidFill>
                <a:round/>
              </a:ln>
            </p:spPr>
          </p:sp>
          <p:sp>
            <p:nvSpPr>
              <p:cNvPr id="151" name="Review title"/>
              <p:cNvSpPr txBox="1"/>
              <p:nvPr/>
            </p:nvSpPr>
            <p:spPr>
              <a:xfrm>
                <a:off x="2496312" y="3566160"/>
                <a:ext cx="10972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73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Operator review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152" name="Icon eye"/>
              <p:cNvSpPr/>
              <p:nvPr/>
            </p:nvSpPr>
            <p:spPr>
              <a:xfrm>
                <a:off x="3474720" y="3639312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62" y="12348"/>
                    </a:moveTo>
                    <a:cubicBezTo>
                      <a:pt x="2020" y="12236"/>
                      <a:pt x="1999" y="12118"/>
                      <a:pt x="1999" y="12000"/>
                    </a:cubicBezTo>
                    <a:cubicBezTo>
                      <a:pt x="1999" y="11881"/>
                      <a:pt x="2020" y="11763"/>
                      <a:pt x="2062" y="11652"/>
                    </a:cubicBezTo>
                    <a:cubicBezTo>
                      <a:pt x="2709" y="10081"/>
                      <a:pt x="3720" y="8687"/>
                      <a:pt x="5010" y="7582"/>
                    </a:cubicBezTo>
                    <a:cubicBezTo>
                      <a:pt x="6301" y="6478"/>
                      <a:pt x="7835" y="5695"/>
                      <a:pt x="9487" y="5298"/>
                    </a:cubicBezTo>
                    <a:cubicBezTo>
                      <a:pt x="11138" y="4901"/>
                      <a:pt x="12861" y="4901"/>
                      <a:pt x="14512" y="5298"/>
                    </a:cubicBezTo>
                    <a:cubicBezTo>
                      <a:pt x="16164" y="5695"/>
                      <a:pt x="17698" y="6478"/>
                      <a:pt x="18989" y="7582"/>
                    </a:cubicBezTo>
                    <a:cubicBezTo>
                      <a:pt x="20279" y="8687"/>
                      <a:pt x="21290" y="10081"/>
                      <a:pt x="21938" y="11652"/>
                    </a:cubicBezTo>
                    <a:cubicBezTo>
                      <a:pt x="21979" y="11763"/>
                      <a:pt x="22000" y="11881"/>
                      <a:pt x="22000" y="12000"/>
                    </a:cubicBezTo>
                    <a:cubicBezTo>
                      <a:pt x="22000" y="12118"/>
                      <a:pt x="21979" y="12236"/>
                      <a:pt x="21938" y="12348"/>
                    </a:cubicBezTo>
                    <a:cubicBezTo>
                      <a:pt x="21290" y="13918"/>
                      <a:pt x="20279" y="15312"/>
                      <a:pt x="18989" y="16417"/>
                    </a:cubicBezTo>
                    <a:cubicBezTo>
                      <a:pt x="17698" y="17521"/>
                      <a:pt x="16164" y="18304"/>
                      <a:pt x="14512" y="18701"/>
                    </a:cubicBezTo>
                    <a:cubicBezTo>
                      <a:pt x="12861" y="19098"/>
                      <a:pt x="11138" y="19098"/>
                      <a:pt x="9487" y="18701"/>
                    </a:cubicBezTo>
                    <a:cubicBezTo>
                      <a:pt x="7835" y="18304"/>
                      <a:pt x="6301" y="17521"/>
                      <a:pt x="5010" y="16417"/>
                    </a:cubicBezTo>
                    <a:cubicBezTo>
                      <a:pt x="3720" y="15312"/>
                      <a:pt x="2709" y="13918"/>
                      <a:pt x="2062" y="12348"/>
                    </a:cubicBezTo>
                  </a:path>
                  <a:path w="24000" h="24000" fill="none">
                    <a:moveTo>
                      <a:pt x="15000" y="12000"/>
                    </a:moveTo>
                    <a:cubicBezTo>
                      <a:pt x="15000" y="12526"/>
                      <a:pt x="14861" y="13043"/>
                      <a:pt x="14598" y="13500"/>
                    </a:cubicBezTo>
                    <a:cubicBezTo>
                      <a:pt x="14334" y="13956"/>
                      <a:pt x="13956" y="14334"/>
                      <a:pt x="13500" y="14598"/>
                    </a:cubicBezTo>
                    <a:cubicBezTo>
                      <a:pt x="13043" y="14861"/>
                      <a:pt x="12526" y="15000"/>
                      <a:pt x="12000" y="15000"/>
                    </a:cubicBezTo>
                    <a:cubicBezTo>
                      <a:pt x="11473" y="15000"/>
                      <a:pt x="10956" y="14861"/>
                      <a:pt x="10500" y="14598"/>
                    </a:cubicBezTo>
                    <a:cubicBezTo>
                      <a:pt x="10043" y="14334"/>
                      <a:pt x="9665" y="13956"/>
                      <a:pt x="9401" y="13500"/>
                    </a:cubicBezTo>
                    <a:cubicBezTo>
                      <a:pt x="9138" y="13043"/>
                      <a:pt x="9000" y="12526"/>
                      <a:pt x="9000" y="12000"/>
                    </a:cubicBezTo>
                    <a:cubicBezTo>
                      <a:pt x="9000" y="11473"/>
                      <a:pt x="9138" y="10956"/>
                      <a:pt x="9401" y="10500"/>
                    </a:cubicBezTo>
                    <a:cubicBezTo>
                      <a:pt x="9665" y="10043"/>
                      <a:pt x="10043" y="9665"/>
                      <a:pt x="10499" y="9401"/>
                    </a:cubicBezTo>
                    <a:cubicBezTo>
                      <a:pt x="10956" y="9138"/>
                      <a:pt x="11473" y="9000"/>
                      <a:pt x="12000" y="9000"/>
                    </a:cubicBezTo>
                    <a:cubicBezTo>
                      <a:pt x="12526" y="9000"/>
                      <a:pt x="13043" y="9138"/>
                      <a:pt x="13500" y="9401"/>
                    </a:cubicBezTo>
                    <a:cubicBezTo>
                      <a:pt x="13956" y="9665"/>
                      <a:pt x="14334" y="10043"/>
                      <a:pt x="14598" y="10500"/>
                    </a:cubicBezTo>
                    <a:cubicBezTo>
                      <a:pt x="14861" y="10956"/>
                      <a:pt x="15000" y="11473"/>
                      <a:pt x="15000" y="12000"/>
                    </a:cubicBezTo>
                    <a:close/>
                  </a:path>
                </a:pathLst>
              </a:custGeom>
              <a:noFill/>
              <a:ln w="11734" cap="rnd">
                <a:solidFill>
                  <a:srgbClr val="DCE8FE"/>
                </a:solidFill>
                <a:round/>
              </a:ln>
            </p:spPr>
          </p:sp>
          <p:sp>
            <p:nvSpPr>
              <p:cNvPr id="153" name="Preview all fields and files"/>
              <p:cNvSpPr txBox="1"/>
              <p:nvPr/>
            </p:nvSpPr>
            <p:spPr>
              <a:xfrm>
                <a:off x="3648456" y="3566160"/>
                <a:ext cx="11017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8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Preview all fields and files</a:t>
                </a:r>
                <a:endParaRPr lang="en-US" sz="680" dirty="0">
                  <a:latin typeface="Inter"/>
                </a:endParaRPr>
              </a:p>
            </p:txBody>
          </p:sp>
          <p:sp>
            <p:nvSpPr>
              <p:cNvPr id="154" name="Icon chevron-right"/>
              <p:cNvSpPr/>
              <p:nvPr/>
            </p:nvSpPr>
            <p:spPr>
              <a:xfrm>
                <a:off x="4727371" y="3653028"/>
                <a:ext cx="1005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8000"/>
                    </a:moveTo>
                    <a:lnTo>
                      <a:pt x="15000" y="12000"/>
                    </a:lnTo>
                    <a:lnTo>
                      <a:pt x="9000" y="6000"/>
                    </a:lnTo>
                  </a:path>
                </a:pathLst>
              </a:custGeom>
              <a:noFill/>
              <a:ln w="10896" cap="rnd">
                <a:solidFill>
                  <a:srgbClr val="B8D0FD"/>
                </a:solidFill>
                <a:round/>
              </a:ln>
            </p:spPr>
          </p:sp>
          <p:sp>
            <p:nvSpPr>
              <p:cNvPr id="155" name="Icon hash"/>
              <p:cNvSpPr/>
              <p:nvPr/>
            </p:nvSpPr>
            <p:spPr>
              <a:xfrm>
                <a:off x="4850815" y="3639312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4000" y="9000"/>
                    </a:moveTo>
                    <a:lnTo>
                      <a:pt x="20000" y="9000"/>
                    </a:lnTo>
                  </a:path>
                  <a:path w="24000" h="24000" fill="none">
                    <a:moveTo>
                      <a:pt x="4000" y="15000"/>
                    </a:moveTo>
                    <a:lnTo>
                      <a:pt x="20000" y="15000"/>
                    </a:lnTo>
                  </a:path>
                  <a:path w="24000" h="24000" fill="none">
                    <a:moveTo>
                      <a:pt x="10000" y="3000"/>
                    </a:moveTo>
                    <a:lnTo>
                      <a:pt x="8000" y="21000"/>
                    </a:lnTo>
                  </a:path>
                  <a:path w="24000" h="24000" fill="none">
                    <a:moveTo>
                      <a:pt x="16000" y="3000"/>
                    </a:moveTo>
                    <a:lnTo>
                      <a:pt x="14000" y="21000"/>
                    </a:lnTo>
                  </a:path>
                </a:pathLst>
              </a:custGeom>
              <a:noFill/>
              <a:ln w="11734" cap="rnd">
                <a:solidFill>
                  <a:srgbClr val="DCE8FE"/>
                </a:solidFill>
                <a:round/>
              </a:ln>
            </p:spPr>
          </p:sp>
          <p:sp>
            <p:nvSpPr>
              <p:cNvPr id="156" name="Enter checksum"/>
              <p:cNvSpPr txBox="1"/>
              <p:nvPr/>
            </p:nvSpPr>
            <p:spPr>
              <a:xfrm>
                <a:off x="5024551" y="3566160"/>
                <a:ext cx="70302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8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Enter checksum</a:t>
                </a:r>
                <a:endParaRPr lang="en-US" sz="680" dirty="0">
                  <a:latin typeface="Inter"/>
                </a:endParaRPr>
              </a:p>
            </p:txBody>
          </p:sp>
          <p:sp>
            <p:nvSpPr>
              <p:cNvPr id="157" name="Icon chevron-right"/>
              <p:cNvSpPr/>
              <p:nvPr/>
            </p:nvSpPr>
            <p:spPr>
              <a:xfrm>
                <a:off x="5704711" y="3653028"/>
                <a:ext cx="1005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8000"/>
                    </a:moveTo>
                    <a:lnTo>
                      <a:pt x="15000" y="12000"/>
                    </a:lnTo>
                    <a:lnTo>
                      <a:pt x="9000" y="6000"/>
                    </a:lnTo>
                  </a:path>
                </a:pathLst>
              </a:custGeom>
              <a:noFill/>
              <a:ln w="10896" cap="rnd">
                <a:solidFill>
                  <a:srgbClr val="B8D0FD"/>
                </a:solidFill>
                <a:round/>
              </a:ln>
            </p:spPr>
          </p:sp>
          <p:sp>
            <p:nvSpPr>
              <p:cNvPr id="158" name="Icon cloud-upload"/>
              <p:cNvSpPr/>
              <p:nvPr/>
            </p:nvSpPr>
            <p:spPr>
              <a:xfrm>
                <a:off x="5828155" y="3639312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13000"/>
                    </a:moveTo>
                    <a:lnTo>
                      <a:pt x="12000" y="21000"/>
                    </a:lnTo>
                  </a:path>
                  <a:path w="24000" h="24000" fill="none">
                    <a:moveTo>
                      <a:pt x="4000" y="14899"/>
                    </a:moveTo>
                    <a:cubicBezTo>
                      <a:pt x="3149" y="14030"/>
                      <a:pt x="2540" y="12955"/>
                      <a:pt x="2231" y="11779"/>
                    </a:cubicBezTo>
                    <a:cubicBezTo>
                      <a:pt x="1923" y="10603"/>
                      <a:pt x="1926" y="9368"/>
                      <a:pt x="2240" y="8193"/>
                    </a:cubicBezTo>
                    <a:cubicBezTo>
                      <a:pt x="2554" y="7019"/>
                      <a:pt x="3168" y="5947"/>
                      <a:pt x="4023" y="5082"/>
                    </a:cubicBezTo>
                    <a:cubicBezTo>
                      <a:pt x="4877" y="4218"/>
                      <a:pt x="5942" y="3590"/>
                      <a:pt x="7112" y="3262"/>
                    </a:cubicBezTo>
                    <a:cubicBezTo>
                      <a:pt x="8282" y="2934"/>
                      <a:pt x="9518" y="2916"/>
                      <a:pt x="10697" y="3211"/>
                    </a:cubicBezTo>
                    <a:cubicBezTo>
                      <a:pt x="11877" y="3505"/>
                      <a:pt x="12959" y="4101"/>
                      <a:pt x="13838" y="4941"/>
                    </a:cubicBezTo>
                    <a:cubicBezTo>
                      <a:pt x="14717" y="5781"/>
                      <a:pt x="15362" y="6835"/>
                      <a:pt x="15710" y="8000"/>
                    </a:cubicBezTo>
                    <a:lnTo>
                      <a:pt x="17500" y="8000"/>
                    </a:lnTo>
                    <a:cubicBezTo>
                      <a:pt x="18269" y="7999"/>
                      <a:pt x="19027" y="8197"/>
                      <a:pt x="19699" y="8573"/>
                    </a:cubicBezTo>
                    <a:cubicBezTo>
                      <a:pt x="20370" y="8949"/>
                      <a:pt x="20935" y="9492"/>
                      <a:pt x="21337" y="10148"/>
                    </a:cubicBezTo>
                    <a:cubicBezTo>
                      <a:pt x="21739" y="10805"/>
                      <a:pt x="21966" y="11554"/>
                      <a:pt x="21997" y="12323"/>
                    </a:cubicBezTo>
                    <a:cubicBezTo>
                      <a:pt x="22027" y="13092"/>
                      <a:pt x="21859" y="13857"/>
                      <a:pt x="21509" y="14543"/>
                    </a:cubicBezTo>
                    <a:cubicBezTo>
                      <a:pt x="21160" y="15229"/>
                      <a:pt x="20640" y="15814"/>
                      <a:pt x="20000" y="16242"/>
                    </a:cubicBezTo>
                  </a:path>
                  <a:path w="24000" h="24000" fill="none">
                    <a:moveTo>
                      <a:pt x="8000" y="17000"/>
                    </a:moveTo>
                    <a:lnTo>
                      <a:pt x="12000" y="13000"/>
                    </a:lnTo>
                    <a:lnTo>
                      <a:pt x="16000" y="17000"/>
                    </a:lnTo>
                  </a:path>
                </a:pathLst>
              </a:custGeom>
              <a:noFill/>
              <a:ln w="11734" cap="rnd">
                <a:solidFill>
                  <a:srgbClr val="DCE8FE"/>
                </a:solidFill>
                <a:round/>
              </a:ln>
            </p:spPr>
          </p:sp>
          <p:sp>
            <p:nvSpPr>
              <p:cNvPr id="159" name="Press Upload"/>
              <p:cNvSpPr txBox="1"/>
              <p:nvPr/>
            </p:nvSpPr>
            <p:spPr>
              <a:xfrm>
                <a:off x="6001891" y="3566160"/>
                <a:ext cx="5898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8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Press Upload</a:t>
                </a:r>
                <a:endParaRPr lang="en-US" sz="680" dirty="0">
                  <a:latin typeface="Inter"/>
                </a:endParaRPr>
              </a:p>
            </p:txBody>
          </p:sp>
        </p:grpSp>
      </p:grpSp>
      <p:grpSp>
        <p:nvGrpSpPr>
          <p:cNvPr id="160" name="SAP normal endpoint"/>
          <p:cNvGrpSpPr/>
          <p:nvPr/>
        </p:nvGrpSpPr>
        <p:grpSpPr>
          <a:xfrm>
            <a:off x="6967728" y="1261872"/>
            <a:ext cx="1901952" cy="1078992"/>
            <a:chOff x="6967728" y="1261872"/>
            <a:chExt cx="1901952" cy="1078992"/>
          </a:xfrm>
        </p:grpSpPr>
        <p:sp>
          <p:nvSpPr>
            <p:cNvPr id="161" name="Normal SAP endpoint card"/>
            <p:cNvSpPr/>
            <p:nvPr/>
          </p:nvSpPr>
          <p:spPr>
            <a:xfrm>
              <a:off x="6967728" y="1261872"/>
              <a:ext cx="1901952" cy="1078992"/>
            </a:xfrm>
            <a:prstGeom prst="roundRect">
              <a:avLst>
                <a:gd name="adj" fmla="val 4237"/>
              </a:avLst>
            </a:prstGeom>
            <a:solidFill>
              <a:srgbClr val="FFFFFF"/>
            </a:solidFill>
            <a:ln w="9525">
              <a:solidFill>
                <a:srgbClr val="B8D0FD"/>
              </a:solidFill>
              <a:round/>
            </a:ln>
          </p:spPr>
        </p:sp>
        <p:sp>
          <p:nvSpPr>
            <p:cNvPr id="162" name="Header"/>
            <p:cNvSpPr/>
            <p:nvPr/>
          </p:nvSpPr>
          <p:spPr>
            <a:xfrm>
              <a:off x="6967728" y="1261872"/>
              <a:ext cx="1901952" cy="274320"/>
            </a:xfrm>
            <a:prstGeom prst="roundRect">
              <a:avLst>
                <a:gd name="adj" fmla="val 1666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163" name="Header base"/>
            <p:cNvSpPr/>
            <p:nvPr/>
          </p:nvSpPr>
          <p:spPr>
            <a:xfrm>
              <a:off x="6967728" y="1399032"/>
              <a:ext cx="1901952" cy="137160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164" name="Icon database"/>
            <p:cNvSpPr/>
            <p:nvPr/>
          </p:nvSpPr>
          <p:spPr>
            <a:xfrm>
              <a:off x="7050024" y="1325880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2192" cap="rnd">
              <a:solidFill>
                <a:srgbClr val="FFFFFF"/>
              </a:solidFill>
              <a:round/>
            </a:ln>
          </p:spPr>
        </p:sp>
        <p:sp>
          <p:nvSpPr>
            <p:cNvPr id="165" name="Endpoint name"/>
            <p:cNvSpPr txBox="1"/>
            <p:nvPr/>
          </p:nvSpPr>
          <p:spPr>
            <a:xfrm>
              <a:off x="7251192" y="1261872"/>
              <a:ext cx="15819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4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Normal SAP endpoint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166" name="Endpoint scope"/>
            <p:cNvSpPr txBox="1"/>
            <p:nvPr/>
          </p:nvSpPr>
          <p:spPr>
            <a:xfrm>
              <a:off x="7059168" y="1581912"/>
              <a:ext cx="1719072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15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0E3F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Regular (production) pipes</a:t>
              </a:r>
              <a:endParaRPr lang="en-US" sz="650" dirty="0">
                <a:latin typeface="Inter SemiBold"/>
              </a:endParaRPr>
            </a:p>
          </p:txBody>
        </p:sp>
        <p:grpSp>
          <p:nvGrpSpPr>
            <p:cNvPr id="167" name="Chip Pipe No"/>
            <p:cNvGrpSpPr/>
            <p:nvPr/>
          </p:nvGrpSpPr>
          <p:grpSpPr>
            <a:xfrm>
              <a:off x="7059168" y="1755648"/>
              <a:ext cx="375374" cy="146304"/>
              <a:chOff x="7059168" y="1755648"/>
              <a:chExt cx="375374" cy="146304"/>
            </a:xfrm>
          </p:grpSpPr>
          <p:sp>
            <p:nvSpPr>
              <p:cNvPr id="168" name="Chip fill"/>
              <p:cNvSpPr/>
              <p:nvPr/>
            </p:nvSpPr>
            <p:spPr>
              <a:xfrm>
                <a:off x="7059168" y="1755648"/>
                <a:ext cx="375374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69" name="Chip label"/>
              <p:cNvSpPr txBox="1"/>
              <p:nvPr/>
            </p:nvSpPr>
            <p:spPr>
              <a:xfrm>
                <a:off x="7104888" y="1755648"/>
                <a:ext cx="302222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Pipe No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70" name="Chip Checksum"/>
            <p:cNvGrpSpPr/>
            <p:nvPr/>
          </p:nvGrpSpPr>
          <p:grpSpPr>
            <a:xfrm>
              <a:off x="7471118" y="1755648"/>
              <a:ext cx="479072" cy="146304"/>
              <a:chOff x="7471118" y="1755648"/>
              <a:chExt cx="479072" cy="146304"/>
            </a:xfrm>
          </p:grpSpPr>
          <p:sp>
            <p:nvSpPr>
              <p:cNvPr id="171" name="Chip fill"/>
              <p:cNvSpPr/>
              <p:nvPr/>
            </p:nvSpPr>
            <p:spPr>
              <a:xfrm>
                <a:off x="7471118" y="1755648"/>
                <a:ext cx="479072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72" name="Chip label"/>
              <p:cNvSpPr txBox="1"/>
              <p:nvPr/>
            </p:nvSpPr>
            <p:spPr>
              <a:xfrm>
                <a:off x="7516838" y="1755648"/>
                <a:ext cx="405920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Checksum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73" name="Chip Indication type &amp; count"/>
            <p:cNvGrpSpPr/>
            <p:nvPr/>
          </p:nvGrpSpPr>
          <p:grpSpPr>
            <a:xfrm>
              <a:off x="7059168" y="1933956"/>
              <a:ext cx="930896" cy="146304"/>
              <a:chOff x="7059168" y="1933956"/>
              <a:chExt cx="930896" cy="146304"/>
            </a:xfrm>
          </p:grpSpPr>
          <p:sp>
            <p:nvSpPr>
              <p:cNvPr id="174" name="Chip fill"/>
              <p:cNvSpPr/>
              <p:nvPr/>
            </p:nvSpPr>
            <p:spPr>
              <a:xfrm>
                <a:off x="7059168" y="1933956"/>
                <a:ext cx="930896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75" name="Chip label"/>
              <p:cNvSpPr txBox="1"/>
              <p:nvPr/>
            </p:nvSpPr>
            <p:spPr>
              <a:xfrm>
                <a:off x="7104888" y="1933956"/>
                <a:ext cx="857744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Indication type &amp; count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76" name="Chip Result"/>
            <p:cNvGrpSpPr/>
            <p:nvPr/>
          </p:nvGrpSpPr>
          <p:grpSpPr>
            <a:xfrm>
              <a:off x="8026640" y="1933956"/>
              <a:ext cx="317665" cy="146304"/>
              <a:chOff x="8026640" y="1933956"/>
              <a:chExt cx="317665" cy="146304"/>
            </a:xfrm>
          </p:grpSpPr>
          <p:sp>
            <p:nvSpPr>
              <p:cNvPr id="177" name="Chip fill"/>
              <p:cNvSpPr/>
              <p:nvPr/>
            </p:nvSpPr>
            <p:spPr>
              <a:xfrm>
                <a:off x="8026640" y="1933956"/>
                <a:ext cx="317665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78" name="Chip label"/>
              <p:cNvSpPr txBox="1"/>
              <p:nvPr/>
            </p:nvSpPr>
            <p:spPr>
              <a:xfrm>
                <a:off x="8072360" y="1933956"/>
                <a:ext cx="244513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Result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79" name="Chip Remarks"/>
            <p:cNvGrpSpPr/>
            <p:nvPr/>
          </p:nvGrpSpPr>
          <p:grpSpPr>
            <a:xfrm>
              <a:off x="7059168" y="2112264"/>
              <a:ext cx="409789" cy="146304"/>
              <a:chOff x="7059168" y="2112264"/>
              <a:chExt cx="409789" cy="146304"/>
            </a:xfrm>
          </p:grpSpPr>
          <p:sp>
            <p:nvSpPr>
              <p:cNvPr id="180" name="Chip fill"/>
              <p:cNvSpPr/>
              <p:nvPr/>
            </p:nvSpPr>
            <p:spPr>
              <a:xfrm>
                <a:off x="7059168" y="2112264"/>
                <a:ext cx="409789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81" name="Chip label"/>
              <p:cNvSpPr txBox="1"/>
              <p:nvPr/>
            </p:nvSpPr>
            <p:spPr>
              <a:xfrm>
                <a:off x="7104888" y="2112264"/>
                <a:ext cx="336637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Remarks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82" name="Chip General remarks"/>
            <p:cNvGrpSpPr/>
            <p:nvPr/>
          </p:nvGrpSpPr>
          <p:grpSpPr>
            <a:xfrm>
              <a:off x="7505533" y="2112264"/>
              <a:ext cx="693724" cy="146304"/>
              <a:chOff x="7505533" y="2112264"/>
              <a:chExt cx="693724" cy="146304"/>
            </a:xfrm>
          </p:grpSpPr>
          <p:sp>
            <p:nvSpPr>
              <p:cNvPr id="183" name="Chip fill"/>
              <p:cNvSpPr/>
              <p:nvPr/>
            </p:nvSpPr>
            <p:spPr>
              <a:xfrm>
                <a:off x="7505533" y="2112264"/>
                <a:ext cx="693724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84" name="Chip label"/>
              <p:cNvSpPr txBox="1"/>
              <p:nvPr/>
            </p:nvSpPr>
            <p:spPr>
              <a:xfrm>
                <a:off x="7551253" y="2112264"/>
                <a:ext cx="620572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General remarks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85" name="Chip Date / Time"/>
            <p:cNvGrpSpPr/>
            <p:nvPr/>
          </p:nvGrpSpPr>
          <p:grpSpPr>
            <a:xfrm>
              <a:off x="8235833" y="2112264"/>
              <a:ext cx="509843" cy="146304"/>
              <a:chOff x="8235833" y="2112264"/>
              <a:chExt cx="509843" cy="146304"/>
            </a:xfrm>
          </p:grpSpPr>
          <p:sp>
            <p:nvSpPr>
              <p:cNvPr id="186" name="Chip fill"/>
              <p:cNvSpPr/>
              <p:nvPr/>
            </p:nvSpPr>
            <p:spPr>
              <a:xfrm>
                <a:off x="8235833" y="2112264"/>
                <a:ext cx="509843" cy="146304"/>
              </a:xfrm>
              <a:prstGeom prst="roundRect">
                <a:avLst>
                  <a:gd name="adj" fmla="val 1875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87" name="Chip label"/>
              <p:cNvSpPr txBox="1"/>
              <p:nvPr/>
            </p:nvSpPr>
            <p:spPr>
              <a:xfrm>
                <a:off x="8281553" y="2112264"/>
                <a:ext cx="436691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E3FA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Date / Time</a:t>
                </a:r>
                <a:endParaRPr lang="en-US" sz="600" dirty="0">
                  <a:latin typeface="Inter Medium"/>
                </a:endParaRPr>
              </a:p>
            </p:txBody>
          </p:sp>
        </p:grpSp>
      </p:grpSp>
      <p:grpSp>
        <p:nvGrpSpPr>
          <p:cNvPr id="188" name="SAP separate endpoint"/>
          <p:cNvGrpSpPr/>
          <p:nvPr/>
        </p:nvGrpSpPr>
        <p:grpSpPr>
          <a:xfrm>
            <a:off x="6967728" y="2395728"/>
            <a:ext cx="1901952" cy="841248"/>
            <a:chOff x="6967728" y="2395728"/>
            <a:chExt cx="1901952" cy="841248"/>
          </a:xfrm>
        </p:grpSpPr>
        <p:sp>
          <p:nvSpPr>
            <p:cNvPr id="189" name="Separate SAP endpoint card"/>
            <p:cNvSpPr/>
            <p:nvPr/>
          </p:nvSpPr>
          <p:spPr>
            <a:xfrm>
              <a:off x="6967728" y="2395728"/>
              <a:ext cx="1901952" cy="841248"/>
            </a:xfrm>
            <a:prstGeom prst="roundRect">
              <a:avLst>
                <a:gd name="adj" fmla="val 543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90" name="Header"/>
            <p:cNvSpPr/>
            <p:nvPr/>
          </p:nvSpPr>
          <p:spPr>
            <a:xfrm>
              <a:off x="6967728" y="2395728"/>
              <a:ext cx="1901952" cy="274320"/>
            </a:xfrm>
            <a:prstGeom prst="roundRect">
              <a:avLst>
                <a:gd name="adj" fmla="val 16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191" name="Header base"/>
            <p:cNvSpPr/>
            <p:nvPr/>
          </p:nvSpPr>
          <p:spPr>
            <a:xfrm>
              <a:off x="6967728" y="2532888"/>
              <a:ext cx="1901952" cy="137160"/>
            </a:xfrm>
            <a:prstGeom prst="rect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192" name="Icon database"/>
            <p:cNvSpPr/>
            <p:nvPr/>
          </p:nvSpPr>
          <p:spPr>
            <a:xfrm>
              <a:off x="7050024" y="2459736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2192" cap="rnd">
              <a:solidFill>
                <a:srgbClr val="FFFFFF"/>
              </a:solidFill>
              <a:round/>
            </a:ln>
          </p:spPr>
        </p:sp>
        <p:sp>
          <p:nvSpPr>
            <p:cNvPr id="193" name="Endpoint name"/>
            <p:cNvSpPr txBox="1"/>
            <p:nvPr/>
          </p:nvSpPr>
          <p:spPr>
            <a:xfrm>
              <a:off x="7251192" y="2395728"/>
              <a:ext cx="15819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4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Separate SAP endpoint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194" name="Endpoint scope"/>
            <p:cNvSpPr txBox="1"/>
            <p:nvPr/>
          </p:nvSpPr>
          <p:spPr>
            <a:xfrm>
              <a:off x="7059168" y="2715768"/>
              <a:ext cx="1719072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15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Calibration &amp; repeatability pipes</a:t>
              </a:r>
              <a:endParaRPr lang="en-US" sz="650" dirty="0">
                <a:latin typeface="Inter SemiBold"/>
              </a:endParaRPr>
            </a:p>
          </p:txBody>
        </p:sp>
        <p:grpSp>
          <p:nvGrpSpPr>
            <p:cNvPr id="195" name="Chip Pipe No"/>
            <p:cNvGrpSpPr/>
            <p:nvPr/>
          </p:nvGrpSpPr>
          <p:grpSpPr>
            <a:xfrm>
              <a:off x="7059168" y="2889504"/>
              <a:ext cx="375374" cy="146304"/>
              <a:chOff x="7059168" y="2889504"/>
              <a:chExt cx="375374" cy="146304"/>
            </a:xfrm>
          </p:grpSpPr>
          <p:sp>
            <p:nvSpPr>
              <p:cNvPr id="196" name="Chip fill"/>
              <p:cNvSpPr/>
              <p:nvPr/>
            </p:nvSpPr>
            <p:spPr>
              <a:xfrm>
                <a:off x="7059168" y="2889504"/>
                <a:ext cx="375374" cy="146304"/>
              </a:xfrm>
              <a:prstGeom prst="roundRect">
                <a:avLst>
                  <a:gd name="adj" fmla="val 18750"/>
                </a:avLst>
              </a:prstGeom>
              <a:solidFill>
                <a:srgbClr val="6C849D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97" name="Chip label"/>
              <p:cNvSpPr txBox="1"/>
              <p:nvPr/>
            </p:nvSpPr>
            <p:spPr>
              <a:xfrm>
                <a:off x="7104888" y="2889504"/>
                <a:ext cx="302222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40566D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Pipe No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98" name="Chip Date / Time"/>
            <p:cNvGrpSpPr/>
            <p:nvPr/>
          </p:nvGrpSpPr>
          <p:grpSpPr>
            <a:xfrm>
              <a:off x="7471118" y="2889504"/>
              <a:ext cx="509843" cy="146304"/>
              <a:chOff x="7471118" y="2889504"/>
              <a:chExt cx="509843" cy="146304"/>
            </a:xfrm>
          </p:grpSpPr>
          <p:sp>
            <p:nvSpPr>
              <p:cNvPr id="199" name="Chip fill"/>
              <p:cNvSpPr/>
              <p:nvPr/>
            </p:nvSpPr>
            <p:spPr>
              <a:xfrm>
                <a:off x="7471118" y="2889504"/>
                <a:ext cx="509843" cy="146304"/>
              </a:xfrm>
              <a:prstGeom prst="roundRect">
                <a:avLst>
                  <a:gd name="adj" fmla="val 18750"/>
                </a:avLst>
              </a:prstGeom>
              <a:solidFill>
                <a:srgbClr val="6C849D">
                  <a:alpha val="9000"/>
                </a:srgbClr>
              </a:solidFill>
              <a:ln>
                <a:noFill/>
              </a:ln>
            </p:spPr>
          </p:sp>
          <p:sp>
            <p:nvSpPr>
              <p:cNvPr id="200" name="Chip label"/>
              <p:cNvSpPr txBox="1"/>
              <p:nvPr/>
            </p:nvSpPr>
            <p:spPr>
              <a:xfrm>
                <a:off x="7516838" y="2889504"/>
                <a:ext cx="436691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40566D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Date / Time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201" name="Chip OK / Not OK"/>
            <p:cNvGrpSpPr/>
            <p:nvPr/>
          </p:nvGrpSpPr>
          <p:grpSpPr>
            <a:xfrm>
              <a:off x="8017538" y="2889504"/>
              <a:ext cx="531757" cy="146304"/>
              <a:chOff x="8017538" y="2889504"/>
              <a:chExt cx="531757" cy="146304"/>
            </a:xfrm>
          </p:grpSpPr>
          <p:sp>
            <p:nvSpPr>
              <p:cNvPr id="202" name="Chip fill"/>
              <p:cNvSpPr/>
              <p:nvPr/>
            </p:nvSpPr>
            <p:spPr>
              <a:xfrm>
                <a:off x="8017538" y="2889504"/>
                <a:ext cx="531757" cy="146304"/>
              </a:xfrm>
              <a:prstGeom prst="roundRect">
                <a:avLst>
                  <a:gd name="adj" fmla="val 18750"/>
                </a:avLst>
              </a:prstGeom>
              <a:solidFill>
                <a:srgbClr val="6C849D">
                  <a:alpha val="9000"/>
                </a:srgbClr>
              </a:solidFill>
              <a:ln>
                <a:noFill/>
              </a:ln>
            </p:spPr>
          </p:sp>
          <p:sp>
            <p:nvSpPr>
              <p:cNvPr id="203" name="Chip label"/>
              <p:cNvSpPr txBox="1"/>
              <p:nvPr/>
            </p:nvSpPr>
            <p:spPr>
              <a:xfrm>
                <a:off x="8063258" y="2889504"/>
                <a:ext cx="458605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40566D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OK / Not OK</a:t>
                </a:r>
                <a:endParaRPr lang="en-US" sz="600" dirty="0">
                  <a:latin typeface="Inter Medium"/>
                </a:endParaRPr>
              </a:p>
            </p:txBody>
          </p:sp>
        </p:grpSp>
        <p:sp>
          <p:nvSpPr>
            <p:cNvPr id="204" name="Report note"/>
            <p:cNvSpPr txBox="1"/>
            <p:nvPr/>
          </p:nvSpPr>
          <p:spPr>
            <a:xfrm>
              <a:off x="7059168" y="3072384"/>
              <a:ext cx="1719072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Shown as a separate row in the SAP report</a:t>
              </a:r>
              <a:endParaRPr lang="en-US" sz="600" dirty="0">
                <a:latin typeface="Inter"/>
              </a:endParaRPr>
            </a:p>
          </p:txBody>
        </p:sp>
      </p:grpSp>
      <p:grpSp>
        <p:nvGrpSpPr>
          <p:cNvPr id="205" name="FTP file upload"/>
          <p:cNvGrpSpPr/>
          <p:nvPr/>
        </p:nvGrpSpPr>
        <p:grpSpPr>
          <a:xfrm>
            <a:off x="6967728" y="3291840"/>
            <a:ext cx="1901952" cy="640080"/>
            <a:chOff x="6967728" y="3291840"/>
            <a:chExt cx="1901952" cy="640080"/>
          </a:xfrm>
        </p:grpSpPr>
        <p:sp>
          <p:nvSpPr>
            <p:cNvPr id="206" name="FTP card"/>
            <p:cNvSpPr/>
            <p:nvPr/>
          </p:nvSpPr>
          <p:spPr>
            <a:xfrm>
              <a:off x="6967728" y="3291840"/>
              <a:ext cx="1901952" cy="640080"/>
            </a:xfrm>
            <a:prstGeom prst="roundRect">
              <a:avLst>
                <a:gd name="adj" fmla="val 714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207" name="Icon folder-up"/>
            <p:cNvSpPr/>
            <p:nvPr/>
          </p:nvSpPr>
          <p:spPr>
            <a:xfrm>
              <a:off x="7059168" y="3387852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20000"/>
                  </a:moveTo>
                  <a:cubicBezTo>
                    <a:pt x="20351" y="20000"/>
                    <a:pt x="20695" y="19907"/>
                    <a:pt x="21000" y="19732"/>
                  </a:cubicBezTo>
                  <a:cubicBezTo>
                    <a:pt x="21304" y="19556"/>
                    <a:pt x="21556" y="19304"/>
                    <a:pt x="21732" y="19000"/>
                  </a:cubicBezTo>
                  <a:cubicBezTo>
                    <a:pt x="21907" y="18695"/>
                    <a:pt x="22000" y="18351"/>
                    <a:pt x="22000" y="18000"/>
                  </a:cubicBezTo>
                  <a:lnTo>
                    <a:pt x="22000" y="8000"/>
                  </a:lnTo>
                  <a:cubicBezTo>
                    <a:pt x="22000" y="7648"/>
                    <a:pt x="21907" y="7304"/>
                    <a:pt x="21732" y="7000"/>
                  </a:cubicBezTo>
                  <a:cubicBezTo>
                    <a:pt x="21556" y="6695"/>
                    <a:pt x="21304" y="6443"/>
                    <a:pt x="21000" y="6267"/>
                  </a:cubicBezTo>
                  <a:cubicBezTo>
                    <a:pt x="20695" y="6092"/>
                    <a:pt x="20351" y="6000"/>
                    <a:pt x="20000" y="6000"/>
                  </a:cubicBezTo>
                  <a:lnTo>
                    <a:pt x="12100" y="6000"/>
                  </a:lnTo>
                  <a:cubicBezTo>
                    <a:pt x="11765" y="6003"/>
                    <a:pt x="11435" y="5922"/>
                    <a:pt x="11140" y="5765"/>
                  </a:cubicBezTo>
                  <a:cubicBezTo>
                    <a:pt x="10845" y="5608"/>
                    <a:pt x="10593" y="5379"/>
                    <a:pt x="10410" y="5100"/>
                  </a:cubicBezTo>
                  <a:lnTo>
                    <a:pt x="9600" y="3900"/>
                  </a:lnTo>
                  <a:cubicBezTo>
                    <a:pt x="9417" y="3623"/>
                    <a:pt x="9169" y="3396"/>
                    <a:pt x="8878" y="3239"/>
                  </a:cubicBezTo>
                  <a:cubicBezTo>
                    <a:pt x="8587" y="3082"/>
                    <a:pt x="8261" y="3000"/>
                    <a:pt x="793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8000"/>
                  </a:lnTo>
                  <a:cubicBezTo>
                    <a:pt x="2000" y="18351"/>
                    <a:pt x="2092" y="18695"/>
                    <a:pt x="2267" y="19000"/>
                  </a:cubicBezTo>
                  <a:cubicBezTo>
                    <a:pt x="2443" y="19304"/>
                    <a:pt x="2695" y="19556"/>
                    <a:pt x="2999" y="19732"/>
                  </a:cubicBezTo>
                  <a:cubicBezTo>
                    <a:pt x="3304" y="19907"/>
                    <a:pt x="3648" y="20000"/>
                    <a:pt x="4000" y="20000"/>
                  </a:cubicBezTo>
                  <a:close/>
                </a:path>
                <a:path w="24000" h="24000" fill="none">
                  <a:moveTo>
                    <a:pt x="12000" y="10000"/>
                  </a:moveTo>
                  <a:lnTo>
                    <a:pt x="12000" y="16000"/>
                  </a:lnTo>
                </a:path>
                <a:path w="24000" h="24000" fill="none">
                  <a:moveTo>
                    <a:pt x="9000" y="13000"/>
                  </a:moveTo>
                  <a:lnTo>
                    <a:pt x="12000" y="10000"/>
                  </a:lnTo>
                  <a:lnTo>
                    <a:pt x="15000" y="13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208" name="File upload (FTP) title"/>
            <p:cNvSpPr txBox="1"/>
            <p:nvPr/>
          </p:nvSpPr>
          <p:spPr>
            <a:xfrm>
              <a:off x="7278624" y="3374136"/>
              <a:ext cx="14996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97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File upload (FTP)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209" name="File upload (FTP) sub"/>
            <p:cNvSpPr txBox="1"/>
            <p:nvPr/>
          </p:nvSpPr>
          <p:spPr>
            <a:xfrm>
              <a:off x="7278624" y="3515868"/>
              <a:ext cx="1499616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4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PDF report + JPEG image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10" name="FTP note"/>
            <p:cNvSpPr txBox="1"/>
            <p:nvPr/>
          </p:nvSpPr>
          <p:spPr>
            <a:xfrm>
              <a:off x="7059168" y="3712464"/>
              <a:ext cx="1719072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93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Upload status shown per entry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211" name="Upload routing"/>
          <p:cNvGrpSpPr/>
          <p:nvPr/>
        </p:nvGrpSpPr>
        <p:grpSpPr>
          <a:xfrm>
            <a:off x="6656832" y="1399032"/>
            <a:ext cx="301752" cy="2304288"/>
            <a:chOff x="6656832" y="1399032"/>
            <a:chExt cx="301752" cy="2304288"/>
          </a:xfrm>
        </p:grpSpPr>
        <p:sp>
          <p:nvSpPr>
            <p:cNvPr id="212" name="Upload bus"/>
            <p:cNvSpPr/>
            <p:nvPr/>
          </p:nvSpPr>
          <p:spPr>
            <a:xfrm>
              <a:off x="6656832" y="1399032"/>
              <a:ext cx="210312" cy="2304288"/>
            </a:xfrm>
            <a:custGeom>
              <a:avLst/>
              <a:gdLst/>
              <a:ahLst/>
              <a:cxnLst/>
              <a:rect l="l" t="t" r="r" b="b"/>
              <a:pathLst>
                <a:path w="210312" h="2304288" fill="none">
                  <a:moveTo>
                    <a:pt x="0" y="2304288"/>
                  </a:moveTo>
                  <a:lnTo>
                    <a:pt x="210312" y="2304288"/>
                  </a:lnTo>
                  <a:lnTo>
                    <a:pt x="210312" y="0"/>
                  </a:lnTo>
                </a:path>
              </a:pathLst>
            </a:custGeom>
            <a:noFill/>
            <a:ln w="13970">
              <a:solidFill>
                <a:srgbClr val="165FF2"/>
              </a:solidFill>
              <a:miter lim="800000"/>
            </a:ln>
          </p:spPr>
        </p:sp>
        <p:cxnSp>
          <p:nvCxnSpPr>
            <p:cNvPr id="213" name="To SAP"/>
            <p:cNvCxnSpPr/>
            <p:nvPr/>
          </p:nvCxnSpPr>
          <p:spPr>
            <a:xfrm>
              <a:off x="6867144" y="1399032"/>
              <a:ext cx="91440" cy="0"/>
            </a:xfrm>
            <a:prstGeom prst="straightConnector1">
              <a:avLst/>
            </a:prstGeom>
            <a:noFill/>
            <a:ln w="13970">
              <a:solidFill>
                <a:srgbClr val="165FF2"/>
              </a:solidFill>
              <a:round/>
              <a:tailEnd type="triangle" w="med" len="med"/>
            </a:ln>
          </p:spPr>
        </p:cxnSp>
        <p:cxnSp>
          <p:nvCxnSpPr>
            <p:cNvPr id="214" name="To SAP"/>
            <p:cNvCxnSpPr/>
            <p:nvPr/>
          </p:nvCxnSpPr>
          <p:spPr>
            <a:xfrm>
              <a:off x="6867144" y="2532888"/>
              <a:ext cx="91440" cy="0"/>
            </a:xfrm>
            <a:prstGeom prst="straightConnector1">
              <a:avLst/>
            </a:prstGeom>
            <a:noFill/>
            <a:ln w="13970">
              <a:solidFill>
                <a:srgbClr val="165FF2"/>
              </a:solidFill>
              <a:round/>
              <a:tailEnd type="triangle" w="med" len="med"/>
            </a:ln>
          </p:spPr>
        </p:cxnSp>
        <p:cxnSp>
          <p:nvCxnSpPr>
            <p:cNvPr id="215" name="To SAP"/>
            <p:cNvCxnSpPr/>
            <p:nvPr/>
          </p:nvCxnSpPr>
          <p:spPr>
            <a:xfrm>
              <a:off x="6867144" y="3474720"/>
              <a:ext cx="91440" cy="0"/>
            </a:xfrm>
            <a:prstGeom prst="straightConnector1">
              <a:avLst/>
            </a:prstGeom>
            <a:noFill/>
            <a:ln w="13970">
              <a:solidFill>
                <a:srgbClr val="165FF2"/>
              </a:solidFill>
              <a:round/>
              <a:tailEnd type="triangle" w="med" len="med"/>
            </a:ln>
          </p:spPr>
        </p:cxnSp>
      </p:grpSp>
      <p:grpSp>
        <p:nvGrpSpPr>
          <p:cNvPr id="216" name="Built-in reliability"/>
          <p:cNvGrpSpPr/>
          <p:nvPr/>
        </p:nvGrpSpPr>
        <p:grpSpPr>
          <a:xfrm>
            <a:off x="274320" y="4023360"/>
            <a:ext cx="8595360" cy="731520"/>
            <a:chOff x="274320" y="4023360"/>
            <a:chExt cx="8595360" cy="731520"/>
          </a:xfrm>
        </p:grpSpPr>
        <p:sp>
          <p:nvSpPr>
            <p:cNvPr id="217" name="Reliability band"/>
            <p:cNvSpPr/>
            <p:nvPr/>
          </p:nvSpPr>
          <p:spPr>
            <a:xfrm>
              <a:off x="274320" y="4023360"/>
              <a:ext cx="8595360" cy="731520"/>
            </a:xfrm>
            <a:prstGeom prst="roundRect">
              <a:avLst>
                <a:gd name="adj" fmla="val 7500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218" name="Icon shield-check"/>
            <p:cNvSpPr/>
            <p:nvPr/>
          </p:nvSpPr>
          <p:spPr>
            <a:xfrm>
              <a:off x="402336" y="4151376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231" y="21986"/>
                    <a:pt x="12118" y="22004"/>
                    <a:pt x="12004" y="22002"/>
                  </a:cubicBezTo>
                  <a:cubicBezTo>
                    <a:pt x="11889" y="22001"/>
                    <a:pt x="11776" y="21979"/>
                    <a:pt x="11670" y="21939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824"/>
                    <a:pt x="4046" y="5652"/>
                    <a:pt x="4133" y="5500"/>
                  </a:cubicBezTo>
                  <a:cubicBezTo>
                    <a:pt x="4221" y="5347"/>
                    <a:pt x="4347" y="5221"/>
                    <a:pt x="4500" y="5133"/>
                  </a:cubicBezTo>
                  <a:cubicBezTo>
                    <a:pt x="4652" y="5046"/>
                    <a:pt x="4824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380" y="2160"/>
                    <a:pt x="11547" y="2075"/>
                    <a:pt x="11726" y="2031"/>
                  </a:cubicBezTo>
                  <a:cubicBezTo>
                    <a:pt x="11906" y="1988"/>
                    <a:pt x="12093" y="1988"/>
                    <a:pt x="12273" y="2031"/>
                  </a:cubicBezTo>
                  <a:cubicBezTo>
                    <a:pt x="12452" y="2075"/>
                    <a:pt x="12619" y="2160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175" y="5000"/>
                    <a:pt x="19347" y="5046"/>
                    <a:pt x="19500" y="5133"/>
                  </a:cubicBezTo>
                  <a:cubicBezTo>
                    <a:pt x="19652" y="5221"/>
                    <a:pt x="19778" y="5347"/>
                    <a:pt x="19866" y="5500"/>
                  </a:cubicBezTo>
                  <a:cubicBezTo>
                    <a:pt x="19953" y="5652"/>
                    <a:pt x="20000" y="5824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5925" cap="rnd">
              <a:solidFill>
                <a:srgbClr val="165FF2"/>
              </a:solidFill>
              <a:round/>
            </a:ln>
          </p:spPr>
        </p:sp>
        <p:sp>
          <p:nvSpPr>
            <p:cNvPr id="219" name="Band title"/>
            <p:cNvSpPr txBox="1"/>
            <p:nvPr/>
          </p:nvSpPr>
          <p:spPr>
            <a:xfrm>
              <a:off x="402336" y="4407408"/>
              <a:ext cx="8686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Built-in reliability &amp; alerts</a:t>
              </a:r>
              <a:endParaRPr lang="en-US" sz="700" dirty="0">
                <a:latin typeface="Inter SemiBold"/>
              </a:endParaRPr>
            </a:p>
          </p:txBody>
        </p:sp>
        <p:cxnSp>
          <p:nvCxnSpPr>
            <p:cNvPr id="220" name="Tile divider"/>
            <p:cNvCxnSpPr/>
            <p:nvPr/>
          </p:nvCxnSpPr>
          <p:spPr>
            <a:xfrm>
              <a:off x="127101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21" name="Reliability · Network / SAP down"/>
            <p:cNvGrpSpPr/>
            <p:nvPr/>
          </p:nvGrpSpPr>
          <p:grpSpPr>
            <a:xfrm>
              <a:off x="1344168" y="4114800"/>
              <a:ext cx="1158240" cy="557784"/>
              <a:chOff x="1344168" y="4114800"/>
              <a:chExt cx="1158240" cy="557784"/>
            </a:xfrm>
          </p:grpSpPr>
          <p:sp>
            <p:nvSpPr>
              <p:cNvPr id="222" name="Icon refresh-cw"/>
              <p:cNvSpPr/>
              <p:nvPr/>
            </p:nvSpPr>
            <p:spPr>
              <a:xfrm>
                <a:off x="134416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10420"/>
                      <a:pt x="3415" y="8868"/>
                      <a:pt x="4205" y="7500"/>
                    </a:cubicBezTo>
                    <a:cubicBezTo>
                      <a:pt x="4995" y="6131"/>
                      <a:pt x="6131" y="4995"/>
                      <a:pt x="7499" y="4205"/>
                    </a:cubicBezTo>
                    <a:cubicBezTo>
                      <a:pt x="8868" y="3415"/>
                      <a:pt x="10420" y="3000"/>
                      <a:pt x="12000" y="3000"/>
                    </a:cubicBezTo>
                    <a:cubicBezTo>
                      <a:pt x="13246" y="3004"/>
                      <a:pt x="14480" y="3248"/>
                      <a:pt x="15635" y="3717"/>
                    </a:cubicBezTo>
                    <a:cubicBezTo>
                      <a:pt x="16789" y="4187"/>
                      <a:pt x="17843" y="4873"/>
                      <a:pt x="18740" y="5740"/>
                    </a:cubicBezTo>
                    <a:lnTo>
                      <a:pt x="21000" y="8000"/>
                    </a:lnTo>
                  </a:path>
                  <a:path w="24000" h="24000" fill="none">
                    <a:moveTo>
                      <a:pt x="21000" y="3000"/>
                    </a:moveTo>
                    <a:lnTo>
                      <a:pt x="21000" y="8000"/>
                    </a:lnTo>
                    <a:lnTo>
                      <a:pt x="16000" y="8000"/>
                    </a:lnTo>
                  </a:path>
                  <a:path w="24000" h="24000" fill="none">
                    <a:moveTo>
                      <a:pt x="21000" y="12000"/>
                    </a:moveTo>
                    <a:cubicBezTo>
                      <a:pt x="21000" y="13579"/>
                      <a:pt x="20584" y="15131"/>
                      <a:pt x="19794" y="16500"/>
                    </a:cubicBezTo>
                    <a:cubicBezTo>
                      <a:pt x="19004" y="17868"/>
                      <a:pt x="17868" y="19004"/>
                      <a:pt x="16500" y="19794"/>
                    </a:cubicBezTo>
                    <a:cubicBezTo>
                      <a:pt x="15131" y="20584"/>
                      <a:pt x="13579" y="21000"/>
                      <a:pt x="12000" y="21000"/>
                    </a:cubicBezTo>
                    <a:cubicBezTo>
                      <a:pt x="10753" y="20995"/>
                      <a:pt x="9519" y="20751"/>
                      <a:pt x="8364" y="20282"/>
                    </a:cubicBezTo>
                    <a:cubicBezTo>
                      <a:pt x="7210" y="19812"/>
                      <a:pt x="6156" y="19126"/>
                      <a:pt x="5260" y="18259"/>
                    </a:cubicBezTo>
                    <a:lnTo>
                      <a:pt x="3000" y="16000"/>
                    </a:lnTo>
                  </a:path>
                  <a:path w="24000" h="24000" fill="none">
                    <a:moveTo>
                      <a:pt x="8000" y="16000"/>
                    </a:moveTo>
                    <a:lnTo>
                      <a:pt x="3000" y="16000"/>
                    </a:lnTo>
                    <a:lnTo>
                      <a:pt x="3000" y="21000"/>
                    </a:lnTo>
                  </a:path>
                </a:pathLst>
              </a:custGeom>
              <a:noFill/>
              <a:ln w="11429" cap="rnd">
                <a:solidFill>
                  <a:srgbClr val="165FF2"/>
                </a:solidFill>
                <a:round/>
              </a:ln>
            </p:spPr>
          </p:sp>
          <p:sp>
            <p:nvSpPr>
              <p:cNvPr id="223" name="Tile title"/>
              <p:cNvSpPr txBox="1"/>
              <p:nvPr/>
            </p:nvSpPr>
            <p:spPr>
              <a:xfrm>
                <a:off x="152704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Network / SAP down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24" name="Tile description"/>
              <p:cNvSpPr txBox="1"/>
              <p:nvPr/>
            </p:nvSpPr>
            <p:spPr>
              <a:xfrm>
                <a:off x="134416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Retry every 5 min, up to 3 times; then marked failed for re-upload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25" name="Tile divider"/>
            <p:cNvCxnSpPr/>
            <p:nvPr/>
          </p:nvCxnSpPr>
          <p:spPr>
            <a:xfrm>
              <a:off x="252069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26" name="Reliability · Previous-station entry missing"/>
            <p:cNvGrpSpPr/>
            <p:nvPr/>
          </p:nvGrpSpPr>
          <p:grpSpPr>
            <a:xfrm>
              <a:off x="2593848" y="4114800"/>
              <a:ext cx="1158240" cy="580644"/>
              <a:chOff x="2593848" y="4114800"/>
              <a:chExt cx="1158240" cy="580644"/>
            </a:xfrm>
          </p:grpSpPr>
          <p:sp>
            <p:nvSpPr>
              <p:cNvPr id="227" name="Icon hourglass"/>
              <p:cNvSpPr/>
              <p:nvPr/>
            </p:nvSpPr>
            <p:spPr>
              <a:xfrm>
                <a:off x="259384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5000" y="22000"/>
                    </a:moveTo>
                    <a:lnTo>
                      <a:pt x="19000" y="22000"/>
                    </a:lnTo>
                  </a:path>
                  <a:path w="24000" h="24000" fill="none">
                    <a:moveTo>
                      <a:pt x="5000" y="2000"/>
                    </a:moveTo>
                    <a:lnTo>
                      <a:pt x="19000" y="2000"/>
                    </a:lnTo>
                  </a:path>
                  <a:path w="24000" h="24000" fill="none">
                    <a:moveTo>
                      <a:pt x="17000" y="22000"/>
                    </a:moveTo>
                    <a:lnTo>
                      <a:pt x="17000" y="17828"/>
                    </a:lnTo>
                    <a:cubicBezTo>
                      <a:pt x="16999" y="17565"/>
                      <a:pt x="16948" y="17305"/>
                      <a:pt x="16847" y="17062"/>
                    </a:cubicBezTo>
                    <a:cubicBezTo>
                      <a:pt x="16747" y="16820"/>
                      <a:pt x="16599" y="16599"/>
                      <a:pt x="16414" y="16413"/>
                    </a:cubicBezTo>
                    <a:lnTo>
                      <a:pt x="12000" y="12000"/>
                    </a:lnTo>
                    <a:lnTo>
                      <a:pt x="7586" y="16414"/>
                    </a:lnTo>
                    <a:cubicBezTo>
                      <a:pt x="7400" y="16599"/>
                      <a:pt x="7252" y="16820"/>
                      <a:pt x="7152" y="17062"/>
                    </a:cubicBezTo>
                    <a:cubicBezTo>
                      <a:pt x="7051" y="17305"/>
                      <a:pt x="7000" y="17565"/>
                      <a:pt x="7000" y="17828"/>
                    </a:cubicBezTo>
                    <a:lnTo>
                      <a:pt x="7000" y="22000"/>
                    </a:lnTo>
                  </a:path>
                  <a:path w="24000" h="24000" fill="none">
                    <a:moveTo>
                      <a:pt x="7000" y="2000"/>
                    </a:moveTo>
                    <a:lnTo>
                      <a:pt x="7000" y="6172"/>
                    </a:lnTo>
                    <a:cubicBezTo>
                      <a:pt x="7000" y="6434"/>
                      <a:pt x="7051" y="6694"/>
                      <a:pt x="7152" y="6937"/>
                    </a:cubicBezTo>
                    <a:cubicBezTo>
                      <a:pt x="7252" y="7179"/>
                      <a:pt x="7400" y="7400"/>
                      <a:pt x="7586" y="7585"/>
                    </a:cubicBezTo>
                    <a:lnTo>
                      <a:pt x="12000" y="12000"/>
                    </a:lnTo>
                    <a:lnTo>
                      <a:pt x="16414" y="7586"/>
                    </a:lnTo>
                    <a:cubicBezTo>
                      <a:pt x="16599" y="7400"/>
                      <a:pt x="16747" y="7179"/>
                      <a:pt x="16847" y="6937"/>
                    </a:cubicBezTo>
                    <a:cubicBezTo>
                      <a:pt x="16948" y="6694"/>
                      <a:pt x="16999" y="6434"/>
                      <a:pt x="17000" y="6172"/>
                    </a:cubicBezTo>
                    <a:lnTo>
                      <a:pt x="17000" y="2000"/>
                    </a:lnTo>
                  </a:path>
                </a:pathLst>
              </a:custGeom>
              <a:noFill/>
              <a:ln w="11429" cap="rnd">
                <a:solidFill>
                  <a:srgbClr val="165FF2"/>
                </a:solidFill>
                <a:round/>
              </a:ln>
            </p:spPr>
          </p:sp>
          <p:sp>
            <p:nvSpPr>
              <p:cNvPr id="228" name="Tile title"/>
              <p:cNvSpPr txBox="1"/>
              <p:nvPr/>
            </p:nvSpPr>
            <p:spPr>
              <a:xfrm>
                <a:off x="277672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Previous-station entry missing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29" name="Tile description"/>
              <p:cNvSpPr txBox="1"/>
              <p:nvPr/>
            </p:nvSpPr>
            <p:spPr>
              <a:xfrm>
                <a:off x="259384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Retry every 5 min until the entry appears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230" name="Chip Cadence TBC with SAP team"/>
              <p:cNvGrpSpPr/>
              <p:nvPr/>
            </p:nvGrpSpPr>
            <p:grpSpPr>
              <a:xfrm>
                <a:off x="2593848" y="4558284"/>
                <a:ext cx="1069169" cy="137160"/>
                <a:chOff x="2593848" y="4558284"/>
                <a:chExt cx="1069169" cy="137160"/>
              </a:xfrm>
            </p:grpSpPr>
            <p:sp>
              <p:nvSpPr>
                <p:cNvPr id="231" name="Chip fill"/>
                <p:cNvSpPr/>
                <p:nvPr/>
              </p:nvSpPr>
              <p:spPr>
                <a:xfrm>
                  <a:off x="2593848" y="4558284"/>
                  <a:ext cx="1069169" cy="13716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232" name="Chip label"/>
                <p:cNvSpPr txBox="1"/>
                <p:nvPr/>
              </p:nvSpPr>
              <p:spPr>
                <a:xfrm>
                  <a:off x="2634996" y="4558284"/>
                  <a:ext cx="100516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60"/>
                    </a:lnSpc>
                    <a:spcBef>
                      <a:spcPts val="0"/>
                    </a:spcBef>
                    <a:buNone/>
                  </a:pPr>
                  <a:r>
                    <a:rPr lang="en-US" sz="56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Cadence TBC with SAP team</a:t>
                  </a:r>
                  <a:endParaRPr lang="en-US" sz="560" dirty="0">
                    <a:latin typeface="Inter SemiBold"/>
                  </a:endParaRPr>
                </a:p>
              </p:txBody>
            </p:sp>
          </p:grpSp>
        </p:grpSp>
        <p:cxnSp>
          <p:nvCxnSpPr>
            <p:cNvPr id="233" name="Tile divider"/>
            <p:cNvCxnSpPr/>
            <p:nvPr/>
          </p:nvCxnSpPr>
          <p:spPr>
            <a:xfrm>
              <a:off x="377037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34" name="Reliability · Shift end"/>
            <p:cNvGrpSpPr/>
            <p:nvPr/>
          </p:nvGrpSpPr>
          <p:grpSpPr>
            <a:xfrm>
              <a:off x="3843528" y="4114800"/>
              <a:ext cx="1158240" cy="557784"/>
              <a:chOff x="3843528" y="4114800"/>
              <a:chExt cx="1158240" cy="557784"/>
            </a:xfrm>
          </p:grpSpPr>
          <p:sp>
            <p:nvSpPr>
              <p:cNvPr id="235" name="Icon alarm-clock"/>
              <p:cNvSpPr/>
              <p:nvPr/>
            </p:nvSpPr>
            <p:spPr>
              <a:xfrm>
                <a:off x="384352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3000"/>
                    </a:moveTo>
                    <a:cubicBezTo>
                      <a:pt x="20000" y="14404"/>
                      <a:pt x="19630" y="15783"/>
                      <a:pt x="18928" y="17000"/>
                    </a:cubicBezTo>
                    <a:cubicBezTo>
                      <a:pt x="18226" y="18216"/>
                      <a:pt x="17216" y="19226"/>
                      <a:pt x="16000" y="19928"/>
                    </a:cubicBezTo>
                    <a:cubicBezTo>
                      <a:pt x="14783" y="20630"/>
                      <a:pt x="13404" y="21000"/>
                      <a:pt x="12000" y="21000"/>
                    </a:cubicBezTo>
                    <a:cubicBezTo>
                      <a:pt x="10595" y="21000"/>
                      <a:pt x="9216" y="20630"/>
                      <a:pt x="8000" y="19928"/>
                    </a:cubicBezTo>
                    <a:cubicBezTo>
                      <a:pt x="6783" y="19226"/>
                      <a:pt x="5773" y="18216"/>
                      <a:pt x="5071" y="17000"/>
                    </a:cubicBezTo>
                    <a:cubicBezTo>
                      <a:pt x="4369" y="15783"/>
                      <a:pt x="4000" y="14404"/>
                      <a:pt x="4000" y="13000"/>
                    </a:cubicBezTo>
                    <a:cubicBezTo>
                      <a:pt x="4000" y="11595"/>
                      <a:pt x="4369" y="10216"/>
                      <a:pt x="5071" y="9000"/>
                    </a:cubicBezTo>
                    <a:cubicBezTo>
                      <a:pt x="5773" y="7783"/>
                      <a:pt x="6783" y="6773"/>
                      <a:pt x="7999" y="6071"/>
                    </a:cubicBezTo>
                    <a:cubicBezTo>
                      <a:pt x="9216" y="5369"/>
                      <a:pt x="10595" y="5000"/>
                      <a:pt x="11999" y="5000"/>
                    </a:cubicBezTo>
                    <a:cubicBezTo>
                      <a:pt x="13404" y="5000"/>
                      <a:pt x="14783" y="5369"/>
                      <a:pt x="16000" y="6071"/>
                    </a:cubicBezTo>
                    <a:cubicBezTo>
                      <a:pt x="17216" y="6773"/>
                      <a:pt x="18226" y="7783"/>
                      <a:pt x="18928" y="9000"/>
                    </a:cubicBezTo>
                    <a:cubicBezTo>
                      <a:pt x="19630" y="10216"/>
                      <a:pt x="20000" y="11595"/>
                      <a:pt x="20000" y="12999"/>
                    </a:cubicBezTo>
                    <a:close/>
                  </a:path>
                  <a:path w="24000" h="24000" fill="none">
                    <a:moveTo>
                      <a:pt x="12000" y="9000"/>
                    </a:moveTo>
                    <a:lnTo>
                      <a:pt x="12000" y="13000"/>
                    </a:lnTo>
                    <a:lnTo>
                      <a:pt x="14000" y="15000"/>
                    </a:lnTo>
                  </a:path>
                  <a:path w="24000" h="24000" fill="none">
                    <a:moveTo>
                      <a:pt x="5000" y="3000"/>
                    </a:moveTo>
                    <a:lnTo>
                      <a:pt x="2000" y="6000"/>
                    </a:lnTo>
                  </a:path>
                  <a:path w="24000" h="24000" fill="none">
                    <a:moveTo>
                      <a:pt x="22000" y="6000"/>
                    </a:moveTo>
                    <a:lnTo>
                      <a:pt x="19000" y="3000"/>
                    </a:lnTo>
                  </a:path>
                  <a:path w="24000" h="24000" fill="none">
                    <a:moveTo>
                      <a:pt x="6380" y="18700"/>
                    </a:moveTo>
                    <a:lnTo>
                      <a:pt x="4000" y="21000"/>
                    </a:lnTo>
                  </a:path>
                  <a:path w="24000" h="24000" fill="none">
                    <a:moveTo>
                      <a:pt x="17640" y="18670"/>
                    </a:moveTo>
                    <a:lnTo>
                      <a:pt x="20000" y="21000"/>
                    </a:lnTo>
                  </a:path>
                </a:pathLst>
              </a:custGeom>
              <a:noFill/>
              <a:ln w="11429" cap="rnd">
                <a:solidFill>
                  <a:srgbClr val="165FF2"/>
                </a:solidFill>
                <a:round/>
              </a:ln>
            </p:spPr>
          </p:sp>
          <p:sp>
            <p:nvSpPr>
              <p:cNvPr id="236" name="Tile title"/>
              <p:cNvSpPr txBox="1"/>
              <p:nvPr/>
            </p:nvSpPr>
            <p:spPr>
              <a:xfrm>
                <a:off x="402640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Shift end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37" name="Tile description"/>
              <p:cNvSpPr txBox="1"/>
              <p:nvPr/>
            </p:nvSpPr>
            <p:spPr>
              <a:xfrm>
                <a:off x="384352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Pending entries highlighted 15 min before the shift ends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38" name="Tile divider"/>
            <p:cNvCxnSpPr/>
            <p:nvPr/>
          </p:nvCxnSpPr>
          <p:spPr>
            <a:xfrm>
              <a:off x="502005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39" name="Reliability · Calibration alert"/>
            <p:cNvGrpSpPr/>
            <p:nvPr/>
          </p:nvGrpSpPr>
          <p:grpSpPr>
            <a:xfrm>
              <a:off x="5093208" y="4114800"/>
              <a:ext cx="1158240" cy="557784"/>
              <a:chOff x="5093208" y="4114800"/>
              <a:chExt cx="1158240" cy="557784"/>
            </a:xfrm>
          </p:grpSpPr>
          <p:sp>
            <p:nvSpPr>
              <p:cNvPr id="240" name="Icon bell-ring"/>
              <p:cNvSpPr/>
              <p:nvPr/>
            </p:nvSpPr>
            <p:spPr>
              <a:xfrm>
                <a:off x="509320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268" y="21000"/>
                    </a:moveTo>
                    <a:cubicBezTo>
                      <a:pt x="10443" y="21303"/>
                      <a:pt x="10696" y="21556"/>
                      <a:pt x="11000" y="21731"/>
                    </a:cubicBezTo>
                    <a:cubicBezTo>
                      <a:pt x="11304" y="21907"/>
                      <a:pt x="11648" y="21999"/>
                      <a:pt x="12000" y="21999"/>
                    </a:cubicBezTo>
                    <a:cubicBezTo>
                      <a:pt x="12351" y="21999"/>
                      <a:pt x="12695" y="21907"/>
                      <a:pt x="12999" y="21731"/>
                    </a:cubicBezTo>
                    <a:cubicBezTo>
                      <a:pt x="13303" y="21556"/>
                      <a:pt x="13556" y="21303"/>
                      <a:pt x="13732" y="21000"/>
                    </a:cubicBezTo>
                  </a:path>
                  <a:path w="24000" h="24000" fill="none">
                    <a:moveTo>
                      <a:pt x="22000" y="8000"/>
                    </a:moveTo>
                    <a:cubicBezTo>
                      <a:pt x="22000" y="5700"/>
                      <a:pt x="21200" y="3700"/>
                      <a:pt x="20000" y="2000"/>
                    </a:cubicBezTo>
                  </a:path>
                  <a:path w="24000" h="24000" fill="none">
                    <a:moveTo>
                      <a:pt x="3262" y="15326"/>
                    </a:moveTo>
                    <a:cubicBezTo>
                      <a:pt x="3157" y="15440"/>
                      <a:pt x="3081" y="15577"/>
                      <a:pt x="3039" y="15725"/>
                    </a:cubicBezTo>
                    <a:cubicBezTo>
                      <a:pt x="2996" y="15874"/>
                      <a:pt x="2989" y="16031"/>
                      <a:pt x="3017" y="16183"/>
                    </a:cubicBezTo>
                    <a:cubicBezTo>
                      <a:pt x="3045" y="16335"/>
                      <a:pt x="3109" y="16478"/>
                      <a:pt x="3202" y="16602"/>
                    </a:cubicBezTo>
                    <a:cubicBezTo>
                      <a:pt x="3295" y="16725"/>
                      <a:pt x="3415" y="16825"/>
                      <a:pt x="3554" y="16894"/>
                    </a:cubicBezTo>
                    <a:cubicBezTo>
                      <a:pt x="3692" y="16963"/>
                      <a:pt x="3845" y="16999"/>
                      <a:pt x="4000" y="17000"/>
                    </a:cubicBezTo>
                    <a:lnTo>
                      <a:pt x="20000" y="17000"/>
                    </a:lnTo>
                    <a:cubicBezTo>
                      <a:pt x="20154" y="17000"/>
                      <a:pt x="20307" y="16964"/>
                      <a:pt x="20445" y="16895"/>
                    </a:cubicBezTo>
                    <a:cubicBezTo>
                      <a:pt x="20584" y="16826"/>
                      <a:pt x="20704" y="16726"/>
                      <a:pt x="20798" y="16603"/>
                    </a:cubicBezTo>
                    <a:cubicBezTo>
                      <a:pt x="20891" y="16479"/>
                      <a:pt x="20954" y="16336"/>
                      <a:pt x="20983" y="16184"/>
                    </a:cubicBezTo>
                    <a:cubicBezTo>
                      <a:pt x="21011" y="16032"/>
                      <a:pt x="21004" y="15875"/>
                      <a:pt x="20962" y="15727"/>
                    </a:cubicBezTo>
                    <a:cubicBezTo>
                      <a:pt x="20920" y="15578"/>
                      <a:pt x="20844" y="15441"/>
                      <a:pt x="20740" y="15327"/>
                    </a:cubicBezTo>
                    <a:cubicBezTo>
                      <a:pt x="19410" y="13956"/>
                      <a:pt x="18000" y="12499"/>
                      <a:pt x="18000" y="8000"/>
                    </a:cubicBezTo>
                    <a:cubicBezTo>
                      <a:pt x="18000" y="6946"/>
                      <a:pt x="17722" y="5912"/>
                      <a:pt x="17196" y="5000"/>
                    </a:cubicBezTo>
                    <a:cubicBezTo>
                      <a:pt x="16669" y="4087"/>
                      <a:pt x="15912" y="3330"/>
                      <a:pt x="15000" y="2803"/>
                    </a:cubicBezTo>
                    <a:cubicBezTo>
                      <a:pt x="14087" y="2277"/>
                      <a:pt x="13053" y="2000"/>
                      <a:pt x="12000" y="2000"/>
                    </a:cubicBezTo>
                    <a:cubicBezTo>
                      <a:pt x="10946" y="2000"/>
                      <a:pt x="9912" y="2277"/>
                      <a:pt x="9000" y="2803"/>
                    </a:cubicBezTo>
                    <a:cubicBezTo>
                      <a:pt x="8087" y="3330"/>
                      <a:pt x="7330" y="4087"/>
                      <a:pt x="6803" y="4999"/>
                    </a:cubicBezTo>
                    <a:cubicBezTo>
                      <a:pt x="6277" y="5912"/>
                      <a:pt x="6000" y="6946"/>
                      <a:pt x="6000" y="8000"/>
                    </a:cubicBezTo>
                    <a:cubicBezTo>
                      <a:pt x="6000" y="12498"/>
                      <a:pt x="4589" y="13956"/>
                      <a:pt x="3262" y="15326"/>
                    </a:cubicBezTo>
                  </a:path>
                  <a:path w="24000" h="24000" fill="none">
                    <a:moveTo>
                      <a:pt x="4000" y="2000"/>
                    </a:moveTo>
                    <a:cubicBezTo>
                      <a:pt x="2800" y="3700"/>
                      <a:pt x="2000" y="5700"/>
                      <a:pt x="2000" y="8000"/>
                    </a:cubicBezTo>
                  </a:path>
                </a:pathLst>
              </a:custGeom>
              <a:noFill/>
              <a:ln w="11429" cap="rnd">
                <a:solidFill>
                  <a:srgbClr val="165FF2"/>
                </a:solidFill>
                <a:round/>
              </a:ln>
            </p:spPr>
          </p:sp>
          <p:sp>
            <p:nvSpPr>
              <p:cNvPr id="241" name="Tile title"/>
              <p:cNvSpPr txBox="1"/>
              <p:nvPr/>
            </p:nvSpPr>
            <p:spPr>
              <a:xfrm>
                <a:off x="527608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Calibration alert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42" name="Tile description"/>
              <p:cNvSpPr txBox="1"/>
              <p:nvPr/>
            </p:nvSpPr>
            <p:spPr>
              <a:xfrm>
                <a:off x="509320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Alert if 4 hours pass without a new calibration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43" name="Tile divider"/>
            <p:cNvCxnSpPr/>
            <p:nvPr/>
          </p:nvCxnSpPr>
          <p:spPr>
            <a:xfrm>
              <a:off x="626973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44" name="Reliability · Edit after upload"/>
            <p:cNvGrpSpPr/>
            <p:nvPr/>
          </p:nvGrpSpPr>
          <p:grpSpPr>
            <a:xfrm>
              <a:off x="6342888" y="4114800"/>
              <a:ext cx="1158240" cy="557784"/>
              <a:chOff x="6342888" y="4114800"/>
              <a:chExt cx="1158240" cy="557784"/>
            </a:xfrm>
          </p:grpSpPr>
          <p:sp>
            <p:nvSpPr>
              <p:cNvPr id="245" name="Icon lock"/>
              <p:cNvSpPr/>
              <p:nvPr/>
            </p:nvSpPr>
            <p:spPr>
              <a:xfrm>
                <a:off x="634288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5000" y="11000"/>
                    </a:moveTo>
                    <a:lnTo>
                      <a:pt x="19000" y="11000"/>
                    </a:lnTo>
                    <a:cubicBezTo>
                      <a:pt x="19351" y="11000"/>
                      <a:pt x="19695" y="11092"/>
                      <a:pt x="20000" y="11267"/>
                    </a:cubicBezTo>
                    <a:cubicBezTo>
                      <a:pt x="20304" y="11443"/>
                      <a:pt x="20556" y="11695"/>
                      <a:pt x="20732" y="12000"/>
                    </a:cubicBezTo>
                    <a:cubicBezTo>
                      <a:pt x="20907" y="12304"/>
                      <a:pt x="21000" y="12648"/>
                      <a:pt x="21000" y="13000"/>
                    </a:cubicBezTo>
                    <a:lnTo>
                      <a:pt x="21000" y="20000"/>
                    </a:lnTo>
                    <a:cubicBezTo>
                      <a:pt x="21000" y="20351"/>
                      <a:pt x="20907" y="20695"/>
                      <a:pt x="20732" y="21000"/>
                    </a:cubicBezTo>
                    <a:cubicBezTo>
                      <a:pt x="20556" y="21304"/>
                      <a:pt x="20304" y="21556"/>
                      <a:pt x="20000" y="21732"/>
                    </a:cubicBezTo>
                    <a:cubicBezTo>
                      <a:pt x="19695" y="21907"/>
                      <a:pt x="19351" y="22000"/>
                      <a:pt x="19000" y="22000"/>
                    </a:cubicBezTo>
                    <a:lnTo>
                      <a:pt x="5000" y="22000"/>
                    </a:lnTo>
                    <a:cubicBezTo>
                      <a:pt x="4648" y="22000"/>
                      <a:pt x="4304" y="21907"/>
                      <a:pt x="4000" y="21732"/>
                    </a:cubicBezTo>
                    <a:cubicBezTo>
                      <a:pt x="3695" y="21556"/>
                      <a:pt x="3443" y="21304"/>
                      <a:pt x="3267" y="21000"/>
                    </a:cubicBezTo>
                    <a:cubicBezTo>
                      <a:pt x="3092" y="20695"/>
                      <a:pt x="3000" y="20351"/>
                      <a:pt x="3000" y="20000"/>
                    </a:cubicBezTo>
                    <a:lnTo>
                      <a:pt x="3000" y="13000"/>
                    </a:lnTo>
                    <a:cubicBezTo>
                      <a:pt x="3000" y="12648"/>
                      <a:pt x="3092" y="12304"/>
                      <a:pt x="3267" y="12000"/>
                    </a:cubicBezTo>
                    <a:cubicBezTo>
                      <a:pt x="3443" y="11695"/>
                      <a:pt x="3695" y="11443"/>
                      <a:pt x="3999" y="11267"/>
                    </a:cubicBezTo>
                    <a:cubicBezTo>
                      <a:pt x="4304" y="11092"/>
                      <a:pt x="4648" y="11000"/>
                      <a:pt x="5000" y="11000"/>
                    </a:cubicBezTo>
                    <a:close/>
                  </a:path>
                  <a:path w="24000" h="24000" fill="none">
                    <a:moveTo>
                      <a:pt x="7000" y="11000"/>
                    </a:moveTo>
                    <a:lnTo>
                      <a:pt x="7000" y="7000"/>
                    </a:lnTo>
                    <a:cubicBezTo>
                      <a:pt x="7000" y="6122"/>
                      <a:pt x="7231" y="5260"/>
                      <a:pt x="7669" y="4500"/>
                    </a:cubicBezTo>
                    <a:cubicBezTo>
                      <a:pt x="8108" y="3739"/>
                      <a:pt x="8739" y="3108"/>
                      <a:pt x="9499" y="2669"/>
                    </a:cubicBezTo>
                    <a:cubicBezTo>
                      <a:pt x="10260" y="2231"/>
                      <a:pt x="11122" y="2000"/>
                      <a:pt x="11999" y="2000"/>
                    </a:cubicBezTo>
                    <a:cubicBezTo>
                      <a:pt x="12877" y="1999"/>
                      <a:pt x="13739" y="2231"/>
                      <a:pt x="14500" y="2669"/>
                    </a:cubicBezTo>
                    <a:cubicBezTo>
                      <a:pt x="15260" y="3108"/>
                      <a:pt x="15891" y="3739"/>
                      <a:pt x="16330" y="4500"/>
                    </a:cubicBezTo>
                    <a:cubicBezTo>
                      <a:pt x="16768" y="5260"/>
                      <a:pt x="17000" y="6122"/>
                      <a:pt x="17000" y="7000"/>
                    </a:cubicBezTo>
                    <a:lnTo>
                      <a:pt x="17000" y="11000"/>
                    </a:lnTo>
                  </a:path>
                </a:pathLst>
              </a:custGeom>
              <a:noFill/>
              <a:ln w="11429" cap="rnd">
                <a:solidFill>
                  <a:srgbClr val="165FF2"/>
                </a:solidFill>
                <a:round/>
              </a:ln>
            </p:spPr>
          </p:sp>
          <p:sp>
            <p:nvSpPr>
              <p:cNvPr id="246" name="Tile title"/>
              <p:cNvSpPr txBox="1"/>
              <p:nvPr/>
            </p:nvSpPr>
            <p:spPr>
              <a:xfrm>
                <a:off x="652576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Edit after upload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47" name="Tile description"/>
              <p:cNvSpPr txBox="1"/>
              <p:nvPr/>
            </p:nvSpPr>
            <p:spPr>
              <a:xfrm>
                <a:off x="634288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All fields editable except indication counts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48" name="Tile divider"/>
            <p:cNvCxnSpPr/>
            <p:nvPr/>
          </p:nvCxnSpPr>
          <p:spPr>
            <a:xfrm>
              <a:off x="751941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49" name="Reliability · Status per entry"/>
            <p:cNvGrpSpPr/>
            <p:nvPr/>
          </p:nvGrpSpPr>
          <p:grpSpPr>
            <a:xfrm>
              <a:off x="7592568" y="4114800"/>
              <a:ext cx="1158240" cy="557784"/>
              <a:chOff x="7592568" y="4114800"/>
              <a:chExt cx="1158240" cy="557784"/>
            </a:xfrm>
          </p:grpSpPr>
          <p:sp>
            <p:nvSpPr>
              <p:cNvPr id="250" name="Icon list-checks"/>
              <p:cNvSpPr/>
              <p:nvPr/>
            </p:nvSpPr>
            <p:spPr>
              <a:xfrm>
                <a:off x="759256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3000" y="5000"/>
                    </a:moveTo>
                    <a:lnTo>
                      <a:pt x="21000" y="5000"/>
                    </a:lnTo>
                  </a:path>
                  <a:path w="24000" h="24000" fill="none">
                    <a:moveTo>
                      <a:pt x="13000" y="12000"/>
                    </a:moveTo>
                    <a:lnTo>
                      <a:pt x="21000" y="12000"/>
                    </a:lnTo>
                  </a:path>
                  <a:path w="24000" h="24000" fill="none">
                    <a:moveTo>
                      <a:pt x="13000" y="19000"/>
                    </a:moveTo>
                    <a:lnTo>
                      <a:pt x="21000" y="19000"/>
                    </a:lnTo>
                  </a:path>
                  <a:path w="24000" h="24000" fill="none">
                    <a:moveTo>
                      <a:pt x="3000" y="17000"/>
                    </a:moveTo>
                    <a:lnTo>
                      <a:pt x="5000" y="19000"/>
                    </a:lnTo>
                    <a:lnTo>
                      <a:pt x="9000" y="15000"/>
                    </a:lnTo>
                  </a:path>
                  <a:path w="24000" h="24000" fill="none">
                    <a:moveTo>
                      <a:pt x="3000" y="7000"/>
                    </a:moveTo>
                    <a:lnTo>
                      <a:pt x="5000" y="9000"/>
                    </a:lnTo>
                    <a:lnTo>
                      <a:pt x="9000" y="5000"/>
                    </a:lnTo>
                  </a:path>
                </a:pathLst>
              </a:custGeom>
              <a:noFill/>
              <a:ln w="11429" cap="rnd">
                <a:solidFill>
                  <a:srgbClr val="165FF2"/>
                </a:solidFill>
                <a:round/>
              </a:ln>
            </p:spPr>
          </p:sp>
          <p:sp>
            <p:nvSpPr>
              <p:cNvPr id="251" name="Tile title"/>
              <p:cNvSpPr txBox="1"/>
              <p:nvPr/>
            </p:nvSpPr>
            <p:spPr>
              <a:xfrm>
                <a:off x="777544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Status per entry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52" name="Tile description"/>
              <p:cNvSpPr txBox="1"/>
              <p:nvPr/>
            </p:nvSpPr>
            <p:spPr>
              <a:xfrm>
                <a:off x="759256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Preview, uploaded, retrying, waiting; FTP status shown</a:t>
                </a:r>
                <a:endParaRPr lang="en-US" sz="620" dirty="0">
                  <a:latin typeface="Inter"/>
                </a:endParaRPr>
              </a:p>
            </p:txBody>
          </p:sp>
        </p:grpSp>
      </p:grpSp>
      <p:grpSp>
        <p:nvGrpSpPr>
          <p:cNvPr id="253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54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55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02  ·  HYDROTESTER STATION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Solution Architecture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The pipe number is entered before the test; the Graph Application captures the curve and the SAP Entry Application posts the entry.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Hydrotester SCADA"/>
          <p:cNvGrpSpPr/>
          <p:nvPr/>
        </p:nvGrpSpPr>
        <p:grpSpPr>
          <a:xfrm>
            <a:off x="274320" y="1042416"/>
            <a:ext cx="1298448" cy="1188720"/>
            <a:chOff x="274320" y="1042416"/>
            <a:chExt cx="1298448" cy="1188720"/>
          </a:xfrm>
        </p:grpSpPr>
        <p:sp>
          <p:nvSpPr>
            <p:cNvPr id="22" name="SCADA card"/>
            <p:cNvSpPr/>
            <p:nvPr/>
          </p:nvSpPr>
          <p:spPr>
            <a:xfrm>
              <a:off x="274320" y="1042416"/>
              <a:ext cx="1298448" cy="118872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23" name="Stage number"/>
            <p:cNvSpPr/>
            <p:nvPr/>
          </p:nvSpPr>
          <p:spPr>
            <a:xfrm>
              <a:off x="365760" y="1133856"/>
              <a:ext cx="155448" cy="155448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24" name="Stage digit"/>
            <p:cNvSpPr txBox="1"/>
            <p:nvPr/>
          </p:nvSpPr>
          <p:spPr>
            <a:xfrm>
              <a:off x="365760" y="1133856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650" dirty="0">
                <a:latin typeface="TASA Orbiter SemiBold"/>
              </a:endParaRPr>
            </a:p>
          </p:txBody>
        </p:sp>
        <p:sp>
          <p:nvSpPr>
            <p:cNvPr id="25" name="Icon gauge"/>
            <p:cNvSpPr/>
            <p:nvPr/>
          </p:nvSpPr>
          <p:spPr>
            <a:xfrm>
              <a:off x="365760" y="1371600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2560" y="17650"/>
                    <a:pt x="2107" y="16137"/>
                    <a:pt x="2016" y="14581"/>
                  </a:cubicBezTo>
                  <a:cubicBezTo>
                    <a:pt x="1926" y="13025"/>
                    <a:pt x="2200" y="11469"/>
                    <a:pt x="2817" y="10039"/>
                  </a:cubicBezTo>
                  <a:cubicBezTo>
                    <a:pt x="3434" y="8608"/>
                    <a:pt x="4378" y="7340"/>
                    <a:pt x="5571" y="6339"/>
                  </a:cubicBezTo>
                  <a:cubicBezTo>
                    <a:pt x="6765" y="5337"/>
                    <a:pt x="8177" y="4628"/>
                    <a:pt x="9693" y="4269"/>
                  </a:cubicBezTo>
                  <a:cubicBezTo>
                    <a:pt x="11210" y="3909"/>
                    <a:pt x="12789" y="3909"/>
                    <a:pt x="14306" y="4269"/>
                  </a:cubicBezTo>
                  <a:cubicBezTo>
                    <a:pt x="15822" y="4628"/>
                    <a:pt x="17234" y="5337"/>
                    <a:pt x="18428" y="6339"/>
                  </a:cubicBezTo>
                  <a:cubicBezTo>
                    <a:pt x="19621" y="7340"/>
                    <a:pt x="20565" y="8608"/>
                    <a:pt x="21182" y="10039"/>
                  </a:cubicBezTo>
                  <a:cubicBezTo>
                    <a:pt x="21799" y="11469"/>
                    <a:pt x="22073" y="13025"/>
                    <a:pt x="21983" y="14581"/>
                  </a:cubicBezTo>
                  <a:cubicBezTo>
                    <a:pt x="21892" y="16137"/>
                    <a:pt x="21439" y="17650"/>
                    <a:pt x="20660" y="19000"/>
                  </a:cubicBezTo>
                </a:path>
              </a:pathLst>
            </a:custGeom>
            <a:noFill/>
            <a:ln w="17830" cap="rnd">
              <a:solidFill>
                <a:srgbClr val="0C1927"/>
              </a:solidFill>
              <a:round/>
            </a:ln>
          </p:spPr>
        </p:sp>
        <p:sp>
          <p:nvSpPr>
            <p:cNvPr id="26" name="SCADA title"/>
            <p:cNvSpPr txBox="1"/>
            <p:nvPr/>
          </p:nvSpPr>
          <p:spPr>
            <a:xfrm>
              <a:off x="576072" y="1120140"/>
              <a:ext cx="932688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4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Hydrotester SCADA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27" name="SCADA note"/>
            <p:cNvSpPr txBox="1"/>
            <p:nvPr/>
          </p:nvSpPr>
          <p:spPr>
            <a:xfrm>
              <a:off x="676656" y="1389888"/>
              <a:ext cx="841248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6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Existing system at the station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28" name="Chip OPC UA server"/>
            <p:cNvGrpSpPr/>
            <p:nvPr/>
          </p:nvGrpSpPr>
          <p:grpSpPr>
            <a:xfrm>
              <a:off x="365760" y="1719072"/>
              <a:ext cx="818467" cy="155448"/>
              <a:chOff x="365760" y="1719072"/>
              <a:chExt cx="818467" cy="155448"/>
            </a:xfrm>
          </p:grpSpPr>
          <p:sp>
            <p:nvSpPr>
              <p:cNvPr id="29" name="Chip fill"/>
              <p:cNvSpPr/>
              <p:nvPr/>
            </p:nvSpPr>
            <p:spPr>
              <a:xfrm>
                <a:off x="365760" y="1719072"/>
                <a:ext cx="818467" cy="155448"/>
              </a:xfrm>
              <a:prstGeom prst="roundRect">
                <a:avLst>
                  <a:gd name="adj" fmla="val 17647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30" name="Icon server"/>
              <p:cNvSpPr/>
              <p:nvPr/>
            </p:nvSpPr>
            <p:spPr>
              <a:xfrm>
                <a:off x="420624" y="1746790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4000" y="2000"/>
                    </a:moveTo>
                    <a:lnTo>
                      <a:pt x="20000" y="2000"/>
                    </a:lnTo>
                    <a:cubicBezTo>
                      <a:pt x="20351" y="2000"/>
                      <a:pt x="20695" y="2092"/>
                      <a:pt x="21000" y="2267"/>
                    </a:cubicBezTo>
                    <a:cubicBezTo>
                      <a:pt x="21304" y="2443"/>
                      <a:pt x="21556" y="2695"/>
                      <a:pt x="21732" y="3000"/>
                    </a:cubicBezTo>
                    <a:cubicBezTo>
                      <a:pt x="21907" y="3304"/>
                      <a:pt x="22000" y="3648"/>
                      <a:pt x="22000" y="4000"/>
                    </a:cubicBezTo>
                    <a:lnTo>
                      <a:pt x="22000" y="8000"/>
                    </a:lnTo>
                    <a:cubicBezTo>
                      <a:pt x="22000" y="8351"/>
                      <a:pt x="21907" y="8695"/>
                      <a:pt x="21732" y="9000"/>
                    </a:cubicBezTo>
                    <a:cubicBezTo>
                      <a:pt x="21556" y="9304"/>
                      <a:pt x="21304" y="9556"/>
                      <a:pt x="21000" y="9732"/>
                    </a:cubicBezTo>
                    <a:cubicBezTo>
                      <a:pt x="20695" y="9907"/>
                      <a:pt x="20351" y="10000"/>
                      <a:pt x="20000" y="10000"/>
                    </a:cubicBezTo>
                    <a:lnTo>
                      <a:pt x="4000" y="10000"/>
                    </a:lnTo>
                    <a:cubicBezTo>
                      <a:pt x="3648" y="10000"/>
                      <a:pt x="3304" y="9907"/>
                      <a:pt x="3000" y="9732"/>
                    </a:cubicBezTo>
                    <a:cubicBezTo>
                      <a:pt x="2695" y="9556"/>
                      <a:pt x="2443" y="9304"/>
                      <a:pt x="2267" y="9000"/>
                    </a:cubicBezTo>
                    <a:cubicBezTo>
                      <a:pt x="2092" y="8695"/>
                      <a:pt x="2000" y="8351"/>
                      <a:pt x="2000" y="8000"/>
                    </a:cubicBezTo>
                    <a:lnTo>
                      <a:pt x="2000" y="4000"/>
                    </a:lnTo>
                    <a:cubicBezTo>
                      <a:pt x="2000" y="3648"/>
                      <a:pt x="2092" y="3304"/>
                      <a:pt x="2267" y="3000"/>
                    </a:cubicBezTo>
                    <a:cubicBezTo>
                      <a:pt x="2443" y="2695"/>
                      <a:pt x="2695" y="2443"/>
                      <a:pt x="2999" y="2267"/>
                    </a:cubicBezTo>
                    <a:cubicBezTo>
                      <a:pt x="3304" y="2092"/>
                      <a:pt x="3648" y="2000"/>
                      <a:pt x="4000" y="2000"/>
                    </a:cubicBezTo>
                    <a:close/>
                  </a:path>
                  <a:path w="24000" h="24000" fill="none">
                    <a:moveTo>
                      <a:pt x="4000" y="14000"/>
                    </a:moveTo>
                    <a:lnTo>
                      <a:pt x="20000" y="14000"/>
                    </a:lnTo>
                    <a:cubicBezTo>
                      <a:pt x="20351" y="14000"/>
                      <a:pt x="20695" y="14092"/>
                      <a:pt x="21000" y="14267"/>
                    </a:cubicBezTo>
                    <a:cubicBezTo>
                      <a:pt x="21304" y="14443"/>
                      <a:pt x="21556" y="14695"/>
                      <a:pt x="21732" y="15000"/>
                    </a:cubicBezTo>
                    <a:cubicBezTo>
                      <a:pt x="21907" y="15304"/>
                      <a:pt x="22000" y="15648"/>
                      <a:pt x="22000" y="16000"/>
                    </a:cubicBezTo>
                    <a:lnTo>
                      <a:pt x="22000" y="20000"/>
                    </a:lnTo>
                    <a:cubicBezTo>
                      <a:pt x="22000" y="20351"/>
                      <a:pt x="21907" y="20695"/>
                      <a:pt x="21732" y="21000"/>
                    </a:cubicBezTo>
                    <a:cubicBezTo>
                      <a:pt x="21556" y="21304"/>
                      <a:pt x="21304" y="21556"/>
                      <a:pt x="21000" y="21732"/>
                    </a:cubicBezTo>
                    <a:cubicBezTo>
                      <a:pt x="20695" y="21907"/>
                      <a:pt x="20351" y="22000"/>
                      <a:pt x="20000" y="22000"/>
                    </a:cubicBezTo>
                    <a:lnTo>
                      <a:pt x="4000" y="22000"/>
                    </a:lnTo>
                    <a:cubicBezTo>
                      <a:pt x="3648" y="22000"/>
                      <a:pt x="3304" y="21907"/>
                      <a:pt x="3000" y="21732"/>
                    </a:cubicBezTo>
                    <a:cubicBezTo>
                      <a:pt x="2695" y="21556"/>
                      <a:pt x="2443" y="21304"/>
                      <a:pt x="2267" y="21000"/>
                    </a:cubicBezTo>
                    <a:cubicBezTo>
                      <a:pt x="2092" y="20695"/>
                      <a:pt x="2000" y="20351"/>
                      <a:pt x="2000" y="20000"/>
                    </a:cubicBezTo>
                    <a:lnTo>
                      <a:pt x="2000" y="16000"/>
                    </a:lnTo>
                    <a:cubicBezTo>
                      <a:pt x="2000" y="15648"/>
                      <a:pt x="2092" y="15304"/>
                      <a:pt x="2267" y="15000"/>
                    </a:cubicBezTo>
                    <a:cubicBezTo>
                      <a:pt x="2443" y="14695"/>
                      <a:pt x="2695" y="14443"/>
                      <a:pt x="2999" y="14267"/>
                    </a:cubicBezTo>
                    <a:cubicBezTo>
                      <a:pt x="3304" y="14092"/>
                      <a:pt x="3648" y="14000"/>
                      <a:pt x="4000" y="14000"/>
                    </a:cubicBezTo>
                    <a:close/>
                  </a:path>
                  <a:path w="24000" h="24000" fill="none">
                    <a:moveTo>
                      <a:pt x="6000" y="6000"/>
                    </a:moveTo>
                    <a:lnTo>
                      <a:pt x="6010" y="6000"/>
                    </a:lnTo>
                  </a:path>
                  <a:path w="24000" h="24000" fill="none">
                    <a:moveTo>
                      <a:pt x="6000" y="18000"/>
                    </a:moveTo>
                    <a:lnTo>
                      <a:pt x="6010" y="18000"/>
                    </a:lnTo>
                  </a:path>
                </a:pathLst>
              </a:custGeom>
              <a:noFill/>
              <a:ln w="9584" cap="rnd">
                <a:solidFill>
                  <a:srgbClr val="0C1927"/>
                </a:solidFill>
                <a:round/>
              </a:ln>
            </p:spPr>
          </p:sp>
          <p:sp>
            <p:nvSpPr>
              <p:cNvPr id="31" name="Chip label"/>
              <p:cNvSpPr txBox="1"/>
              <p:nvPr/>
            </p:nvSpPr>
            <p:spPr>
              <a:xfrm>
                <a:off x="552640" y="1719072"/>
                <a:ext cx="595010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30"/>
                  </a:lnSpc>
                  <a:spcBef>
                    <a:spcPts val="0"/>
                  </a:spcBef>
                  <a:buNone/>
                </a:pPr>
                <a:r>
                  <a:rPr lang="en-US" sz="6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OPC UA server</a:t>
                </a:r>
                <a:endParaRPr lang="en-US" sz="630" dirty="0">
                  <a:latin typeface="Inter SemiBold"/>
                </a:endParaRPr>
              </a:p>
            </p:txBody>
          </p:sp>
        </p:grpSp>
        <p:grpSp>
          <p:nvGrpSpPr>
            <p:cNvPr id="32" name="Chip Live pressure data"/>
            <p:cNvGrpSpPr/>
            <p:nvPr/>
          </p:nvGrpSpPr>
          <p:grpSpPr>
            <a:xfrm>
              <a:off x="365760" y="1920240"/>
              <a:ext cx="952952" cy="155448"/>
              <a:chOff x="365760" y="1920240"/>
              <a:chExt cx="952952" cy="155448"/>
            </a:xfrm>
          </p:grpSpPr>
          <p:sp>
            <p:nvSpPr>
              <p:cNvPr id="33" name="Chip fill"/>
              <p:cNvSpPr/>
              <p:nvPr/>
            </p:nvSpPr>
            <p:spPr>
              <a:xfrm>
                <a:off x="365760" y="1920240"/>
                <a:ext cx="952952" cy="155448"/>
              </a:xfrm>
              <a:prstGeom prst="roundRect">
                <a:avLst>
                  <a:gd name="adj" fmla="val 17647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34" name="Icon activity"/>
              <p:cNvSpPr/>
              <p:nvPr/>
            </p:nvSpPr>
            <p:spPr>
              <a:xfrm>
                <a:off x="420624" y="1947958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lnTo>
                      <a:pt x="19520" y="12000"/>
                    </a:lnTo>
                    <a:cubicBezTo>
                      <a:pt x="19230" y="11999"/>
                      <a:pt x="18943" y="12061"/>
                      <a:pt x="18680" y="12182"/>
                    </a:cubicBezTo>
                    <a:cubicBezTo>
                      <a:pt x="18416" y="12304"/>
                      <a:pt x="18182" y="12481"/>
                      <a:pt x="17994" y="12701"/>
                    </a:cubicBezTo>
                    <a:cubicBezTo>
                      <a:pt x="17806" y="12922"/>
                      <a:pt x="17668" y="13180"/>
                      <a:pt x="17590" y="13460"/>
                    </a:cubicBezTo>
                    <a:lnTo>
                      <a:pt x="15240" y="21820"/>
                    </a:lnTo>
                    <a:cubicBezTo>
                      <a:pt x="15227" y="21861"/>
                      <a:pt x="15205" y="21898"/>
                      <a:pt x="15174" y="21929"/>
                    </a:cubicBezTo>
                    <a:cubicBezTo>
                      <a:pt x="15143" y="21959"/>
                      <a:pt x="15105" y="21980"/>
                      <a:pt x="15063" y="21991"/>
                    </a:cubicBezTo>
                    <a:cubicBezTo>
                      <a:pt x="15021" y="22002"/>
                      <a:pt x="14978" y="22002"/>
                      <a:pt x="14936" y="21991"/>
                    </a:cubicBezTo>
                    <a:cubicBezTo>
                      <a:pt x="14894" y="21980"/>
                      <a:pt x="14856" y="21959"/>
                      <a:pt x="14825" y="21929"/>
                    </a:cubicBezTo>
                    <a:cubicBezTo>
                      <a:pt x="14794" y="21898"/>
                      <a:pt x="14772" y="21861"/>
                      <a:pt x="14760" y="21820"/>
                    </a:cubicBezTo>
                    <a:lnTo>
                      <a:pt x="9240" y="2180"/>
                    </a:lnTo>
                    <a:cubicBezTo>
                      <a:pt x="9227" y="2138"/>
                      <a:pt x="9205" y="2101"/>
                      <a:pt x="9174" y="2070"/>
                    </a:cubicBezTo>
                    <a:cubicBezTo>
                      <a:pt x="9143" y="2040"/>
                      <a:pt x="9105" y="2019"/>
                      <a:pt x="9063" y="2008"/>
                    </a:cubicBezTo>
                    <a:cubicBezTo>
                      <a:pt x="9021" y="1997"/>
                      <a:pt x="8978" y="1997"/>
                      <a:pt x="8936" y="2008"/>
                    </a:cubicBezTo>
                    <a:cubicBezTo>
                      <a:pt x="8894" y="2019"/>
                      <a:pt x="8856" y="2040"/>
                      <a:pt x="8825" y="2070"/>
                    </a:cubicBezTo>
                    <a:cubicBezTo>
                      <a:pt x="8794" y="2101"/>
                      <a:pt x="8772" y="2138"/>
                      <a:pt x="8760" y="2180"/>
                    </a:cubicBezTo>
                    <a:lnTo>
                      <a:pt x="6410" y="10540"/>
                    </a:lnTo>
                    <a:cubicBezTo>
                      <a:pt x="6332" y="10818"/>
                      <a:pt x="6194" y="11075"/>
                      <a:pt x="6007" y="11295"/>
                    </a:cubicBezTo>
                    <a:cubicBezTo>
                      <a:pt x="5820" y="11515"/>
                      <a:pt x="5587" y="11692"/>
                      <a:pt x="5325" y="11814"/>
                    </a:cubicBezTo>
                    <a:cubicBezTo>
                      <a:pt x="5063" y="11935"/>
                      <a:pt x="4778" y="11999"/>
                      <a:pt x="4490" y="12000"/>
                    </a:cubicBezTo>
                    <a:lnTo>
                      <a:pt x="2000" y="12000"/>
                    </a:lnTo>
                  </a:path>
                </a:pathLst>
              </a:custGeom>
              <a:noFill/>
              <a:ln w="9584" cap="rnd">
                <a:solidFill>
                  <a:srgbClr val="0E3FAA"/>
                </a:solidFill>
                <a:round/>
              </a:ln>
            </p:spPr>
          </p:sp>
          <p:sp>
            <p:nvSpPr>
              <p:cNvPr id="35" name="Chip label"/>
              <p:cNvSpPr txBox="1"/>
              <p:nvPr/>
            </p:nvSpPr>
            <p:spPr>
              <a:xfrm>
                <a:off x="552640" y="1920240"/>
                <a:ext cx="729496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30"/>
                  </a:lnSpc>
                  <a:spcBef>
                    <a:spcPts val="0"/>
                  </a:spcBef>
                  <a:buNone/>
                </a:pPr>
                <a:r>
                  <a:rPr lang="en-US" sz="63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Live pressure data</a:t>
                </a:r>
                <a:endParaRPr lang="en-US" sz="630" dirty="0">
                  <a:latin typeface="Inter SemiBold"/>
                </a:endParaRPr>
              </a:p>
            </p:txBody>
          </p:sp>
        </p:grpSp>
      </p:grpSp>
      <p:cxnSp>
        <p:nvCxnSpPr>
          <p:cNvPr id="36" name="OPC UA link"/>
          <p:cNvCxnSpPr/>
          <p:nvPr/>
        </p:nvCxnSpPr>
        <p:spPr>
          <a:xfrm>
            <a:off x="1577340" y="1636776"/>
            <a:ext cx="173736" cy="0"/>
          </a:xfrm>
          <a:prstGeom prst="straightConnector1">
            <a:avLst/>
          </a:prstGeom>
          <a:noFill/>
          <a:ln w="13970">
            <a:solidFill>
              <a:srgbClr val="0C1927"/>
            </a:solidFill>
            <a:round/>
            <a:tailEnd type="triangle" w="med" len="med"/>
          </a:ln>
        </p:spPr>
      </p:cxnSp>
      <p:grpSp>
        <p:nvGrpSpPr>
          <p:cNvPr id="37" name="Graph Application"/>
          <p:cNvGrpSpPr/>
          <p:nvPr/>
        </p:nvGrpSpPr>
        <p:grpSpPr>
          <a:xfrm>
            <a:off x="1773936" y="1042416"/>
            <a:ext cx="7095744" cy="1188720"/>
            <a:chOff x="1773936" y="1042416"/>
            <a:chExt cx="7095744" cy="1188720"/>
          </a:xfrm>
        </p:grpSpPr>
        <p:sp>
          <p:nvSpPr>
            <p:cNvPr id="38" name="Graph Application panel"/>
            <p:cNvSpPr/>
            <p:nvPr/>
          </p:nvSpPr>
          <p:spPr>
            <a:xfrm>
              <a:off x="1773936" y="1042416"/>
              <a:ext cx="7095744" cy="1188720"/>
            </a:xfrm>
            <a:prstGeom prst="roundRect">
              <a:avLst>
                <a:gd name="adj" fmla="val 6153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39" name="Stage number"/>
            <p:cNvSpPr/>
            <p:nvPr/>
          </p:nvSpPr>
          <p:spPr>
            <a:xfrm>
              <a:off x="1883664" y="1115568"/>
              <a:ext cx="155448" cy="155448"/>
            </a:xfrm>
            <a:prstGeom prst="ellipse">
              <a:avLst/>
            </a:prstGeom>
            <a:solidFill>
              <a:srgbClr val="68DD68"/>
            </a:solidFill>
            <a:ln>
              <a:noFill/>
            </a:ln>
          </p:spPr>
        </p:sp>
        <p:sp>
          <p:nvSpPr>
            <p:cNvPr id="40" name="Stage digit"/>
            <p:cNvSpPr txBox="1"/>
            <p:nvPr/>
          </p:nvSpPr>
          <p:spPr>
            <a:xfrm>
              <a:off x="1883664" y="1115568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650" dirty="0">
                <a:latin typeface="TASA Orbiter SemiBold"/>
              </a:endParaRPr>
            </a:p>
          </p:txBody>
        </p:sp>
        <p:sp>
          <p:nvSpPr>
            <p:cNvPr id="41" name="Graph Application label"/>
            <p:cNvSpPr txBox="1"/>
            <p:nvPr/>
          </p:nvSpPr>
          <p:spPr>
            <a:xfrm>
              <a:off x="2103120" y="1101852"/>
              <a:ext cx="54864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2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Graph Application</a:t>
              </a:r>
              <a:r>
                <a:rPr lang="en-US" sz="720" b="0" i="0" spc="0" dirty="0">
                  <a:solidFill>
                    <a:srgbClr val="CBD5E2"/>
                  </a:solidFill>
                  <a:latin typeface="Inter"/>
                  <a:ea typeface="Inter"/>
                  <a:cs typeface="Inter"/>
                  <a:sym typeface="Inter"/>
                </a:rPr>
                <a:t>   ·   runs on a new IPC / Panel PC at the station, replacing the manual printer</a:t>
              </a:r>
              <a:endParaRPr lang="en-US" sz="720" dirty="0">
                <a:latin typeface="Inter"/>
              </a:endParaRPr>
            </a:p>
          </p:txBody>
        </p:sp>
        <p:grpSp>
          <p:nvGrpSpPr>
            <p:cNvPr id="42" name="Chip At the Hydrotester station"/>
            <p:cNvGrpSpPr/>
            <p:nvPr/>
          </p:nvGrpSpPr>
          <p:grpSpPr>
            <a:xfrm>
              <a:off x="7540669" y="1110996"/>
              <a:ext cx="1219283" cy="155448"/>
              <a:chOff x="7540669" y="1110996"/>
              <a:chExt cx="1219283" cy="155448"/>
            </a:xfrm>
          </p:grpSpPr>
          <p:sp>
            <p:nvSpPr>
              <p:cNvPr id="43" name="Chip fill"/>
              <p:cNvSpPr/>
              <p:nvPr/>
            </p:nvSpPr>
            <p:spPr>
              <a:xfrm>
                <a:off x="7540669" y="1110996"/>
                <a:ext cx="1219283" cy="155448"/>
              </a:xfrm>
              <a:prstGeom prst="roundRect">
                <a:avLst>
                  <a:gd name="adj" fmla="val 17647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44" name="Icon map-pin"/>
              <p:cNvSpPr/>
              <p:nvPr/>
            </p:nvSpPr>
            <p:spPr>
              <a:xfrm>
                <a:off x="7595533" y="1139507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0000"/>
                    </a:moveTo>
                    <a:cubicBezTo>
                      <a:pt x="20000" y="14993"/>
                      <a:pt x="14461" y="20192"/>
                      <a:pt x="12601" y="21799"/>
                    </a:cubicBezTo>
                    <a:cubicBezTo>
                      <a:pt x="12486" y="21885"/>
                      <a:pt x="12353" y="21946"/>
                      <a:pt x="12213" y="21976"/>
                    </a:cubicBezTo>
                    <a:cubicBezTo>
                      <a:pt x="12072" y="22007"/>
                      <a:pt x="11927" y="22007"/>
                      <a:pt x="11786" y="21976"/>
                    </a:cubicBezTo>
                    <a:cubicBezTo>
                      <a:pt x="11646" y="21946"/>
                      <a:pt x="11513" y="21885"/>
                      <a:pt x="11399" y="21799"/>
                    </a:cubicBezTo>
                    <a:cubicBezTo>
                      <a:pt x="9539" y="20193"/>
                      <a:pt x="4000" y="14993"/>
                      <a:pt x="4000" y="10000"/>
                    </a:cubicBezTo>
                    <a:cubicBezTo>
                      <a:pt x="4000" y="8595"/>
                      <a:pt x="4369" y="7216"/>
                      <a:pt x="5071" y="6000"/>
                    </a:cubicBezTo>
                    <a:cubicBezTo>
                      <a:pt x="5773" y="4783"/>
                      <a:pt x="6783" y="3773"/>
                      <a:pt x="7999" y="3071"/>
                    </a:cubicBezTo>
                    <a:cubicBezTo>
                      <a:pt x="9216" y="2369"/>
                      <a:pt x="10595" y="2000"/>
                      <a:pt x="11999" y="2000"/>
                    </a:cubicBezTo>
                    <a:cubicBezTo>
                      <a:pt x="13404" y="1999"/>
                      <a:pt x="14783" y="2369"/>
                      <a:pt x="16000" y="3071"/>
                    </a:cubicBezTo>
                    <a:cubicBezTo>
                      <a:pt x="17216" y="3773"/>
                      <a:pt x="18226" y="4783"/>
                      <a:pt x="18928" y="6000"/>
                    </a:cubicBezTo>
                    <a:cubicBezTo>
                      <a:pt x="19630" y="7216"/>
                      <a:pt x="20000" y="8595"/>
                      <a:pt x="20000" y="10000"/>
                    </a:cubicBezTo>
                  </a:path>
                  <a:path w="24000" h="24000" fill="none">
                    <a:moveTo>
                      <a:pt x="15000" y="10000"/>
                    </a:moveTo>
                    <a:cubicBezTo>
                      <a:pt x="15000" y="10526"/>
                      <a:pt x="14861" y="11043"/>
                      <a:pt x="14598" y="11500"/>
                    </a:cubicBezTo>
                    <a:cubicBezTo>
                      <a:pt x="14334" y="11956"/>
                      <a:pt x="13956" y="12334"/>
                      <a:pt x="13500" y="12598"/>
                    </a:cubicBezTo>
                    <a:cubicBezTo>
                      <a:pt x="13043" y="12861"/>
                      <a:pt x="12526" y="13000"/>
                      <a:pt x="12000" y="13000"/>
                    </a:cubicBezTo>
                    <a:cubicBezTo>
                      <a:pt x="11473" y="13000"/>
                      <a:pt x="10956" y="12861"/>
                      <a:pt x="10500" y="12598"/>
                    </a:cubicBezTo>
                    <a:cubicBezTo>
                      <a:pt x="10043" y="12334"/>
                      <a:pt x="9665" y="11956"/>
                      <a:pt x="9401" y="11500"/>
                    </a:cubicBezTo>
                    <a:cubicBezTo>
                      <a:pt x="9138" y="11043"/>
                      <a:pt x="9000" y="10526"/>
                      <a:pt x="9000" y="10000"/>
                    </a:cubicBezTo>
                    <a:cubicBezTo>
                      <a:pt x="9000" y="9473"/>
                      <a:pt x="9138" y="8956"/>
                      <a:pt x="9401" y="8500"/>
                    </a:cubicBezTo>
                    <a:cubicBezTo>
                      <a:pt x="9665" y="8043"/>
                      <a:pt x="10043" y="7665"/>
                      <a:pt x="10499" y="7401"/>
                    </a:cubicBezTo>
                    <a:cubicBezTo>
                      <a:pt x="10956" y="7138"/>
                      <a:pt x="11473" y="7000"/>
                      <a:pt x="12000" y="7000"/>
                    </a:cubicBezTo>
                    <a:cubicBezTo>
                      <a:pt x="12526" y="7000"/>
                      <a:pt x="13043" y="7138"/>
                      <a:pt x="13500" y="7401"/>
                    </a:cubicBezTo>
                    <a:cubicBezTo>
                      <a:pt x="13956" y="7665"/>
                      <a:pt x="14334" y="8043"/>
                      <a:pt x="14598" y="8500"/>
                    </a:cubicBezTo>
                    <a:cubicBezTo>
                      <a:pt x="14861" y="8956"/>
                      <a:pt x="15000" y="9473"/>
                      <a:pt x="15000" y="10000"/>
                    </a:cubicBezTo>
                    <a:close/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45" name="Chip label"/>
              <p:cNvSpPr txBox="1"/>
              <p:nvPr/>
            </p:nvSpPr>
            <p:spPr>
              <a:xfrm>
                <a:off x="7725962" y="1110996"/>
                <a:ext cx="997414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At the Hydrotester station</a:t>
                </a:r>
                <a:endParaRPr lang="en-US" sz="620" dirty="0">
                  <a:latin typeface="Inter SemiBold"/>
                </a:endParaRPr>
              </a:p>
            </p:txBody>
          </p:sp>
        </p:grpSp>
        <p:grpSp>
          <p:nvGrpSpPr>
            <p:cNvPr id="46" name="Graph step · Read live pressure"/>
            <p:cNvGrpSpPr/>
            <p:nvPr/>
          </p:nvGrpSpPr>
          <p:grpSpPr>
            <a:xfrm>
              <a:off x="1883664" y="1344168"/>
              <a:ext cx="1188720" cy="813816"/>
              <a:chOff x="1883664" y="1344168"/>
              <a:chExt cx="1188720" cy="813816"/>
            </a:xfrm>
          </p:grpSpPr>
          <p:sp>
            <p:nvSpPr>
              <p:cNvPr id="47" name="Step card"/>
              <p:cNvSpPr/>
              <p:nvPr/>
            </p:nvSpPr>
            <p:spPr>
              <a:xfrm>
                <a:off x="1883664" y="1344168"/>
                <a:ext cx="1188720" cy="813816"/>
              </a:xfrm>
              <a:prstGeom prst="roundRect">
                <a:avLst>
                  <a:gd name="adj" fmla="val 5617"/>
                </a:avLst>
              </a:prstGeom>
              <a:solidFill>
                <a:srgbClr val="192839"/>
              </a:solidFill>
              <a:ln w="9525">
                <a:solidFill>
                  <a:srgbClr val="40566D"/>
                </a:solidFill>
                <a:round/>
              </a:ln>
            </p:spPr>
          </p:sp>
          <p:sp>
            <p:nvSpPr>
              <p:cNvPr id="48" name="Icon activity"/>
              <p:cNvSpPr/>
              <p:nvPr/>
            </p:nvSpPr>
            <p:spPr>
              <a:xfrm>
                <a:off x="1956816" y="1417320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lnTo>
                      <a:pt x="19520" y="12000"/>
                    </a:lnTo>
                    <a:cubicBezTo>
                      <a:pt x="19230" y="11999"/>
                      <a:pt x="18943" y="12061"/>
                      <a:pt x="18680" y="12182"/>
                    </a:cubicBezTo>
                    <a:cubicBezTo>
                      <a:pt x="18416" y="12304"/>
                      <a:pt x="18182" y="12481"/>
                      <a:pt x="17994" y="12701"/>
                    </a:cubicBezTo>
                    <a:cubicBezTo>
                      <a:pt x="17806" y="12922"/>
                      <a:pt x="17668" y="13180"/>
                      <a:pt x="17590" y="13460"/>
                    </a:cubicBezTo>
                    <a:lnTo>
                      <a:pt x="15240" y="21820"/>
                    </a:lnTo>
                    <a:cubicBezTo>
                      <a:pt x="15227" y="21861"/>
                      <a:pt x="15205" y="21898"/>
                      <a:pt x="15174" y="21929"/>
                    </a:cubicBezTo>
                    <a:cubicBezTo>
                      <a:pt x="15143" y="21959"/>
                      <a:pt x="15105" y="21980"/>
                      <a:pt x="15063" y="21991"/>
                    </a:cubicBezTo>
                    <a:cubicBezTo>
                      <a:pt x="15021" y="22002"/>
                      <a:pt x="14978" y="22002"/>
                      <a:pt x="14936" y="21991"/>
                    </a:cubicBezTo>
                    <a:cubicBezTo>
                      <a:pt x="14894" y="21980"/>
                      <a:pt x="14856" y="21959"/>
                      <a:pt x="14825" y="21929"/>
                    </a:cubicBezTo>
                    <a:cubicBezTo>
                      <a:pt x="14794" y="21898"/>
                      <a:pt x="14772" y="21861"/>
                      <a:pt x="14760" y="21820"/>
                    </a:cubicBezTo>
                    <a:lnTo>
                      <a:pt x="9240" y="2180"/>
                    </a:lnTo>
                    <a:cubicBezTo>
                      <a:pt x="9227" y="2138"/>
                      <a:pt x="9205" y="2101"/>
                      <a:pt x="9174" y="2070"/>
                    </a:cubicBezTo>
                    <a:cubicBezTo>
                      <a:pt x="9143" y="2040"/>
                      <a:pt x="9105" y="2019"/>
                      <a:pt x="9063" y="2008"/>
                    </a:cubicBezTo>
                    <a:cubicBezTo>
                      <a:pt x="9021" y="1997"/>
                      <a:pt x="8978" y="1997"/>
                      <a:pt x="8936" y="2008"/>
                    </a:cubicBezTo>
                    <a:cubicBezTo>
                      <a:pt x="8894" y="2019"/>
                      <a:pt x="8856" y="2040"/>
                      <a:pt x="8825" y="2070"/>
                    </a:cubicBezTo>
                    <a:cubicBezTo>
                      <a:pt x="8794" y="2101"/>
                      <a:pt x="8772" y="2138"/>
                      <a:pt x="8760" y="2180"/>
                    </a:cubicBezTo>
                    <a:lnTo>
                      <a:pt x="6410" y="10540"/>
                    </a:lnTo>
                    <a:cubicBezTo>
                      <a:pt x="6332" y="10818"/>
                      <a:pt x="6194" y="11075"/>
                      <a:pt x="6007" y="11295"/>
                    </a:cubicBezTo>
                    <a:cubicBezTo>
                      <a:pt x="5820" y="11515"/>
                      <a:pt x="5587" y="11692"/>
                      <a:pt x="5325" y="11814"/>
                    </a:cubicBezTo>
                    <a:cubicBezTo>
                      <a:pt x="5063" y="11935"/>
                      <a:pt x="4778" y="11999"/>
                      <a:pt x="4490" y="12000"/>
                    </a:cubicBezTo>
                    <a:lnTo>
                      <a:pt x="2000" y="12000"/>
                    </a:lnTo>
                  </a:path>
                </a:pathLst>
              </a:custGeom>
              <a:noFill/>
              <a:ln w="12192" cap="rnd">
                <a:solidFill>
                  <a:srgbClr val="8AB1FB"/>
                </a:solidFill>
                <a:round/>
              </a:ln>
            </p:spPr>
          </p:sp>
          <p:sp>
            <p:nvSpPr>
              <p:cNvPr id="49" name="Step title"/>
              <p:cNvSpPr txBox="1"/>
              <p:nvPr/>
            </p:nvSpPr>
            <p:spPr>
              <a:xfrm>
                <a:off x="2157984" y="1403604"/>
                <a:ext cx="85953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Read live pressure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50" name="Step description"/>
              <p:cNvSpPr txBox="1"/>
              <p:nvPr/>
            </p:nvSpPr>
            <p:spPr>
              <a:xfrm>
                <a:off x="1956816" y="1618488"/>
                <a:ext cx="1051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81"/>
                  </a:lnSpc>
                  <a:spcBef>
                    <a:spcPts val="0"/>
                  </a:spcBef>
                  <a:buNone/>
                </a:pPr>
                <a:r>
                  <a:rPr lang="en-US" sz="640" b="0" i="0" spc="0" dirty="0">
                    <a:solidFill>
                      <a:srgbClr val="CBD5E2"/>
                    </a:solidFill>
                    <a:latin typeface="Inter"/>
                    <a:ea typeface="Inter"/>
                    <a:cs typeface="Inter"/>
                    <a:sym typeface="Inter"/>
                  </a:rPr>
                  <a:t>OPC UA client reads pressure from the </a:t>
                </a:r>
                <a:r>
                  <a:rPr lang="en-US" sz="64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Hydrotester SCADA</a:t>
                </a:r>
                <a:endParaRPr lang="en-US" sz="640" dirty="0">
                  <a:latin typeface="Inter"/>
                </a:endParaRPr>
              </a:p>
            </p:txBody>
          </p:sp>
        </p:grpSp>
        <p:grpSp>
          <p:nvGrpSpPr>
            <p:cNvPr id="51" name="Graph step · Test starts"/>
            <p:cNvGrpSpPr/>
            <p:nvPr/>
          </p:nvGrpSpPr>
          <p:grpSpPr>
            <a:xfrm>
              <a:off x="3145536" y="1344168"/>
              <a:ext cx="1243584" cy="813816"/>
              <a:chOff x="3145536" y="1344168"/>
              <a:chExt cx="1243584" cy="813816"/>
            </a:xfrm>
          </p:grpSpPr>
          <p:sp>
            <p:nvSpPr>
              <p:cNvPr id="52" name="Step card"/>
              <p:cNvSpPr/>
              <p:nvPr/>
            </p:nvSpPr>
            <p:spPr>
              <a:xfrm>
                <a:off x="3145536" y="1344168"/>
                <a:ext cx="1243584" cy="813816"/>
              </a:xfrm>
              <a:prstGeom prst="roundRect">
                <a:avLst>
                  <a:gd name="adj" fmla="val 5617"/>
                </a:avLst>
              </a:prstGeom>
              <a:solidFill>
                <a:srgbClr val="192839"/>
              </a:solidFill>
              <a:ln w="9525">
                <a:solidFill>
                  <a:srgbClr val="40566D"/>
                </a:solidFill>
                <a:round/>
              </a:ln>
            </p:spPr>
          </p:sp>
          <p:sp>
            <p:nvSpPr>
              <p:cNvPr id="53" name="Icon timer"/>
              <p:cNvSpPr/>
              <p:nvPr/>
            </p:nvSpPr>
            <p:spPr>
              <a:xfrm>
                <a:off x="3218688" y="1417320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2000"/>
                    </a:moveTo>
                    <a:lnTo>
                      <a:pt x="14000" y="2000"/>
                    </a:lnTo>
                  </a:path>
                  <a:path w="24000" h="24000" fill="none">
                    <a:moveTo>
                      <a:pt x="12000" y="14000"/>
                    </a:moveTo>
                    <a:lnTo>
                      <a:pt x="15000" y="11000"/>
                    </a:lnTo>
                  </a:path>
                  <a:path w="24000" h="24000" fill="none">
                    <a:moveTo>
                      <a:pt x="20000" y="14000"/>
                    </a:moveTo>
                    <a:cubicBezTo>
                      <a:pt x="20000" y="15404"/>
                      <a:pt x="19630" y="16783"/>
                      <a:pt x="18928" y="18000"/>
                    </a:cubicBezTo>
                    <a:cubicBezTo>
                      <a:pt x="18226" y="19216"/>
                      <a:pt x="17216" y="20226"/>
                      <a:pt x="16000" y="20928"/>
                    </a:cubicBezTo>
                    <a:cubicBezTo>
                      <a:pt x="14783" y="21630"/>
                      <a:pt x="13404" y="22000"/>
                      <a:pt x="12000" y="22000"/>
                    </a:cubicBezTo>
                    <a:cubicBezTo>
                      <a:pt x="10595" y="22000"/>
                      <a:pt x="9216" y="21630"/>
                      <a:pt x="8000" y="20928"/>
                    </a:cubicBezTo>
                    <a:cubicBezTo>
                      <a:pt x="6783" y="20226"/>
                      <a:pt x="5773" y="19216"/>
                      <a:pt x="5071" y="18000"/>
                    </a:cubicBezTo>
                    <a:cubicBezTo>
                      <a:pt x="4369" y="16783"/>
                      <a:pt x="4000" y="15404"/>
                      <a:pt x="4000" y="14000"/>
                    </a:cubicBezTo>
                    <a:cubicBezTo>
                      <a:pt x="4000" y="12595"/>
                      <a:pt x="4369" y="11216"/>
                      <a:pt x="5071" y="10000"/>
                    </a:cubicBezTo>
                    <a:cubicBezTo>
                      <a:pt x="5773" y="8783"/>
                      <a:pt x="6783" y="7773"/>
                      <a:pt x="7999" y="7071"/>
                    </a:cubicBezTo>
                    <a:cubicBezTo>
                      <a:pt x="9216" y="6369"/>
                      <a:pt x="10595" y="6000"/>
                      <a:pt x="11999" y="6000"/>
                    </a:cubicBezTo>
                    <a:cubicBezTo>
                      <a:pt x="13404" y="6000"/>
                      <a:pt x="14783" y="6369"/>
                      <a:pt x="16000" y="7071"/>
                    </a:cubicBezTo>
                    <a:cubicBezTo>
                      <a:pt x="17216" y="7773"/>
                      <a:pt x="18226" y="8783"/>
                      <a:pt x="18928" y="10000"/>
                    </a:cubicBezTo>
                    <a:cubicBezTo>
                      <a:pt x="19630" y="11216"/>
                      <a:pt x="20000" y="12595"/>
                      <a:pt x="20000" y="13999"/>
                    </a:cubicBezTo>
                    <a:close/>
                  </a:path>
                </a:pathLst>
              </a:custGeom>
              <a:noFill/>
              <a:ln w="12192" cap="rnd">
                <a:solidFill>
                  <a:srgbClr val="8AB1FB"/>
                </a:solidFill>
                <a:round/>
              </a:ln>
            </p:spPr>
          </p:sp>
          <p:sp>
            <p:nvSpPr>
              <p:cNvPr id="54" name="Step title"/>
              <p:cNvSpPr txBox="1"/>
              <p:nvPr/>
            </p:nvSpPr>
            <p:spPr>
              <a:xfrm>
                <a:off x="3419856" y="1403604"/>
                <a:ext cx="9144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 starts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55" name="Step description"/>
              <p:cNvSpPr txBox="1"/>
              <p:nvPr/>
            </p:nvSpPr>
            <p:spPr>
              <a:xfrm>
                <a:off x="3218688" y="1618488"/>
                <a:ext cx="1106424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81"/>
                  </a:lnSpc>
                  <a:spcBef>
                    <a:spcPts val="0"/>
                  </a:spcBef>
                  <a:buNone/>
                </a:pPr>
                <a:r>
                  <a:rPr lang="en-US" sz="64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Polling frequency increased</a:t>
                </a:r>
                <a:r>
                  <a:rPr lang="en-US" sz="640" b="0" i="0" spc="0" dirty="0">
                    <a:solidFill>
                      <a:srgbClr val="CBD5E2"/>
                    </a:solidFill>
                    <a:latin typeface="Inter"/>
                    <a:ea typeface="Inter"/>
                    <a:cs typeface="Inter"/>
                    <a:sym typeface="Inter"/>
                  </a:rPr>
                  <a:t>; both graphs start plotting; </a:t>
                </a:r>
                <a:r>
                  <a:rPr lang="en-US" sz="64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 notified</a:t>
                </a:r>
                <a:endParaRPr lang="en-US" sz="640" dirty="0">
                  <a:latin typeface="Inter"/>
                </a:endParaRPr>
              </a:p>
            </p:txBody>
          </p:sp>
        </p:grpSp>
        <p:grpSp>
          <p:nvGrpSpPr>
            <p:cNvPr id="56" name="Graph step · Two graphs"/>
            <p:cNvGrpSpPr/>
            <p:nvPr/>
          </p:nvGrpSpPr>
          <p:grpSpPr>
            <a:xfrm>
              <a:off x="4462272" y="1344168"/>
              <a:ext cx="3017520" cy="822960"/>
              <a:chOff x="4462272" y="1344168"/>
              <a:chExt cx="3017520" cy="822960"/>
            </a:xfrm>
          </p:grpSpPr>
          <p:sp>
            <p:nvSpPr>
              <p:cNvPr id="57" name="Step card"/>
              <p:cNvSpPr/>
              <p:nvPr/>
            </p:nvSpPr>
            <p:spPr>
              <a:xfrm>
                <a:off x="4462272" y="1344168"/>
                <a:ext cx="3017520" cy="813816"/>
              </a:xfrm>
              <a:prstGeom prst="roundRect">
                <a:avLst>
                  <a:gd name="adj" fmla="val 5617"/>
                </a:avLst>
              </a:prstGeom>
              <a:solidFill>
                <a:srgbClr val="192839"/>
              </a:solidFill>
              <a:ln w="9525">
                <a:solidFill>
                  <a:srgbClr val="40566D"/>
                </a:solidFill>
                <a:round/>
              </a:ln>
            </p:spPr>
          </p:sp>
          <p:sp>
            <p:nvSpPr>
              <p:cNvPr id="58" name="Icon chart-line"/>
              <p:cNvSpPr/>
              <p:nvPr/>
            </p:nvSpPr>
            <p:spPr>
              <a:xfrm>
                <a:off x="4535424" y="1417320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3000"/>
                    </a:moveTo>
                    <a:lnTo>
                      <a:pt x="3000" y="19000"/>
                    </a:lnTo>
                    <a:cubicBezTo>
                      <a:pt x="3000" y="19351"/>
                      <a:pt x="3092" y="19695"/>
                      <a:pt x="3267" y="20000"/>
                    </a:cubicBezTo>
                    <a:cubicBezTo>
                      <a:pt x="3443" y="20304"/>
                      <a:pt x="3695" y="20556"/>
                      <a:pt x="3999" y="20732"/>
                    </a:cubicBezTo>
                    <a:cubicBezTo>
                      <a:pt x="4304" y="20907"/>
                      <a:pt x="4648" y="21000"/>
                      <a:pt x="5000" y="21000"/>
                    </a:cubicBezTo>
                    <a:lnTo>
                      <a:pt x="21000" y="21000"/>
                    </a:lnTo>
                  </a:path>
                  <a:path w="24000" h="24000" fill="none">
                    <a:moveTo>
                      <a:pt x="19000" y="9000"/>
                    </a:moveTo>
                    <a:lnTo>
                      <a:pt x="14000" y="14000"/>
                    </a:lnTo>
                    <a:lnTo>
                      <a:pt x="10000" y="10000"/>
                    </a:lnTo>
                    <a:lnTo>
                      <a:pt x="7000" y="13000"/>
                    </a:lnTo>
                  </a:path>
                </a:pathLst>
              </a:custGeom>
              <a:noFill/>
              <a:ln w="12192" cap="rnd">
                <a:solidFill>
                  <a:srgbClr val="8AB1FB"/>
                </a:solidFill>
                <a:round/>
              </a:ln>
            </p:spPr>
          </p:sp>
          <p:sp>
            <p:nvSpPr>
              <p:cNvPr id="59" name="Step title"/>
              <p:cNvSpPr txBox="1"/>
              <p:nvPr/>
            </p:nvSpPr>
            <p:spPr>
              <a:xfrm>
                <a:off x="4736592" y="1403604"/>
                <a:ext cx="268833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Two graphs plotted during the test</a:t>
                </a:r>
                <a:endParaRPr lang="en-US" sz="730" dirty="0">
                  <a:latin typeface="Inter SemiBold"/>
                </a:endParaRPr>
              </a:p>
            </p:txBody>
          </p:sp>
          <p:cxnSp>
            <p:nvCxnSpPr>
              <p:cNvPr id="60" name="Y axis"/>
              <p:cNvCxnSpPr/>
              <p:nvPr/>
            </p:nvCxnSpPr>
            <p:spPr>
              <a:xfrm>
                <a:off x="4535424" y="1627632"/>
                <a:ext cx="0" cy="274320"/>
              </a:xfrm>
              <a:prstGeom prst="straightConnector1">
                <a:avLst/>
              </a:prstGeom>
              <a:noFill/>
              <a:ln w="9525">
                <a:solidFill>
                  <a:srgbClr val="6C849D"/>
                </a:solidFill>
                <a:round/>
              </a:ln>
            </p:spPr>
          </p:cxnSp>
          <p:cxnSp>
            <p:nvCxnSpPr>
              <p:cNvPr id="61" name="X axis"/>
              <p:cNvCxnSpPr/>
              <p:nvPr/>
            </p:nvCxnSpPr>
            <p:spPr>
              <a:xfrm>
                <a:off x="4535424" y="1901952"/>
                <a:ext cx="1371600" cy="0"/>
              </a:xfrm>
              <a:prstGeom prst="straightConnector1">
                <a:avLst/>
              </a:prstGeom>
              <a:noFill/>
              <a:ln w="9525">
                <a:solidFill>
                  <a:srgbClr val="6C849D"/>
                </a:solidFill>
                <a:round/>
              </a:ln>
            </p:spPr>
          </p:cxnSp>
          <p:sp>
            <p:nvSpPr>
              <p:cNvPr id="62" name="Standard graph (square wave)"/>
              <p:cNvSpPr/>
              <p:nvPr/>
            </p:nvSpPr>
            <p:spPr>
              <a:xfrm>
                <a:off x="4553712" y="1691640"/>
                <a:ext cx="1335024" cy="201168"/>
              </a:xfrm>
              <a:custGeom>
                <a:avLst/>
                <a:gdLst/>
                <a:ahLst/>
                <a:cxnLst/>
                <a:rect l="l" t="t" r="r" b="b"/>
                <a:pathLst>
                  <a:path w="1335024" h="201168" fill="none">
                    <a:moveTo>
                      <a:pt x="0" y="201168"/>
                    </a:moveTo>
                    <a:lnTo>
                      <a:pt x="283464" y="201168"/>
                    </a:lnTo>
                    <a:lnTo>
                      <a:pt x="283464" y="0"/>
                    </a:lnTo>
                    <a:lnTo>
                      <a:pt x="1078992" y="0"/>
                    </a:lnTo>
                    <a:lnTo>
                      <a:pt x="1078992" y="201168"/>
                    </a:lnTo>
                    <a:lnTo>
                      <a:pt x="1335024" y="201168"/>
                    </a:lnTo>
                  </a:path>
                </a:pathLst>
              </a:custGeom>
              <a:noFill/>
              <a:ln w="17780">
                <a:solidFill>
                  <a:srgbClr val="8AB1FB"/>
                </a:solidFill>
                <a:miter lim="800000"/>
              </a:ln>
            </p:spPr>
          </p:sp>
          <p:cxnSp>
            <p:nvCxnSpPr>
              <p:cNvPr id="63" name="Hold time marker"/>
              <p:cNvCxnSpPr/>
              <p:nvPr/>
            </p:nvCxnSpPr>
            <p:spPr>
              <a:xfrm>
                <a:off x="4855464" y="1650492"/>
                <a:ext cx="758952" cy="0"/>
              </a:xfrm>
              <a:prstGeom prst="straightConnector1">
                <a:avLst/>
              </a:prstGeom>
              <a:noFill/>
              <a:ln w="9525">
                <a:solidFill>
                  <a:srgbClr val="68DD68"/>
                </a:solidFill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64" name="Hold time label"/>
              <p:cNvSpPr txBox="1"/>
              <p:nvPr/>
            </p:nvSpPr>
            <p:spPr>
              <a:xfrm>
                <a:off x="4855464" y="1549908"/>
                <a:ext cx="758952" cy="91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540"/>
                  </a:lnSpc>
                  <a:spcBef>
                    <a:spcPts val="0"/>
                  </a:spcBef>
                  <a:buNone/>
                </a:pPr>
                <a:r>
                  <a:rPr lang="en-US" sz="540" b="0" i="0" spc="0" dirty="0">
                    <a:solidFill>
                      <a:srgbClr val="68DD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hold time</a:t>
                </a:r>
                <a:endParaRPr lang="en-US" sz="540" dirty="0">
                  <a:latin typeface="Inter SemiBold"/>
                </a:endParaRPr>
              </a:p>
            </p:txBody>
          </p:sp>
          <p:sp>
            <p:nvSpPr>
              <p:cNvPr id="65" name="Graph label"/>
              <p:cNvSpPr txBox="1"/>
              <p:nvPr/>
            </p:nvSpPr>
            <p:spPr>
              <a:xfrm>
                <a:off x="4535424" y="1938528"/>
                <a:ext cx="140817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696"/>
                  </a:lnSpc>
                  <a:spcBef>
                    <a:spcPts val="0"/>
                  </a:spcBef>
                  <a:buNone/>
                </a:pPr>
                <a:r>
                  <a:rPr lang="en-US" sz="59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Standard graph</a:t>
                </a:r>
                <a:endParaRPr lang="en-US" sz="590" dirty="0">
                  <a:latin typeface="Inter"/>
                </a:endParaRPr>
              </a:p>
              <a:p>
                <a:pPr algn="l">
                  <a:lnSpc>
                    <a:spcPts val="696"/>
                  </a:lnSpc>
                  <a:spcBef>
                    <a:spcPts val="0"/>
                  </a:spcBef>
                  <a:buNone/>
                </a:pPr>
                <a:r>
                  <a:rPr lang="en-US" sz="590" b="0" i="0" spc="0" dirty="0">
                    <a:solidFill>
                      <a:srgbClr val="CBD5E2"/>
                    </a:solidFill>
                    <a:latin typeface="Inter"/>
                    <a:ea typeface="Inter"/>
                    <a:cs typeface="Inter"/>
                    <a:sym typeface="Inter"/>
                  </a:rPr>
                  <a:t>Lower polling  ·  square wave</a:t>
                </a:r>
                <a:endParaRPr lang="en-US" sz="590" dirty="0">
                  <a:latin typeface="Inter"/>
                </a:endParaRPr>
              </a:p>
            </p:txBody>
          </p:sp>
          <p:cxnSp>
            <p:nvCxnSpPr>
              <p:cNvPr id="66" name="Y axis"/>
              <p:cNvCxnSpPr/>
              <p:nvPr/>
            </p:nvCxnSpPr>
            <p:spPr>
              <a:xfrm>
                <a:off x="6035040" y="1627632"/>
                <a:ext cx="0" cy="274320"/>
              </a:xfrm>
              <a:prstGeom prst="straightConnector1">
                <a:avLst/>
              </a:prstGeom>
              <a:noFill/>
              <a:ln w="9525">
                <a:solidFill>
                  <a:srgbClr val="6C849D"/>
                </a:solidFill>
                <a:round/>
              </a:ln>
            </p:spPr>
          </p:cxnSp>
          <p:cxnSp>
            <p:nvCxnSpPr>
              <p:cNvPr id="67" name="X axis"/>
              <p:cNvCxnSpPr/>
              <p:nvPr/>
            </p:nvCxnSpPr>
            <p:spPr>
              <a:xfrm>
                <a:off x="6035040" y="1901952"/>
                <a:ext cx="1371600" cy="0"/>
              </a:xfrm>
              <a:prstGeom prst="straightConnector1">
                <a:avLst/>
              </a:prstGeom>
              <a:noFill/>
              <a:ln w="9525">
                <a:solidFill>
                  <a:srgbClr val="6C849D"/>
                </a:solidFill>
                <a:round/>
              </a:ln>
            </p:spPr>
          </p:cxnSp>
          <p:sp>
            <p:nvSpPr>
              <p:cNvPr id="68" name="Actual graph (true rise and fall)"/>
              <p:cNvSpPr/>
              <p:nvPr/>
            </p:nvSpPr>
            <p:spPr>
              <a:xfrm>
                <a:off x="6053328" y="1695663"/>
                <a:ext cx="1335024" cy="195133"/>
              </a:xfrm>
              <a:custGeom>
                <a:avLst/>
                <a:gdLst/>
                <a:ahLst/>
                <a:cxnLst/>
                <a:rect l="l" t="t" r="r" b="b"/>
                <a:pathLst>
                  <a:path w="1335024" h="195133" fill="none">
                    <a:moveTo>
                      <a:pt x="0" y="195133"/>
                    </a:moveTo>
                    <a:cubicBezTo>
                      <a:pt x="22250" y="194462"/>
                      <a:pt x="95677" y="197480"/>
                      <a:pt x="133502" y="191110"/>
                    </a:cubicBezTo>
                    <a:cubicBezTo>
                      <a:pt x="171328" y="184739"/>
                      <a:pt x="200254" y="177698"/>
                      <a:pt x="226954" y="156911"/>
                    </a:cubicBezTo>
                    <a:cubicBezTo>
                      <a:pt x="253655" y="136124"/>
                      <a:pt x="273680" y="89855"/>
                      <a:pt x="293705" y="66385"/>
                    </a:cubicBezTo>
                    <a:cubicBezTo>
                      <a:pt x="313731" y="42916"/>
                      <a:pt x="327081" y="27158"/>
                      <a:pt x="347106" y="16093"/>
                    </a:cubicBezTo>
                    <a:cubicBezTo>
                      <a:pt x="367132" y="5029"/>
                      <a:pt x="387157" y="1341"/>
                      <a:pt x="413857" y="0"/>
                    </a:cubicBezTo>
                    <a:cubicBezTo>
                      <a:pt x="440558" y="-1341"/>
                      <a:pt x="473934" y="7711"/>
                      <a:pt x="507309" y="8047"/>
                    </a:cubicBezTo>
                    <a:cubicBezTo>
                      <a:pt x="540685" y="8382"/>
                      <a:pt x="578510" y="1676"/>
                      <a:pt x="614111" y="2012"/>
                    </a:cubicBezTo>
                    <a:cubicBezTo>
                      <a:pt x="649712" y="2347"/>
                      <a:pt x="685312" y="10058"/>
                      <a:pt x="720913" y="10058"/>
                    </a:cubicBezTo>
                    <a:cubicBezTo>
                      <a:pt x="756514" y="10058"/>
                      <a:pt x="792114" y="2347"/>
                      <a:pt x="827715" y="2012"/>
                    </a:cubicBezTo>
                    <a:cubicBezTo>
                      <a:pt x="863316" y="1676"/>
                      <a:pt x="903366" y="7376"/>
                      <a:pt x="934517" y="8047"/>
                    </a:cubicBezTo>
                    <a:cubicBezTo>
                      <a:pt x="965667" y="8717"/>
                      <a:pt x="990143" y="-2012"/>
                      <a:pt x="1014618" y="6035"/>
                    </a:cubicBezTo>
                    <a:cubicBezTo>
                      <a:pt x="1039094" y="14082"/>
                      <a:pt x="1059119" y="31852"/>
                      <a:pt x="1081369" y="56327"/>
                    </a:cubicBezTo>
                    <a:cubicBezTo>
                      <a:pt x="1103620" y="80802"/>
                      <a:pt x="1125870" y="130759"/>
                      <a:pt x="1148121" y="152888"/>
                    </a:cubicBezTo>
                    <a:cubicBezTo>
                      <a:pt x="1170371" y="175016"/>
                      <a:pt x="1183721" y="182057"/>
                      <a:pt x="1214872" y="189098"/>
                    </a:cubicBezTo>
                    <a:cubicBezTo>
                      <a:pt x="1246022" y="196139"/>
                      <a:pt x="1314999" y="194127"/>
                      <a:pt x="1335024" y="195133"/>
                    </a:cubicBezTo>
                  </a:path>
                </a:pathLst>
              </a:custGeom>
              <a:noFill/>
              <a:ln w="17780" cap="rnd">
                <a:solidFill>
                  <a:srgbClr val="68DD68"/>
                </a:solidFill>
                <a:round/>
              </a:ln>
            </p:spPr>
          </p:sp>
          <p:sp>
            <p:nvSpPr>
              <p:cNvPr id="69" name="Graph label"/>
              <p:cNvSpPr txBox="1"/>
              <p:nvPr/>
            </p:nvSpPr>
            <p:spPr>
              <a:xfrm>
                <a:off x="6035040" y="1938528"/>
                <a:ext cx="140817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696"/>
                  </a:lnSpc>
                  <a:spcBef>
                    <a:spcPts val="0"/>
                  </a:spcBef>
                  <a:buNone/>
                </a:pPr>
                <a:r>
                  <a:rPr lang="en-US" sz="59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Actual graph</a:t>
                </a:r>
                <a:endParaRPr lang="en-US" sz="590" dirty="0">
                  <a:latin typeface="Inter"/>
                </a:endParaRPr>
              </a:p>
              <a:p>
                <a:pPr algn="l">
                  <a:lnSpc>
                    <a:spcPts val="696"/>
                  </a:lnSpc>
                  <a:spcBef>
                    <a:spcPts val="0"/>
                  </a:spcBef>
                  <a:buNone/>
                </a:pPr>
                <a:r>
                  <a:rPr lang="en-US" sz="590" b="0" i="0" spc="0" dirty="0">
                    <a:solidFill>
                      <a:srgbClr val="CBD5E2"/>
                    </a:solidFill>
                    <a:latin typeface="Inter"/>
                    <a:ea typeface="Inter"/>
                    <a:cs typeface="Inter"/>
                    <a:sym typeface="Inter"/>
                  </a:rPr>
                  <a:t>Higher polling  ·  true rise and fall</a:t>
                </a:r>
                <a:endParaRPr lang="en-US" sz="590" dirty="0">
                  <a:latin typeface="Inter"/>
                </a:endParaRPr>
              </a:p>
            </p:txBody>
          </p:sp>
        </p:grpSp>
        <p:grpSp>
          <p:nvGrpSpPr>
            <p:cNvPr id="70" name="Graph step · Test finishes"/>
            <p:cNvGrpSpPr/>
            <p:nvPr/>
          </p:nvGrpSpPr>
          <p:grpSpPr>
            <a:xfrm>
              <a:off x="7552944" y="1344168"/>
              <a:ext cx="1207008" cy="813816"/>
              <a:chOff x="7552944" y="1344168"/>
              <a:chExt cx="1207008" cy="813816"/>
            </a:xfrm>
          </p:grpSpPr>
          <p:sp>
            <p:nvSpPr>
              <p:cNvPr id="71" name="Step card"/>
              <p:cNvSpPr/>
              <p:nvPr/>
            </p:nvSpPr>
            <p:spPr>
              <a:xfrm>
                <a:off x="7552944" y="1344168"/>
                <a:ext cx="1207008" cy="813816"/>
              </a:xfrm>
              <a:prstGeom prst="roundRect">
                <a:avLst>
                  <a:gd name="adj" fmla="val 5617"/>
                </a:avLst>
              </a:prstGeom>
              <a:solidFill>
                <a:srgbClr val="192839"/>
              </a:solidFill>
              <a:ln w="9525">
                <a:solidFill>
                  <a:srgbClr val="40566D"/>
                </a:solidFill>
                <a:round/>
              </a:ln>
            </p:spPr>
          </p:sp>
          <p:sp>
            <p:nvSpPr>
              <p:cNvPr id="72" name="Icon send"/>
              <p:cNvSpPr/>
              <p:nvPr/>
            </p:nvSpPr>
            <p:spPr>
              <a:xfrm>
                <a:off x="7626096" y="1417320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536" y="21686"/>
                    </a:moveTo>
                    <a:cubicBezTo>
                      <a:pt x="14566" y="21761"/>
                      <a:pt x="14614" y="21828"/>
                      <a:pt x="14676" y="21881"/>
                    </a:cubicBezTo>
                    <a:cubicBezTo>
                      <a:pt x="14738" y="21933"/>
                      <a:pt x="14812" y="21970"/>
                      <a:pt x="14892" y="21988"/>
                    </a:cubicBezTo>
                    <a:cubicBezTo>
                      <a:pt x="14971" y="22005"/>
                      <a:pt x="15054" y="22003"/>
                      <a:pt x="15132" y="21981"/>
                    </a:cubicBezTo>
                    <a:cubicBezTo>
                      <a:pt x="15211" y="21960"/>
                      <a:pt x="15283" y="21919"/>
                      <a:pt x="15342" y="21864"/>
                    </a:cubicBezTo>
                    <a:cubicBezTo>
                      <a:pt x="15401" y="21808"/>
                      <a:pt x="15446" y="21738"/>
                      <a:pt x="15472" y="21662"/>
                    </a:cubicBezTo>
                    <a:lnTo>
                      <a:pt x="21973" y="2661"/>
                    </a:lnTo>
                    <a:cubicBezTo>
                      <a:pt x="21998" y="2591"/>
                      <a:pt x="22007" y="2515"/>
                      <a:pt x="21999" y="2440"/>
                    </a:cubicBezTo>
                    <a:cubicBezTo>
                      <a:pt x="21991" y="2366"/>
                      <a:pt x="21966" y="2294"/>
                      <a:pt x="21927" y="2230"/>
                    </a:cubicBezTo>
                    <a:cubicBezTo>
                      <a:pt x="21887" y="2166"/>
                      <a:pt x="21833" y="2112"/>
                      <a:pt x="21769" y="2072"/>
                    </a:cubicBezTo>
                    <a:cubicBezTo>
                      <a:pt x="21705" y="2033"/>
                      <a:pt x="21633" y="2008"/>
                      <a:pt x="21559" y="2000"/>
                    </a:cubicBezTo>
                    <a:cubicBezTo>
                      <a:pt x="21484" y="1992"/>
                      <a:pt x="21408" y="2001"/>
                      <a:pt x="21337" y="2026"/>
                    </a:cubicBezTo>
                    <a:lnTo>
                      <a:pt x="2337" y="8527"/>
                    </a:lnTo>
                    <a:cubicBezTo>
                      <a:pt x="2261" y="8553"/>
                      <a:pt x="2191" y="8598"/>
                      <a:pt x="2135" y="8657"/>
                    </a:cubicBezTo>
                    <a:cubicBezTo>
                      <a:pt x="2080" y="8716"/>
                      <a:pt x="2039" y="8788"/>
                      <a:pt x="2018" y="8867"/>
                    </a:cubicBezTo>
                    <a:cubicBezTo>
                      <a:pt x="1996" y="8945"/>
                      <a:pt x="1994" y="9028"/>
                      <a:pt x="2011" y="9107"/>
                    </a:cubicBezTo>
                    <a:cubicBezTo>
                      <a:pt x="2029" y="9187"/>
                      <a:pt x="2066" y="9261"/>
                      <a:pt x="2118" y="9323"/>
                    </a:cubicBezTo>
                    <a:cubicBezTo>
                      <a:pt x="2171" y="9385"/>
                      <a:pt x="2238" y="9433"/>
                      <a:pt x="2313" y="9463"/>
                    </a:cubicBezTo>
                    <a:lnTo>
                      <a:pt x="10243" y="12643"/>
                    </a:lnTo>
                    <a:cubicBezTo>
                      <a:pt x="10494" y="12744"/>
                      <a:pt x="10722" y="12894"/>
                      <a:pt x="10913" y="13085"/>
                    </a:cubicBezTo>
                    <a:cubicBezTo>
                      <a:pt x="11104" y="13275"/>
                      <a:pt x="11255" y="13503"/>
                      <a:pt x="11355" y="13753"/>
                    </a:cubicBezTo>
                    <a:close/>
                  </a:path>
                  <a:path w="24000" h="24000" fill="none">
                    <a:moveTo>
                      <a:pt x="21854" y="2147"/>
                    </a:moveTo>
                    <a:lnTo>
                      <a:pt x="10914" y="13086"/>
                    </a:lnTo>
                  </a:path>
                </a:pathLst>
              </a:custGeom>
              <a:noFill/>
              <a:ln w="12192" cap="rnd">
                <a:solidFill>
                  <a:srgbClr val="8AB1FB"/>
                </a:solidFill>
                <a:round/>
              </a:ln>
            </p:spPr>
          </p:sp>
          <p:sp>
            <p:nvSpPr>
              <p:cNvPr id="73" name="Step title"/>
              <p:cNvSpPr txBox="1"/>
              <p:nvPr/>
            </p:nvSpPr>
            <p:spPr>
              <a:xfrm>
                <a:off x="7827264" y="1403604"/>
                <a:ext cx="87782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 finishes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74" name="Step description"/>
              <p:cNvSpPr txBox="1"/>
              <p:nvPr/>
            </p:nvSpPr>
            <p:spPr>
              <a:xfrm>
                <a:off x="7626096" y="1618488"/>
                <a:ext cx="1069848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81"/>
                  </a:lnSpc>
                  <a:spcBef>
                    <a:spcPts val="0"/>
                  </a:spcBef>
                  <a:buNone/>
                </a:pPr>
                <a:r>
                  <a:rPr lang="en-US" sz="640" b="0" i="0" spc="0" dirty="0">
                    <a:solidFill>
                      <a:srgbClr val="CBD5E2"/>
                    </a:solidFill>
                    <a:latin typeface="Inter"/>
                    <a:ea typeface="Inter"/>
                    <a:cs typeface="Inter"/>
                    <a:sym typeface="Inter"/>
                  </a:rPr>
                  <a:t>Pressure, hold time, date/time </a:t>
                </a:r>
                <a:r>
                  <a:rPr lang="en-US" sz="64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+ both graph data files</a:t>
                </a:r>
                <a:r>
                  <a:rPr lang="en-US" sz="640" b="0" i="0" spc="0" dirty="0">
                    <a:solidFill>
                      <a:srgbClr val="CBD5E2"/>
                    </a:solidFill>
                    <a:latin typeface="Inter"/>
                    <a:ea typeface="Inter"/>
                    <a:cs typeface="Inter"/>
                    <a:sym typeface="Inter"/>
                  </a:rPr>
                  <a:t> sent to the central server</a:t>
                </a:r>
                <a:endParaRPr lang="en-US" sz="640" dirty="0">
                  <a:latin typeface="Inter"/>
                </a:endParaRPr>
              </a:p>
            </p:txBody>
          </p:sp>
        </p:grpSp>
      </p:grpSp>
      <p:grpSp>
        <p:nvGrpSpPr>
          <p:cNvPr id="75" name="Handover to central server"/>
          <p:cNvGrpSpPr/>
          <p:nvPr/>
        </p:nvGrpSpPr>
        <p:grpSpPr>
          <a:xfrm>
            <a:off x="3977640" y="2231136"/>
            <a:ext cx="4178808" cy="210312"/>
            <a:chOff x="3977640" y="2231136"/>
            <a:chExt cx="4178808" cy="210312"/>
          </a:xfrm>
        </p:grpSpPr>
        <p:sp>
          <p:nvSpPr>
            <p:cNvPr id="76" name="Graph data to central server"/>
            <p:cNvSpPr/>
            <p:nvPr/>
          </p:nvSpPr>
          <p:spPr>
            <a:xfrm>
              <a:off x="3977640" y="2231136"/>
              <a:ext cx="4178808" cy="210312"/>
            </a:xfrm>
            <a:custGeom>
              <a:avLst/>
              <a:gdLst/>
              <a:ahLst/>
              <a:cxnLst/>
              <a:rect l="l" t="t" r="r" b="b"/>
              <a:pathLst>
                <a:path w="4178808" h="210312" fill="none">
                  <a:moveTo>
                    <a:pt x="4178808" y="0"/>
                  </a:moveTo>
                  <a:lnTo>
                    <a:pt x="4178808" y="109728"/>
                  </a:lnTo>
                  <a:lnTo>
                    <a:pt x="0" y="109728"/>
                  </a:lnTo>
                  <a:lnTo>
                    <a:pt x="0" y="210312"/>
                  </a:lnTo>
                </a:path>
              </a:pathLst>
            </a:custGeom>
            <a:noFill/>
            <a:ln w="13970">
              <a:solidFill>
                <a:srgbClr val="0C1927"/>
              </a:solidFill>
              <a:miter lim="800000"/>
              <a:tailEnd type="triangle" w="med" len="med"/>
            </a:ln>
          </p:spPr>
        </p:sp>
        <p:sp>
          <p:nvSpPr>
            <p:cNvPr id="77" name="Payload label"/>
            <p:cNvSpPr/>
            <p:nvPr/>
          </p:nvSpPr>
          <p:spPr>
            <a:xfrm>
              <a:off x="4717322" y="2258568"/>
              <a:ext cx="2699445" cy="164592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78" name="Icon send"/>
            <p:cNvSpPr/>
            <p:nvPr/>
          </p:nvSpPr>
          <p:spPr>
            <a:xfrm>
              <a:off x="4772186" y="2295144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566" y="21761"/>
                    <a:pt x="14614" y="21828"/>
                    <a:pt x="14676" y="21881"/>
                  </a:cubicBezTo>
                  <a:cubicBezTo>
                    <a:pt x="14738" y="21933"/>
                    <a:pt x="14812" y="21970"/>
                    <a:pt x="14892" y="21988"/>
                  </a:cubicBezTo>
                  <a:cubicBezTo>
                    <a:pt x="14971" y="22005"/>
                    <a:pt x="15054" y="22003"/>
                    <a:pt x="15132" y="21981"/>
                  </a:cubicBezTo>
                  <a:cubicBezTo>
                    <a:pt x="15211" y="21960"/>
                    <a:pt x="15283" y="21919"/>
                    <a:pt x="15342" y="21864"/>
                  </a:cubicBezTo>
                  <a:cubicBezTo>
                    <a:pt x="15401" y="21808"/>
                    <a:pt x="15446" y="21738"/>
                    <a:pt x="15472" y="21662"/>
                  </a:cubicBezTo>
                  <a:lnTo>
                    <a:pt x="21973" y="2661"/>
                  </a:lnTo>
                  <a:cubicBezTo>
                    <a:pt x="21998" y="2591"/>
                    <a:pt x="22007" y="2515"/>
                    <a:pt x="21999" y="2440"/>
                  </a:cubicBezTo>
                  <a:cubicBezTo>
                    <a:pt x="21991" y="2366"/>
                    <a:pt x="21966" y="2294"/>
                    <a:pt x="21927" y="2230"/>
                  </a:cubicBezTo>
                  <a:cubicBezTo>
                    <a:pt x="21887" y="2166"/>
                    <a:pt x="21833" y="2112"/>
                    <a:pt x="21769" y="2072"/>
                  </a:cubicBezTo>
                  <a:cubicBezTo>
                    <a:pt x="21705" y="2033"/>
                    <a:pt x="21633" y="2008"/>
                    <a:pt x="21559" y="2000"/>
                  </a:cubicBezTo>
                  <a:cubicBezTo>
                    <a:pt x="21484" y="1992"/>
                    <a:pt x="21408" y="2001"/>
                    <a:pt x="21337" y="2026"/>
                  </a:cubicBezTo>
                  <a:lnTo>
                    <a:pt x="2337" y="8527"/>
                  </a:lnTo>
                  <a:cubicBezTo>
                    <a:pt x="2261" y="8553"/>
                    <a:pt x="2191" y="8598"/>
                    <a:pt x="2135" y="8657"/>
                  </a:cubicBezTo>
                  <a:cubicBezTo>
                    <a:pt x="2080" y="8716"/>
                    <a:pt x="2039" y="8788"/>
                    <a:pt x="2018" y="8867"/>
                  </a:cubicBezTo>
                  <a:cubicBezTo>
                    <a:pt x="1996" y="8945"/>
                    <a:pt x="1994" y="9028"/>
                    <a:pt x="2011" y="9107"/>
                  </a:cubicBezTo>
                  <a:cubicBezTo>
                    <a:pt x="2029" y="9187"/>
                    <a:pt x="2066" y="9261"/>
                    <a:pt x="2118" y="9323"/>
                  </a:cubicBezTo>
                  <a:cubicBezTo>
                    <a:pt x="2171" y="9385"/>
                    <a:pt x="2238" y="9433"/>
                    <a:pt x="2313" y="9463"/>
                  </a:cubicBezTo>
                  <a:lnTo>
                    <a:pt x="10243" y="12643"/>
                  </a:lnTo>
                  <a:cubicBezTo>
                    <a:pt x="10494" y="12744"/>
                    <a:pt x="10722" y="12894"/>
                    <a:pt x="10913" y="13085"/>
                  </a:cubicBezTo>
                  <a:cubicBezTo>
                    <a:pt x="11104" y="13275"/>
                    <a:pt x="11255" y="13503"/>
                    <a:pt x="11355" y="13753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8382" cap="rnd">
              <a:solidFill>
                <a:srgbClr val="0C1927"/>
              </a:solidFill>
              <a:round/>
            </a:ln>
          </p:spPr>
        </p:sp>
        <p:sp>
          <p:nvSpPr>
            <p:cNvPr id="79" name="Payload text"/>
            <p:cNvSpPr txBox="1"/>
            <p:nvPr/>
          </p:nvSpPr>
          <p:spPr>
            <a:xfrm>
              <a:off x="4900202" y="2258568"/>
              <a:ext cx="249827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24354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Pressure · hold time · date/time + standard &amp; actual graph data files</a:t>
              </a:r>
              <a:endParaRPr lang="en-US" sz="600" dirty="0">
                <a:latin typeface="Inter Medium"/>
              </a:endParaRPr>
            </a:p>
          </p:txBody>
        </p:sp>
      </p:grpSp>
      <p:grpSp>
        <p:nvGrpSpPr>
          <p:cNvPr id="80" name="SAP Entry Application"/>
          <p:cNvGrpSpPr/>
          <p:nvPr/>
        </p:nvGrpSpPr>
        <p:grpSpPr>
          <a:xfrm>
            <a:off x="274320" y="2450592"/>
            <a:ext cx="6455664" cy="1481328"/>
            <a:chOff x="274320" y="2450592"/>
            <a:chExt cx="6455664" cy="1481328"/>
          </a:xfrm>
        </p:grpSpPr>
        <p:sp>
          <p:nvSpPr>
            <p:cNvPr id="81" name="SAP Entry Application panel"/>
            <p:cNvSpPr/>
            <p:nvPr/>
          </p:nvSpPr>
          <p:spPr>
            <a:xfrm>
              <a:off x="274320" y="2450592"/>
              <a:ext cx="6455664" cy="1481328"/>
            </a:xfrm>
            <a:prstGeom prst="roundRect">
              <a:avLst>
                <a:gd name="adj" fmla="val 4938"/>
              </a:avLst>
            </a:prstGeom>
            <a:solidFill>
              <a:srgbClr val="F1F5FA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82" name="Stage number"/>
            <p:cNvSpPr/>
            <p:nvPr/>
          </p:nvSpPr>
          <p:spPr>
            <a:xfrm>
              <a:off x="384048" y="2523744"/>
              <a:ext cx="155448" cy="155448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83" name="Stage digit"/>
            <p:cNvSpPr txBox="1"/>
            <p:nvPr/>
          </p:nvSpPr>
          <p:spPr>
            <a:xfrm>
              <a:off x="384048" y="2523744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650" dirty="0">
                <a:latin typeface="TASA Orbiter SemiBold"/>
              </a:endParaRPr>
            </a:p>
          </p:txBody>
        </p:sp>
        <p:sp>
          <p:nvSpPr>
            <p:cNvPr id="84" name="SAP Entry Application label"/>
            <p:cNvSpPr txBox="1"/>
            <p:nvPr/>
          </p:nvSpPr>
          <p:spPr>
            <a:xfrm>
              <a:off x="603504" y="2510028"/>
              <a:ext cx="5852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2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Entry Application</a:t>
              </a:r>
              <a:r>
                <a:rPr lang="en-US" sz="7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   ·   hosted on the central server (IOsense platform)</a:t>
              </a:r>
              <a:endParaRPr lang="en-US" sz="720" dirty="0">
                <a:latin typeface="Inter"/>
              </a:endParaRPr>
            </a:p>
          </p:txBody>
        </p:sp>
        <p:grpSp>
          <p:nvGrpSpPr>
            <p:cNvPr id="85" name="Chip Central server  ·  Welspun IT network"/>
            <p:cNvGrpSpPr/>
            <p:nvPr/>
          </p:nvGrpSpPr>
          <p:grpSpPr>
            <a:xfrm>
              <a:off x="4974153" y="2519172"/>
              <a:ext cx="1646103" cy="155448"/>
              <a:chOff x="4974153" y="2519172"/>
              <a:chExt cx="1646103" cy="155448"/>
            </a:xfrm>
          </p:grpSpPr>
          <p:sp>
            <p:nvSpPr>
              <p:cNvPr id="86" name="Chip fill"/>
              <p:cNvSpPr/>
              <p:nvPr/>
            </p:nvSpPr>
            <p:spPr>
              <a:xfrm>
                <a:off x="4974153" y="2519172"/>
                <a:ext cx="1646103" cy="155448"/>
              </a:xfrm>
              <a:prstGeom prst="roundRect">
                <a:avLst>
                  <a:gd name="adj" fmla="val 17647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87" name="Icon map-pin"/>
              <p:cNvSpPr/>
              <p:nvPr/>
            </p:nvSpPr>
            <p:spPr>
              <a:xfrm>
                <a:off x="5029017" y="2547684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0000"/>
                    </a:moveTo>
                    <a:cubicBezTo>
                      <a:pt x="20000" y="14993"/>
                      <a:pt x="14461" y="20192"/>
                      <a:pt x="12601" y="21799"/>
                    </a:cubicBezTo>
                    <a:cubicBezTo>
                      <a:pt x="12486" y="21885"/>
                      <a:pt x="12353" y="21946"/>
                      <a:pt x="12213" y="21976"/>
                    </a:cubicBezTo>
                    <a:cubicBezTo>
                      <a:pt x="12072" y="22007"/>
                      <a:pt x="11927" y="22007"/>
                      <a:pt x="11786" y="21976"/>
                    </a:cubicBezTo>
                    <a:cubicBezTo>
                      <a:pt x="11646" y="21946"/>
                      <a:pt x="11513" y="21885"/>
                      <a:pt x="11399" y="21799"/>
                    </a:cubicBezTo>
                    <a:cubicBezTo>
                      <a:pt x="9539" y="20193"/>
                      <a:pt x="4000" y="14993"/>
                      <a:pt x="4000" y="10000"/>
                    </a:cubicBezTo>
                    <a:cubicBezTo>
                      <a:pt x="4000" y="8595"/>
                      <a:pt x="4369" y="7216"/>
                      <a:pt x="5071" y="6000"/>
                    </a:cubicBezTo>
                    <a:cubicBezTo>
                      <a:pt x="5773" y="4783"/>
                      <a:pt x="6783" y="3773"/>
                      <a:pt x="7999" y="3071"/>
                    </a:cubicBezTo>
                    <a:cubicBezTo>
                      <a:pt x="9216" y="2369"/>
                      <a:pt x="10595" y="2000"/>
                      <a:pt x="11999" y="2000"/>
                    </a:cubicBezTo>
                    <a:cubicBezTo>
                      <a:pt x="13404" y="1999"/>
                      <a:pt x="14783" y="2369"/>
                      <a:pt x="16000" y="3071"/>
                    </a:cubicBezTo>
                    <a:cubicBezTo>
                      <a:pt x="17216" y="3773"/>
                      <a:pt x="18226" y="4783"/>
                      <a:pt x="18928" y="6000"/>
                    </a:cubicBezTo>
                    <a:cubicBezTo>
                      <a:pt x="19630" y="7216"/>
                      <a:pt x="20000" y="8595"/>
                      <a:pt x="20000" y="10000"/>
                    </a:cubicBezTo>
                  </a:path>
                  <a:path w="24000" h="24000" fill="none">
                    <a:moveTo>
                      <a:pt x="15000" y="10000"/>
                    </a:moveTo>
                    <a:cubicBezTo>
                      <a:pt x="15000" y="10526"/>
                      <a:pt x="14861" y="11043"/>
                      <a:pt x="14598" y="11500"/>
                    </a:cubicBezTo>
                    <a:cubicBezTo>
                      <a:pt x="14334" y="11956"/>
                      <a:pt x="13956" y="12334"/>
                      <a:pt x="13500" y="12598"/>
                    </a:cubicBezTo>
                    <a:cubicBezTo>
                      <a:pt x="13043" y="12861"/>
                      <a:pt x="12526" y="13000"/>
                      <a:pt x="12000" y="13000"/>
                    </a:cubicBezTo>
                    <a:cubicBezTo>
                      <a:pt x="11473" y="13000"/>
                      <a:pt x="10956" y="12861"/>
                      <a:pt x="10500" y="12598"/>
                    </a:cubicBezTo>
                    <a:cubicBezTo>
                      <a:pt x="10043" y="12334"/>
                      <a:pt x="9665" y="11956"/>
                      <a:pt x="9401" y="11500"/>
                    </a:cubicBezTo>
                    <a:cubicBezTo>
                      <a:pt x="9138" y="11043"/>
                      <a:pt x="9000" y="10526"/>
                      <a:pt x="9000" y="10000"/>
                    </a:cubicBezTo>
                    <a:cubicBezTo>
                      <a:pt x="9000" y="9473"/>
                      <a:pt x="9138" y="8956"/>
                      <a:pt x="9401" y="8500"/>
                    </a:cubicBezTo>
                    <a:cubicBezTo>
                      <a:pt x="9665" y="8043"/>
                      <a:pt x="10043" y="7665"/>
                      <a:pt x="10499" y="7401"/>
                    </a:cubicBezTo>
                    <a:cubicBezTo>
                      <a:pt x="10956" y="7138"/>
                      <a:pt x="11473" y="7000"/>
                      <a:pt x="12000" y="7000"/>
                    </a:cubicBezTo>
                    <a:cubicBezTo>
                      <a:pt x="12526" y="7000"/>
                      <a:pt x="13043" y="7138"/>
                      <a:pt x="13500" y="7401"/>
                    </a:cubicBezTo>
                    <a:cubicBezTo>
                      <a:pt x="13956" y="7665"/>
                      <a:pt x="14334" y="8043"/>
                      <a:pt x="14598" y="8500"/>
                    </a:cubicBezTo>
                    <a:cubicBezTo>
                      <a:pt x="14861" y="8956"/>
                      <a:pt x="15000" y="9473"/>
                      <a:pt x="15000" y="10000"/>
                    </a:cubicBezTo>
                    <a:close/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88" name="Chip label"/>
              <p:cNvSpPr txBox="1"/>
              <p:nvPr/>
            </p:nvSpPr>
            <p:spPr>
              <a:xfrm>
                <a:off x="5159446" y="2519172"/>
                <a:ext cx="1424234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  ·  Welspun IT network</a:t>
                </a:r>
                <a:endParaRPr lang="en-US" sz="620" dirty="0">
                  <a:latin typeface="Inter SemiBold"/>
                </a:endParaRPr>
              </a:p>
            </p:txBody>
          </p:sp>
        </p:grpSp>
        <p:grpSp>
          <p:nvGrpSpPr>
            <p:cNvPr id="89" name="Step · Pipe number"/>
            <p:cNvGrpSpPr/>
            <p:nvPr/>
          </p:nvGrpSpPr>
          <p:grpSpPr>
            <a:xfrm>
              <a:off x="384048" y="2734056"/>
              <a:ext cx="1783080" cy="813816"/>
              <a:chOff x="384048" y="2734056"/>
              <a:chExt cx="1783080" cy="813816"/>
            </a:xfrm>
          </p:grpSpPr>
          <p:sp>
            <p:nvSpPr>
              <p:cNvPr id="90" name="Pipe number card"/>
              <p:cNvSpPr/>
              <p:nvPr/>
            </p:nvSpPr>
            <p:spPr>
              <a:xfrm>
                <a:off x="384048" y="2734056"/>
                <a:ext cx="1783080" cy="813816"/>
              </a:xfrm>
              <a:prstGeom prst="roundRect">
                <a:avLst>
                  <a:gd name="adj" fmla="val 5617"/>
                </a:avLst>
              </a:prstGeom>
              <a:solidFill>
                <a:srgbClr val="FFFFFF"/>
              </a:solidFill>
              <a:ln w="9525">
                <a:solidFill>
                  <a:srgbClr val="CBD5E2"/>
                </a:solidFill>
                <a:round/>
              </a:ln>
            </p:spPr>
          </p:sp>
          <p:sp>
            <p:nvSpPr>
              <p:cNvPr id="91" name="Icon scan-qr-code"/>
              <p:cNvSpPr/>
              <p:nvPr/>
            </p:nvSpPr>
            <p:spPr>
              <a:xfrm>
                <a:off x="457200" y="2802636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7000" y="12000"/>
                    </a:moveTo>
                    <a:lnTo>
                      <a:pt x="17000" y="16000"/>
                    </a:lnTo>
                    <a:cubicBezTo>
                      <a:pt x="17000" y="16175"/>
                      <a:pt x="16953" y="16347"/>
                      <a:pt x="16866" y="16500"/>
                    </a:cubicBezTo>
                    <a:cubicBezTo>
                      <a:pt x="16778" y="16652"/>
                      <a:pt x="16652" y="16778"/>
                      <a:pt x="16500" y="16866"/>
                    </a:cubicBezTo>
                    <a:cubicBezTo>
                      <a:pt x="16347" y="16953"/>
                      <a:pt x="16175" y="17000"/>
                      <a:pt x="16000" y="17000"/>
                    </a:cubicBezTo>
                    <a:lnTo>
                      <a:pt x="12000" y="17000"/>
                    </a:lnTo>
                  </a:path>
                  <a:path w="24000" h="24000" fill="none">
                    <a:moveTo>
                      <a:pt x="17000" y="3000"/>
                    </a:moveTo>
                    <a:lnTo>
                      <a:pt x="19000" y="3000"/>
                    </a:lnTo>
                    <a:cubicBezTo>
                      <a:pt x="19351" y="3000"/>
                      <a:pt x="19695" y="3092"/>
                      <a:pt x="20000" y="3267"/>
                    </a:cubicBezTo>
                    <a:cubicBezTo>
                      <a:pt x="20304" y="3443"/>
                      <a:pt x="20556" y="3695"/>
                      <a:pt x="20732" y="4000"/>
                    </a:cubicBezTo>
                    <a:cubicBezTo>
                      <a:pt x="20907" y="4304"/>
                      <a:pt x="21000" y="4648"/>
                      <a:pt x="21000" y="5000"/>
                    </a:cubicBezTo>
                    <a:lnTo>
                      <a:pt x="21000" y="7000"/>
                    </a:lnTo>
                  </a:path>
                  <a:path w="24000" h="24000" fill="none">
                    <a:moveTo>
                      <a:pt x="17000" y="8000"/>
                    </a:moveTo>
                    <a:lnTo>
                      <a:pt x="17000" y="7000"/>
                    </a:lnTo>
                  </a:path>
                  <a:path w="24000" h="24000" fill="none">
                    <a:moveTo>
                      <a:pt x="21000" y="17000"/>
                    </a:moveTo>
                    <a:lnTo>
                      <a:pt x="21000" y="19000"/>
                    </a:lnTo>
                    <a:cubicBezTo>
                      <a:pt x="21000" y="19351"/>
                      <a:pt x="20907" y="19695"/>
                      <a:pt x="20732" y="20000"/>
                    </a:cubicBezTo>
                    <a:cubicBezTo>
                      <a:pt x="20556" y="20304"/>
                      <a:pt x="20304" y="20556"/>
                      <a:pt x="20000" y="20732"/>
                    </a:cubicBezTo>
                    <a:cubicBezTo>
                      <a:pt x="19695" y="20907"/>
                      <a:pt x="19351" y="21000"/>
                      <a:pt x="19000" y="21000"/>
                    </a:cubicBezTo>
                    <a:lnTo>
                      <a:pt x="17000" y="21000"/>
                    </a:lnTo>
                  </a:path>
                  <a:path w="24000" h="24000" fill="none">
                    <a:moveTo>
                      <a:pt x="3000" y="7000"/>
                    </a:moveTo>
                    <a:lnTo>
                      <a:pt x="3000" y="5000"/>
                    </a:lnTo>
                    <a:cubicBezTo>
                      <a:pt x="3000" y="4648"/>
                      <a:pt x="3092" y="4304"/>
                      <a:pt x="3267" y="4000"/>
                    </a:cubicBezTo>
                    <a:cubicBezTo>
                      <a:pt x="3443" y="3695"/>
                      <a:pt x="3695" y="3443"/>
                      <a:pt x="3999" y="3267"/>
                    </a:cubicBezTo>
                    <a:cubicBezTo>
                      <a:pt x="4304" y="3092"/>
                      <a:pt x="4648" y="3000"/>
                      <a:pt x="5000" y="3000"/>
                    </a:cubicBezTo>
                    <a:lnTo>
                      <a:pt x="7000" y="3000"/>
                    </a:lnTo>
                  </a:path>
                  <a:path w="24000" h="24000" fill="none">
                    <a:moveTo>
                      <a:pt x="7000" y="17000"/>
                    </a:moveTo>
                    <a:lnTo>
                      <a:pt x="7010" y="17000"/>
                    </a:lnTo>
                  </a:path>
                  <a:path w="24000" h="24000" fill="none">
                    <a:moveTo>
                      <a:pt x="7000" y="21000"/>
                    </a:moveTo>
                    <a:lnTo>
                      <a:pt x="5000" y="21000"/>
                    </a:lnTo>
                    <a:cubicBezTo>
                      <a:pt x="4648" y="21000"/>
                      <a:pt x="4304" y="20907"/>
                      <a:pt x="4000" y="20732"/>
                    </a:cubicBezTo>
                    <a:cubicBezTo>
                      <a:pt x="3695" y="20556"/>
                      <a:pt x="3443" y="20304"/>
                      <a:pt x="3267" y="20000"/>
                    </a:cubicBezTo>
                    <a:cubicBezTo>
                      <a:pt x="3092" y="19695"/>
                      <a:pt x="3000" y="19351"/>
                      <a:pt x="3000" y="19000"/>
                    </a:cubicBezTo>
                    <a:lnTo>
                      <a:pt x="3000" y="17000"/>
                    </a:lnTo>
                  </a:path>
                  <a:path w="24000" h="24000" fill="none">
                    <a:moveTo>
                      <a:pt x="8000" y="7000"/>
                    </a:moveTo>
                    <a:lnTo>
                      <a:pt x="11000" y="7000"/>
                    </a:lnTo>
                    <a:cubicBezTo>
                      <a:pt x="11175" y="7000"/>
                      <a:pt x="11347" y="7046"/>
                      <a:pt x="11500" y="7133"/>
                    </a:cubicBezTo>
                    <a:cubicBezTo>
                      <a:pt x="11652" y="7221"/>
                      <a:pt x="11778" y="7347"/>
                      <a:pt x="11866" y="7500"/>
                    </a:cubicBezTo>
                    <a:cubicBezTo>
                      <a:pt x="11953" y="7652"/>
                      <a:pt x="12000" y="7824"/>
                      <a:pt x="12000" y="8000"/>
                    </a:cubicBezTo>
                    <a:lnTo>
                      <a:pt x="12000" y="11000"/>
                    </a:lnTo>
                    <a:cubicBezTo>
                      <a:pt x="12000" y="11175"/>
                      <a:pt x="11953" y="11347"/>
                      <a:pt x="11866" y="11500"/>
                    </a:cubicBezTo>
                    <a:cubicBezTo>
                      <a:pt x="11778" y="11652"/>
                      <a:pt x="11652" y="11778"/>
                      <a:pt x="11500" y="11866"/>
                    </a:cubicBezTo>
                    <a:cubicBezTo>
                      <a:pt x="11347" y="11953"/>
                      <a:pt x="11175" y="12000"/>
                      <a:pt x="11000" y="12000"/>
                    </a:cubicBezTo>
                    <a:lnTo>
                      <a:pt x="8000" y="12000"/>
                    </a:lnTo>
                    <a:cubicBezTo>
                      <a:pt x="7824" y="12000"/>
                      <a:pt x="7652" y="11953"/>
                      <a:pt x="7500" y="11866"/>
                    </a:cubicBezTo>
                    <a:cubicBezTo>
                      <a:pt x="7347" y="11778"/>
                      <a:pt x="7221" y="11652"/>
                      <a:pt x="7133" y="11500"/>
                    </a:cubicBezTo>
                    <a:cubicBezTo>
                      <a:pt x="7046" y="11347"/>
                      <a:pt x="7000" y="11175"/>
                      <a:pt x="7000" y="11000"/>
                    </a:cubicBezTo>
                    <a:lnTo>
                      <a:pt x="7000" y="8000"/>
                    </a:lnTo>
                    <a:cubicBezTo>
                      <a:pt x="7000" y="7824"/>
                      <a:pt x="7046" y="7652"/>
                      <a:pt x="7133" y="7500"/>
                    </a:cubicBezTo>
                    <a:cubicBezTo>
                      <a:pt x="7221" y="7347"/>
                      <a:pt x="7347" y="7221"/>
                      <a:pt x="7500" y="7133"/>
                    </a:cubicBezTo>
                    <a:cubicBezTo>
                      <a:pt x="7652" y="7046"/>
                      <a:pt x="7824" y="7000"/>
                      <a:pt x="8000" y="7000"/>
                    </a:cubicBezTo>
                    <a:close/>
                  </a:path>
                </a:pathLst>
              </a:custGeom>
              <a:noFill/>
              <a:ln w="12192" cap="rnd">
                <a:solidFill>
                  <a:srgbClr val="0C1927"/>
                </a:solidFill>
                <a:round/>
              </a:ln>
            </p:spPr>
          </p:sp>
          <p:grpSp>
            <p:nvGrpSpPr>
              <p:cNvPr id="92" name="Chip Before the test"/>
              <p:cNvGrpSpPr/>
              <p:nvPr/>
            </p:nvGrpSpPr>
            <p:grpSpPr>
              <a:xfrm>
                <a:off x="1516438" y="2802636"/>
                <a:ext cx="577538" cy="137160"/>
                <a:chOff x="1516438" y="2802636"/>
                <a:chExt cx="577538" cy="137160"/>
              </a:xfrm>
            </p:grpSpPr>
            <p:sp>
              <p:nvSpPr>
                <p:cNvPr id="93" name="Chip fill"/>
                <p:cNvSpPr/>
                <p:nvPr/>
              </p:nvSpPr>
              <p:spPr>
                <a:xfrm>
                  <a:off x="1516438" y="2802636"/>
                  <a:ext cx="577538" cy="13716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0C1927"/>
                </a:solidFill>
                <a:ln>
                  <a:noFill/>
                </a:ln>
              </p:spPr>
            </p:sp>
            <p:sp>
              <p:nvSpPr>
                <p:cNvPr id="94" name="Chip label"/>
                <p:cNvSpPr txBox="1"/>
                <p:nvPr/>
              </p:nvSpPr>
              <p:spPr>
                <a:xfrm>
                  <a:off x="1557586" y="2802636"/>
                  <a:ext cx="51353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50"/>
                    </a:lnSpc>
                    <a:spcBef>
                      <a:spcPts val="0"/>
                    </a:spcBef>
                    <a:buNone/>
                  </a:pPr>
                  <a:r>
                    <a:rPr lang="en-US" sz="550" b="0" i="0" spc="0" dirty="0">
                      <a:solidFill>
                        <a:srgbClr val="FFFFFF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Before the test</a:t>
                  </a:r>
                  <a:endParaRPr lang="en-US" sz="550" dirty="0">
                    <a:latin typeface="Inter SemiBold"/>
                  </a:endParaRPr>
                </a:p>
              </p:txBody>
            </p:sp>
          </p:grpSp>
          <p:sp>
            <p:nvSpPr>
              <p:cNvPr id="95" name="Step title"/>
              <p:cNvSpPr txBox="1"/>
              <p:nvPr/>
            </p:nvSpPr>
            <p:spPr>
              <a:xfrm>
                <a:off x="658368" y="2788920"/>
                <a:ext cx="82149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Pipe number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96" name="Order number"/>
              <p:cNvSpPr/>
              <p:nvPr/>
            </p:nvSpPr>
            <p:spPr>
              <a:xfrm>
                <a:off x="466344" y="2962656"/>
                <a:ext cx="128016" cy="128016"/>
              </a:xfrm>
              <a:prstGeom prst="ellipse">
                <a:avLst/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97" name="Order digit"/>
              <p:cNvSpPr txBox="1"/>
              <p:nvPr/>
            </p:nvSpPr>
            <p:spPr>
              <a:xfrm>
                <a:off x="466344" y="2962656"/>
                <a:ext cx="128016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560"/>
                  </a:lnSpc>
                  <a:spcBef>
                    <a:spcPts val="0"/>
                  </a:spcBef>
                  <a:buNone/>
                </a:pPr>
                <a:r>
                  <a:rPr lang="en-US" sz="56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1</a:t>
                </a:r>
                <a:endParaRPr lang="en-US" sz="560" dirty="0">
                  <a:latin typeface="TASA Orbiter SemiBold"/>
                </a:endParaRPr>
              </a:p>
            </p:txBody>
          </p:sp>
          <p:sp>
            <p:nvSpPr>
              <p:cNvPr id="98" name="Pipe source"/>
              <p:cNvSpPr txBox="1"/>
              <p:nvPr/>
            </p:nvSpPr>
            <p:spPr>
              <a:xfrm>
                <a:off x="649224" y="2953512"/>
                <a:ext cx="1472184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30"/>
                  </a:lnSpc>
                  <a:spcBef>
                    <a:spcPts val="0"/>
                  </a:spcBef>
                  <a:buNone/>
                </a:pPr>
                <a:r>
                  <a:rPr lang="en-US" sz="6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MES scanner (QR) data</a:t>
                </a:r>
                <a:r>
                  <a:rPr lang="en-US" sz="630" b="0" i="0" spc="0" dirty="0">
                    <a:solidFill>
                      <a:srgbClr val="6C849D"/>
                    </a:solidFill>
                    <a:latin typeface="Inter"/>
                    <a:ea typeface="Inter"/>
                    <a:cs typeface="Inter"/>
                    <a:sym typeface="Inter"/>
                  </a:rPr>
                  <a:t>  ·  scanned</a:t>
                </a:r>
                <a:endParaRPr lang="en-US" sz="630" dirty="0">
                  <a:latin typeface="Inter"/>
                </a:endParaRPr>
              </a:p>
            </p:txBody>
          </p:sp>
          <p:sp>
            <p:nvSpPr>
              <p:cNvPr id="99" name="Order number"/>
              <p:cNvSpPr/>
              <p:nvPr/>
            </p:nvSpPr>
            <p:spPr>
              <a:xfrm>
                <a:off x="466344" y="3099816"/>
                <a:ext cx="128016" cy="128016"/>
              </a:xfrm>
              <a:prstGeom prst="ellipse">
                <a:avLst/>
              </a:prstGeom>
              <a:solidFill>
                <a:srgbClr val="90A5BB"/>
              </a:solidFill>
              <a:ln>
                <a:noFill/>
              </a:ln>
            </p:spPr>
          </p:sp>
          <p:sp>
            <p:nvSpPr>
              <p:cNvPr id="100" name="Order digit"/>
              <p:cNvSpPr txBox="1"/>
              <p:nvPr/>
            </p:nvSpPr>
            <p:spPr>
              <a:xfrm>
                <a:off x="466344" y="3099816"/>
                <a:ext cx="128016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560"/>
                  </a:lnSpc>
                  <a:spcBef>
                    <a:spcPts val="0"/>
                  </a:spcBef>
                  <a:buNone/>
                </a:pPr>
                <a:r>
                  <a:rPr lang="en-US" sz="56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2</a:t>
                </a:r>
                <a:endParaRPr lang="en-US" sz="560" dirty="0">
                  <a:latin typeface="TASA Orbiter SemiBold"/>
                </a:endParaRPr>
              </a:p>
            </p:txBody>
          </p:sp>
          <p:sp>
            <p:nvSpPr>
              <p:cNvPr id="101" name="Pipe source"/>
              <p:cNvSpPr txBox="1"/>
              <p:nvPr/>
            </p:nvSpPr>
            <p:spPr>
              <a:xfrm>
                <a:off x="649224" y="3090672"/>
                <a:ext cx="1472184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30"/>
                  </a:lnSpc>
                  <a:spcBef>
                    <a:spcPts val="0"/>
                  </a:spcBef>
                  <a:buNone/>
                </a:pPr>
                <a:r>
                  <a:rPr lang="en-US" sz="6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Previous-station list</a:t>
                </a:r>
                <a:r>
                  <a:rPr lang="en-US" sz="630" b="0" i="0" spc="0" dirty="0">
                    <a:solidFill>
                      <a:srgbClr val="6C849D"/>
                    </a:solidFill>
                    <a:latin typeface="Inter"/>
                    <a:ea typeface="Inter"/>
                    <a:cs typeface="Inter"/>
                    <a:sym typeface="Inter"/>
                  </a:rPr>
                  <a:t>  ·  from SAP</a:t>
                </a:r>
                <a:endParaRPr lang="en-US" sz="630" dirty="0">
                  <a:latin typeface="Inter"/>
                </a:endParaRPr>
              </a:p>
            </p:txBody>
          </p:sp>
          <p:sp>
            <p:nvSpPr>
              <p:cNvPr id="102" name="Order number"/>
              <p:cNvSpPr/>
              <p:nvPr/>
            </p:nvSpPr>
            <p:spPr>
              <a:xfrm>
                <a:off x="466344" y="3236976"/>
                <a:ext cx="128016" cy="128016"/>
              </a:xfrm>
              <a:prstGeom prst="ellipse">
                <a:avLst/>
              </a:prstGeom>
              <a:solidFill>
                <a:srgbClr val="90A5BB"/>
              </a:solidFill>
              <a:ln>
                <a:noFill/>
              </a:ln>
            </p:spPr>
          </p:sp>
          <p:sp>
            <p:nvSpPr>
              <p:cNvPr id="103" name="Order digit"/>
              <p:cNvSpPr txBox="1"/>
              <p:nvPr/>
            </p:nvSpPr>
            <p:spPr>
              <a:xfrm>
                <a:off x="466344" y="3236976"/>
                <a:ext cx="128016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560"/>
                  </a:lnSpc>
                  <a:spcBef>
                    <a:spcPts val="0"/>
                  </a:spcBef>
                  <a:buNone/>
                </a:pPr>
                <a:r>
                  <a:rPr lang="en-US" sz="56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3</a:t>
                </a:r>
                <a:endParaRPr lang="en-US" sz="560" dirty="0">
                  <a:latin typeface="TASA Orbiter SemiBold"/>
                </a:endParaRPr>
              </a:p>
            </p:txBody>
          </p:sp>
          <p:sp>
            <p:nvSpPr>
              <p:cNvPr id="104" name="Pipe source"/>
              <p:cNvSpPr txBox="1"/>
              <p:nvPr/>
            </p:nvSpPr>
            <p:spPr>
              <a:xfrm>
                <a:off x="649224" y="3227832"/>
                <a:ext cx="1472184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30"/>
                  </a:lnSpc>
                  <a:spcBef>
                    <a:spcPts val="0"/>
                  </a:spcBef>
                  <a:buNone/>
                </a:pPr>
                <a:r>
                  <a:rPr lang="en-US" sz="6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Manual entry</a:t>
                </a:r>
                <a:r>
                  <a:rPr lang="en-US" sz="630" b="0" i="0" spc="0" dirty="0">
                    <a:solidFill>
                      <a:srgbClr val="6C849D"/>
                    </a:solidFill>
                    <a:latin typeface="Inter"/>
                    <a:ea typeface="Inter"/>
                    <a:cs typeface="Inter"/>
                    <a:sym typeface="Inter"/>
                  </a:rPr>
                  <a:t>  ·  typed</a:t>
                </a:r>
                <a:endParaRPr lang="en-US" sz="630" dirty="0">
                  <a:latin typeface="Inter"/>
                </a:endParaRPr>
              </a:p>
            </p:txBody>
          </p:sp>
          <p:grpSp>
            <p:nvGrpSpPr>
              <p:cNvPr id="105" name="Chip Pop-up if a test starts without one"/>
              <p:cNvGrpSpPr/>
              <p:nvPr/>
            </p:nvGrpSpPr>
            <p:grpSpPr>
              <a:xfrm>
                <a:off x="466344" y="3374136"/>
                <a:ext cx="1391327" cy="146304"/>
                <a:chOff x="466344" y="3374136"/>
                <a:chExt cx="1391327" cy="146304"/>
              </a:xfrm>
            </p:grpSpPr>
            <p:sp>
              <p:nvSpPr>
                <p:cNvPr id="106" name="Chip fill"/>
                <p:cNvSpPr/>
                <p:nvPr/>
              </p:nvSpPr>
              <p:spPr>
                <a:xfrm>
                  <a:off x="466344" y="3374136"/>
                  <a:ext cx="1391327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07" name="Icon triangle-alert"/>
                <p:cNvSpPr/>
                <p:nvPr/>
              </p:nvSpPr>
              <p:spPr>
                <a:xfrm>
                  <a:off x="507492" y="3402044"/>
                  <a:ext cx="90488" cy="90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1730" y="18000"/>
                      </a:moveTo>
                      <a:lnTo>
                        <a:pt x="13730" y="4000"/>
                      </a:lnTo>
                      <a:cubicBezTo>
                        <a:pt x="13590" y="3754"/>
                        <a:pt x="13401" y="3540"/>
                        <a:pt x="13173" y="3373"/>
                      </a:cubicBezTo>
                      <a:cubicBezTo>
                        <a:pt x="12945" y="3206"/>
                        <a:pt x="12685" y="3089"/>
                        <a:pt x="12408" y="3030"/>
                      </a:cubicBezTo>
                      <a:cubicBezTo>
                        <a:pt x="12132" y="2971"/>
                        <a:pt x="11847" y="2971"/>
                        <a:pt x="11571" y="3030"/>
                      </a:cubicBezTo>
                      <a:cubicBezTo>
                        <a:pt x="11294" y="3089"/>
                        <a:pt x="11034" y="3206"/>
                        <a:pt x="10806" y="3373"/>
                      </a:cubicBezTo>
                      <a:cubicBezTo>
                        <a:pt x="10578" y="3540"/>
                        <a:pt x="10389" y="3754"/>
                        <a:pt x="10250" y="4000"/>
                      </a:cubicBezTo>
                      <a:lnTo>
                        <a:pt x="2250" y="18000"/>
                      </a:lnTo>
                      <a:cubicBezTo>
                        <a:pt x="2109" y="18243"/>
                        <a:pt x="2021" y="18514"/>
                        <a:pt x="1992" y="18794"/>
                      </a:cubicBezTo>
                      <a:cubicBezTo>
                        <a:pt x="1963" y="19074"/>
                        <a:pt x="1994" y="19357"/>
                        <a:pt x="2082" y="19624"/>
                      </a:cubicBezTo>
                      <a:cubicBezTo>
                        <a:pt x="2170" y="19892"/>
                        <a:pt x="2313" y="20138"/>
                        <a:pt x="2502" y="20346"/>
                      </a:cubicBezTo>
                      <a:cubicBezTo>
                        <a:pt x="2692" y="20554"/>
                        <a:pt x="2923" y="20720"/>
                        <a:pt x="3181" y="20832"/>
                      </a:cubicBezTo>
                      <a:cubicBezTo>
                        <a:pt x="3439" y="20945"/>
                        <a:pt x="3718" y="21002"/>
                        <a:pt x="4000" y="21000"/>
                      </a:cubicBezTo>
                      <a:lnTo>
                        <a:pt x="20000" y="21000"/>
                      </a:lnTo>
                      <a:cubicBezTo>
                        <a:pt x="20350" y="20999"/>
                        <a:pt x="20695" y="20906"/>
                        <a:pt x="20999" y="20731"/>
                      </a:cubicBezTo>
                      <a:cubicBezTo>
                        <a:pt x="21303" y="20555"/>
                        <a:pt x="21555" y="20303"/>
                        <a:pt x="21730" y="19999"/>
                      </a:cubicBezTo>
                      <a:cubicBezTo>
                        <a:pt x="21905" y="19695"/>
                        <a:pt x="21998" y="19350"/>
                        <a:pt x="21997" y="18999"/>
                      </a:cubicBezTo>
                      <a:cubicBezTo>
                        <a:pt x="21997" y="18648"/>
                        <a:pt x="21905" y="18303"/>
                        <a:pt x="21730" y="18000"/>
                      </a:cubicBezTo>
                    </a:path>
                    <a:path w="24000" h="24000" fill="none">
                      <a:moveTo>
                        <a:pt x="12000" y="9000"/>
                      </a:moveTo>
                      <a:lnTo>
                        <a:pt x="12000" y="13000"/>
                      </a:ln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8671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08" name="Chip label"/>
                <p:cNvSpPr txBox="1"/>
                <p:nvPr/>
              </p:nvSpPr>
              <p:spPr>
                <a:xfrm>
                  <a:off x="629984" y="3374136"/>
                  <a:ext cx="120482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70"/>
                    </a:lnSpc>
                    <a:spcBef>
                      <a:spcPts val="0"/>
                    </a:spcBef>
                    <a:buNone/>
                  </a:pPr>
                  <a:r>
                    <a:rPr lang="en-US" sz="57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Pop-up if a test starts without one</a:t>
                  </a:r>
                  <a:endParaRPr lang="en-US" sz="570" dirty="0">
                    <a:latin typeface="Inter SemiBold"/>
                  </a:endParaRPr>
                </a:p>
              </p:txBody>
            </p:sp>
          </p:grpSp>
        </p:grpSp>
        <p:grpSp>
          <p:nvGrpSpPr>
            <p:cNvPr id="109" name="Step · New entry"/>
            <p:cNvGrpSpPr/>
            <p:nvPr/>
          </p:nvGrpSpPr>
          <p:grpSpPr>
            <a:xfrm>
              <a:off x="2313432" y="2734056"/>
              <a:ext cx="1005840" cy="813816"/>
              <a:chOff x="2313432" y="2734056"/>
              <a:chExt cx="1005840" cy="813816"/>
            </a:xfrm>
          </p:grpSpPr>
          <p:sp>
            <p:nvSpPr>
              <p:cNvPr id="110" name="New entry card"/>
              <p:cNvSpPr/>
              <p:nvPr/>
            </p:nvSpPr>
            <p:spPr>
              <a:xfrm>
                <a:off x="2313432" y="2734056"/>
                <a:ext cx="1005840" cy="813816"/>
              </a:xfrm>
              <a:prstGeom prst="roundRect">
                <a:avLst>
                  <a:gd name="adj" fmla="val 5617"/>
                </a:avLst>
              </a:prstGeom>
              <a:solidFill>
                <a:srgbClr val="FFFFFF"/>
              </a:solidFill>
              <a:ln w="9525">
                <a:solidFill>
                  <a:srgbClr val="CBD5E2"/>
                </a:solidFill>
                <a:round/>
              </a:ln>
            </p:spPr>
          </p:sp>
          <p:sp>
            <p:nvSpPr>
              <p:cNvPr id="111" name="Icon file-check"/>
              <p:cNvSpPr/>
              <p:nvPr/>
            </p:nvSpPr>
            <p:spPr>
              <a:xfrm>
                <a:off x="2386584" y="2802636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000" y="22000"/>
                    </a:moveTo>
                    <a:cubicBezTo>
                      <a:pt x="5648" y="22000"/>
                      <a:pt x="5304" y="21907"/>
                      <a:pt x="5000" y="21732"/>
                    </a:cubicBezTo>
                    <a:cubicBezTo>
                      <a:pt x="4695" y="21556"/>
                      <a:pt x="4443" y="21304"/>
                      <a:pt x="4267" y="21000"/>
                    </a:cubicBezTo>
                    <a:cubicBezTo>
                      <a:pt x="4092" y="20695"/>
                      <a:pt x="4000" y="20351"/>
                      <a:pt x="4000" y="20000"/>
                    </a:cubicBezTo>
                    <a:lnTo>
                      <a:pt x="4000" y="4000"/>
                    </a:lnTo>
                    <a:cubicBezTo>
                      <a:pt x="4000" y="3648"/>
                      <a:pt x="4092" y="3304"/>
                      <a:pt x="4267" y="3000"/>
                    </a:cubicBezTo>
                    <a:cubicBezTo>
                      <a:pt x="4443" y="2695"/>
                      <a:pt x="4695" y="2443"/>
                      <a:pt x="4999" y="2267"/>
                    </a:cubicBezTo>
                    <a:cubicBezTo>
                      <a:pt x="5304" y="2092"/>
                      <a:pt x="5648" y="2000"/>
                      <a:pt x="6000" y="2000"/>
                    </a:cubicBezTo>
                    <a:lnTo>
                      <a:pt x="14000" y="2000"/>
                    </a:lnTo>
                    <a:cubicBezTo>
                      <a:pt x="14316" y="1999"/>
                      <a:pt x="14630" y="2061"/>
                      <a:pt x="14922" y="2182"/>
                    </a:cubicBezTo>
                    <a:cubicBezTo>
                      <a:pt x="15214" y="2303"/>
                      <a:pt x="15480" y="2481"/>
                      <a:pt x="15704" y="2706"/>
                    </a:cubicBezTo>
                    <a:lnTo>
                      <a:pt x="19292" y="6294"/>
                    </a:lnTo>
                    <a:cubicBezTo>
                      <a:pt x="19516" y="6517"/>
                      <a:pt x="19695" y="6783"/>
                      <a:pt x="19816" y="7076"/>
                    </a:cubicBezTo>
                    <a:cubicBezTo>
                      <a:pt x="19938" y="7368"/>
                      <a:pt x="20000" y="7682"/>
                      <a:pt x="20000" y="8000"/>
                    </a:cubicBezTo>
                    <a:lnTo>
                      <a:pt x="20000" y="20000"/>
                    </a:lnTo>
                    <a:cubicBezTo>
                      <a:pt x="20000" y="20351"/>
                      <a:pt x="19907" y="20695"/>
                      <a:pt x="19732" y="21000"/>
                    </a:cubicBezTo>
                    <a:cubicBezTo>
                      <a:pt x="19556" y="21304"/>
                      <a:pt x="19304" y="21556"/>
                      <a:pt x="19000" y="21732"/>
                    </a:cubicBezTo>
                    <a:cubicBezTo>
                      <a:pt x="18695" y="21907"/>
                      <a:pt x="18351" y="22000"/>
                      <a:pt x="18000" y="22000"/>
                    </a:cubicBezTo>
                    <a:close/>
                  </a:path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175"/>
                      <a:pt x="14046" y="7347"/>
                      <a:pt x="14133" y="7500"/>
                    </a:cubicBezTo>
                    <a:cubicBezTo>
                      <a:pt x="14221" y="7652"/>
                      <a:pt x="14347" y="7778"/>
                      <a:pt x="14500" y="7866"/>
                    </a:cubicBezTo>
                    <a:cubicBezTo>
                      <a:pt x="14652" y="7953"/>
                      <a:pt x="14824" y="8000"/>
                      <a:pt x="15000" y="8000"/>
                    </a:cubicBezTo>
                    <a:lnTo>
                      <a:pt x="20000" y="8000"/>
                    </a:lnTo>
                  </a:path>
                  <a:path w="24000" h="24000" fill="none">
                    <a:moveTo>
                      <a:pt x="9000" y="15000"/>
                    </a:moveTo>
                    <a:lnTo>
                      <a:pt x="11000" y="17000"/>
                    </a:lnTo>
                    <a:lnTo>
                      <a:pt x="15000" y="13000"/>
                    </a:lnTo>
                  </a:path>
                </a:pathLst>
              </a:custGeom>
              <a:noFill/>
              <a:ln w="12192" cap="rnd">
                <a:solidFill>
                  <a:srgbClr val="0C1927"/>
                </a:solidFill>
                <a:round/>
              </a:ln>
            </p:spPr>
          </p:sp>
          <p:sp>
            <p:nvSpPr>
              <p:cNvPr id="112" name="Step title"/>
              <p:cNvSpPr txBox="1"/>
              <p:nvPr/>
            </p:nvSpPr>
            <p:spPr>
              <a:xfrm>
                <a:off x="2587752" y="2788920"/>
                <a:ext cx="67665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New entry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113" name="Step description"/>
              <p:cNvSpPr txBox="1"/>
              <p:nvPr/>
            </p:nvSpPr>
            <p:spPr>
              <a:xfrm>
                <a:off x="2386584" y="2962656"/>
                <a:ext cx="877824" cy="557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6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Created from the graph data against that pipe number; </a:t>
                </a:r>
                <a:r>
                  <a:rPr lang="en-US" sz="62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not uploaded yet</a:t>
                </a:r>
                <a:endParaRPr lang="en-US" sz="620" dirty="0">
                  <a:latin typeface="Inter"/>
                </a:endParaRPr>
              </a:p>
            </p:txBody>
          </p:sp>
        </p:grpSp>
        <p:grpSp>
          <p:nvGrpSpPr>
            <p:cNvPr id="114" name="Step · Graph image text fields"/>
            <p:cNvGrpSpPr/>
            <p:nvPr/>
          </p:nvGrpSpPr>
          <p:grpSpPr>
            <a:xfrm>
              <a:off x="3465576" y="2734056"/>
              <a:ext cx="1508760" cy="813816"/>
              <a:chOff x="3465576" y="2734056"/>
              <a:chExt cx="1508760" cy="813816"/>
            </a:xfrm>
          </p:grpSpPr>
          <p:sp>
            <p:nvSpPr>
              <p:cNvPr id="115" name="Text fields on graph card"/>
              <p:cNvSpPr/>
              <p:nvPr/>
            </p:nvSpPr>
            <p:spPr>
              <a:xfrm>
                <a:off x="3465576" y="2734056"/>
                <a:ext cx="1508760" cy="813816"/>
              </a:xfrm>
              <a:prstGeom prst="roundRect">
                <a:avLst>
                  <a:gd name="adj" fmla="val 5617"/>
                </a:avLst>
              </a:prstGeom>
              <a:solidFill>
                <a:srgbClr val="FFFFFF"/>
              </a:solidFill>
              <a:ln w="9525">
                <a:solidFill>
                  <a:srgbClr val="CBD5E2"/>
                </a:solidFill>
                <a:round/>
              </a:ln>
            </p:spPr>
          </p:sp>
          <p:sp>
            <p:nvSpPr>
              <p:cNvPr id="116" name="Icon text-cursor-input"/>
              <p:cNvSpPr/>
              <p:nvPr/>
            </p:nvSpPr>
            <p:spPr>
              <a:xfrm>
                <a:off x="3538728" y="2802636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20000"/>
                    </a:moveTo>
                    <a:lnTo>
                      <a:pt x="11000" y="20000"/>
                    </a:lnTo>
                    <a:cubicBezTo>
                      <a:pt x="10648" y="20000"/>
                      <a:pt x="10304" y="19907"/>
                      <a:pt x="10000" y="19732"/>
                    </a:cubicBezTo>
                    <a:cubicBezTo>
                      <a:pt x="9695" y="19556"/>
                      <a:pt x="9443" y="19304"/>
                      <a:pt x="9267" y="19000"/>
                    </a:cubicBezTo>
                    <a:cubicBezTo>
                      <a:pt x="9092" y="18695"/>
                      <a:pt x="9000" y="18351"/>
                      <a:pt x="9000" y="18000"/>
                    </a:cubicBezTo>
                    <a:cubicBezTo>
                      <a:pt x="9000" y="18351"/>
                      <a:pt x="8907" y="18695"/>
                      <a:pt x="8732" y="19000"/>
                    </a:cubicBezTo>
                    <a:cubicBezTo>
                      <a:pt x="8556" y="19304"/>
                      <a:pt x="8304" y="19556"/>
                      <a:pt x="8000" y="19732"/>
                    </a:cubicBezTo>
                    <a:cubicBezTo>
                      <a:pt x="7695" y="19907"/>
                      <a:pt x="7351" y="20000"/>
                      <a:pt x="7000" y="20000"/>
                    </a:cubicBezTo>
                    <a:lnTo>
                      <a:pt x="6000" y="20000"/>
                    </a:lnTo>
                  </a:path>
                  <a:path w="24000" h="24000" fill="none">
                    <a:moveTo>
                      <a:pt x="13000" y="8000"/>
                    </a:moveTo>
                    <a:lnTo>
                      <a:pt x="20000" y="8000"/>
                    </a:lnTo>
                    <a:cubicBezTo>
                      <a:pt x="20351" y="8000"/>
                      <a:pt x="20695" y="8092"/>
                      <a:pt x="21000" y="8267"/>
                    </a:cubicBezTo>
                    <a:cubicBezTo>
                      <a:pt x="21304" y="8443"/>
                      <a:pt x="21556" y="8695"/>
                      <a:pt x="21732" y="9000"/>
                    </a:cubicBezTo>
                    <a:cubicBezTo>
                      <a:pt x="21907" y="9304"/>
                      <a:pt x="22000" y="9648"/>
                      <a:pt x="22000" y="10000"/>
                    </a:cubicBezTo>
                    <a:lnTo>
                      <a:pt x="22000" y="14000"/>
                    </a:lnTo>
                    <a:cubicBezTo>
                      <a:pt x="22000" y="14351"/>
                      <a:pt x="21907" y="14695"/>
                      <a:pt x="21732" y="15000"/>
                    </a:cubicBezTo>
                    <a:cubicBezTo>
                      <a:pt x="21556" y="15304"/>
                      <a:pt x="21304" y="15556"/>
                      <a:pt x="21000" y="15732"/>
                    </a:cubicBezTo>
                    <a:cubicBezTo>
                      <a:pt x="20695" y="15907"/>
                      <a:pt x="20351" y="16000"/>
                      <a:pt x="20000" y="16000"/>
                    </a:cubicBezTo>
                    <a:lnTo>
                      <a:pt x="13000" y="16000"/>
                    </a:lnTo>
                  </a:path>
                  <a:path w="24000" h="24000" fill="none">
                    <a:moveTo>
                      <a:pt x="5000" y="16000"/>
                    </a:moveTo>
                    <a:lnTo>
                      <a:pt x="4000" y="16000"/>
                    </a:lnTo>
                    <a:cubicBezTo>
                      <a:pt x="3648" y="16000"/>
                      <a:pt x="3304" y="15907"/>
                      <a:pt x="3000" y="15732"/>
                    </a:cubicBezTo>
                    <a:cubicBezTo>
                      <a:pt x="2695" y="15556"/>
                      <a:pt x="2443" y="15304"/>
                      <a:pt x="2267" y="15000"/>
                    </a:cubicBezTo>
                    <a:cubicBezTo>
                      <a:pt x="2092" y="14695"/>
                      <a:pt x="2000" y="14351"/>
                      <a:pt x="2000" y="14000"/>
                    </a:cubicBezTo>
                    <a:lnTo>
                      <a:pt x="2000" y="10000"/>
                    </a:lnTo>
                    <a:cubicBezTo>
                      <a:pt x="2000" y="9648"/>
                      <a:pt x="2092" y="9304"/>
                      <a:pt x="2267" y="9000"/>
                    </a:cubicBezTo>
                    <a:cubicBezTo>
                      <a:pt x="2443" y="8695"/>
                      <a:pt x="2695" y="8443"/>
                      <a:pt x="2999" y="8267"/>
                    </a:cubicBezTo>
                    <a:cubicBezTo>
                      <a:pt x="3304" y="8092"/>
                      <a:pt x="3648" y="8000"/>
                      <a:pt x="4000" y="8000"/>
                    </a:cubicBezTo>
                    <a:lnTo>
                      <a:pt x="5000" y="8000"/>
                    </a:lnTo>
                  </a:path>
                  <a:path w="24000" h="24000" fill="none">
                    <a:moveTo>
                      <a:pt x="6000" y="4000"/>
                    </a:moveTo>
                    <a:lnTo>
                      <a:pt x="7000" y="4000"/>
                    </a:lnTo>
                    <a:cubicBezTo>
                      <a:pt x="7351" y="4000"/>
                      <a:pt x="7695" y="4092"/>
                      <a:pt x="8000" y="4267"/>
                    </a:cubicBezTo>
                    <a:cubicBezTo>
                      <a:pt x="8304" y="4443"/>
                      <a:pt x="8556" y="4695"/>
                      <a:pt x="8732" y="5000"/>
                    </a:cubicBezTo>
                    <a:cubicBezTo>
                      <a:pt x="8907" y="5304"/>
                      <a:pt x="9000" y="5648"/>
                      <a:pt x="9000" y="6000"/>
                    </a:cubicBezTo>
                    <a:cubicBezTo>
                      <a:pt x="9000" y="5648"/>
                      <a:pt x="9092" y="5304"/>
                      <a:pt x="9267" y="5000"/>
                    </a:cubicBezTo>
                    <a:cubicBezTo>
                      <a:pt x="9443" y="4695"/>
                      <a:pt x="9695" y="4443"/>
                      <a:pt x="10000" y="4267"/>
                    </a:cubicBezTo>
                    <a:cubicBezTo>
                      <a:pt x="10304" y="4092"/>
                      <a:pt x="10648" y="4000"/>
                      <a:pt x="11000" y="4000"/>
                    </a:cubicBezTo>
                    <a:lnTo>
                      <a:pt x="12000" y="4000"/>
                    </a:lnTo>
                  </a:path>
                  <a:path w="24000" h="24000" fill="none">
                    <a:moveTo>
                      <a:pt x="9000" y="6000"/>
                    </a:moveTo>
                    <a:lnTo>
                      <a:pt x="9000" y="18000"/>
                    </a:lnTo>
                  </a:path>
                </a:pathLst>
              </a:custGeom>
              <a:noFill/>
              <a:ln w="12192" cap="rnd">
                <a:solidFill>
                  <a:srgbClr val="0C1927"/>
                </a:solidFill>
                <a:round/>
              </a:ln>
            </p:spPr>
          </p:sp>
          <p:sp>
            <p:nvSpPr>
              <p:cNvPr id="117" name="Step title"/>
              <p:cNvSpPr txBox="1"/>
              <p:nvPr/>
            </p:nvSpPr>
            <p:spPr>
              <a:xfrm>
                <a:off x="3739896" y="2788920"/>
                <a:ext cx="117957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Text fields on graph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118" name="Step description"/>
              <p:cNvSpPr txBox="1"/>
              <p:nvPr/>
            </p:nvSpPr>
            <p:spPr>
              <a:xfrm>
                <a:off x="3538728" y="2962656"/>
                <a:ext cx="138074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32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Operator selects </a:t>
                </a:r>
                <a:r>
                  <a:rPr lang="en-US" sz="62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and edits</a:t>
                </a: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 the printed values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119" name="Chip Pipe No"/>
              <p:cNvGrpSpPr/>
              <p:nvPr/>
            </p:nvGrpSpPr>
            <p:grpSpPr>
              <a:xfrm>
                <a:off x="3538728" y="3191256"/>
                <a:ext cx="361178" cy="146304"/>
                <a:chOff x="3538728" y="3191256"/>
                <a:chExt cx="361178" cy="146304"/>
              </a:xfrm>
            </p:grpSpPr>
            <p:sp>
              <p:nvSpPr>
                <p:cNvPr id="120" name="Chip fill"/>
                <p:cNvSpPr/>
                <p:nvPr/>
              </p:nvSpPr>
              <p:spPr>
                <a:xfrm>
                  <a:off x="3538728" y="3191256"/>
                  <a:ext cx="361178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0C1927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21" name="Chip label"/>
                <p:cNvSpPr txBox="1"/>
                <p:nvPr/>
              </p:nvSpPr>
              <p:spPr>
                <a:xfrm>
                  <a:off x="3584448" y="3191256"/>
                  <a:ext cx="288026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70"/>
                    </a:lnSpc>
                    <a:spcBef>
                      <a:spcPts val="0"/>
                    </a:spcBef>
                    <a:buNone/>
                  </a:pPr>
                  <a:r>
                    <a:rPr lang="en-US" sz="570" b="0" i="0" spc="0" dirty="0">
                      <a:solidFill>
                        <a:srgbClr val="0C192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Pipe No</a:t>
                  </a:r>
                  <a:endParaRPr lang="en-US" sz="570" dirty="0">
                    <a:latin typeface="Inter Medium"/>
                  </a:endParaRPr>
                </a:p>
              </p:txBody>
            </p:sp>
          </p:grpSp>
          <p:grpSp>
            <p:nvGrpSpPr>
              <p:cNvPr id="122" name="Chip Date / Time"/>
              <p:cNvGrpSpPr/>
              <p:nvPr/>
            </p:nvGrpSpPr>
            <p:grpSpPr>
              <a:xfrm>
                <a:off x="3936482" y="3191256"/>
                <a:ext cx="488923" cy="146304"/>
                <a:chOff x="3936482" y="3191256"/>
                <a:chExt cx="488923" cy="146304"/>
              </a:xfrm>
            </p:grpSpPr>
            <p:sp>
              <p:nvSpPr>
                <p:cNvPr id="123" name="Chip fill"/>
                <p:cNvSpPr/>
                <p:nvPr/>
              </p:nvSpPr>
              <p:spPr>
                <a:xfrm>
                  <a:off x="3936482" y="3191256"/>
                  <a:ext cx="488923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0C1927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24" name="Chip label"/>
                <p:cNvSpPr txBox="1"/>
                <p:nvPr/>
              </p:nvSpPr>
              <p:spPr>
                <a:xfrm>
                  <a:off x="3982202" y="3191256"/>
                  <a:ext cx="415771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70"/>
                    </a:lnSpc>
                    <a:spcBef>
                      <a:spcPts val="0"/>
                    </a:spcBef>
                    <a:buNone/>
                  </a:pPr>
                  <a:r>
                    <a:rPr lang="en-US" sz="570" b="0" i="0" spc="0" dirty="0">
                      <a:solidFill>
                        <a:srgbClr val="0C192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Date / Time</a:t>
                  </a:r>
                  <a:endParaRPr lang="en-US" sz="570" dirty="0">
                    <a:latin typeface="Inter Medium"/>
                  </a:endParaRPr>
                </a:p>
              </p:txBody>
            </p:sp>
          </p:grpSp>
          <p:grpSp>
            <p:nvGrpSpPr>
              <p:cNvPr id="125" name="Chip Pressure"/>
              <p:cNvGrpSpPr/>
              <p:nvPr/>
            </p:nvGrpSpPr>
            <p:grpSpPr>
              <a:xfrm>
                <a:off x="4461981" y="3191256"/>
                <a:ext cx="397689" cy="146304"/>
                <a:chOff x="4461981" y="3191256"/>
                <a:chExt cx="397689" cy="146304"/>
              </a:xfrm>
            </p:grpSpPr>
            <p:sp>
              <p:nvSpPr>
                <p:cNvPr id="126" name="Chip fill"/>
                <p:cNvSpPr/>
                <p:nvPr/>
              </p:nvSpPr>
              <p:spPr>
                <a:xfrm>
                  <a:off x="4461981" y="3191256"/>
                  <a:ext cx="397689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0C1927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27" name="Chip label"/>
                <p:cNvSpPr txBox="1"/>
                <p:nvPr/>
              </p:nvSpPr>
              <p:spPr>
                <a:xfrm>
                  <a:off x="4507701" y="3191256"/>
                  <a:ext cx="324537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70"/>
                    </a:lnSpc>
                    <a:spcBef>
                      <a:spcPts val="0"/>
                    </a:spcBef>
                    <a:buNone/>
                  </a:pPr>
                  <a:r>
                    <a:rPr lang="en-US" sz="570" b="0" i="0" spc="0" dirty="0">
                      <a:solidFill>
                        <a:srgbClr val="0C192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Pressure</a:t>
                  </a:r>
                  <a:endParaRPr lang="en-US" sz="570" dirty="0">
                    <a:latin typeface="Inter Medium"/>
                  </a:endParaRPr>
                </a:p>
              </p:txBody>
            </p:sp>
          </p:grpSp>
          <p:grpSp>
            <p:nvGrpSpPr>
              <p:cNvPr id="128" name="Chip Holding Time"/>
              <p:cNvGrpSpPr/>
              <p:nvPr/>
            </p:nvGrpSpPr>
            <p:grpSpPr>
              <a:xfrm>
                <a:off x="3538728" y="3364992"/>
                <a:ext cx="550313" cy="146304"/>
                <a:chOff x="3538728" y="3364992"/>
                <a:chExt cx="550313" cy="146304"/>
              </a:xfrm>
            </p:grpSpPr>
            <p:sp>
              <p:nvSpPr>
                <p:cNvPr id="129" name="Chip fill"/>
                <p:cNvSpPr/>
                <p:nvPr/>
              </p:nvSpPr>
              <p:spPr>
                <a:xfrm>
                  <a:off x="3538728" y="3364992"/>
                  <a:ext cx="550313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0C1927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30" name="Chip label"/>
                <p:cNvSpPr txBox="1"/>
                <p:nvPr/>
              </p:nvSpPr>
              <p:spPr>
                <a:xfrm>
                  <a:off x="3584448" y="3364992"/>
                  <a:ext cx="477161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70"/>
                    </a:lnSpc>
                    <a:spcBef>
                      <a:spcPts val="0"/>
                    </a:spcBef>
                    <a:buNone/>
                  </a:pPr>
                  <a:r>
                    <a:rPr lang="en-US" sz="570" b="0" i="0" spc="0" dirty="0">
                      <a:solidFill>
                        <a:srgbClr val="0C192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Holding Time</a:t>
                  </a:r>
                  <a:endParaRPr lang="en-US" sz="570" dirty="0">
                    <a:latin typeface="Inter Medium"/>
                  </a:endParaRPr>
                </a:p>
              </p:txBody>
            </p:sp>
          </p:grpSp>
          <p:grpSp>
            <p:nvGrpSpPr>
              <p:cNvPr id="131" name="Chip Temperature · TBC"/>
              <p:cNvGrpSpPr/>
              <p:nvPr/>
            </p:nvGrpSpPr>
            <p:grpSpPr>
              <a:xfrm>
                <a:off x="4125617" y="3364992"/>
                <a:ext cx="741689" cy="146304"/>
                <a:chOff x="4125617" y="3364992"/>
                <a:chExt cx="741689" cy="146304"/>
              </a:xfrm>
            </p:grpSpPr>
            <p:sp>
              <p:nvSpPr>
                <p:cNvPr id="132" name="Chip fill"/>
                <p:cNvSpPr/>
                <p:nvPr/>
              </p:nvSpPr>
              <p:spPr>
                <a:xfrm>
                  <a:off x="4125617" y="3364992"/>
                  <a:ext cx="741689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33" name="Chip label"/>
                <p:cNvSpPr txBox="1"/>
                <p:nvPr/>
              </p:nvSpPr>
              <p:spPr>
                <a:xfrm>
                  <a:off x="4171337" y="3364992"/>
                  <a:ext cx="668537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70"/>
                    </a:lnSpc>
                    <a:spcBef>
                      <a:spcPts val="0"/>
                    </a:spcBef>
                    <a:buNone/>
                  </a:pPr>
                  <a:r>
                    <a:rPr lang="en-US" sz="570" b="0" i="0" spc="0" dirty="0">
                      <a:solidFill>
                        <a:srgbClr val="C65C10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Temperature · TBC</a:t>
                  </a:r>
                  <a:endParaRPr lang="en-US" sz="570" dirty="0">
                    <a:latin typeface="Inter Medium"/>
                  </a:endParaRPr>
                </a:p>
              </p:txBody>
            </p:sp>
          </p:grpSp>
        </p:grpSp>
        <p:grpSp>
          <p:nvGrpSpPr>
            <p:cNvPr id="134" name="Step · Graph correction"/>
            <p:cNvGrpSpPr/>
            <p:nvPr/>
          </p:nvGrpSpPr>
          <p:grpSpPr>
            <a:xfrm>
              <a:off x="5120640" y="2734056"/>
              <a:ext cx="1499616" cy="813816"/>
              <a:chOff x="5120640" y="2734056"/>
              <a:chExt cx="1499616" cy="813816"/>
            </a:xfrm>
          </p:grpSpPr>
          <p:sp>
            <p:nvSpPr>
              <p:cNvPr id="135" name="Graph correction card"/>
              <p:cNvSpPr/>
              <p:nvPr/>
            </p:nvSpPr>
            <p:spPr>
              <a:xfrm>
                <a:off x="5120640" y="2734056"/>
                <a:ext cx="1499616" cy="813816"/>
              </a:xfrm>
              <a:prstGeom prst="roundRect">
                <a:avLst>
                  <a:gd name="adj" fmla="val 5617"/>
                </a:avLst>
              </a:prstGeom>
              <a:solidFill>
                <a:srgbClr val="FFFFFF"/>
              </a:solidFill>
              <a:ln w="9525">
                <a:solidFill>
                  <a:srgbClr val="CBD5E2"/>
                </a:solidFill>
                <a:round/>
              </a:ln>
            </p:spPr>
          </p:sp>
          <p:sp>
            <p:nvSpPr>
              <p:cNvPr id="136" name="Icon square-pen"/>
              <p:cNvSpPr/>
              <p:nvPr/>
            </p:nvSpPr>
            <p:spPr>
              <a:xfrm>
                <a:off x="5193792" y="2802636"/>
                <a:ext cx="1463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3000"/>
                    </a:moveTo>
                    <a:lnTo>
                      <a:pt x="5000" y="3000"/>
                    </a:lnTo>
                    <a:cubicBezTo>
                      <a:pt x="4648" y="3000"/>
                      <a:pt x="4304" y="3092"/>
                      <a:pt x="4000" y="3267"/>
                    </a:cubicBezTo>
                    <a:cubicBezTo>
                      <a:pt x="3695" y="3443"/>
                      <a:pt x="3443" y="3695"/>
                      <a:pt x="3267" y="3999"/>
                    </a:cubicBezTo>
                    <a:cubicBezTo>
                      <a:pt x="3092" y="4304"/>
                      <a:pt x="3000" y="4648"/>
                      <a:pt x="3000" y="5000"/>
                    </a:cubicBezTo>
                    <a:lnTo>
                      <a:pt x="3000" y="19000"/>
                    </a:lnTo>
                    <a:cubicBezTo>
                      <a:pt x="3000" y="19351"/>
                      <a:pt x="3092" y="19695"/>
                      <a:pt x="3267" y="20000"/>
                    </a:cubicBezTo>
                    <a:cubicBezTo>
                      <a:pt x="3443" y="20304"/>
                      <a:pt x="3695" y="20556"/>
                      <a:pt x="3999" y="20732"/>
                    </a:cubicBezTo>
                    <a:cubicBezTo>
                      <a:pt x="4304" y="20907"/>
                      <a:pt x="4648" y="21000"/>
                      <a:pt x="5000" y="21000"/>
                    </a:cubicBezTo>
                    <a:lnTo>
                      <a:pt x="19000" y="21000"/>
                    </a:lnTo>
                    <a:cubicBezTo>
                      <a:pt x="19351" y="21000"/>
                      <a:pt x="19695" y="20907"/>
                      <a:pt x="20000" y="20732"/>
                    </a:cubicBezTo>
                    <a:cubicBezTo>
                      <a:pt x="20304" y="20556"/>
                      <a:pt x="20556" y="20304"/>
                      <a:pt x="20732" y="20000"/>
                    </a:cubicBezTo>
                    <a:cubicBezTo>
                      <a:pt x="20907" y="19695"/>
                      <a:pt x="21000" y="19351"/>
                      <a:pt x="21000" y="19000"/>
                    </a:cubicBezTo>
                    <a:lnTo>
                      <a:pt x="21000" y="12000"/>
                    </a:lnTo>
                  </a:path>
                  <a:path w="24000" h="24000" fill="none">
                    <a:moveTo>
                      <a:pt x="18375" y="2625"/>
                    </a:moveTo>
                    <a:cubicBezTo>
                      <a:pt x="18638" y="2361"/>
                      <a:pt x="18966" y="2172"/>
                      <a:pt x="19325" y="2075"/>
                    </a:cubicBezTo>
                    <a:cubicBezTo>
                      <a:pt x="19685" y="1979"/>
                      <a:pt x="20064" y="1979"/>
                      <a:pt x="20424" y="2075"/>
                    </a:cubicBezTo>
                    <a:cubicBezTo>
                      <a:pt x="20783" y="2172"/>
                      <a:pt x="21111" y="2361"/>
                      <a:pt x="21374" y="2625"/>
                    </a:cubicBezTo>
                    <a:cubicBezTo>
                      <a:pt x="21638" y="2888"/>
                      <a:pt x="21827" y="3216"/>
                      <a:pt x="21924" y="3575"/>
                    </a:cubicBezTo>
                    <a:cubicBezTo>
                      <a:pt x="22020" y="3935"/>
                      <a:pt x="22020" y="4314"/>
                      <a:pt x="21924" y="4674"/>
                    </a:cubicBezTo>
                    <a:cubicBezTo>
                      <a:pt x="21827" y="5033"/>
                      <a:pt x="21638" y="5361"/>
                      <a:pt x="21375" y="5625"/>
                    </a:cubicBezTo>
                    <a:lnTo>
                      <a:pt x="12362" y="14639"/>
                    </a:lnTo>
                    <a:cubicBezTo>
                      <a:pt x="12124" y="14876"/>
                      <a:pt x="11831" y="15049"/>
                      <a:pt x="11509" y="15144"/>
                    </a:cubicBezTo>
                    <a:lnTo>
                      <a:pt x="8636" y="15984"/>
                    </a:lnTo>
                    <a:cubicBezTo>
                      <a:pt x="8567" y="16004"/>
                      <a:pt x="8495" y="16009"/>
                      <a:pt x="8424" y="15998"/>
                    </a:cubicBezTo>
                    <a:cubicBezTo>
                      <a:pt x="8353" y="15988"/>
                      <a:pt x="8285" y="15963"/>
                      <a:pt x="8225" y="15924"/>
                    </a:cubicBezTo>
                    <a:cubicBezTo>
                      <a:pt x="8165" y="15885"/>
                      <a:pt x="8114" y="15834"/>
                      <a:pt x="8075" y="15774"/>
                    </a:cubicBezTo>
                    <a:cubicBezTo>
                      <a:pt x="8036" y="15714"/>
                      <a:pt x="8011" y="15646"/>
                      <a:pt x="8001" y="15575"/>
                    </a:cubicBezTo>
                    <a:cubicBezTo>
                      <a:pt x="7990" y="15504"/>
                      <a:pt x="7995" y="15432"/>
                      <a:pt x="8016" y="15364"/>
                    </a:cubicBezTo>
                    <a:lnTo>
                      <a:pt x="8856" y="12491"/>
                    </a:lnTo>
                    <a:cubicBezTo>
                      <a:pt x="8950" y="12169"/>
                      <a:pt x="9124" y="11876"/>
                      <a:pt x="9362" y="11639"/>
                    </a:cubicBezTo>
                    <a:close/>
                  </a:path>
                </a:pathLst>
              </a:custGeom>
              <a:noFill/>
              <a:ln w="12192" cap="rnd">
                <a:solidFill>
                  <a:srgbClr val="0C1927"/>
                </a:solidFill>
                <a:round/>
              </a:ln>
            </p:spPr>
          </p:sp>
          <p:sp>
            <p:nvSpPr>
              <p:cNvPr id="137" name="Step title"/>
              <p:cNvSpPr txBox="1"/>
              <p:nvPr/>
            </p:nvSpPr>
            <p:spPr>
              <a:xfrm>
                <a:off x="5394960" y="2788920"/>
                <a:ext cx="117043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3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Graph correction</a:t>
                </a:r>
                <a:endParaRPr lang="en-US" sz="730" dirty="0">
                  <a:latin typeface="Inter SemiBold"/>
                </a:endParaRPr>
              </a:p>
            </p:txBody>
          </p:sp>
          <p:sp>
            <p:nvSpPr>
              <p:cNvPr id="138" name="Step description"/>
              <p:cNvSpPr txBox="1"/>
              <p:nvPr/>
            </p:nvSpPr>
            <p:spPr>
              <a:xfrm>
                <a:off x="5193792" y="2962656"/>
                <a:ext cx="1371600" cy="557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32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Operator corrects </a:t>
                </a:r>
                <a:r>
                  <a:rPr lang="en-US" sz="62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pressure</a:t>
                </a: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 / </a:t>
                </a:r>
                <a:r>
                  <a:rPr lang="en-US" sz="62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holding time</a:t>
                </a:r>
                <a:endParaRPr lang="en-US" sz="620" dirty="0">
                  <a:latin typeface="Inter"/>
                </a:endParaRPr>
              </a:p>
              <a:p>
                <a:pPr algn="l">
                  <a:lnSpc>
                    <a:spcPts val="732"/>
                  </a:lnSpc>
                  <a:spcBef>
                    <a:spcPts val="20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Standard graph</a:t>
                </a: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 redrawn from those values</a:t>
                </a:r>
                <a:endParaRPr lang="en-US" sz="620" dirty="0">
                  <a:latin typeface="Inter"/>
                </a:endParaRPr>
              </a:p>
              <a:p>
                <a:pPr algn="l">
                  <a:lnSpc>
                    <a:spcPts val="732"/>
                  </a:lnSpc>
                  <a:spcBef>
                    <a:spcPts val="20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Actual graph</a:t>
                </a: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 kept as captured</a:t>
                </a:r>
                <a:endParaRPr lang="en-US" sz="620" dirty="0">
                  <a:latin typeface="Inter"/>
                </a:endParaRPr>
              </a:p>
            </p:txBody>
          </p:sp>
        </p:grpSp>
        <p:grpSp>
          <p:nvGrpSpPr>
            <p:cNvPr id="139" name="Operator review"/>
            <p:cNvGrpSpPr/>
            <p:nvPr/>
          </p:nvGrpSpPr>
          <p:grpSpPr>
            <a:xfrm>
              <a:off x="384048" y="3611880"/>
              <a:ext cx="6236208" cy="237744"/>
              <a:chOff x="384048" y="3611880"/>
              <a:chExt cx="6236208" cy="237744"/>
            </a:xfrm>
          </p:grpSpPr>
          <p:sp>
            <p:nvSpPr>
              <p:cNvPr id="140" name="Review strip"/>
              <p:cNvSpPr/>
              <p:nvPr/>
            </p:nvSpPr>
            <p:spPr>
              <a:xfrm>
                <a:off x="384048" y="3611880"/>
                <a:ext cx="6236208" cy="237744"/>
              </a:xfrm>
              <a:prstGeom prst="roundRect">
                <a:avLst>
                  <a:gd name="adj" fmla="val 1923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141" name="Icon user-check"/>
              <p:cNvSpPr/>
              <p:nvPr/>
            </p:nvSpPr>
            <p:spPr>
              <a:xfrm>
                <a:off x="475488" y="3662172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1000"/>
                    </a:moveTo>
                    <a:lnTo>
                      <a:pt x="18000" y="13000"/>
                    </a:lnTo>
                    <a:lnTo>
                      <a:pt x="22000" y="9000"/>
                    </a:lnTo>
                  </a:path>
                  <a:path w="24000" h="24000" fill="none">
                    <a:moveTo>
                      <a:pt x="16000" y="21000"/>
                    </a:moveTo>
                    <a:lnTo>
                      <a:pt x="16000" y="19000"/>
                    </a:lnTo>
                    <a:cubicBezTo>
                      <a:pt x="16000" y="18297"/>
                      <a:pt x="15815" y="17608"/>
                      <a:pt x="15464" y="17000"/>
                    </a:cubicBezTo>
                    <a:cubicBezTo>
                      <a:pt x="15113" y="16391"/>
                      <a:pt x="14608" y="15886"/>
                      <a:pt x="14000" y="15535"/>
                    </a:cubicBezTo>
                    <a:cubicBezTo>
                      <a:pt x="13391" y="15184"/>
                      <a:pt x="12702" y="15000"/>
                      <a:pt x="12000" y="15000"/>
                    </a:cubicBezTo>
                    <a:lnTo>
                      <a:pt x="6000" y="15000"/>
                    </a:lnTo>
                    <a:cubicBezTo>
                      <a:pt x="5297" y="15000"/>
                      <a:pt x="4608" y="15184"/>
                      <a:pt x="4000" y="15535"/>
                    </a:cubicBezTo>
                    <a:cubicBezTo>
                      <a:pt x="3391" y="15886"/>
                      <a:pt x="2886" y="16391"/>
                      <a:pt x="2535" y="17000"/>
                    </a:cubicBezTo>
                    <a:cubicBezTo>
                      <a:pt x="2184" y="17608"/>
                      <a:pt x="2000" y="18297"/>
                      <a:pt x="2000" y="19000"/>
                    </a:cubicBezTo>
                    <a:lnTo>
                      <a:pt x="2000" y="21000"/>
                    </a:lnTo>
                  </a:path>
                  <a:path w="24000" h="24000" fill="none">
                    <a:moveTo>
                      <a:pt x="13000" y="7000"/>
                    </a:moveTo>
                    <a:cubicBezTo>
                      <a:pt x="13000" y="7702"/>
                      <a:pt x="12815" y="8391"/>
                      <a:pt x="12464" y="9000"/>
                    </a:cubicBezTo>
                    <a:cubicBezTo>
                      <a:pt x="12113" y="9608"/>
                      <a:pt x="11608" y="10113"/>
                      <a:pt x="11000" y="10464"/>
                    </a:cubicBezTo>
                    <a:cubicBezTo>
                      <a:pt x="10391" y="10815"/>
                      <a:pt x="9702" y="11000"/>
                      <a:pt x="9000" y="11000"/>
                    </a:cubicBezTo>
                    <a:cubicBezTo>
                      <a:pt x="8297" y="11000"/>
                      <a:pt x="7608" y="10815"/>
                      <a:pt x="7000" y="10464"/>
                    </a:cubicBezTo>
                    <a:cubicBezTo>
                      <a:pt x="6391" y="10113"/>
                      <a:pt x="5886" y="9608"/>
                      <a:pt x="5535" y="9000"/>
                    </a:cubicBezTo>
                    <a:cubicBezTo>
                      <a:pt x="5184" y="8391"/>
                      <a:pt x="5000" y="7702"/>
                      <a:pt x="5000" y="7000"/>
                    </a:cubicBezTo>
                    <a:cubicBezTo>
                      <a:pt x="5000" y="6297"/>
                      <a:pt x="5184" y="5608"/>
                      <a:pt x="5535" y="5000"/>
                    </a:cubicBezTo>
                    <a:cubicBezTo>
                      <a:pt x="5886" y="4391"/>
                      <a:pt x="6391" y="3886"/>
                      <a:pt x="6999" y="3535"/>
                    </a:cubicBezTo>
                    <a:cubicBezTo>
                      <a:pt x="7608" y="3184"/>
                      <a:pt x="8297" y="3000"/>
                      <a:pt x="9000" y="3000"/>
                    </a:cubicBezTo>
                    <a:cubicBezTo>
                      <a:pt x="9702" y="3000"/>
                      <a:pt x="10391" y="3184"/>
                      <a:pt x="11000" y="3535"/>
                    </a:cubicBezTo>
                    <a:cubicBezTo>
                      <a:pt x="11608" y="3886"/>
                      <a:pt x="12113" y="4391"/>
                      <a:pt x="12464" y="5000"/>
                    </a:cubicBezTo>
                    <a:cubicBezTo>
                      <a:pt x="12815" y="5608"/>
                      <a:pt x="13000" y="6297"/>
                      <a:pt x="13000" y="6999"/>
                    </a:cubicBezTo>
                    <a:close/>
                  </a:path>
                </a:pathLst>
              </a:custGeom>
              <a:noFill/>
              <a:ln w="11429" cap="rnd">
                <a:solidFill>
                  <a:srgbClr val="FFFFFF"/>
                </a:solidFill>
                <a:round/>
              </a:ln>
            </p:spPr>
          </p:sp>
          <p:sp>
            <p:nvSpPr>
              <p:cNvPr id="142" name="Review title"/>
              <p:cNvSpPr txBox="1"/>
              <p:nvPr/>
            </p:nvSpPr>
            <p:spPr>
              <a:xfrm>
                <a:off x="676656" y="3611880"/>
                <a:ext cx="109728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720"/>
                  </a:lnSpc>
                  <a:spcBef>
                    <a:spcPts val="0"/>
                  </a:spcBef>
                  <a:buNone/>
                </a:pPr>
                <a:r>
                  <a:rPr lang="en-US" sz="7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Operator review</a:t>
                </a:r>
                <a:endParaRPr lang="en-US" sz="720" dirty="0">
                  <a:latin typeface="Inter SemiBold"/>
                </a:endParaRPr>
              </a:p>
            </p:txBody>
          </p:sp>
          <p:sp>
            <p:nvSpPr>
              <p:cNvPr id="143" name="Icon eye"/>
              <p:cNvSpPr/>
              <p:nvPr/>
            </p:nvSpPr>
            <p:spPr>
              <a:xfrm>
                <a:off x="1755648" y="3671316"/>
                <a:ext cx="118872" cy="118872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62" y="12348"/>
                    </a:moveTo>
                    <a:cubicBezTo>
                      <a:pt x="2020" y="12236"/>
                      <a:pt x="1999" y="12118"/>
                      <a:pt x="1999" y="12000"/>
                    </a:cubicBezTo>
                    <a:cubicBezTo>
                      <a:pt x="1999" y="11881"/>
                      <a:pt x="2020" y="11763"/>
                      <a:pt x="2062" y="11652"/>
                    </a:cubicBezTo>
                    <a:cubicBezTo>
                      <a:pt x="2709" y="10081"/>
                      <a:pt x="3720" y="8687"/>
                      <a:pt x="5010" y="7582"/>
                    </a:cubicBezTo>
                    <a:cubicBezTo>
                      <a:pt x="6301" y="6478"/>
                      <a:pt x="7835" y="5695"/>
                      <a:pt x="9487" y="5298"/>
                    </a:cubicBezTo>
                    <a:cubicBezTo>
                      <a:pt x="11138" y="4901"/>
                      <a:pt x="12861" y="4901"/>
                      <a:pt x="14512" y="5298"/>
                    </a:cubicBezTo>
                    <a:cubicBezTo>
                      <a:pt x="16164" y="5695"/>
                      <a:pt x="17698" y="6478"/>
                      <a:pt x="18989" y="7582"/>
                    </a:cubicBezTo>
                    <a:cubicBezTo>
                      <a:pt x="20279" y="8687"/>
                      <a:pt x="21290" y="10081"/>
                      <a:pt x="21938" y="11652"/>
                    </a:cubicBezTo>
                    <a:cubicBezTo>
                      <a:pt x="21979" y="11763"/>
                      <a:pt x="22000" y="11881"/>
                      <a:pt x="22000" y="12000"/>
                    </a:cubicBezTo>
                    <a:cubicBezTo>
                      <a:pt x="22000" y="12118"/>
                      <a:pt x="21979" y="12236"/>
                      <a:pt x="21938" y="12348"/>
                    </a:cubicBezTo>
                    <a:cubicBezTo>
                      <a:pt x="21290" y="13918"/>
                      <a:pt x="20279" y="15312"/>
                      <a:pt x="18989" y="16417"/>
                    </a:cubicBezTo>
                    <a:cubicBezTo>
                      <a:pt x="17698" y="17521"/>
                      <a:pt x="16164" y="18304"/>
                      <a:pt x="14512" y="18701"/>
                    </a:cubicBezTo>
                    <a:cubicBezTo>
                      <a:pt x="12861" y="19098"/>
                      <a:pt x="11138" y="19098"/>
                      <a:pt x="9487" y="18701"/>
                    </a:cubicBezTo>
                    <a:cubicBezTo>
                      <a:pt x="7835" y="18304"/>
                      <a:pt x="6301" y="17521"/>
                      <a:pt x="5010" y="16417"/>
                    </a:cubicBezTo>
                    <a:cubicBezTo>
                      <a:pt x="3720" y="15312"/>
                      <a:pt x="2709" y="13918"/>
                      <a:pt x="2062" y="12348"/>
                    </a:cubicBezTo>
                  </a:path>
                  <a:path w="24000" h="24000" fill="none">
                    <a:moveTo>
                      <a:pt x="15000" y="12000"/>
                    </a:moveTo>
                    <a:cubicBezTo>
                      <a:pt x="15000" y="12526"/>
                      <a:pt x="14861" y="13043"/>
                      <a:pt x="14598" y="13500"/>
                    </a:cubicBezTo>
                    <a:cubicBezTo>
                      <a:pt x="14334" y="13956"/>
                      <a:pt x="13956" y="14334"/>
                      <a:pt x="13500" y="14598"/>
                    </a:cubicBezTo>
                    <a:cubicBezTo>
                      <a:pt x="13043" y="14861"/>
                      <a:pt x="12526" y="15000"/>
                      <a:pt x="12000" y="15000"/>
                    </a:cubicBezTo>
                    <a:cubicBezTo>
                      <a:pt x="11473" y="15000"/>
                      <a:pt x="10956" y="14861"/>
                      <a:pt x="10500" y="14598"/>
                    </a:cubicBezTo>
                    <a:cubicBezTo>
                      <a:pt x="10043" y="14334"/>
                      <a:pt x="9665" y="13956"/>
                      <a:pt x="9401" y="13500"/>
                    </a:cubicBezTo>
                    <a:cubicBezTo>
                      <a:pt x="9138" y="13043"/>
                      <a:pt x="9000" y="12526"/>
                      <a:pt x="9000" y="12000"/>
                    </a:cubicBezTo>
                    <a:cubicBezTo>
                      <a:pt x="9000" y="11473"/>
                      <a:pt x="9138" y="10956"/>
                      <a:pt x="9401" y="10500"/>
                    </a:cubicBezTo>
                    <a:cubicBezTo>
                      <a:pt x="9665" y="10043"/>
                      <a:pt x="10043" y="9665"/>
                      <a:pt x="10499" y="9401"/>
                    </a:cubicBezTo>
                    <a:cubicBezTo>
                      <a:pt x="10956" y="9138"/>
                      <a:pt x="11473" y="9000"/>
                      <a:pt x="12000" y="9000"/>
                    </a:cubicBezTo>
                    <a:cubicBezTo>
                      <a:pt x="12526" y="9000"/>
                      <a:pt x="13043" y="9138"/>
                      <a:pt x="13500" y="9401"/>
                    </a:cubicBezTo>
                    <a:cubicBezTo>
                      <a:pt x="13956" y="9665"/>
                      <a:pt x="14334" y="10043"/>
                      <a:pt x="14598" y="10500"/>
                    </a:cubicBezTo>
                    <a:cubicBezTo>
                      <a:pt x="14861" y="10956"/>
                      <a:pt x="15000" y="11473"/>
                      <a:pt x="15000" y="12000"/>
                    </a:cubicBezTo>
                    <a:close/>
                  </a:path>
                </a:pathLst>
              </a:custGeom>
              <a:noFill/>
              <a:ln w="10896" cap="rnd">
                <a:solidFill>
                  <a:srgbClr val="B1C1D2"/>
                </a:solidFill>
                <a:round/>
              </a:ln>
            </p:spPr>
          </p:sp>
          <p:sp>
            <p:nvSpPr>
              <p:cNvPr id="144" name="Preview all fields and both graphs"/>
              <p:cNvSpPr txBox="1"/>
              <p:nvPr/>
            </p:nvSpPr>
            <p:spPr>
              <a:xfrm>
                <a:off x="1920240" y="3611880"/>
                <a:ext cx="1403557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7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Preview all fields and both graphs</a:t>
                </a:r>
                <a:endParaRPr lang="en-US" sz="670" dirty="0">
                  <a:latin typeface="Inter"/>
                </a:endParaRPr>
              </a:p>
            </p:txBody>
          </p:sp>
          <p:sp>
            <p:nvSpPr>
              <p:cNvPr id="145" name="Icon chevron-right"/>
              <p:cNvSpPr/>
              <p:nvPr/>
            </p:nvSpPr>
            <p:spPr>
              <a:xfrm>
                <a:off x="3300937" y="3680460"/>
                <a:ext cx="1005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8000"/>
                    </a:moveTo>
                    <a:lnTo>
                      <a:pt x="15000" y="12000"/>
                    </a:lnTo>
                    <a:lnTo>
                      <a:pt x="9000" y="6000"/>
                    </a:lnTo>
                  </a:path>
                </a:pathLst>
              </a:custGeom>
              <a:noFill/>
              <a:ln w="10896" cap="rnd">
                <a:solidFill>
                  <a:srgbClr val="90A5BB"/>
                </a:solidFill>
                <a:round/>
              </a:ln>
            </p:spPr>
          </p:sp>
          <p:sp>
            <p:nvSpPr>
              <p:cNvPr id="146" name="Icon pen-line"/>
              <p:cNvSpPr/>
              <p:nvPr/>
            </p:nvSpPr>
            <p:spPr>
              <a:xfrm>
                <a:off x="3424381" y="3671316"/>
                <a:ext cx="118872" cy="118872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3000" y="21000"/>
                    </a:moveTo>
                    <a:lnTo>
                      <a:pt x="21000" y="21000"/>
                    </a:lnTo>
                  </a:path>
                  <a:path w="24000" h="24000" fill="none">
                    <a:moveTo>
                      <a:pt x="21174" y="6812"/>
                    </a:moveTo>
                    <a:cubicBezTo>
                      <a:pt x="21523" y="6462"/>
                      <a:pt x="21775" y="6026"/>
                      <a:pt x="21903" y="5548"/>
                    </a:cubicBezTo>
                    <a:cubicBezTo>
                      <a:pt x="22031" y="5070"/>
                      <a:pt x="22031" y="4567"/>
                      <a:pt x="21903" y="4089"/>
                    </a:cubicBezTo>
                    <a:cubicBezTo>
                      <a:pt x="21775" y="3611"/>
                      <a:pt x="21524" y="3175"/>
                      <a:pt x="21174" y="2825"/>
                    </a:cubicBezTo>
                    <a:cubicBezTo>
                      <a:pt x="20824" y="2475"/>
                      <a:pt x="20388" y="2223"/>
                      <a:pt x="19910" y="2095"/>
                    </a:cubicBezTo>
                    <a:cubicBezTo>
                      <a:pt x="19433" y="1967"/>
                      <a:pt x="18929" y="1967"/>
                      <a:pt x="18451" y="2095"/>
                    </a:cubicBezTo>
                    <a:cubicBezTo>
                      <a:pt x="17973" y="2223"/>
                      <a:pt x="17537" y="2475"/>
                      <a:pt x="17188" y="2825"/>
                    </a:cubicBezTo>
                    <a:lnTo>
                      <a:pt x="3842" y="16174"/>
                    </a:lnTo>
                    <a:cubicBezTo>
                      <a:pt x="3609" y="16405"/>
                      <a:pt x="3438" y="16690"/>
                      <a:pt x="3342" y="17003"/>
                    </a:cubicBezTo>
                    <a:lnTo>
                      <a:pt x="2021" y="21355"/>
                    </a:lnTo>
                    <a:cubicBezTo>
                      <a:pt x="2000" y="21425"/>
                      <a:pt x="1994" y="21497"/>
                      <a:pt x="2004" y="21569"/>
                    </a:cubicBezTo>
                    <a:cubicBezTo>
                      <a:pt x="2015" y="21640"/>
                      <a:pt x="2040" y="21708"/>
                      <a:pt x="2079" y="21769"/>
                    </a:cubicBezTo>
                    <a:cubicBezTo>
                      <a:pt x="2118" y="21829"/>
                      <a:pt x="2169" y="21881"/>
                      <a:pt x="2230" y="21920"/>
                    </a:cubicBezTo>
                    <a:cubicBezTo>
                      <a:pt x="2291" y="21959"/>
                      <a:pt x="2359" y="21984"/>
                      <a:pt x="2430" y="21994"/>
                    </a:cubicBezTo>
                    <a:cubicBezTo>
                      <a:pt x="2502" y="22004"/>
                      <a:pt x="2575" y="21998"/>
                      <a:pt x="2644" y="21977"/>
                    </a:cubicBezTo>
                    <a:lnTo>
                      <a:pt x="6997" y="20657"/>
                    </a:lnTo>
                    <a:cubicBezTo>
                      <a:pt x="7310" y="20562"/>
                      <a:pt x="7595" y="20392"/>
                      <a:pt x="7827" y="20160"/>
                    </a:cubicBezTo>
                    <a:close/>
                  </a:path>
                </a:pathLst>
              </a:custGeom>
              <a:noFill/>
              <a:ln w="10896" cap="rnd">
                <a:solidFill>
                  <a:srgbClr val="B1C1D2"/>
                </a:solidFill>
                <a:round/>
              </a:ln>
            </p:spPr>
          </p:sp>
          <p:sp>
            <p:nvSpPr>
              <p:cNvPr id="147" name="Add remarks"/>
              <p:cNvSpPr txBox="1"/>
              <p:nvPr/>
            </p:nvSpPr>
            <p:spPr>
              <a:xfrm>
                <a:off x="3588973" y="3611880"/>
                <a:ext cx="560102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7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Add remarks</a:t>
                </a:r>
                <a:endParaRPr lang="en-US" sz="670" dirty="0">
                  <a:latin typeface="Inter"/>
                </a:endParaRPr>
              </a:p>
            </p:txBody>
          </p:sp>
          <p:sp>
            <p:nvSpPr>
              <p:cNvPr id="148" name="Icon chevron-right"/>
              <p:cNvSpPr/>
              <p:nvPr/>
            </p:nvSpPr>
            <p:spPr>
              <a:xfrm>
                <a:off x="4126215" y="3680460"/>
                <a:ext cx="1005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8000"/>
                    </a:moveTo>
                    <a:lnTo>
                      <a:pt x="15000" y="12000"/>
                    </a:lnTo>
                    <a:lnTo>
                      <a:pt x="9000" y="6000"/>
                    </a:lnTo>
                  </a:path>
                </a:pathLst>
              </a:custGeom>
              <a:noFill/>
              <a:ln w="10896" cap="rnd">
                <a:solidFill>
                  <a:srgbClr val="90A5BB"/>
                </a:solidFill>
                <a:round/>
              </a:ln>
            </p:spPr>
          </p:sp>
          <p:sp>
            <p:nvSpPr>
              <p:cNvPr id="149" name="Icon hash"/>
              <p:cNvSpPr/>
              <p:nvPr/>
            </p:nvSpPr>
            <p:spPr>
              <a:xfrm>
                <a:off x="4249659" y="3671316"/>
                <a:ext cx="118872" cy="118872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4000" y="9000"/>
                    </a:moveTo>
                    <a:lnTo>
                      <a:pt x="20000" y="9000"/>
                    </a:lnTo>
                  </a:path>
                  <a:path w="24000" h="24000" fill="none">
                    <a:moveTo>
                      <a:pt x="4000" y="15000"/>
                    </a:moveTo>
                    <a:lnTo>
                      <a:pt x="20000" y="15000"/>
                    </a:lnTo>
                  </a:path>
                  <a:path w="24000" h="24000" fill="none">
                    <a:moveTo>
                      <a:pt x="10000" y="3000"/>
                    </a:moveTo>
                    <a:lnTo>
                      <a:pt x="8000" y="21000"/>
                    </a:lnTo>
                  </a:path>
                  <a:path w="24000" h="24000" fill="none">
                    <a:moveTo>
                      <a:pt x="16000" y="3000"/>
                    </a:moveTo>
                    <a:lnTo>
                      <a:pt x="14000" y="21000"/>
                    </a:lnTo>
                  </a:path>
                </a:pathLst>
              </a:custGeom>
              <a:noFill/>
              <a:ln w="10896" cap="rnd">
                <a:solidFill>
                  <a:srgbClr val="B1C1D2"/>
                </a:solidFill>
                <a:round/>
              </a:ln>
            </p:spPr>
          </p:sp>
          <p:sp>
            <p:nvSpPr>
              <p:cNvPr id="150" name="Enter checksum"/>
              <p:cNvSpPr txBox="1"/>
              <p:nvPr/>
            </p:nvSpPr>
            <p:spPr>
              <a:xfrm>
                <a:off x="4414251" y="3611880"/>
                <a:ext cx="693355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7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Enter checksum</a:t>
                </a:r>
                <a:endParaRPr lang="en-US" sz="670" dirty="0">
                  <a:latin typeface="Inter"/>
                </a:endParaRPr>
              </a:p>
            </p:txBody>
          </p:sp>
          <p:sp>
            <p:nvSpPr>
              <p:cNvPr id="151" name="Icon chevron-right"/>
              <p:cNvSpPr/>
              <p:nvPr/>
            </p:nvSpPr>
            <p:spPr>
              <a:xfrm>
                <a:off x="5084746" y="3680460"/>
                <a:ext cx="100584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8000"/>
                    </a:moveTo>
                    <a:lnTo>
                      <a:pt x="15000" y="12000"/>
                    </a:lnTo>
                    <a:lnTo>
                      <a:pt x="9000" y="6000"/>
                    </a:lnTo>
                  </a:path>
                </a:pathLst>
              </a:custGeom>
              <a:noFill/>
              <a:ln w="10896" cap="rnd">
                <a:solidFill>
                  <a:srgbClr val="90A5BB"/>
                </a:solidFill>
                <a:round/>
              </a:ln>
            </p:spPr>
          </p:sp>
          <p:sp>
            <p:nvSpPr>
              <p:cNvPr id="152" name="Icon cloud-upload"/>
              <p:cNvSpPr/>
              <p:nvPr/>
            </p:nvSpPr>
            <p:spPr>
              <a:xfrm>
                <a:off x="5208190" y="3671316"/>
                <a:ext cx="118872" cy="118872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13000"/>
                    </a:moveTo>
                    <a:lnTo>
                      <a:pt x="12000" y="21000"/>
                    </a:lnTo>
                  </a:path>
                  <a:path w="24000" h="24000" fill="none">
                    <a:moveTo>
                      <a:pt x="4000" y="14899"/>
                    </a:moveTo>
                    <a:cubicBezTo>
                      <a:pt x="3149" y="14030"/>
                      <a:pt x="2540" y="12955"/>
                      <a:pt x="2231" y="11779"/>
                    </a:cubicBezTo>
                    <a:cubicBezTo>
                      <a:pt x="1923" y="10603"/>
                      <a:pt x="1926" y="9368"/>
                      <a:pt x="2240" y="8193"/>
                    </a:cubicBezTo>
                    <a:cubicBezTo>
                      <a:pt x="2554" y="7019"/>
                      <a:pt x="3168" y="5947"/>
                      <a:pt x="4023" y="5082"/>
                    </a:cubicBezTo>
                    <a:cubicBezTo>
                      <a:pt x="4877" y="4218"/>
                      <a:pt x="5942" y="3590"/>
                      <a:pt x="7112" y="3262"/>
                    </a:cubicBezTo>
                    <a:cubicBezTo>
                      <a:pt x="8282" y="2934"/>
                      <a:pt x="9518" y="2916"/>
                      <a:pt x="10697" y="3211"/>
                    </a:cubicBezTo>
                    <a:cubicBezTo>
                      <a:pt x="11877" y="3505"/>
                      <a:pt x="12959" y="4101"/>
                      <a:pt x="13838" y="4941"/>
                    </a:cubicBezTo>
                    <a:cubicBezTo>
                      <a:pt x="14717" y="5781"/>
                      <a:pt x="15362" y="6835"/>
                      <a:pt x="15710" y="8000"/>
                    </a:cubicBezTo>
                    <a:lnTo>
                      <a:pt x="17500" y="8000"/>
                    </a:lnTo>
                    <a:cubicBezTo>
                      <a:pt x="18269" y="7999"/>
                      <a:pt x="19027" y="8197"/>
                      <a:pt x="19699" y="8573"/>
                    </a:cubicBezTo>
                    <a:cubicBezTo>
                      <a:pt x="20370" y="8949"/>
                      <a:pt x="20935" y="9492"/>
                      <a:pt x="21337" y="10148"/>
                    </a:cubicBezTo>
                    <a:cubicBezTo>
                      <a:pt x="21739" y="10805"/>
                      <a:pt x="21966" y="11554"/>
                      <a:pt x="21997" y="12323"/>
                    </a:cubicBezTo>
                    <a:cubicBezTo>
                      <a:pt x="22027" y="13092"/>
                      <a:pt x="21859" y="13857"/>
                      <a:pt x="21509" y="14543"/>
                    </a:cubicBezTo>
                    <a:cubicBezTo>
                      <a:pt x="21160" y="15229"/>
                      <a:pt x="20640" y="15814"/>
                      <a:pt x="20000" y="16242"/>
                    </a:cubicBezTo>
                  </a:path>
                  <a:path w="24000" h="24000" fill="none">
                    <a:moveTo>
                      <a:pt x="8000" y="17000"/>
                    </a:moveTo>
                    <a:lnTo>
                      <a:pt x="12000" y="13000"/>
                    </a:lnTo>
                    <a:lnTo>
                      <a:pt x="16000" y="17000"/>
                    </a:lnTo>
                  </a:path>
                </a:pathLst>
              </a:custGeom>
              <a:noFill/>
              <a:ln w="10896" cap="rnd">
                <a:solidFill>
                  <a:srgbClr val="B1C1D2"/>
                </a:solidFill>
                <a:round/>
              </a:ln>
            </p:spPr>
          </p:sp>
          <p:sp>
            <p:nvSpPr>
              <p:cNvPr id="153" name="Press Upload"/>
              <p:cNvSpPr txBox="1"/>
              <p:nvPr/>
            </p:nvSpPr>
            <p:spPr>
              <a:xfrm>
                <a:off x="5372782" y="3611880"/>
                <a:ext cx="581827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l">
                  <a:lnSpc>
                    <a:spcPts val="67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Press Upload</a:t>
                </a:r>
                <a:endParaRPr lang="en-US" sz="670" dirty="0">
                  <a:latin typeface="Inter"/>
                </a:endParaRPr>
              </a:p>
            </p:txBody>
          </p:sp>
        </p:grpSp>
      </p:grpSp>
      <p:grpSp>
        <p:nvGrpSpPr>
          <p:cNvPr id="154" name="SAP entry"/>
          <p:cNvGrpSpPr/>
          <p:nvPr/>
        </p:nvGrpSpPr>
        <p:grpSpPr>
          <a:xfrm>
            <a:off x="6912864" y="2450592"/>
            <a:ext cx="1956816" cy="786384"/>
            <a:chOff x="6912864" y="2450592"/>
            <a:chExt cx="1956816" cy="786384"/>
          </a:xfrm>
        </p:grpSpPr>
        <p:sp>
          <p:nvSpPr>
            <p:cNvPr id="155" name="Welspun SAP card"/>
            <p:cNvSpPr/>
            <p:nvPr/>
          </p:nvSpPr>
          <p:spPr>
            <a:xfrm>
              <a:off x="6912864" y="2450592"/>
              <a:ext cx="1956816" cy="786384"/>
            </a:xfrm>
            <a:prstGeom prst="roundRect">
              <a:avLst>
                <a:gd name="adj" fmla="val 581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56" name="Header"/>
            <p:cNvSpPr/>
            <p:nvPr/>
          </p:nvSpPr>
          <p:spPr>
            <a:xfrm>
              <a:off x="6912864" y="2450592"/>
              <a:ext cx="1956816" cy="274320"/>
            </a:xfrm>
            <a:prstGeom prst="roundRect">
              <a:avLst>
                <a:gd name="adj" fmla="val 16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157" name="Header base"/>
            <p:cNvSpPr/>
            <p:nvPr/>
          </p:nvSpPr>
          <p:spPr>
            <a:xfrm>
              <a:off x="6912864" y="2587752"/>
              <a:ext cx="1956816" cy="137160"/>
            </a:xfrm>
            <a:prstGeom prst="rect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158" name="Icon database"/>
            <p:cNvSpPr/>
            <p:nvPr/>
          </p:nvSpPr>
          <p:spPr>
            <a:xfrm>
              <a:off x="6995160" y="2514600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2192" cap="rnd">
              <a:solidFill>
                <a:srgbClr val="FFFFFF"/>
              </a:solidFill>
              <a:round/>
            </a:ln>
          </p:spPr>
        </p:sp>
        <p:sp>
          <p:nvSpPr>
            <p:cNvPr id="159" name="Endpoint name"/>
            <p:cNvSpPr txBox="1"/>
            <p:nvPr/>
          </p:nvSpPr>
          <p:spPr>
            <a:xfrm>
              <a:off x="7196328" y="2450592"/>
              <a:ext cx="16367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4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SAP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160" name="Endpoint scope"/>
            <p:cNvSpPr txBox="1"/>
            <p:nvPr/>
          </p:nvSpPr>
          <p:spPr>
            <a:xfrm>
              <a:off x="7004304" y="2770632"/>
              <a:ext cx="1773936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15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Hydrotester entry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161" name="Stage number"/>
            <p:cNvSpPr/>
            <p:nvPr/>
          </p:nvSpPr>
          <p:spPr>
            <a:xfrm>
              <a:off x="8631936" y="2510028"/>
              <a:ext cx="155448" cy="155448"/>
            </a:xfrm>
            <a:prstGeom prst="ellipse">
              <a:avLst/>
            </a:prstGeom>
            <a:solidFill>
              <a:srgbClr val="68DD68"/>
            </a:solidFill>
            <a:ln>
              <a:noFill/>
            </a:ln>
          </p:spPr>
        </p:sp>
        <p:sp>
          <p:nvSpPr>
            <p:cNvPr id="162" name="Stage digit"/>
            <p:cNvSpPr txBox="1"/>
            <p:nvPr/>
          </p:nvSpPr>
          <p:spPr>
            <a:xfrm>
              <a:off x="8631936" y="2510028"/>
              <a:ext cx="15544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4</a:t>
              </a:r>
              <a:endParaRPr lang="en-US" sz="650" dirty="0">
                <a:latin typeface="TASA Orbiter SemiBold"/>
              </a:endParaRPr>
            </a:p>
          </p:txBody>
        </p:sp>
        <p:grpSp>
          <p:nvGrpSpPr>
            <p:cNvPr id="163" name="Chip Pipe No"/>
            <p:cNvGrpSpPr/>
            <p:nvPr/>
          </p:nvGrpSpPr>
          <p:grpSpPr>
            <a:xfrm>
              <a:off x="7004304" y="2926080"/>
              <a:ext cx="375374" cy="137160"/>
              <a:chOff x="7004304" y="2926080"/>
              <a:chExt cx="375374" cy="137160"/>
            </a:xfrm>
          </p:grpSpPr>
          <p:sp>
            <p:nvSpPr>
              <p:cNvPr id="164" name="Chip fill"/>
              <p:cNvSpPr/>
              <p:nvPr/>
            </p:nvSpPr>
            <p:spPr>
              <a:xfrm>
                <a:off x="7004304" y="2926080"/>
                <a:ext cx="375374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65" name="Chip label"/>
              <p:cNvSpPr txBox="1"/>
              <p:nvPr/>
            </p:nvSpPr>
            <p:spPr>
              <a:xfrm>
                <a:off x="7050024" y="2926080"/>
                <a:ext cx="30222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C192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Pipe No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66" name="Chip Checksum"/>
            <p:cNvGrpSpPr/>
            <p:nvPr/>
          </p:nvGrpSpPr>
          <p:grpSpPr>
            <a:xfrm>
              <a:off x="7416254" y="2926080"/>
              <a:ext cx="479072" cy="137160"/>
              <a:chOff x="7416254" y="2926080"/>
              <a:chExt cx="479072" cy="137160"/>
            </a:xfrm>
          </p:grpSpPr>
          <p:sp>
            <p:nvSpPr>
              <p:cNvPr id="167" name="Chip fill"/>
              <p:cNvSpPr/>
              <p:nvPr/>
            </p:nvSpPr>
            <p:spPr>
              <a:xfrm>
                <a:off x="7416254" y="2926080"/>
                <a:ext cx="47907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68" name="Chip label"/>
              <p:cNvSpPr txBox="1"/>
              <p:nvPr/>
            </p:nvSpPr>
            <p:spPr>
              <a:xfrm>
                <a:off x="7461974" y="2926080"/>
                <a:ext cx="40592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C192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Checksum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69" name="Chip Pressure"/>
            <p:cNvGrpSpPr/>
            <p:nvPr/>
          </p:nvGrpSpPr>
          <p:grpSpPr>
            <a:xfrm>
              <a:off x="7931902" y="2926080"/>
              <a:ext cx="413808" cy="137160"/>
              <a:chOff x="7931902" y="2926080"/>
              <a:chExt cx="413808" cy="137160"/>
            </a:xfrm>
          </p:grpSpPr>
          <p:sp>
            <p:nvSpPr>
              <p:cNvPr id="170" name="Chip fill"/>
              <p:cNvSpPr/>
              <p:nvPr/>
            </p:nvSpPr>
            <p:spPr>
              <a:xfrm>
                <a:off x="7931902" y="2926080"/>
                <a:ext cx="41380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71" name="Chip label"/>
              <p:cNvSpPr txBox="1"/>
              <p:nvPr/>
            </p:nvSpPr>
            <p:spPr>
              <a:xfrm>
                <a:off x="7977622" y="2926080"/>
                <a:ext cx="34065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C192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Pressure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72" name="Chip Hold time"/>
            <p:cNvGrpSpPr/>
            <p:nvPr/>
          </p:nvGrpSpPr>
          <p:grpSpPr>
            <a:xfrm>
              <a:off x="7004304" y="3090672"/>
              <a:ext cx="438400" cy="137160"/>
              <a:chOff x="7004304" y="3090672"/>
              <a:chExt cx="438400" cy="137160"/>
            </a:xfrm>
          </p:grpSpPr>
          <p:sp>
            <p:nvSpPr>
              <p:cNvPr id="173" name="Chip fill"/>
              <p:cNvSpPr/>
              <p:nvPr/>
            </p:nvSpPr>
            <p:spPr>
              <a:xfrm>
                <a:off x="7004304" y="3090672"/>
                <a:ext cx="438400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74" name="Chip label"/>
              <p:cNvSpPr txBox="1"/>
              <p:nvPr/>
            </p:nvSpPr>
            <p:spPr>
              <a:xfrm>
                <a:off x="7050024" y="3090672"/>
                <a:ext cx="36524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C192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Hold time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75" name="Chip Remarks"/>
            <p:cNvGrpSpPr/>
            <p:nvPr/>
          </p:nvGrpSpPr>
          <p:grpSpPr>
            <a:xfrm>
              <a:off x="7479280" y="3090672"/>
              <a:ext cx="409789" cy="137160"/>
              <a:chOff x="7479280" y="3090672"/>
              <a:chExt cx="409789" cy="137160"/>
            </a:xfrm>
          </p:grpSpPr>
          <p:sp>
            <p:nvSpPr>
              <p:cNvPr id="176" name="Chip fill"/>
              <p:cNvSpPr/>
              <p:nvPr/>
            </p:nvSpPr>
            <p:spPr>
              <a:xfrm>
                <a:off x="7479280" y="3090672"/>
                <a:ext cx="40978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77" name="Chip label"/>
              <p:cNvSpPr txBox="1"/>
              <p:nvPr/>
            </p:nvSpPr>
            <p:spPr>
              <a:xfrm>
                <a:off x="7525000" y="3090672"/>
                <a:ext cx="33663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C192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Remarks</a:t>
                </a:r>
                <a:endParaRPr lang="en-US" sz="600" dirty="0">
                  <a:latin typeface="Inter Medium"/>
                </a:endParaRPr>
              </a:p>
            </p:txBody>
          </p:sp>
        </p:grpSp>
        <p:grpSp>
          <p:nvGrpSpPr>
            <p:cNvPr id="178" name="Chip Date / Time"/>
            <p:cNvGrpSpPr/>
            <p:nvPr/>
          </p:nvGrpSpPr>
          <p:grpSpPr>
            <a:xfrm>
              <a:off x="7925645" y="3090672"/>
              <a:ext cx="509843" cy="137160"/>
              <a:chOff x="7925645" y="3090672"/>
              <a:chExt cx="509843" cy="137160"/>
            </a:xfrm>
          </p:grpSpPr>
          <p:sp>
            <p:nvSpPr>
              <p:cNvPr id="179" name="Chip fill"/>
              <p:cNvSpPr/>
              <p:nvPr/>
            </p:nvSpPr>
            <p:spPr>
              <a:xfrm>
                <a:off x="7925645" y="3090672"/>
                <a:ext cx="509843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80" name="Chip label"/>
              <p:cNvSpPr txBox="1"/>
              <p:nvPr/>
            </p:nvSpPr>
            <p:spPr>
              <a:xfrm>
                <a:off x="7971365" y="3090672"/>
                <a:ext cx="43669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spc="0" dirty="0">
                    <a:solidFill>
                      <a:srgbClr val="0C192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Date / Time</a:t>
                </a:r>
                <a:endParaRPr lang="en-US" sz="600" dirty="0">
                  <a:latin typeface="Inter Medium"/>
                </a:endParaRPr>
              </a:p>
            </p:txBody>
          </p:sp>
        </p:grpSp>
      </p:grpSp>
      <p:grpSp>
        <p:nvGrpSpPr>
          <p:cNvPr id="181" name="FTP file upload"/>
          <p:cNvGrpSpPr/>
          <p:nvPr/>
        </p:nvGrpSpPr>
        <p:grpSpPr>
          <a:xfrm>
            <a:off x="6912864" y="3310128"/>
            <a:ext cx="1956816" cy="621792"/>
            <a:chOff x="6912864" y="3310128"/>
            <a:chExt cx="1956816" cy="621792"/>
          </a:xfrm>
        </p:grpSpPr>
        <p:sp>
          <p:nvSpPr>
            <p:cNvPr id="182" name="FTP card"/>
            <p:cNvSpPr/>
            <p:nvPr/>
          </p:nvSpPr>
          <p:spPr>
            <a:xfrm>
              <a:off x="6912864" y="3310128"/>
              <a:ext cx="1956816" cy="621792"/>
            </a:xfrm>
            <a:prstGeom prst="roundRect">
              <a:avLst>
                <a:gd name="adj" fmla="val 735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83" name="Icon folder-up"/>
            <p:cNvSpPr/>
            <p:nvPr/>
          </p:nvSpPr>
          <p:spPr>
            <a:xfrm>
              <a:off x="7004304" y="3387852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20000"/>
                  </a:moveTo>
                  <a:cubicBezTo>
                    <a:pt x="20351" y="20000"/>
                    <a:pt x="20695" y="19907"/>
                    <a:pt x="21000" y="19732"/>
                  </a:cubicBezTo>
                  <a:cubicBezTo>
                    <a:pt x="21304" y="19556"/>
                    <a:pt x="21556" y="19304"/>
                    <a:pt x="21732" y="19000"/>
                  </a:cubicBezTo>
                  <a:cubicBezTo>
                    <a:pt x="21907" y="18695"/>
                    <a:pt x="22000" y="18351"/>
                    <a:pt x="22000" y="18000"/>
                  </a:cubicBezTo>
                  <a:lnTo>
                    <a:pt x="22000" y="8000"/>
                  </a:lnTo>
                  <a:cubicBezTo>
                    <a:pt x="22000" y="7648"/>
                    <a:pt x="21907" y="7304"/>
                    <a:pt x="21732" y="7000"/>
                  </a:cubicBezTo>
                  <a:cubicBezTo>
                    <a:pt x="21556" y="6695"/>
                    <a:pt x="21304" y="6443"/>
                    <a:pt x="21000" y="6267"/>
                  </a:cubicBezTo>
                  <a:cubicBezTo>
                    <a:pt x="20695" y="6092"/>
                    <a:pt x="20351" y="6000"/>
                    <a:pt x="20000" y="6000"/>
                  </a:cubicBezTo>
                  <a:lnTo>
                    <a:pt x="12100" y="6000"/>
                  </a:lnTo>
                  <a:cubicBezTo>
                    <a:pt x="11765" y="6003"/>
                    <a:pt x="11435" y="5922"/>
                    <a:pt x="11140" y="5765"/>
                  </a:cubicBezTo>
                  <a:cubicBezTo>
                    <a:pt x="10845" y="5608"/>
                    <a:pt x="10593" y="5379"/>
                    <a:pt x="10410" y="5100"/>
                  </a:cubicBezTo>
                  <a:lnTo>
                    <a:pt x="9600" y="3900"/>
                  </a:lnTo>
                  <a:cubicBezTo>
                    <a:pt x="9417" y="3623"/>
                    <a:pt x="9169" y="3396"/>
                    <a:pt x="8878" y="3239"/>
                  </a:cubicBezTo>
                  <a:cubicBezTo>
                    <a:pt x="8587" y="3082"/>
                    <a:pt x="8261" y="3000"/>
                    <a:pt x="793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8000"/>
                  </a:lnTo>
                  <a:cubicBezTo>
                    <a:pt x="2000" y="18351"/>
                    <a:pt x="2092" y="18695"/>
                    <a:pt x="2267" y="19000"/>
                  </a:cubicBezTo>
                  <a:cubicBezTo>
                    <a:pt x="2443" y="19304"/>
                    <a:pt x="2695" y="19556"/>
                    <a:pt x="2999" y="19732"/>
                  </a:cubicBezTo>
                  <a:cubicBezTo>
                    <a:pt x="3304" y="19907"/>
                    <a:pt x="3648" y="20000"/>
                    <a:pt x="4000" y="20000"/>
                  </a:cubicBezTo>
                  <a:close/>
                </a:path>
                <a:path w="24000" h="24000" fill="none">
                  <a:moveTo>
                    <a:pt x="12000" y="10000"/>
                  </a:moveTo>
                  <a:lnTo>
                    <a:pt x="12000" y="16000"/>
                  </a:lnTo>
                </a:path>
                <a:path w="24000" h="24000" fill="none">
                  <a:moveTo>
                    <a:pt x="9000" y="13000"/>
                  </a:moveTo>
                  <a:lnTo>
                    <a:pt x="12000" y="10000"/>
                  </a:lnTo>
                  <a:lnTo>
                    <a:pt x="15000" y="13000"/>
                  </a:ln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184" name="File upload (FTP) title"/>
            <p:cNvSpPr txBox="1"/>
            <p:nvPr/>
          </p:nvSpPr>
          <p:spPr>
            <a:xfrm>
              <a:off x="7223760" y="3374136"/>
              <a:ext cx="155448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97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File upload (FTP)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185" name="File upload (FTP) sub"/>
            <p:cNvSpPr txBox="1"/>
            <p:nvPr/>
          </p:nvSpPr>
          <p:spPr>
            <a:xfrm>
              <a:off x="7223760" y="3515868"/>
              <a:ext cx="1554480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4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Standard + actual graph images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86" name="FTP note"/>
            <p:cNvSpPr txBox="1"/>
            <p:nvPr/>
          </p:nvSpPr>
          <p:spPr>
            <a:xfrm>
              <a:off x="7223760" y="3675888"/>
              <a:ext cx="1554480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Upload status shown per entry</a:t>
              </a:r>
              <a:endParaRPr lang="en-US" sz="600" dirty="0">
                <a:latin typeface="Inter"/>
              </a:endParaRPr>
            </a:p>
          </p:txBody>
        </p:sp>
      </p:grpSp>
      <p:grpSp>
        <p:nvGrpSpPr>
          <p:cNvPr id="187" name="Upload routing"/>
          <p:cNvGrpSpPr/>
          <p:nvPr/>
        </p:nvGrpSpPr>
        <p:grpSpPr>
          <a:xfrm>
            <a:off x="6620256" y="2587752"/>
            <a:ext cx="283464" cy="1143000"/>
            <a:chOff x="6620256" y="2587752"/>
            <a:chExt cx="283464" cy="1143000"/>
          </a:xfrm>
        </p:grpSpPr>
        <p:sp>
          <p:nvSpPr>
            <p:cNvPr id="188" name="Upload bus"/>
            <p:cNvSpPr/>
            <p:nvPr/>
          </p:nvSpPr>
          <p:spPr>
            <a:xfrm>
              <a:off x="6620256" y="2587752"/>
              <a:ext cx="201168" cy="1143000"/>
            </a:xfrm>
            <a:custGeom>
              <a:avLst/>
              <a:gdLst/>
              <a:ahLst/>
              <a:cxnLst/>
              <a:rect l="l" t="t" r="r" b="b"/>
              <a:pathLst>
                <a:path w="201168" h="1143000" fill="none">
                  <a:moveTo>
                    <a:pt x="0" y="1143000"/>
                  </a:moveTo>
                  <a:lnTo>
                    <a:pt x="201168" y="1143000"/>
                  </a:lnTo>
                  <a:lnTo>
                    <a:pt x="201168" y="0"/>
                  </a:lnTo>
                </a:path>
              </a:pathLst>
            </a:custGeom>
            <a:noFill/>
            <a:ln w="13970">
              <a:solidFill>
                <a:srgbClr val="0C1927"/>
              </a:solidFill>
              <a:miter lim="800000"/>
            </a:ln>
          </p:spPr>
        </p:sp>
        <p:cxnSp>
          <p:nvCxnSpPr>
            <p:cNvPr id="189" name="To SAP"/>
            <p:cNvCxnSpPr/>
            <p:nvPr/>
          </p:nvCxnSpPr>
          <p:spPr>
            <a:xfrm>
              <a:off x="6821424" y="2587752"/>
              <a:ext cx="82296" cy="0"/>
            </a:xfrm>
            <a:prstGeom prst="straightConnector1">
              <a:avLst/>
            </a:prstGeom>
            <a:noFill/>
            <a:ln w="13970">
              <a:solidFill>
                <a:srgbClr val="0C1927"/>
              </a:solidFill>
              <a:round/>
              <a:tailEnd type="triangle" w="med" len="med"/>
            </a:ln>
          </p:spPr>
        </p:cxnSp>
        <p:cxnSp>
          <p:nvCxnSpPr>
            <p:cNvPr id="190" name="To SAP"/>
            <p:cNvCxnSpPr/>
            <p:nvPr/>
          </p:nvCxnSpPr>
          <p:spPr>
            <a:xfrm>
              <a:off x="6821424" y="3474720"/>
              <a:ext cx="82296" cy="0"/>
            </a:xfrm>
            <a:prstGeom prst="straightConnector1">
              <a:avLst/>
            </a:prstGeom>
            <a:noFill/>
            <a:ln w="13970">
              <a:solidFill>
                <a:srgbClr val="0C1927"/>
              </a:solidFill>
              <a:round/>
              <a:tailEnd type="triangle" w="med" len="med"/>
            </a:ln>
          </p:spPr>
        </p:cxnSp>
      </p:grpSp>
      <p:grpSp>
        <p:nvGrpSpPr>
          <p:cNvPr id="191" name="Built-in reliability"/>
          <p:cNvGrpSpPr/>
          <p:nvPr/>
        </p:nvGrpSpPr>
        <p:grpSpPr>
          <a:xfrm>
            <a:off x="274320" y="4023360"/>
            <a:ext cx="8595360" cy="731520"/>
            <a:chOff x="274320" y="4023360"/>
            <a:chExt cx="8595360" cy="731520"/>
          </a:xfrm>
        </p:grpSpPr>
        <p:sp>
          <p:nvSpPr>
            <p:cNvPr id="192" name="Reliability band"/>
            <p:cNvSpPr/>
            <p:nvPr/>
          </p:nvSpPr>
          <p:spPr>
            <a:xfrm>
              <a:off x="274320" y="4023360"/>
              <a:ext cx="8595360" cy="731520"/>
            </a:xfrm>
            <a:prstGeom prst="roundRect">
              <a:avLst>
                <a:gd name="adj" fmla="val 7500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193" name="Icon shield-check"/>
            <p:cNvSpPr/>
            <p:nvPr/>
          </p:nvSpPr>
          <p:spPr>
            <a:xfrm>
              <a:off x="402336" y="4151376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231" y="21986"/>
                    <a:pt x="12118" y="22004"/>
                    <a:pt x="12004" y="22002"/>
                  </a:cubicBezTo>
                  <a:cubicBezTo>
                    <a:pt x="11889" y="22001"/>
                    <a:pt x="11776" y="21979"/>
                    <a:pt x="11670" y="21939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824"/>
                    <a:pt x="4046" y="5652"/>
                    <a:pt x="4133" y="5500"/>
                  </a:cubicBezTo>
                  <a:cubicBezTo>
                    <a:pt x="4221" y="5347"/>
                    <a:pt x="4347" y="5221"/>
                    <a:pt x="4500" y="5133"/>
                  </a:cubicBezTo>
                  <a:cubicBezTo>
                    <a:pt x="4652" y="5046"/>
                    <a:pt x="4824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380" y="2160"/>
                    <a:pt x="11547" y="2075"/>
                    <a:pt x="11726" y="2031"/>
                  </a:cubicBezTo>
                  <a:cubicBezTo>
                    <a:pt x="11906" y="1988"/>
                    <a:pt x="12093" y="1988"/>
                    <a:pt x="12273" y="2031"/>
                  </a:cubicBezTo>
                  <a:cubicBezTo>
                    <a:pt x="12452" y="2075"/>
                    <a:pt x="12619" y="2160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175" y="5000"/>
                    <a:pt x="19347" y="5046"/>
                    <a:pt x="19500" y="5133"/>
                  </a:cubicBezTo>
                  <a:cubicBezTo>
                    <a:pt x="19652" y="5221"/>
                    <a:pt x="19778" y="5347"/>
                    <a:pt x="19866" y="5500"/>
                  </a:cubicBezTo>
                  <a:cubicBezTo>
                    <a:pt x="19953" y="5652"/>
                    <a:pt x="20000" y="5824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5925" cap="rnd">
              <a:solidFill>
                <a:srgbClr val="0C1927"/>
              </a:solidFill>
              <a:round/>
            </a:ln>
          </p:spPr>
        </p:sp>
        <p:sp>
          <p:nvSpPr>
            <p:cNvPr id="194" name="Band title"/>
            <p:cNvSpPr txBox="1"/>
            <p:nvPr/>
          </p:nvSpPr>
          <p:spPr>
            <a:xfrm>
              <a:off x="402336" y="4407408"/>
              <a:ext cx="8686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Built-in reliability &amp; alerts</a:t>
              </a:r>
              <a:endParaRPr lang="en-US" sz="700" dirty="0">
                <a:latin typeface="Inter SemiBold"/>
              </a:endParaRPr>
            </a:p>
          </p:txBody>
        </p:sp>
        <p:cxnSp>
          <p:nvCxnSpPr>
            <p:cNvPr id="195" name="Tile divider"/>
            <p:cNvCxnSpPr/>
            <p:nvPr/>
          </p:nvCxnSpPr>
          <p:spPr>
            <a:xfrm>
              <a:off x="127101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196" name="Reliability · No pipe number"/>
            <p:cNvGrpSpPr/>
            <p:nvPr/>
          </p:nvGrpSpPr>
          <p:grpSpPr>
            <a:xfrm>
              <a:off x="1344168" y="4114800"/>
              <a:ext cx="1158240" cy="557784"/>
              <a:chOff x="1344168" y="4114800"/>
              <a:chExt cx="1158240" cy="557784"/>
            </a:xfrm>
          </p:grpSpPr>
          <p:sp>
            <p:nvSpPr>
              <p:cNvPr id="197" name="Icon triangle-alert"/>
              <p:cNvSpPr/>
              <p:nvPr/>
            </p:nvSpPr>
            <p:spPr>
              <a:xfrm>
                <a:off x="134416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730" y="18000"/>
                    </a:moveTo>
                    <a:lnTo>
                      <a:pt x="13730" y="4000"/>
                    </a:lnTo>
                    <a:cubicBezTo>
                      <a:pt x="13590" y="3754"/>
                      <a:pt x="13401" y="3540"/>
                      <a:pt x="13173" y="3373"/>
                    </a:cubicBezTo>
                    <a:cubicBezTo>
                      <a:pt x="12945" y="3206"/>
                      <a:pt x="12685" y="3089"/>
                      <a:pt x="12408" y="3030"/>
                    </a:cubicBezTo>
                    <a:cubicBezTo>
                      <a:pt x="12132" y="2971"/>
                      <a:pt x="11847" y="2971"/>
                      <a:pt x="11571" y="3030"/>
                    </a:cubicBezTo>
                    <a:cubicBezTo>
                      <a:pt x="11294" y="3089"/>
                      <a:pt x="11034" y="3206"/>
                      <a:pt x="10806" y="3373"/>
                    </a:cubicBezTo>
                    <a:cubicBezTo>
                      <a:pt x="10578" y="3540"/>
                      <a:pt x="10389" y="3754"/>
                      <a:pt x="10250" y="4000"/>
                    </a:cubicBezTo>
                    <a:lnTo>
                      <a:pt x="2250" y="18000"/>
                    </a:lnTo>
                    <a:cubicBezTo>
                      <a:pt x="2109" y="18243"/>
                      <a:pt x="2021" y="18514"/>
                      <a:pt x="1992" y="18794"/>
                    </a:cubicBezTo>
                    <a:cubicBezTo>
                      <a:pt x="1963" y="19074"/>
                      <a:pt x="1994" y="19357"/>
                      <a:pt x="2082" y="19624"/>
                    </a:cubicBezTo>
                    <a:cubicBezTo>
                      <a:pt x="2170" y="19892"/>
                      <a:pt x="2313" y="20138"/>
                      <a:pt x="2502" y="20346"/>
                    </a:cubicBezTo>
                    <a:cubicBezTo>
                      <a:pt x="2692" y="20554"/>
                      <a:pt x="2923" y="20720"/>
                      <a:pt x="3181" y="20832"/>
                    </a:cubicBezTo>
                    <a:cubicBezTo>
                      <a:pt x="3439" y="20945"/>
                      <a:pt x="3718" y="21002"/>
                      <a:pt x="4000" y="21000"/>
                    </a:cubicBezTo>
                    <a:lnTo>
                      <a:pt x="20000" y="21000"/>
                    </a:lnTo>
                    <a:cubicBezTo>
                      <a:pt x="20350" y="20999"/>
                      <a:pt x="20695" y="20906"/>
                      <a:pt x="20999" y="20731"/>
                    </a:cubicBezTo>
                    <a:cubicBezTo>
                      <a:pt x="21303" y="20555"/>
                      <a:pt x="21555" y="20303"/>
                      <a:pt x="21730" y="19999"/>
                    </a:cubicBezTo>
                    <a:cubicBezTo>
                      <a:pt x="21905" y="19695"/>
                      <a:pt x="21998" y="19350"/>
                      <a:pt x="21997" y="18999"/>
                    </a:cubicBezTo>
                    <a:cubicBezTo>
                      <a:pt x="21997" y="18648"/>
                      <a:pt x="21905" y="18303"/>
                      <a:pt x="21730" y="18000"/>
                    </a:cubicBezTo>
                  </a:path>
                  <a:path w="24000" h="24000" fill="none">
                    <a:moveTo>
                      <a:pt x="12000" y="9000"/>
                    </a:moveTo>
                    <a:lnTo>
                      <a:pt x="12000" y="13000"/>
                    </a:ln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11429" cap="rnd">
                <a:solidFill>
                  <a:srgbClr val="0C1927"/>
                </a:solidFill>
                <a:round/>
              </a:ln>
            </p:spPr>
          </p:sp>
          <p:sp>
            <p:nvSpPr>
              <p:cNvPr id="198" name="Tile title"/>
              <p:cNvSpPr txBox="1"/>
              <p:nvPr/>
            </p:nvSpPr>
            <p:spPr>
              <a:xfrm>
                <a:off x="152704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No pipe number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199" name="Tile description"/>
              <p:cNvSpPr txBox="1"/>
              <p:nvPr/>
            </p:nvSpPr>
            <p:spPr>
              <a:xfrm>
                <a:off x="134416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Pop-up raised; if none is entered by test end the test is discarded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00" name="Tile divider"/>
            <p:cNvCxnSpPr/>
            <p:nvPr/>
          </p:nvCxnSpPr>
          <p:spPr>
            <a:xfrm>
              <a:off x="252069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01" name="Reliability · Station link down"/>
            <p:cNvGrpSpPr/>
            <p:nvPr/>
          </p:nvGrpSpPr>
          <p:grpSpPr>
            <a:xfrm>
              <a:off x="2593848" y="4114800"/>
              <a:ext cx="1158240" cy="557784"/>
              <a:chOff x="2593848" y="4114800"/>
              <a:chExt cx="1158240" cy="557784"/>
            </a:xfrm>
          </p:grpSpPr>
          <p:sp>
            <p:nvSpPr>
              <p:cNvPr id="202" name="Icon wifi-off"/>
              <p:cNvSpPr/>
              <p:nvPr/>
            </p:nvSpPr>
            <p:spPr>
              <a:xfrm>
                <a:off x="259384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20000"/>
                    </a:moveTo>
                    <a:lnTo>
                      <a:pt x="12010" y="20000"/>
                    </a:lnTo>
                  </a:path>
                  <a:path w="24000" h="24000" fill="none">
                    <a:moveTo>
                      <a:pt x="8500" y="16429"/>
                    </a:moveTo>
                    <a:cubicBezTo>
                      <a:pt x="9118" y="15822"/>
                      <a:pt x="9884" y="15387"/>
                      <a:pt x="10722" y="15165"/>
                    </a:cubicBezTo>
                    <a:cubicBezTo>
                      <a:pt x="11559" y="14944"/>
                      <a:pt x="12440" y="14944"/>
                      <a:pt x="13277" y="15165"/>
                    </a:cubicBezTo>
                    <a:cubicBezTo>
                      <a:pt x="14115" y="15387"/>
                      <a:pt x="14881" y="15822"/>
                      <a:pt x="15500" y="16429"/>
                    </a:cubicBezTo>
                  </a:path>
                  <a:path w="24000" h="24000" fill="none">
                    <a:moveTo>
                      <a:pt x="5000" y="12859"/>
                    </a:moveTo>
                    <a:cubicBezTo>
                      <a:pt x="5705" y="12167"/>
                      <a:pt x="6508" y="11584"/>
                      <a:pt x="7384" y="11129"/>
                    </a:cubicBezTo>
                    <a:cubicBezTo>
                      <a:pt x="8260" y="10673"/>
                      <a:pt x="9199" y="10349"/>
                      <a:pt x="10170" y="10169"/>
                    </a:cubicBezTo>
                  </a:path>
                  <a:path w="24000" h="24000" fill="none">
                    <a:moveTo>
                      <a:pt x="19000" y="12859"/>
                    </a:moveTo>
                    <a:cubicBezTo>
                      <a:pt x="18397" y="12268"/>
                      <a:pt x="17723" y="11757"/>
                      <a:pt x="16993" y="11336"/>
                    </a:cubicBezTo>
                  </a:path>
                  <a:path w="24000" h="24000" fill="none">
                    <a:moveTo>
                      <a:pt x="2000" y="8820"/>
                    </a:moveTo>
                    <a:cubicBezTo>
                      <a:pt x="3236" y="7714"/>
                      <a:pt x="4648" y="6820"/>
                      <a:pt x="6177" y="6177"/>
                    </a:cubicBezTo>
                  </a:path>
                  <a:path w="24000" h="24000" fill="none">
                    <a:moveTo>
                      <a:pt x="22000" y="8820"/>
                    </a:moveTo>
                    <a:cubicBezTo>
                      <a:pt x="20474" y="7455"/>
                      <a:pt x="18686" y="6418"/>
                      <a:pt x="16745" y="5770"/>
                    </a:cubicBezTo>
                    <a:cubicBezTo>
                      <a:pt x="14803" y="5123"/>
                      <a:pt x="12750" y="4880"/>
                      <a:pt x="10712" y="5056"/>
                    </a:cubicBezTo>
                  </a:path>
                  <a:path w="24000" h="24000" fill="none">
                    <a:moveTo>
                      <a:pt x="2000" y="2000"/>
                    </a:moveTo>
                    <a:lnTo>
                      <a:pt x="22000" y="22000"/>
                    </a:lnTo>
                  </a:path>
                </a:pathLst>
              </a:custGeom>
              <a:noFill/>
              <a:ln w="11429" cap="rnd">
                <a:solidFill>
                  <a:srgbClr val="0C1927"/>
                </a:solidFill>
                <a:round/>
              </a:ln>
            </p:spPr>
          </p:sp>
          <p:sp>
            <p:nvSpPr>
              <p:cNvPr id="203" name="Tile title"/>
              <p:cNvSpPr txBox="1"/>
              <p:nvPr/>
            </p:nvSpPr>
            <p:spPr>
              <a:xfrm>
                <a:off x="277672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Station link down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04" name="Tile description"/>
              <p:cNvSpPr txBox="1"/>
              <p:nvPr/>
            </p:nvSpPr>
            <p:spPr>
              <a:xfrm>
                <a:off x="259384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Tests buffered on the IPC, then paired to pipe numbers in time order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05" name="Tile divider"/>
            <p:cNvCxnSpPr/>
            <p:nvPr/>
          </p:nvCxnSpPr>
          <p:spPr>
            <a:xfrm>
              <a:off x="377037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06" name="Reliability · Network / SAP down"/>
            <p:cNvGrpSpPr/>
            <p:nvPr/>
          </p:nvGrpSpPr>
          <p:grpSpPr>
            <a:xfrm>
              <a:off x="3843528" y="4114800"/>
              <a:ext cx="1158240" cy="557784"/>
              <a:chOff x="3843528" y="4114800"/>
              <a:chExt cx="1158240" cy="557784"/>
            </a:xfrm>
          </p:grpSpPr>
          <p:sp>
            <p:nvSpPr>
              <p:cNvPr id="207" name="Icon refresh-cw"/>
              <p:cNvSpPr/>
              <p:nvPr/>
            </p:nvSpPr>
            <p:spPr>
              <a:xfrm>
                <a:off x="384352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10420"/>
                      <a:pt x="3415" y="8868"/>
                      <a:pt x="4205" y="7500"/>
                    </a:cubicBezTo>
                    <a:cubicBezTo>
                      <a:pt x="4995" y="6131"/>
                      <a:pt x="6131" y="4995"/>
                      <a:pt x="7499" y="4205"/>
                    </a:cubicBezTo>
                    <a:cubicBezTo>
                      <a:pt x="8868" y="3415"/>
                      <a:pt x="10420" y="3000"/>
                      <a:pt x="12000" y="3000"/>
                    </a:cubicBezTo>
                    <a:cubicBezTo>
                      <a:pt x="13246" y="3004"/>
                      <a:pt x="14480" y="3248"/>
                      <a:pt x="15635" y="3717"/>
                    </a:cubicBezTo>
                    <a:cubicBezTo>
                      <a:pt x="16789" y="4187"/>
                      <a:pt x="17843" y="4873"/>
                      <a:pt x="18740" y="5740"/>
                    </a:cubicBezTo>
                    <a:lnTo>
                      <a:pt x="21000" y="8000"/>
                    </a:lnTo>
                  </a:path>
                  <a:path w="24000" h="24000" fill="none">
                    <a:moveTo>
                      <a:pt x="21000" y="3000"/>
                    </a:moveTo>
                    <a:lnTo>
                      <a:pt x="21000" y="8000"/>
                    </a:lnTo>
                    <a:lnTo>
                      <a:pt x="16000" y="8000"/>
                    </a:lnTo>
                  </a:path>
                  <a:path w="24000" h="24000" fill="none">
                    <a:moveTo>
                      <a:pt x="21000" y="12000"/>
                    </a:moveTo>
                    <a:cubicBezTo>
                      <a:pt x="21000" y="13579"/>
                      <a:pt x="20584" y="15131"/>
                      <a:pt x="19794" y="16500"/>
                    </a:cubicBezTo>
                    <a:cubicBezTo>
                      <a:pt x="19004" y="17868"/>
                      <a:pt x="17868" y="19004"/>
                      <a:pt x="16500" y="19794"/>
                    </a:cubicBezTo>
                    <a:cubicBezTo>
                      <a:pt x="15131" y="20584"/>
                      <a:pt x="13579" y="21000"/>
                      <a:pt x="12000" y="21000"/>
                    </a:cubicBezTo>
                    <a:cubicBezTo>
                      <a:pt x="10753" y="20995"/>
                      <a:pt x="9519" y="20751"/>
                      <a:pt x="8364" y="20282"/>
                    </a:cubicBezTo>
                    <a:cubicBezTo>
                      <a:pt x="7210" y="19812"/>
                      <a:pt x="6156" y="19126"/>
                      <a:pt x="5260" y="18259"/>
                    </a:cubicBezTo>
                    <a:lnTo>
                      <a:pt x="3000" y="16000"/>
                    </a:lnTo>
                  </a:path>
                  <a:path w="24000" h="24000" fill="none">
                    <a:moveTo>
                      <a:pt x="8000" y="16000"/>
                    </a:moveTo>
                    <a:lnTo>
                      <a:pt x="3000" y="16000"/>
                    </a:lnTo>
                    <a:lnTo>
                      <a:pt x="3000" y="21000"/>
                    </a:lnTo>
                  </a:path>
                </a:pathLst>
              </a:custGeom>
              <a:noFill/>
              <a:ln w="11429" cap="rnd">
                <a:solidFill>
                  <a:srgbClr val="0C1927"/>
                </a:solidFill>
                <a:round/>
              </a:ln>
            </p:spPr>
          </p:sp>
          <p:sp>
            <p:nvSpPr>
              <p:cNvPr id="208" name="Tile title"/>
              <p:cNvSpPr txBox="1"/>
              <p:nvPr/>
            </p:nvSpPr>
            <p:spPr>
              <a:xfrm>
                <a:off x="402640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Network / SAP down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09" name="Tile description"/>
              <p:cNvSpPr txBox="1"/>
              <p:nvPr/>
            </p:nvSpPr>
            <p:spPr>
              <a:xfrm>
                <a:off x="384352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Retry every 5 min, up to 3 times; then marked failed for re-upload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10" name="Tile divider"/>
            <p:cNvCxnSpPr/>
            <p:nvPr/>
          </p:nvCxnSpPr>
          <p:spPr>
            <a:xfrm>
              <a:off x="502005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11" name="Reliability · Previous-station entry missing"/>
            <p:cNvGrpSpPr/>
            <p:nvPr/>
          </p:nvGrpSpPr>
          <p:grpSpPr>
            <a:xfrm>
              <a:off x="5093208" y="4114800"/>
              <a:ext cx="1158240" cy="580644"/>
              <a:chOff x="5093208" y="4114800"/>
              <a:chExt cx="1158240" cy="580644"/>
            </a:xfrm>
          </p:grpSpPr>
          <p:sp>
            <p:nvSpPr>
              <p:cNvPr id="212" name="Icon hourglass"/>
              <p:cNvSpPr/>
              <p:nvPr/>
            </p:nvSpPr>
            <p:spPr>
              <a:xfrm>
                <a:off x="509320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5000" y="22000"/>
                    </a:moveTo>
                    <a:lnTo>
                      <a:pt x="19000" y="22000"/>
                    </a:lnTo>
                  </a:path>
                  <a:path w="24000" h="24000" fill="none">
                    <a:moveTo>
                      <a:pt x="5000" y="2000"/>
                    </a:moveTo>
                    <a:lnTo>
                      <a:pt x="19000" y="2000"/>
                    </a:lnTo>
                  </a:path>
                  <a:path w="24000" h="24000" fill="none">
                    <a:moveTo>
                      <a:pt x="17000" y="22000"/>
                    </a:moveTo>
                    <a:lnTo>
                      <a:pt x="17000" y="17828"/>
                    </a:lnTo>
                    <a:cubicBezTo>
                      <a:pt x="16999" y="17565"/>
                      <a:pt x="16948" y="17305"/>
                      <a:pt x="16847" y="17062"/>
                    </a:cubicBezTo>
                    <a:cubicBezTo>
                      <a:pt x="16747" y="16820"/>
                      <a:pt x="16599" y="16599"/>
                      <a:pt x="16414" y="16413"/>
                    </a:cubicBezTo>
                    <a:lnTo>
                      <a:pt x="12000" y="12000"/>
                    </a:lnTo>
                    <a:lnTo>
                      <a:pt x="7586" y="16414"/>
                    </a:lnTo>
                    <a:cubicBezTo>
                      <a:pt x="7400" y="16599"/>
                      <a:pt x="7252" y="16820"/>
                      <a:pt x="7152" y="17062"/>
                    </a:cubicBezTo>
                    <a:cubicBezTo>
                      <a:pt x="7051" y="17305"/>
                      <a:pt x="7000" y="17565"/>
                      <a:pt x="7000" y="17828"/>
                    </a:cubicBezTo>
                    <a:lnTo>
                      <a:pt x="7000" y="22000"/>
                    </a:lnTo>
                  </a:path>
                  <a:path w="24000" h="24000" fill="none">
                    <a:moveTo>
                      <a:pt x="7000" y="2000"/>
                    </a:moveTo>
                    <a:lnTo>
                      <a:pt x="7000" y="6172"/>
                    </a:lnTo>
                    <a:cubicBezTo>
                      <a:pt x="7000" y="6434"/>
                      <a:pt x="7051" y="6694"/>
                      <a:pt x="7152" y="6937"/>
                    </a:cubicBezTo>
                    <a:cubicBezTo>
                      <a:pt x="7252" y="7179"/>
                      <a:pt x="7400" y="7400"/>
                      <a:pt x="7586" y="7585"/>
                    </a:cubicBezTo>
                    <a:lnTo>
                      <a:pt x="12000" y="12000"/>
                    </a:lnTo>
                    <a:lnTo>
                      <a:pt x="16414" y="7586"/>
                    </a:lnTo>
                    <a:cubicBezTo>
                      <a:pt x="16599" y="7400"/>
                      <a:pt x="16747" y="7179"/>
                      <a:pt x="16847" y="6937"/>
                    </a:cubicBezTo>
                    <a:cubicBezTo>
                      <a:pt x="16948" y="6694"/>
                      <a:pt x="16999" y="6434"/>
                      <a:pt x="17000" y="6172"/>
                    </a:cubicBezTo>
                    <a:lnTo>
                      <a:pt x="17000" y="2000"/>
                    </a:lnTo>
                  </a:path>
                </a:pathLst>
              </a:custGeom>
              <a:noFill/>
              <a:ln w="11429" cap="rnd">
                <a:solidFill>
                  <a:srgbClr val="0C1927"/>
                </a:solidFill>
                <a:round/>
              </a:ln>
            </p:spPr>
          </p:sp>
          <p:sp>
            <p:nvSpPr>
              <p:cNvPr id="213" name="Tile title"/>
              <p:cNvSpPr txBox="1"/>
              <p:nvPr/>
            </p:nvSpPr>
            <p:spPr>
              <a:xfrm>
                <a:off x="527608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Previous-station entry missing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14" name="Tile description"/>
              <p:cNvSpPr txBox="1"/>
              <p:nvPr/>
            </p:nvSpPr>
            <p:spPr>
              <a:xfrm>
                <a:off x="509320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Retry every 5 min until the entry appears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215" name="Chip Cadence TBC with SAP team"/>
              <p:cNvGrpSpPr/>
              <p:nvPr/>
            </p:nvGrpSpPr>
            <p:grpSpPr>
              <a:xfrm>
                <a:off x="5093208" y="4558284"/>
                <a:ext cx="1069169" cy="137160"/>
                <a:chOff x="5093208" y="4558284"/>
                <a:chExt cx="1069169" cy="137160"/>
              </a:xfrm>
            </p:grpSpPr>
            <p:sp>
              <p:nvSpPr>
                <p:cNvPr id="216" name="Chip fill"/>
                <p:cNvSpPr/>
                <p:nvPr/>
              </p:nvSpPr>
              <p:spPr>
                <a:xfrm>
                  <a:off x="5093208" y="4558284"/>
                  <a:ext cx="1069169" cy="13716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217" name="Chip label"/>
                <p:cNvSpPr txBox="1"/>
                <p:nvPr/>
              </p:nvSpPr>
              <p:spPr>
                <a:xfrm>
                  <a:off x="5134356" y="4558284"/>
                  <a:ext cx="100516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560"/>
                    </a:lnSpc>
                    <a:spcBef>
                      <a:spcPts val="0"/>
                    </a:spcBef>
                    <a:buNone/>
                  </a:pPr>
                  <a:r>
                    <a:rPr lang="en-US" sz="56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Cadence TBC with SAP team</a:t>
                  </a:r>
                  <a:endParaRPr lang="en-US" sz="560" dirty="0">
                    <a:latin typeface="Inter SemiBold"/>
                  </a:endParaRPr>
                </a:p>
              </p:txBody>
            </p:sp>
          </p:grpSp>
        </p:grpSp>
        <p:cxnSp>
          <p:nvCxnSpPr>
            <p:cNvPr id="218" name="Tile divider"/>
            <p:cNvCxnSpPr/>
            <p:nvPr/>
          </p:nvCxnSpPr>
          <p:spPr>
            <a:xfrm>
              <a:off x="626973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19" name="Reliability · Shift change"/>
            <p:cNvGrpSpPr/>
            <p:nvPr/>
          </p:nvGrpSpPr>
          <p:grpSpPr>
            <a:xfrm>
              <a:off x="6342888" y="4114800"/>
              <a:ext cx="1158240" cy="557784"/>
              <a:chOff x="6342888" y="4114800"/>
              <a:chExt cx="1158240" cy="557784"/>
            </a:xfrm>
          </p:grpSpPr>
          <p:sp>
            <p:nvSpPr>
              <p:cNvPr id="220" name="Icon alarm-clock"/>
              <p:cNvSpPr/>
              <p:nvPr/>
            </p:nvSpPr>
            <p:spPr>
              <a:xfrm>
                <a:off x="634288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3000"/>
                    </a:moveTo>
                    <a:cubicBezTo>
                      <a:pt x="20000" y="14404"/>
                      <a:pt x="19630" y="15783"/>
                      <a:pt x="18928" y="17000"/>
                    </a:cubicBezTo>
                    <a:cubicBezTo>
                      <a:pt x="18226" y="18216"/>
                      <a:pt x="17216" y="19226"/>
                      <a:pt x="16000" y="19928"/>
                    </a:cubicBezTo>
                    <a:cubicBezTo>
                      <a:pt x="14783" y="20630"/>
                      <a:pt x="13404" y="21000"/>
                      <a:pt x="12000" y="21000"/>
                    </a:cubicBezTo>
                    <a:cubicBezTo>
                      <a:pt x="10595" y="21000"/>
                      <a:pt x="9216" y="20630"/>
                      <a:pt x="8000" y="19928"/>
                    </a:cubicBezTo>
                    <a:cubicBezTo>
                      <a:pt x="6783" y="19226"/>
                      <a:pt x="5773" y="18216"/>
                      <a:pt x="5071" y="17000"/>
                    </a:cubicBezTo>
                    <a:cubicBezTo>
                      <a:pt x="4369" y="15783"/>
                      <a:pt x="4000" y="14404"/>
                      <a:pt x="4000" y="13000"/>
                    </a:cubicBezTo>
                    <a:cubicBezTo>
                      <a:pt x="4000" y="11595"/>
                      <a:pt x="4369" y="10216"/>
                      <a:pt x="5071" y="9000"/>
                    </a:cubicBezTo>
                    <a:cubicBezTo>
                      <a:pt x="5773" y="7783"/>
                      <a:pt x="6783" y="6773"/>
                      <a:pt x="7999" y="6071"/>
                    </a:cubicBezTo>
                    <a:cubicBezTo>
                      <a:pt x="9216" y="5369"/>
                      <a:pt x="10595" y="5000"/>
                      <a:pt x="11999" y="5000"/>
                    </a:cubicBezTo>
                    <a:cubicBezTo>
                      <a:pt x="13404" y="5000"/>
                      <a:pt x="14783" y="5369"/>
                      <a:pt x="16000" y="6071"/>
                    </a:cubicBezTo>
                    <a:cubicBezTo>
                      <a:pt x="17216" y="6773"/>
                      <a:pt x="18226" y="7783"/>
                      <a:pt x="18928" y="9000"/>
                    </a:cubicBezTo>
                    <a:cubicBezTo>
                      <a:pt x="19630" y="10216"/>
                      <a:pt x="20000" y="11595"/>
                      <a:pt x="20000" y="12999"/>
                    </a:cubicBezTo>
                    <a:close/>
                  </a:path>
                  <a:path w="24000" h="24000" fill="none">
                    <a:moveTo>
                      <a:pt x="12000" y="9000"/>
                    </a:moveTo>
                    <a:lnTo>
                      <a:pt x="12000" y="13000"/>
                    </a:lnTo>
                    <a:lnTo>
                      <a:pt x="14000" y="15000"/>
                    </a:lnTo>
                  </a:path>
                  <a:path w="24000" h="24000" fill="none">
                    <a:moveTo>
                      <a:pt x="5000" y="3000"/>
                    </a:moveTo>
                    <a:lnTo>
                      <a:pt x="2000" y="6000"/>
                    </a:lnTo>
                  </a:path>
                  <a:path w="24000" h="24000" fill="none">
                    <a:moveTo>
                      <a:pt x="22000" y="6000"/>
                    </a:moveTo>
                    <a:lnTo>
                      <a:pt x="19000" y="3000"/>
                    </a:lnTo>
                  </a:path>
                  <a:path w="24000" h="24000" fill="none">
                    <a:moveTo>
                      <a:pt x="6380" y="18700"/>
                    </a:moveTo>
                    <a:lnTo>
                      <a:pt x="4000" y="21000"/>
                    </a:lnTo>
                  </a:path>
                  <a:path w="24000" h="24000" fill="none">
                    <a:moveTo>
                      <a:pt x="17640" y="18670"/>
                    </a:moveTo>
                    <a:lnTo>
                      <a:pt x="20000" y="21000"/>
                    </a:lnTo>
                  </a:path>
                </a:pathLst>
              </a:custGeom>
              <a:noFill/>
              <a:ln w="11429" cap="rnd">
                <a:solidFill>
                  <a:srgbClr val="0C1927"/>
                </a:solidFill>
                <a:round/>
              </a:ln>
            </p:spPr>
          </p:sp>
          <p:sp>
            <p:nvSpPr>
              <p:cNvPr id="221" name="Tile title"/>
              <p:cNvSpPr txBox="1"/>
              <p:nvPr/>
            </p:nvSpPr>
            <p:spPr>
              <a:xfrm>
                <a:off x="652576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Shift change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22" name="Tile description"/>
              <p:cNvSpPr txBox="1"/>
              <p:nvPr/>
            </p:nvSpPr>
            <p:spPr>
              <a:xfrm>
                <a:off x="634288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Entries pending at shift end highlighted; file time used after a shift change</a:t>
                </a:r>
                <a:endParaRPr lang="en-US" sz="620" dirty="0">
                  <a:latin typeface="Inter"/>
                </a:endParaRPr>
              </a:p>
            </p:txBody>
          </p:sp>
        </p:grpSp>
        <p:cxnSp>
          <p:nvCxnSpPr>
            <p:cNvPr id="223" name="Tile divider"/>
            <p:cNvCxnSpPr/>
            <p:nvPr/>
          </p:nvCxnSpPr>
          <p:spPr>
            <a:xfrm>
              <a:off x="7519416" y="4133088"/>
              <a:ext cx="0" cy="512064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grpSp>
          <p:nvGrpSpPr>
            <p:cNvPr id="224" name="Reliability · Edit after upload"/>
            <p:cNvGrpSpPr/>
            <p:nvPr/>
          </p:nvGrpSpPr>
          <p:grpSpPr>
            <a:xfrm>
              <a:off x="7592568" y="4114800"/>
              <a:ext cx="1158240" cy="557784"/>
              <a:chOff x="7592568" y="4114800"/>
              <a:chExt cx="1158240" cy="557784"/>
            </a:xfrm>
          </p:grpSpPr>
          <p:sp>
            <p:nvSpPr>
              <p:cNvPr id="225" name="Icon lock"/>
              <p:cNvSpPr/>
              <p:nvPr/>
            </p:nvSpPr>
            <p:spPr>
              <a:xfrm>
                <a:off x="7592568" y="4128516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5000" y="11000"/>
                    </a:moveTo>
                    <a:lnTo>
                      <a:pt x="19000" y="11000"/>
                    </a:lnTo>
                    <a:cubicBezTo>
                      <a:pt x="19351" y="11000"/>
                      <a:pt x="19695" y="11092"/>
                      <a:pt x="20000" y="11267"/>
                    </a:cubicBezTo>
                    <a:cubicBezTo>
                      <a:pt x="20304" y="11443"/>
                      <a:pt x="20556" y="11695"/>
                      <a:pt x="20732" y="12000"/>
                    </a:cubicBezTo>
                    <a:cubicBezTo>
                      <a:pt x="20907" y="12304"/>
                      <a:pt x="21000" y="12648"/>
                      <a:pt x="21000" y="13000"/>
                    </a:cubicBezTo>
                    <a:lnTo>
                      <a:pt x="21000" y="20000"/>
                    </a:lnTo>
                    <a:cubicBezTo>
                      <a:pt x="21000" y="20351"/>
                      <a:pt x="20907" y="20695"/>
                      <a:pt x="20732" y="21000"/>
                    </a:cubicBezTo>
                    <a:cubicBezTo>
                      <a:pt x="20556" y="21304"/>
                      <a:pt x="20304" y="21556"/>
                      <a:pt x="20000" y="21732"/>
                    </a:cubicBezTo>
                    <a:cubicBezTo>
                      <a:pt x="19695" y="21907"/>
                      <a:pt x="19351" y="22000"/>
                      <a:pt x="19000" y="22000"/>
                    </a:cubicBezTo>
                    <a:lnTo>
                      <a:pt x="5000" y="22000"/>
                    </a:lnTo>
                    <a:cubicBezTo>
                      <a:pt x="4648" y="22000"/>
                      <a:pt x="4304" y="21907"/>
                      <a:pt x="4000" y="21732"/>
                    </a:cubicBezTo>
                    <a:cubicBezTo>
                      <a:pt x="3695" y="21556"/>
                      <a:pt x="3443" y="21304"/>
                      <a:pt x="3267" y="21000"/>
                    </a:cubicBezTo>
                    <a:cubicBezTo>
                      <a:pt x="3092" y="20695"/>
                      <a:pt x="3000" y="20351"/>
                      <a:pt x="3000" y="20000"/>
                    </a:cubicBezTo>
                    <a:lnTo>
                      <a:pt x="3000" y="13000"/>
                    </a:lnTo>
                    <a:cubicBezTo>
                      <a:pt x="3000" y="12648"/>
                      <a:pt x="3092" y="12304"/>
                      <a:pt x="3267" y="12000"/>
                    </a:cubicBezTo>
                    <a:cubicBezTo>
                      <a:pt x="3443" y="11695"/>
                      <a:pt x="3695" y="11443"/>
                      <a:pt x="3999" y="11267"/>
                    </a:cubicBezTo>
                    <a:cubicBezTo>
                      <a:pt x="4304" y="11092"/>
                      <a:pt x="4648" y="11000"/>
                      <a:pt x="5000" y="11000"/>
                    </a:cubicBezTo>
                    <a:close/>
                  </a:path>
                  <a:path w="24000" h="24000" fill="none">
                    <a:moveTo>
                      <a:pt x="7000" y="11000"/>
                    </a:moveTo>
                    <a:lnTo>
                      <a:pt x="7000" y="7000"/>
                    </a:lnTo>
                    <a:cubicBezTo>
                      <a:pt x="7000" y="6122"/>
                      <a:pt x="7231" y="5260"/>
                      <a:pt x="7669" y="4500"/>
                    </a:cubicBezTo>
                    <a:cubicBezTo>
                      <a:pt x="8108" y="3739"/>
                      <a:pt x="8739" y="3108"/>
                      <a:pt x="9499" y="2669"/>
                    </a:cubicBezTo>
                    <a:cubicBezTo>
                      <a:pt x="10260" y="2231"/>
                      <a:pt x="11122" y="2000"/>
                      <a:pt x="11999" y="2000"/>
                    </a:cubicBezTo>
                    <a:cubicBezTo>
                      <a:pt x="12877" y="1999"/>
                      <a:pt x="13739" y="2231"/>
                      <a:pt x="14500" y="2669"/>
                    </a:cubicBezTo>
                    <a:cubicBezTo>
                      <a:pt x="15260" y="3108"/>
                      <a:pt x="15891" y="3739"/>
                      <a:pt x="16330" y="4500"/>
                    </a:cubicBezTo>
                    <a:cubicBezTo>
                      <a:pt x="16768" y="5260"/>
                      <a:pt x="17000" y="6122"/>
                      <a:pt x="17000" y="7000"/>
                    </a:cubicBezTo>
                    <a:lnTo>
                      <a:pt x="17000" y="11000"/>
                    </a:lnTo>
                  </a:path>
                </a:pathLst>
              </a:custGeom>
              <a:noFill/>
              <a:ln w="11429" cap="rnd">
                <a:solidFill>
                  <a:srgbClr val="0C1927"/>
                </a:solidFill>
                <a:round/>
              </a:ln>
            </p:spPr>
          </p:sp>
          <p:sp>
            <p:nvSpPr>
              <p:cNvPr id="226" name="Tile title"/>
              <p:cNvSpPr txBox="1"/>
              <p:nvPr/>
            </p:nvSpPr>
            <p:spPr>
              <a:xfrm>
                <a:off x="7775448" y="4114800"/>
                <a:ext cx="975360" cy="219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67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Edit after upload</a:t>
                </a:r>
                <a:endParaRPr lang="en-US" sz="670" dirty="0">
                  <a:latin typeface="Inter SemiBold"/>
                </a:endParaRPr>
              </a:p>
            </p:txBody>
          </p:sp>
          <p:sp>
            <p:nvSpPr>
              <p:cNvPr id="227" name="Tile description"/>
              <p:cNvSpPr txBox="1"/>
              <p:nvPr/>
            </p:nvSpPr>
            <p:spPr>
              <a:xfrm>
                <a:off x="7592568" y="4361688"/>
                <a:ext cx="115824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Pressure and hold time locked once the entry is uploaded</a:t>
                </a:r>
                <a:endParaRPr lang="en-US" sz="620" dirty="0">
                  <a:latin typeface="Inter"/>
                </a:endParaRPr>
              </a:p>
            </p:txBody>
          </p:sp>
        </p:grpSp>
      </p:grpSp>
      <p:grpSp>
        <p:nvGrpSpPr>
          <p:cNvPr id="228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29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30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01  ·  UT STATIONS (IUT &amp; FUT)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Network Architecture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Data flow and configuration for the UT stations. Items marked TBC are to be confirmed with Welspun IT and SAP teams.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Zone · IUT &amp; FUT stations"/>
          <p:cNvGrpSpPr/>
          <p:nvPr/>
        </p:nvGrpSpPr>
        <p:grpSpPr>
          <a:xfrm>
            <a:off x="274320" y="1033272"/>
            <a:ext cx="2249424" cy="1856232"/>
            <a:chOff x="274320" y="1033272"/>
            <a:chExt cx="2249424" cy="1856232"/>
          </a:xfrm>
        </p:grpSpPr>
        <p:sp>
          <p:nvSpPr>
            <p:cNvPr id="22" name="Zone boundary"/>
            <p:cNvSpPr/>
            <p:nvPr/>
          </p:nvSpPr>
          <p:spPr>
            <a:xfrm>
              <a:off x="274320" y="1033272"/>
              <a:ext cx="2249424" cy="1856232"/>
            </a:xfrm>
            <a:prstGeom prst="roundRect">
              <a:avLst>
                <a:gd name="adj" fmla="val 3940"/>
              </a:avLst>
            </a:prstGeom>
            <a:solidFill>
              <a:srgbClr val="F8FAFC"/>
            </a:solidFill>
            <a:ln w="9525">
              <a:solidFill>
                <a:srgbClr val="CBD5E2"/>
              </a:solidFill>
              <a:prstDash val="dash"/>
              <a:round/>
            </a:ln>
          </p:spPr>
        </p:sp>
        <p:sp>
          <p:nvSpPr>
            <p:cNvPr id="23" name="Icon factory"/>
            <p:cNvSpPr/>
            <p:nvPr/>
          </p:nvSpPr>
          <p:spPr>
            <a:xfrm>
              <a:off x="365760" y="111099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6000"/>
                  </a:moveTo>
                  <a:lnTo>
                    <a:pt x="12010" y="16000"/>
                  </a:lnTo>
                </a:path>
                <a:path w="24000" h="24000" fill="none">
                  <a:moveTo>
                    <a:pt x="16000" y="16000"/>
                  </a:moveTo>
                  <a:lnTo>
                    <a:pt x="16010" y="16000"/>
                  </a:lnTo>
                </a:path>
                <a:path w="24000" h="24000" fill="none">
                  <a:moveTo>
                    <a:pt x="3000" y="19000"/>
                  </a:moveTo>
                  <a:cubicBezTo>
                    <a:pt x="3000" y="19351"/>
                    <a:pt x="3092" y="19695"/>
                    <a:pt x="3267" y="20000"/>
                  </a:cubicBezTo>
                  <a:cubicBezTo>
                    <a:pt x="3443" y="20304"/>
                    <a:pt x="3695" y="20556"/>
                    <a:pt x="3999" y="20732"/>
                  </a:cubicBezTo>
                  <a:cubicBezTo>
                    <a:pt x="4304" y="20907"/>
                    <a:pt x="4648" y="21000"/>
                    <a:pt x="5000" y="21000"/>
                  </a:cubicBezTo>
                  <a:lnTo>
                    <a:pt x="19000" y="21000"/>
                  </a:lnTo>
                  <a:cubicBezTo>
                    <a:pt x="19351" y="21000"/>
                    <a:pt x="19695" y="20907"/>
                    <a:pt x="20000" y="20732"/>
                  </a:cubicBezTo>
                  <a:cubicBezTo>
                    <a:pt x="20304" y="20556"/>
                    <a:pt x="20556" y="20304"/>
                    <a:pt x="20732" y="20000"/>
                  </a:cubicBezTo>
                  <a:cubicBezTo>
                    <a:pt x="20907" y="19695"/>
                    <a:pt x="21000" y="19351"/>
                    <a:pt x="21000" y="19000"/>
                  </a:cubicBezTo>
                  <a:lnTo>
                    <a:pt x="21000" y="8500"/>
                  </a:lnTo>
                  <a:cubicBezTo>
                    <a:pt x="21000" y="8428"/>
                    <a:pt x="20984" y="8357"/>
                    <a:pt x="20955" y="8292"/>
                  </a:cubicBezTo>
                  <a:cubicBezTo>
                    <a:pt x="20925" y="8227"/>
                    <a:pt x="20882" y="8169"/>
                    <a:pt x="20828" y="8122"/>
                  </a:cubicBezTo>
                  <a:cubicBezTo>
                    <a:pt x="20774" y="8075"/>
                    <a:pt x="20710" y="8040"/>
                    <a:pt x="20641" y="8020"/>
                  </a:cubicBezTo>
                  <a:cubicBezTo>
                    <a:pt x="20573" y="7999"/>
                    <a:pt x="20501" y="7994"/>
                    <a:pt x="20430" y="8004"/>
                  </a:cubicBezTo>
                  <a:cubicBezTo>
                    <a:pt x="20359" y="8014"/>
                    <a:pt x="20291" y="8039"/>
                    <a:pt x="20231" y="8077"/>
                  </a:cubicBezTo>
                  <a:lnTo>
                    <a:pt x="15769" y="10921"/>
                  </a:lnTo>
                  <a:cubicBezTo>
                    <a:pt x="15708" y="10960"/>
                    <a:pt x="15640" y="10985"/>
                    <a:pt x="15569" y="10995"/>
                  </a:cubicBezTo>
                  <a:cubicBezTo>
                    <a:pt x="15498" y="11005"/>
                    <a:pt x="15426" y="11000"/>
                    <a:pt x="15358" y="10979"/>
                  </a:cubicBezTo>
                  <a:cubicBezTo>
                    <a:pt x="15289" y="10959"/>
                    <a:pt x="15225" y="10924"/>
                    <a:pt x="15171" y="10877"/>
                  </a:cubicBezTo>
                  <a:cubicBezTo>
                    <a:pt x="15117" y="10830"/>
                    <a:pt x="15074" y="10772"/>
                    <a:pt x="15044" y="10707"/>
                  </a:cubicBezTo>
                  <a:cubicBezTo>
                    <a:pt x="15015" y="10642"/>
                    <a:pt x="14999" y="10571"/>
                    <a:pt x="15000" y="10500"/>
                  </a:cubicBezTo>
                  <a:lnTo>
                    <a:pt x="15000" y="8500"/>
                  </a:lnTo>
                  <a:cubicBezTo>
                    <a:pt x="15000" y="8428"/>
                    <a:pt x="14984" y="8357"/>
                    <a:pt x="14955" y="8292"/>
                  </a:cubicBezTo>
                  <a:cubicBezTo>
                    <a:pt x="14925" y="8227"/>
                    <a:pt x="14882" y="8169"/>
                    <a:pt x="14828" y="8122"/>
                  </a:cubicBezTo>
                  <a:cubicBezTo>
                    <a:pt x="14774" y="8075"/>
                    <a:pt x="14710" y="8040"/>
                    <a:pt x="14641" y="8020"/>
                  </a:cubicBezTo>
                  <a:cubicBezTo>
                    <a:pt x="14573" y="7999"/>
                    <a:pt x="14501" y="7994"/>
                    <a:pt x="14430" y="8004"/>
                  </a:cubicBezTo>
                  <a:cubicBezTo>
                    <a:pt x="14359" y="8014"/>
                    <a:pt x="14291" y="8039"/>
                    <a:pt x="14231" y="8077"/>
                  </a:cubicBezTo>
                  <a:lnTo>
                    <a:pt x="9770" y="10922"/>
                  </a:lnTo>
                  <a:cubicBezTo>
                    <a:pt x="9709" y="10960"/>
                    <a:pt x="9641" y="10986"/>
                    <a:pt x="9570" y="10996"/>
                  </a:cubicBezTo>
                  <a:cubicBezTo>
                    <a:pt x="9499" y="11006"/>
                    <a:pt x="9427" y="11001"/>
                    <a:pt x="9358" y="10980"/>
                  </a:cubicBezTo>
                  <a:cubicBezTo>
                    <a:pt x="9289" y="10960"/>
                    <a:pt x="9226" y="10925"/>
                    <a:pt x="9171" y="10878"/>
                  </a:cubicBezTo>
                  <a:cubicBezTo>
                    <a:pt x="9117" y="10831"/>
                    <a:pt x="9074" y="10773"/>
                    <a:pt x="9044" y="10707"/>
                  </a:cubicBezTo>
                  <a:cubicBezTo>
                    <a:pt x="9015" y="10642"/>
                    <a:pt x="8999" y="10571"/>
                    <a:pt x="9000" y="10500"/>
                  </a:cubicBezTo>
                  <a:lnTo>
                    <a:pt x="9000" y="5000"/>
                  </a:lnTo>
                  <a:cubicBezTo>
                    <a:pt x="9000" y="4648"/>
                    <a:pt x="8907" y="4304"/>
                    <a:pt x="8732" y="4000"/>
                  </a:cubicBezTo>
                  <a:cubicBezTo>
                    <a:pt x="8556" y="3695"/>
                    <a:pt x="8304" y="3443"/>
                    <a:pt x="8000" y="3267"/>
                  </a:cubicBezTo>
                  <a:cubicBezTo>
                    <a:pt x="7695" y="3092"/>
                    <a:pt x="7351" y="3000"/>
                    <a:pt x="7000" y="3000"/>
                  </a:cubicBezTo>
                  <a:lnTo>
                    <a:pt x="5000" y="3000"/>
                  </a:lnTo>
                  <a:cubicBezTo>
                    <a:pt x="4648" y="3000"/>
                    <a:pt x="4304" y="3092"/>
                    <a:pt x="4000" y="3267"/>
                  </a:cubicBezTo>
                  <a:cubicBezTo>
                    <a:pt x="3695" y="3443"/>
                    <a:pt x="3443" y="3695"/>
                    <a:pt x="3267" y="3999"/>
                  </a:cubicBezTo>
                  <a:cubicBezTo>
                    <a:pt x="3092" y="4304"/>
                    <a:pt x="3000" y="4648"/>
                    <a:pt x="3000" y="5000"/>
                  </a:cubicBezTo>
                  <a:close/>
                </a:path>
                <a:path w="24000" h="24000" fill="none">
                  <a:moveTo>
                    <a:pt x="8000" y="16000"/>
                  </a:moveTo>
                  <a:lnTo>
                    <a:pt x="8010" y="16000"/>
                  </a:lnTo>
                </a:path>
              </a:pathLst>
            </a:custGeom>
            <a:noFill/>
            <a:ln w="11734" cap="rnd">
              <a:solidFill>
                <a:srgbClr val="165FF2"/>
              </a:solidFill>
              <a:round/>
            </a:ln>
          </p:spPr>
        </p:sp>
        <p:sp>
          <p:nvSpPr>
            <p:cNvPr id="24" name="Zone label"/>
            <p:cNvSpPr txBox="1"/>
            <p:nvPr/>
          </p:nvSpPr>
          <p:spPr>
            <a:xfrm>
              <a:off x="539496" y="1088136"/>
              <a:ext cx="1929384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79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IUT &amp; FUT STATIONS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25" name="Zone · Welspun IT network"/>
          <p:cNvGrpSpPr/>
          <p:nvPr/>
        </p:nvGrpSpPr>
        <p:grpSpPr>
          <a:xfrm>
            <a:off x="3054096" y="1033272"/>
            <a:ext cx="2926080" cy="1856232"/>
            <a:chOff x="3054096" y="1033272"/>
            <a:chExt cx="2926080" cy="1856232"/>
          </a:xfrm>
        </p:grpSpPr>
        <p:sp>
          <p:nvSpPr>
            <p:cNvPr id="26" name="Zone boundary"/>
            <p:cNvSpPr/>
            <p:nvPr/>
          </p:nvSpPr>
          <p:spPr>
            <a:xfrm>
              <a:off x="3054096" y="1033272"/>
              <a:ext cx="2926080" cy="1856232"/>
            </a:xfrm>
            <a:prstGeom prst="roundRect">
              <a:avLst>
                <a:gd name="adj" fmla="val 3940"/>
              </a:avLst>
            </a:prstGeom>
            <a:solidFill>
              <a:srgbClr val="F8FAFC"/>
            </a:solidFill>
            <a:ln w="9525">
              <a:solidFill>
                <a:srgbClr val="CBD5E2"/>
              </a:solidFill>
              <a:prstDash val="dash"/>
              <a:round/>
            </a:ln>
          </p:spPr>
        </p:sp>
        <p:sp>
          <p:nvSpPr>
            <p:cNvPr id="27" name="Icon network"/>
            <p:cNvSpPr/>
            <p:nvPr/>
          </p:nvSpPr>
          <p:spPr>
            <a:xfrm>
              <a:off x="3145536" y="111099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6000"/>
                  </a:moveTo>
                  <a:lnTo>
                    <a:pt x="21000" y="16000"/>
                  </a:lnTo>
                  <a:cubicBezTo>
                    <a:pt x="21175" y="16000"/>
                    <a:pt x="21347" y="16046"/>
                    <a:pt x="21500" y="16133"/>
                  </a:cubicBezTo>
                  <a:cubicBezTo>
                    <a:pt x="21652" y="16221"/>
                    <a:pt x="21778" y="16347"/>
                    <a:pt x="21866" y="16500"/>
                  </a:cubicBezTo>
                  <a:cubicBezTo>
                    <a:pt x="21953" y="16652"/>
                    <a:pt x="22000" y="16824"/>
                    <a:pt x="22000" y="17000"/>
                  </a:cubicBezTo>
                  <a:lnTo>
                    <a:pt x="22000" y="21000"/>
                  </a:lnTo>
                  <a:cubicBezTo>
                    <a:pt x="22000" y="21175"/>
                    <a:pt x="21953" y="21347"/>
                    <a:pt x="21866" y="21500"/>
                  </a:cubicBezTo>
                  <a:cubicBezTo>
                    <a:pt x="21778" y="21652"/>
                    <a:pt x="21652" y="21778"/>
                    <a:pt x="21500" y="21866"/>
                  </a:cubicBezTo>
                  <a:cubicBezTo>
                    <a:pt x="21347" y="21953"/>
                    <a:pt x="21175" y="22000"/>
                    <a:pt x="21000" y="22000"/>
                  </a:cubicBezTo>
                  <a:lnTo>
                    <a:pt x="17000" y="22000"/>
                  </a:lnTo>
                  <a:cubicBezTo>
                    <a:pt x="16824" y="22000"/>
                    <a:pt x="16652" y="21953"/>
                    <a:pt x="16500" y="21866"/>
                  </a:cubicBezTo>
                  <a:cubicBezTo>
                    <a:pt x="16347" y="21778"/>
                    <a:pt x="16221" y="21652"/>
                    <a:pt x="16133" y="21500"/>
                  </a:cubicBezTo>
                  <a:cubicBezTo>
                    <a:pt x="16046" y="21347"/>
                    <a:pt x="16000" y="21175"/>
                    <a:pt x="16000" y="21000"/>
                  </a:cubicBezTo>
                  <a:lnTo>
                    <a:pt x="16000" y="17000"/>
                  </a:lnTo>
                  <a:cubicBezTo>
                    <a:pt x="16000" y="16824"/>
                    <a:pt x="16046" y="16652"/>
                    <a:pt x="16133" y="16500"/>
                  </a:cubicBezTo>
                  <a:cubicBezTo>
                    <a:pt x="16221" y="16347"/>
                    <a:pt x="16347" y="16221"/>
                    <a:pt x="16500" y="16133"/>
                  </a:cubicBezTo>
                  <a:cubicBezTo>
                    <a:pt x="16652" y="16046"/>
                    <a:pt x="16824" y="16000"/>
                    <a:pt x="17000" y="16000"/>
                  </a:cubicBezTo>
                  <a:close/>
                </a:path>
                <a:path w="24000" h="24000" fill="none">
                  <a:moveTo>
                    <a:pt x="3000" y="16000"/>
                  </a:moveTo>
                  <a:lnTo>
                    <a:pt x="7000" y="16000"/>
                  </a:lnTo>
                  <a:cubicBezTo>
                    <a:pt x="7175" y="16000"/>
                    <a:pt x="7347" y="16046"/>
                    <a:pt x="7500" y="16133"/>
                  </a:cubicBezTo>
                  <a:cubicBezTo>
                    <a:pt x="7652" y="16221"/>
                    <a:pt x="7778" y="16347"/>
                    <a:pt x="7866" y="16500"/>
                  </a:cubicBezTo>
                  <a:cubicBezTo>
                    <a:pt x="7953" y="16652"/>
                    <a:pt x="8000" y="16824"/>
                    <a:pt x="8000" y="17000"/>
                  </a:cubicBezTo>
                  <a:lnTo>
                    <a:pt x="8000" y="21000"/>
                  </a:lnTo>
                  <a:cubicBezTo>
                    <a:pt x="8000" y="21175"/>
                    <a:pt x="7953" y="21347"/>
                    <a:pt x="7866" y="21500"/>
                  </a:cubicBezTo>
                  <a:cubicBezTo>
                    <a:pt x="7778" y="21652"/>
                    <a:pt x="7652" y="21778"/>
                    <a:pt x="7500" y="21866"/>
                  </a:cubicBezTo>
                  <a:cubicBezTo>
                    <a:pt x="7347" y="21953"/>
                    <a:pt x="7175" y="22000"/>
                    <a:pt x="7000" y="22000"/>
                  </a:cubicBezTo>
                  <a:lnTo>
                    <a:pt x="3000" y="22000"/>
                  </a:lnTo>
                  <a:cubicBezTo>
                    <a:pt x="2824" y="22000"/>
                    <a:pt x="2652" y="21953"/>
                    <a:pt x="2500" y="21866"/>
                  </a:cubicBezTo>
                  <a:cubicBezTo>
                    <a:pt x="2347" y="21778"/>
                    <a:pt x="2221" y="21652"/>
                    <a:pt x="2133" y="21500"/>
                  </a:cubicBezTo>
                  <a:cubicBezTo>
                    <a:pt x="2046" y="21347"/>
                    <a:pt x="2000" y="21175"/>
                    <a:pt x="2000" y="21000"/>
                  </a:cubicBezTo>
                  <a:lnTo>
                    <a:pt x="2000" y="17000"/>
                  </a:lnTo>
                  <a:cubicBezTo>
                    <a:pt x="2000" y="16824"/>
                    <a:pt x="2046" y="16652"/>
                    <a:pt x="2133" y="16500"/>
                  </a:cubicBezTo>
                  <a:cubicBezTo>
                    <a:pt x="2221" y="16347"/>
                    <a:pt x="2347" y="16221"/>
                    <a:pt x="2499" y="16133"/>
                  </a:cubicBezTo>
                  <a:cubicBezTo>
                    <a:pt x="2652" y="16046"/>
                    <a:pt x="2824" y="16000"/>
                    <a:pt x="3000" y="16000"/>
                  </a:cubicBezTo>
                  <a:close/>
                </a:path>
                <a:path w="24000" h="24000" fill="none">
                  <a:moveTo>
                    <a:pt x="10000" y="2000"/>
                  </a:moveTo>
                  <a:lnTo>
                    <a:pt x="14000" y="2000"/>
                  </a:lnTo>
                  <a:cubicBezTo>
                    <a:pt x="14175" y="2000"/>
                    <a:pt x="14347" y="2046"/>
                    <a:pt x="14500" y="2133"/>
                  </a:cubicBezTo>
                  <a:cubicBezTo>
                    <a:pt x="14652" y="2221"/>
                    <a:pt x="14778" y="2347"/>
                    <a:pt x="14866" y="2500"/>
                  </a:cubicBezTo>
                  <a:cubicBezTo>
                    <a:pt x="14953" y="2652"/>
                    <a:pt x="15000" y="2824"/>
                    <a:pt x="15000" y="3000"/>
                  </a:cubicBezTo>
                  <a:lnTo>
                    <a:pt x="15000" y="7000"/>
                  </a:lnTo>
                  <a:cubicBezTo>
                    <a:pt x="15000" y="7175"/>
                    <a:pt x="14953" y="7347"/>
                    <a:pt x="14866" y="7500"/>
                  </a:cubicBezTo>
                  <a:cubicBezTo>
                    <a:pt x="14778" y="7652"/>
                    <a:pt x="14652" y="7778"/>
                    <a:pt x="14500" y="7866"/>
                  </a:cubicBezTo>
                  <a:cubicBezTo>
                    <a:pt x="14347" y="7953"/>
                    <a:pt x="14175" y="8000"/>
                    <a:pt x="14000" y="8000"/>
                  </a:cubicBezTo>
                  <a:lnTo>
                    <a:pt x="10000" y="8000"/>
                  </a:lnTo>
                  <a:cubicBezTo>
                    <a:pt x="9824" y="8000"/>
                    <a:pt x="9652" y="7953"/>
                    <a:pt x="9500" y="7866"/>
                  </a:cubicBezTo>
                  <a:cubicBezTo>
                    <a:pt x="9347" y="7778"/>
                    <a:pt x="9221" y="7652"/>
                    <a:pt x="9133" y="7500"/>
                  </a:cubicBezTo>
                  <a:cubicBezTo>
                    <a:pt x="9046" y="7347"/>
                    <a:pt x="9000" y="7175"/>
                    <a:pt x="9000" y="7000"/>
                  </a:cubicBezTo>
                  <a:lnTo>
                    <a:pt x="9000" y="3000"/>
                  </a:lnTo>
                  <a:cubicBezTo>
                    <a:pt x="9000" y="2824"/>
                    <a:pt x="9046" y="2652"/>
                    <a:pt x="9133" y="2500"/>
                  </a:cubicBezTo>
                  <a:cubicBezTo>
                    <a:pt x="9221" y="2347"/>
                    <a:pt x="9347" y="2221"/>
                    <a:pt x="9500" y="2133"/>
                  </a:cubicBezTo>
                  <a:cubicBezTo>
                    <a:pt x="9652" y="2046"/>
                    <a:pt x="9824" y="2000"/>
                    <a:pt x="10000" y="2000"/>
                  </a:cubicBezTo>
                  <a:close/>
                </a:path>
                <a:path w="24000" h="24000" fill="none">
                  <a:moveTo>
                    <a:pt x="5000" y="16000"/>
                  </a:moveTo>
                  <a:lnTo>
                    <a:pt x="5000" y="13000"/>
                  </a:lnTo>
                  <a:cubicBezTo>
                    <a:pt x="5000" y="12824"/>
                    <a:pt x="5046" y="12652"/>
                    <a:pt x="5133" y="12500"/>
                  </a:cubicBezTo>
                  <a:cubicBezTo>
                    <a:pt x="5221" y="12347"/>
                    <a:pt x="5347" y="12221"/>
                    <a:pt x="5500" y="12133"/>
                  </a:cubicBezTo>
                  <a:cubicBezTo>
                    <a:pt x="5652" y="12046"/>
                    <a:pt x="5824" y="12000"/>
                    <a:pt x="6000" y="12000"/>
                  </a:cubicBezTo>
                  <a:lnTo>
                    <a:pt x="18000" y="12000"/>
                  </a:lnTo>
                  <a:cubicBezTo>
                    <a:pt x="18175" y="12000"/>
                    <a:pt x="18347" y="12046"/>
                    <a:pt x="18500" y="12133"/>
                  </a:cubicBezTo>
                  <a:cubicBezTo>
                    <a:pt x="18652" y="12221"/>
                    <a:pt x="18778" y="12347"/>
                    <a:pt x="18866" y="12500"/>
                  </a:cubicBezTo>
                  <a:cubicBezTo>
                    <a:pt x="18953" y="12652"/>
                    <a:pt x="19000" y="12824"/>
                    <a:pt x="19000" y="13000"/>
                  </a:cubicBezTo>
                  <a:lnTo>
                    <a:pt x="19000" y="16000"/>
                  </a:lnTo>
                </a:path>
                <a:path w="24000" h="24000" fill="none">
                  <a:moveTo>
                    <a:pt x="12000" y="12000"/>
                  </a:moveTo>
                  <a:lnTo>
                    <a:pt x="12000" y="8000"/>
                  </a:lnTo>
                </a:path>
              </a:pathLst>
            </a:custGeom>
            <a:noFill/>
            <a:ln w="11734" cap="rnd">
              <a:solidFill>
                <a:srgbClr val="165FF2"/>
              </a:solidFill>
              <a:round/>
            </a:ln>
          </p:spPr>
        </p:sp>
        <p:sp>
          <p:nvSpPr>
            <p:cNvPr id="28" name="Zone label"/>
            <p:cNvSpPr txBox="1"/>
            <p:nvPr/>
          </p:nvSpPr>
          <p:spPr>
            <a:xfrm>
              <a:off x="3319272" y="1088136"/>
              <a:ext cx="26060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79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IT NETWORK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29" name="Zone · Welspun systems"/>
          <p:cNvGrpSpPr/>
          <p:nvPr/>
        </p:nvGrpSpPr>
        <p:grpSpPr>
          <a:xfrm>
            <a:off x="6510528" y="1033272"/>
            <a:ext cx="2359152" cy="1856232"/>
            <a:chOff x="6510528" y="1033272"/>
            <a:chExt cx="2359152" cy="1856232"/>
          </a:xfrm>
        </p:grpSpPr>
        <p:sp>
          <p:nvSpPr>
            <p:cNvPr id="30" name="Zone boundary"/>
            <p:cNvSpPr/>
            <p:nvPr/>
          </p:nvSpPr>
          <p:spPr>
            <a:xfrm>
              <a:off x="6510528" y="1033272"/>
              <a:ext cx="2359152" cy="1856232"/>
            </a:xfrm>
            <a:prstGeom prst="roundRect">
              <a:avLst>
                <a:gd name="adj" fmla="val 3940"/>
              </a:avLst>
            </a:prstGeom>
            <a:solidFill>
              <a:srgbClr val="F8FAFC"/>
            </a:solidFill>
            <a:ln w="9525">
              <a:solidFill>
                <a:srgbClr val="CBD5E2"/>
              </a:solidFill>
              <a:prstDash val="dash"/>
              <a:round/>
            </a:ln>
          </p:spPr>
        </p:sp>
        <p:sp>
          <p:nvSpPr>
            <p:cNvPr id="31" name="Icon building-2"/>
            <p:cNvSpPr/>
            <p:nvPr/>
          </p:nvSpPr>
          <p:spPr>
            <a:xfrm>
              <a:off x="6601968" y="111099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2000"/>
                  </a:moveTo>
                  <a:lnTo>
                    <a:pt x="14000" y="12000"/>
                  </a:lnTo>
                </a:path>
                <a:path w="24000" h="24000" fill="none">
                  <a:moveTo>
                    <a:pt x="10000" y="8000"/>
                  </a:moveTo>
                  <a:lnTo>
                    <a:pt x="14000" y="8000"/>
                  </a:lnTo>
                </a:path>
                <a:path w="24000" h="24000" fill="none">
                  <a:moveTo>
                    <a:pt x="14000" y="21000"/>
                  </a:moveTo>
                  <a:lnTo>
                    <a:pt x="14000" y="18000"/>
                  </a:lnTo>
                  <a:cubicBezTo>
                    <a:pt x="14000" y="17648"/>
                    <a:pt x="13907" y="17304"/>
                    <a:pt x="13732" y="17000"/>
                  </a:cubicBezTo>
                  <a:cubicBezTo>
                    <a:pt x="13556" y="16695"/>
                    <a:pt x="13304" y="16443"/>
                    <a:pt x="13000" y="16267"/>
                  </a:cubicBezTo>
                  <a:cubicBezTo>
                    <a:pt x="12695" y="16092"/>
                    <a:pt x="12351" y="16000"/>
                    <a:pt x="12000" y="16000"/>
                  </a:cubicBezTo>
                  <a:cubicBezTo>
                    <a:pt x="11648" y="16000"/>
                    <a:pt x="11304" y="16092"/>
                    <a:pt x="11000" y="16267"/>
                  </a:cubicBezTo>
                  <a:cubicBezTo>
                    <a:pt x="10695" y="16443"/>
                    <a:pt x="10443" y="16695"/>
                    <a:pt x="10267" y="17000"/>
                  </a:cubicBezTo>
                  <a:cubicBezTo>
                    <a:pt x="10092" y="17304"/>
                    <a:pt x="10000" y="17648"/>
                    <a:pt x="10000" y="18000"/>
                  </a:cubicBezTo>
                  <a:lnTo>
                    <a:pt x="10000" y="21000"/>
                  </a:lnTo>
                </a:path>
                <a:path w="24000" h="24000" fill="none">
                  <a:moveTo>
                    <a:pt x="6000" y="10000"/>
                  </a:moveTo>
                  <a:lnTo>
                    <a:pt x="4000" y="10000"/>
                  </a:lnTo>
                  <a:cubicBezTo>
                    <a:pt x="3648" y="10000"/>
                    <a:pt x="3304" y="10092"/>
                    <a:pt x="3000" y="10267"/>
                  </a:cubicBezTo>
                  <a:cubicBezTo>
                    <a:pt x="2695" y="10443"/>
                    <a:pt x="2443" y="10695"/>
                    <a:pt x="2267" y="11000"/>
                  </a:cubicBezTo>
                  <a:cubicBezTo>
                    <a:pt x="2092" y="11304"/>
                    <a:pt x="2000" y="11648"/>
                    <a:pt x="2000" y="12000"/>
                  </a:cubicBezTo>
                  <a:lnTo>
                    <a:pt x="2000" y="19000"/>
                  </a:lnTo>
                  <a:cubicBezTo>
                    <a:pt x="2000" y="19351"/>
                    <a:pt x="2092" y="19695"/>
                    <a:pt x="2267" y="20000"/>
                  </a:cubicBezTo>
                  <a:cubicBezTo>
                    <a:pt x="2443" y="20304"/>
                    <a:pt x="2695" y="20556"/>
                    <a:pt x="2999" y="20732"/>
                  </a:cubicBezTo>
                  <a:cubicBezTo>
                    <a:pt x="3304" y="20907"/>
                    <a:pt x="3648" y="21000"/>
                    <a:pt x="4000" y="21000"/>
                  </a:cubicBezTo>
                  <a:lnTo>
                    <a:pt x="20000" y="21000"/>
                  </a:lnTo>
                  <a:cubicBezTo>
                    <a:pt x="20351" y="21000"/>
                    <a:pt x="20695" y="20907"/>
                    <a:pt x="21000" y="20732"/>
                  </a:cubicBezTo>
                  <a:cubicBezTo>
                    <a:pt x="21304" y="20556"/>
                    <a:pt x="21556" y="20304"/>
                    <a:pt x="21732" y="20000"/>
                  </a:cubicBezTo>
                  <a:cubicBezTo>
                    <a:pt x="21907" y="19695"/>
                    <a:pt x="22000" y="19351"/>
                    <a:pt x="22000" y="19000"/>
                  </a:cubicBezTo>
                  <a:lnTo>
                    <a:pt x="22000" y="9000"/>
                  </a:lnTo>
                  <a:cubicBezTo>
                    <a:pt x="22000" y="8648"/>
                    <a:pt x="21907" y="8304"/>
                    <a:pt x="21732" y="8000"/>
                  </a:cubicBezTo>
                  <a:cubicBezTo>
                    <a:pt x="21556" y="7695"/>
                    <a:pt x="21304" y="7443"/>
                    <a:pt x="21000" y="7267"/>
                  </a:cubicBezTo>
                  <a:cubicBezTo>
                    <a:pt x="20695" y="7092"/>
                    <a:pt x="20351" y="7000"/>
                    <a:pt x="20000" y="7000"/>
                  </a:cubicBezTo>
                  <a:lnTo>
                    <a:pt x="18000" y="7000"/>
                  </a:lnTo>
                </a:path>
                <a:path w="24000" h="24000" fill="none">
                  <a:moveTo>
                    <a:pt x="6000" y="21000"/>
                  </a:moveTo>
                  <a:lnTo>
                    <a:pt x="6000" y="5000"/>
                  </a:lnTo>
                  <a:cubicBezTo>
                    <a:pt x="6000" y="4648"/>
                    <a:pt x="6092" y="4304"/>
                    <a:pt x="6267" y="4000"/>
                  </a:cubicBezTo>
                  <a:cubicBezTo>
                    <a:pt x="6443" y="3695"/>
                    <a:pt x="6695" y="3443"/>
                    <a:pt x="6999" y="3267"/>
                  </a:cubicBezTo>
                  <a:cubicBezTo>
                    <a:pt x="7304" y="3092"/>
                    <a:pt x="7648" y="3000"/>
                    <a:pt x="8000" y="3000"/>
                  </a:cubicBezTo>
                  <a:lnTo>
                    <a:pt x="16000" y="3000"/>
                  </a:lnTo>
                  <a:cubicBezTo>
                    <a:pt x="16351" y="3000"/>
                    <a:pt x="16695" y="3092"/>
                    <a:pt x="17000" y="3267"/>
                  </a:cubicBezTo>
                  <a:cubicBezTo>
                    <a:pt x="17304" y="3443"/>
                    <a:pt x="17556" y="3695"/>
                    <a:pt x="17732" y="4000"/>
                  </a:cubicBezTo>
                  <a:cubicBezTo>
                    <a:pt x="17907" y="4304"/>
                    <a:pt x="18000" y="4648"/>
                    <a:pt x="18000" y="5000"/>
                  </a:cubicBezTo>
                  <a:lnTo>
                    <a:pt x="18000" y="21000"/>
                  </a:lnTo>
                </a:path>
              </a:pathLst>
            </a:custGeom>
            <a:noFill/>
            <a:ln w="11734" cap="rnd">
              <a:solidFill>
                <a:srgbClr val="165FF2"/>
              </a:solidFill>
              <a:round/>
            </a:ln>
          </p:spPr>
        </p:sp>
        <p:sp>
          <p:nvSpPr>
            <p:cNvPr id="32" name="Zone label"/>
            <p:cNvSpPr txBox="1"/>
            <p:nvPr/>
          </p:nvSpPr>
          <p:spPr>
            <a:xfrm>
              <a:off x="6775704" y="1088136"/>
              <a:ext cx="2039112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79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SYSTEMS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33" name="Device · IUT · UT testing machine"/>
          <p:cNvGrpSpPr/>
          <p:nvPr/>
        </p:nvGrpSpPr>
        <p:grpSpPr>
          <a:xfrm>
            <a:off x="365760" y="1298448"/>
            <a:ext cx="2066544" cy="457200"/>
            <a:chOff x="365760" y="1298448"/>
            <a:chExt cx="2066544" cy="457200"/>
          </a:xfrm>
        </p:grpSpPr>
        <p:sp>
          <p:nvSpPr>
            <p:cNvPr id="34" name="Device card"/>
            <p:cNvSpPr/>
            <p:nvPr/>
          </p:nvSpPr>
          <p:spPr>
            <a:xfrm>
              <a:off x="365760" y="1298448"/>
              <a:ext cx="2066544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35" name="Icon tile"/>
            <p:cNvSpPr/>
            <p:nvPr/>
          </p:nvSpPr>
          <p:spPr>
            <a:xfrm>
              <a:off x="438912" y="1389888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165FF2">
                <a:alpha val="9000"/>
              </a:srgbClr>
            </a:solidFill>
            <a:ln>
              <a:noFill/>
            </a:ln>
          </p:spPr>
        </p:sp>
        <p:sp>
          <p:nvSpPr>
            <p:cNvPr id="36" name="Icon monitor"/>
            <p:cNvSpPr/>
            <p:nvPr/>
          </p:nvSpPr>
          <p:spPr>
            <a:xfrm>
              <a:off x="498348" y="1449324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20000" y="3000"/>
                  </a:lnTo>
                  <a:cubicBezTo>
                    <a:pt x="20351" y="3000"/>
                    <a:pt x="20695" y="3092"/>
                    <a:pt x="21000" y="3267"/>
                  </a:cubicBezTo>
                  <a:cubicBezTo>
                    <a:pt x="21304" y="3443"/>
                    <a:pt x="21556" y="3695"/>
                    <a:pt x="21732" y="4000"/>
                  </a:cubicBezTo>
                  <a:cubicBezTo>
                    <a:pt x="21907" y="4304"/>
                    <a:pt x="22000" y="4648"/>
                    <a:pt x="22000" y="5000"/>
                  </a:cubicBezTo>
                  <a:lnTo>
                    <a:pt x="22000" y="15000"/>
                  </a:lnTo>
                  <a:cubicBezTo>
                    <a:pt x="22000" y="15351"/>
                    <a:pt x="21907" y="15695"/>
                    <a:pt x="21732" y="16000"/>
                  </a:cubicBezTo>
                  <a:cubicBezTo>
                    <a:pt x="21556" y="16304"/>
                    <a:pt x="21304" y="16556"/>
                    <a:pt x="21000" y="16732"/>
                  </a:cubicBezTo>
                  <a:cubicBezTo>
                    <a:pt x="20695" y="16907"/>
                    <a:pt x="20351" y="17000"/>
                    <a:pt x="20000" y="17000"/>
                  </a:cubicBezTo>
                  <a:lnTo>
                    <a:pt x="4000" y="17000"/>
                  </a:lnTo>
                  <a:cubicBezTo>
                    <a:pt x="3648" y="17000"/>
                    <a:pt x="3304" y="16907"/>
                    <a:pt x="3000" y="16732"/>
                  </a:cubicBezTo>
                  <a:cubicBezTo>
                    <a:pt x="2695" y="16556"/>
                    <a:pt x="2443" y="16304"/>
                    <a:pt x="2267" y="16000"/>
                  </a:cubicBezTo>
                  <a:cubicBezTo>
                    <a:pt x="2092" y="15695"/>
                    <a:pt x="2000" y="15351"/>
                    <a:pt x="2000" y="15000"/>
                  </a:cubicBezTo>
                  <a:lnTo>
                    <a:pt x="2000" y="5000"/>
                  </a:lnTo>
                  <a:cubicBezTo>
                    <a:pt x="2000" y="4648"/>
                    <a:pt x="2092" y="4304"/>
                    <a:pt x="2267" y="4000"/>
                  </a:cubicBezTo>
                  <a:cubicBezTo>
                    <a:pt x="2443" y="3695"/>
                    <a:pt x="2695" y="3443"/>
                    <a:pt x="2999" y="3267"/>
                  </a:cubicBezTo>
                  <a:cubicBezTo>
                    <a:pt x="3304" y="3092"/>
                    <a:pt x="3648" y="3000"/>
                    <a:pt x="4000" y="3000"/>
                  </a:cubicBezTo>
                  <a:close/>
                </a:path>
                <a:path w="24000" h="24000" fill="none">
                  <a:moveTo>
                    <a:pt x="8000" y="21000"/>
                  </a:moveTo>
                  <a:lnTo>
                    <a:pt x="16000" y="21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00" y="21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37" name="Device text"/>
            <p:cNvSpPr txBox="1"/>
            <p:nvPr/>
          </p:nvSpPr>
          <p:spPr>
            <a:xfrm>
              <a:off x="786384" y="1365199"/>
              <a:ext cx="1591056" cy="3236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IUT · UT testing machine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PDF test report + JPEG image per pipe</a:t>
              </a:r>
              <a:endParaRPr lang="en-US" sz="640" dirty="0">
                <a:latin typeface="Inter"/>
              </a:endParaRPr>
            </a:p>
          </p:txBody>
        </p:sp>
      </p:grpSp>
      <p:grpSp>
        <p:nvGrpSpPr>
          <p:cNvPr id="38" name="Device · FUT · UT testing machine"/>
          <p:cNvGrpSpPr/>
          <p:nvPr/>
        </p:nvGrpSpPr>
        <p:grpSpPr>
          <a:xfrm>
            <a:off x="365760" y="1828800"/>
            <a:ext cx="2066544" cy="457200"/>
            <a:chOff x="365760" y="1828800"/>
            <a:chExt cx="2066544" cy="457200"/>
          </a:xfrm>
        </p:grpSpPr>
        <p:sp>
          <p:nvSpPr>
            <p:cNvPr id="39" name="Device card"/>
            <p:cNvSpPr/>
            <p:nvPr/>
          </p:nvSpPr>
          <p:spPr>
            <a:xfrm>
              <a:off x="365760" y="1828800"/>
              <a:ext cx="2066544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40" name="Icon tile"/>
            <p:cNvSpPr/>
            <p:nvPr/>
          </p:nvSpPr>
          <p:spPr>
            <a:xfrm>
              <a:off x="438912" y="192024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165FF2">
                <a:alpha val="9000"/>
              </a:srgbClr>
            </a:solidFill>
            <a:ln>
              <a:noFill/>
            </a:ln>
          </p:spPr>
        </p:sp>
        <p:sp>
          <p:nvSpPr>
            <p:cNvPr id="41" name="Icon monitor"/>
            <p:cNvSpPr/>
            <p:nvPr/>
          </p:nvSpPr>
          <p:spPr>
            <a:xfrm>
              <a:off x="498348" y="197967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20000" y="3000"/>
                  </a:lnTo>
                  <a:cubicBezTo>
                    <a:pt x="20351" y="3000"/>
                    <a:pt x="20695" y="3092"/>
                    <a:pt x="21000" y="3267"/>
                  </a:cubicBezTo>
                  <a:cubicBezTo>
                    <a:pt x="21304" y="3443"/>
                    <a:pt x="21556" y="3695"/>
                    <a:pt x="21732" y="4000"/>
                  </a:cubicBezTo>
                  <a:cubicBezTo>
                    <a:pt x="21907" y="4304"/>
                    <a:pt x="22000" y="4648"/>
                    <a:pt x="22000" y="5000"/>
                  </a:cubicBezTo>
                  <a:lnTo>
                    <a:pt x="22000" y="15000"/>
                  </a:lnTo>
                  <a:cubicBezTo>
                    <a:pt x="22000" y="15351"/>
                    <a:pt x="21907" y="15695"/>
                    <a:pt x="21732" y="16000"/>
                  </a:cubicBezTo>
                  <a:cubicBezTo>
                    <a:pt x="21556" y="16304"/>
                    <a:pt x="21304" y="16556"/>
                    <a:pt x="21000" y="16732"/>
                  </a:cubicBezTo>
                  <a:cubicBezTo>
                    <a:pt x="20695" y="16907"/>
                    <a:pt x="20351" y="17000"/>
                    <a:pt x="20000" y="17000"/>
                  </a:cubicBezTo>
                  <a:lnTo>
                    <a:pt x="4000" y="17000"/>
                  </a:lnTo>
                  <a:cubicBezTo>
                    <a:pt x="3648" y="17000"/>
                    <a:pt x="3304" y="16907"/>
                    <a:pt x="3000" y="16732"/>
                  </a:cubicBezTo>
                  <a:cubicBezTo>
                    <a:pt x="2695" y="16556"/>
                    <a:pt x="2443" y="16304"/>
                    <a:pt x="2267" y="16000"/>
                  </a:cubicBezTo>
                  <a:cubicBezTo>
                    <a:pt x="2092" y="15695"/>
                    <a:pt x="2000" y="15351"/>
                    <a:pt x="2000" y="15000"/>
                  </a:cubicBezTo>
                  <a:lnTo>
                    <a:pt x="2000" y="5000"/>
                  </a:lnTo>
                  <a:cubicBezTo>
                    <a:pt x="2000" y="4648"/>
                    <a:pt x="2092" y="4304"/>
                    <a:pt x="2267" y="4000"/>
                  </a:cubicBezTo>
                  <a:cubicBezTo>
                    <a:pt x="2443" y="3695"/>
                    <a:pt x="2695" y="3443"/>
                    <a:pt x="2999" y="3267"/>
                  </a:cubicBezTo>
                  <a:cubicBezTo>
                    <a:pt x="3304" y="3092"/>
                    <a:pt x="3648" y="3000"/>
                    <a:pt x="4000" y="3000"/>
                  </a:cubicBezTo>
                  <a:close/>
                </a:path>
                <a:path w="24000" h="24000" fill="none">
                  <a:moveTo>
                    <a:pt x="8000" y="21000"/>
                  </a:moveTo>
                  <a:lnTo>
                    <a:pt x="16000" y="21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00" y="21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42" name="Device text"/>
            <p:cNvSpPr txBox="1"/>
            <p:nvPr/>
          </p:nvSpPr>
          <p:spPr>
            <a:xfrm>
              <a:off x="786384" y="1895551"/>
              <a:ext cx="1591056" cy="3236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FUT · UT testing machine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PDF test report + JPEG image per pipe</a:t>
              </a:r>
              <a:endParaRPr lang="en-US" sz="640" dirty="0">
                <a:latin typeface="Inter"/>
              </a:endParaRPr>
            </a:p>
          </p:txBody>
        </p:sp>
      </p:grpSp>
      <p:grpSp>
        <p:nvGrpSpPr>
          <p:cNvPr id="43" name="Device · Operator terminals"/>
          <p:cNvGrpSpPr/>
          <p:nvPr/>
        </p:nvGrpSpPr>
        <p:grpSpPr>
          <a:xfrm>
            <a:off x="365760" y="2359152"/>
            <a:ext cx="2066544" cy="475488"/>
            <a:chOff x="365760" y="2359152"/>
            <a:chExt cx="2066544" cy="475488"/>
          </a:xfrm>
        </p:grpSpPr>
        <p:sp>
          <p:nvSpPr>
            <p:cNvPr id="44" name="Device card"/>
            <p:cNvSpPr/>
            <p:nvPr/>
          </p:nvSpPr>
          <p:spPr>
            <a:xfrm>
              <a:off x="365760" y="2359152"/>
              <a:ext cx="2066544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45" name="Icon tile"/>
            <p:cNvSpPr/>
            <p:nvPr/>
          </p:nvSpPr>
          <p:spPr>
            <a:xfrm>
              <a:off x="438912" y="2432304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40566D">
                <a:alpha val="9000"/>
              </a:srgbClr>
            </a:solidFill>
            <a:ln>
              <a:noFill/>
            </a:ln>
          </p:spPr>
        </p:sp>
        <p:sp>
          <p:nvSpPr>
            <p:cNvPr id="46" name="Icon user"/>
            <p:cNvSpPr/>
            <p:nvPr/>
          </p:nvSpPr>
          <p:spPr>
            <a:xfrm>
              <a:off x="498348" y="249174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8297"/>
                    <a:pt x="18815" y="17608"/>
                    <a:pt x="18464" y="17000"/>
                  </a:cubicBezTo>
                  <a:cubicBezTo>
                    <a:pt x="18113" y="16391"/>
                    <a:pt x="17608" y="15886"/>
                    <a:pt x="17000" y="15535"/>
                  </a:cubicBezTo>
                  <a:cubicBezTo>
                    <a:pt x="16391" y="15184"/>
                    <a:pt x="15702" y="15000"/>
                    <a:pt x="15000" y="15000"/>
                  </a:cubicBezTo>
                  <a:lnTo>
                    <a:pt x="9000" y="15000"/>
                  </a:lnTo>
                  <a:cubicBezTo>
                    <a:pt x="8297" y="15000"/>
                    <a:pt x="7608" y="15184"/>
                    <a:pt x="7000" y="15535"/>
                  </a:cubicBezTo>
                  <a:cubicBezTo>
                    <a:pt x="6391" y="15886"/>
                    <a:pt x="5886" y="16391"/>
                    <a:pt x="5535" y="17000"/>
                  </a:cubicBezTo>
                  <a:cubicBezTo>
                    <a:pt x="5184" y="17608"/>
                    <a:pt x="5000" y="18297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7702"/>
                    <a:pt x="15815" y="8391"/>
                    <a:pt x="15464" y="9000"/>
                  </a:cubicBezTo>
                  <a:cubicBezTo>
                    <a:pt x="15113" y="9608"/>
                    <a:pt x="14608" y="10113"/>
                    <a:pt x="14000" y="10464"/>
                  </a:cubicBezTo>
                  <a:cubicBezTo>
                    <a:pt x="13391" y="10815"/>
                    <a:pt x="12702" y="11000"/>
                    <a:pt x="12000" y="11000"/>
                  </a:cubicBezTo>
                  <a:cubicBezTo>
                    <a:pt x="11297" y="11000"/>
                    <a:pt x="10608" y="10815"/>
                    <a:pt x="10000" y="10464"/>
                  </a:cubicBezTo>
                  <a:cubicBezTo>
                    <a:pt x="9391" y="10113"/>
                    <a:pt x="8886" y="9608"/>
                    <a:pt x="8535" y="9000"/>
                  </a:cubicBezTo>
                  <a:cubicBezTo>
                    <a:pt x="8184" y="8391"/>
                    <a:pt x="8000" y="7702"/>
                    <a:pt x="8000" y="7000"/>
                  </a:cubicBezTo>
                  <a:cubicBezTo>
                    <a:pt x="8000" y="6297"/>
                    <a:pt x="8184" y="5608"/>
                    <a:pt x="8535" y="5000"/>
                  </a:cubicBezTo>
                  <a:cubicBezTo>
                    <a:pt x="8886" y="4391"/>
                    <a:pt x="9391" y="3886"/>
                    <a:pt x="9999" y="3535"/>
                  </a:cubicBezTo>
                  <a:cubicBezTo>
                    <a:pt x="10608" y="3184"/>
                    <a:pt x="11297" y="3000"/>
                    <a:pt x="12000" y="3000"/>
                  </a:cubicBezTo>
                  <a:cubicBezTo>
                    <a:pt x="12702" y="3000"/>
                    <a:pt x="13391" y="3184"/>
                    <a:pt x="14000" y="3535"/>
                  </a:cubicBezTo>
                  <a:cubicBezTo>
                    <a:pt x="14608" y="3886"/>
                    <a:pt x="15113" y="4391"/>
                    <a:pt x="15464" y="5000"/>
                  </a:cubicBezTo>
                  <a:cubicBezTo>
                    <a:pt x="15815" y="5608"/>
                    <a:pt x="16000" y="6297"/>
                    <a:pt x="16000" y="6999"/>
                  </a:cubicBezTo>
                  <a:close/>
                </a:path>
              </a:pathLst>
            </a:custGeom>
            <a:noFill/>
            <a:ln w="12954" cap="rnd">
              <a:solidFill>
                <a:srgbClr val="40566D"/>
              </a:solidFill>
              <a:round/>
            </a:ln>
          </p:spPr>
        </p:sp>
        <p:sp>
          <p:nvSpPr>
            <p:cNvPr id="47" name="Device text"/>
            <p:cNvSpPr txBox="1"/>
            <p:nvPr/>
          </p:nvSpPr>
          <p:spPr>
            <a:xfrm>
              <a:off x="786384" y="2423160"/>
              <a:ext cx="1591056" cy="21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Operator terminals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At IUT &amp; FUT, to use the application</a:t>
              </a:r>
              <a:endParaRPr lang="en-US" sz="640" dirty="0">
                <a:latin typeface="Inter"/>
              </a:endParaRPr>
            </a:p>
          </p:txBody>
        </p:sp>
        <p:grpSp>
          <p:nvGrpSpPr>
            <p:cNvPr id="48" name="Chip Device &amp; access TBC"/>
            <p:cNvGrpSpPr/>
            <p:nvPr/>
          </p:nvGrpSpPr>
          <p:grpSpPr>
            <a:xfrm>
              <a:off x="786384" y="2642616"/>
              <a:ext cx="835193" cy="137160"/>
              <a:chOff x="786384" y="2642616"/>
              <a:chExt cx="835193" cy="137160"/>
            </a:xfrm>
          </p:grpSpPr>
          <p:sp>
            <p:nvSpPr>
              <p:cNvPr id="49" name="Chip fill"/>
              <p:cNvSpPr/>
              <p:nvPr/>
            </p:nvSpPr>
            <p:spPr>
              <a:xfrm>
                <a:off x="786384" y="2642616"/>
                <a:ext cx="835193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</p:sp>
          <p:sp>
            <p:nvSpPr>
              <p:cNvPr id="50" name="Chip label"/>
              <p:cNvSpPr txBox="1"/>
              <p:nvPr/>
            </p:nvSpPr>
            <p:spPr>
              <a:xfrm>
                <a:off x="827532" y="2642616"/>
                <a:ext cx="77118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Device &amp; access TBC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51" name="Central server"/>
          <p:cNvGrpSpPr/>
          <p:nvPr/>
        </p:nvGrpSpPr>
        <p:grpSpPr>
          <a:xfrm>
            <a:off x="3163824" y="1298448"/>
            <a:ext cx="2706624" cy="1536192"/>
            <a:chOff x="3163824" y="1298448"/>
            <a:chExt cx="2706624" cy="1536192"/>
          </a:xfrm>
        </p:grpSpPr>
        <p:sp>
          <p:nvSpPr>
            <p:cNvPr id="52" name="Server card"/>
            <p:cNvSpPr/>
            <p:nvPr/>
          </p:nvSpPr>
          <p:spPr>
            <a:xfrm>
              <a:off x="3163824" y="1298448"/>
              <a:ext cx="2706624" cy="1536192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2700">
              <a:solidFill>
                <a:srgbClr val="B8D0FD"/>
              </a:solidFill>
              <a:round/>
            </a:ln>
          </p:spPr>
        </p:sp>
        <p:sp>
          <p:nvSpPr>
            <p:cNvPr id="53" name="Icon tile"/>
            <p:cNvSpPr/>
            <p:nvPr/>
          </p:nvSpPr>
          <p:spPr>
            <a:xfrm>
              <a:off x="3255264" y="1380744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54" name="Icon server"/>
            <p:cNvSpPr/>
            <p:nvPr/>
          </p:nvSpPr>
          <p:spPr>
            <a:xfrm>
              <a:off x="3314700" y="144018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20000" y="2000"/>
                  </a:lnTo>
                  <a:cubicBezTo>
                    <a:pt x="20351" y="2000"/>
                    <a:pt x="20695" y="2092"/>
                    <a:pt x="21000" y="2267"/>
                  </a:cubicBezTo>
                  <a:cubicBezTo>
                    <a:pt x="21304" y="2443"/>
                    <a:pt x="21556" y="2695"/>
                    <a:pt x="21732" y="3000"/>
                  </a:cubicBezTo>
                  <a:cubicBezTo>
                    <a:pt x="21907" y="3304"/>
                    <a:pt x="22000" y="3648"/>
                    <a:pt x="22000" y="4000"/>
                  </a:cubicBezTo>
                  <a:lnTo>
                    <a:pt x="22000" y="8000"/>
                  </a:lnTo>
                  <a:cubicBezTo>
                    <a:pt x="22000" y="8351"/>
                    <a:pt x="21907" y="8695"/>
                    <a:pt x="21732" y="9000"/>
                  </a:cubicBezTo>
                  <a:cubicBezTo>
                    <a:pt x="21556" y="9304"/>
                    <a:pt x="21304" y="9556"/>
                    <a:pt x="21000" y="9732"/>
                  </a:cubicBezTo>
                  <a:cubicBezTo>
                    <a:pt x="20695" y="9907"/>
                    <a:pt x="20351" y="10000"/>
                    <a:pt x="20000" y="10000"/>
                  </a:cubicBezTo>
                  <a:lnTo>
                    <a:pt x="4000" y="10000"/>
                  </a:lnTo>
                  <a:cubicBezTo>
                    <a:pt x="3648" y="10000"/>
                    <a:pt x="3304" y="9907"/>
                    <a:pt x="3000" y="9732"/>
                  </a:cubicBezTo>
                  <a:cubicBezTo>
                    <a:pt x="2695" y="9556"/>
                    <a:pt x="2443" y="9304"/>
                    <a:pt x="2267" y="9000"/>
                  </a:cubicBezTo>
                  <a:cubicBezTo>
                    <a:pt x="2092" y="8695"/>
                    <a:pt x="2000" y="8351"/>
                    <a:pt x="2000" y="8000"/>
                  </a:cubicBezTo>
                  <a:lnTo>
                    <a:pt x="2000" y="4000"/>
                  </a:lnTo>
                  <a:cubicBezTo>
                    <a:pt x="2000" y="3648"/>
                    <a:pt x="2092" y="3304"/>
                    <a:pt x="2267" y="3000"/>
                  </a:cubicBezTo>
                  <a:cubicBezTo>
                    <a:pt x="2443" y="2695"/>
                    <a:pt x="2695" y="2443"/>
                    <a:pt x="2999" y="2267"/>
                  </a:cubicBezTo>
                  <a:cubicBezTo>
                    <a:pt x="3304" y="2092"/>
                    <a:pt x="3648" y="2000"/>
                    <a:pt x="4000" y="2000"/>
                  </a:cubicBezTo>
                  <a:close/>
                </a:path>
                <a:path w="24000" h="24000" fill="none">
                  <a:moveTo>
                    <a:pt x="4000" y="14000"/>
                  </a:moveTo>
                  <a:lnTo>
                    <a:pt x="20000" y="14000"/>
                  </a:lnTo>
                  <a:cubicBezTo>
                    <a:pt x="20351" y="14000"/>
                    <a:pt x="20695" y="14092"/>
                    <a:pt x="21000" y="14267"/>
                  </a:cubicBezTo>
                  <a:cubicBezTo>
                    <a:pt x="21304" y="14443"/>
                    <a:pt x="21556" y="14695"/>
                    <a:pt x="21732" y="15000"/>
                  </a:cubicBezTo>
                  <a:cubicBezTo>
                    <a:pt x="21907" y="15304"/>
                    <a:pt x="22000" y="15648"/>
                    <a:pt x="22000" y="16000"/>
                  </a:cubicBezTo>
                  <a:lnTo>
                    <a:pt x="22000" y="20000"/>
                  </a:lnTo>
                  <a:cubicBezTo>
                    <a:pt x="22000" y="20351"/>
                    <a:pt x="21907" y="20695"/>
                    <a:pt x="21732" y="21000"/>
                  </a:cubicBezTo>
                  <a:cubicBezTo>
                    <a:pt x="21556" y="21304"/>
                    <a:pt x="21304" y="21556"/>
                    <a:pt x="21000" y="21732"/>
                  </a:cubicBezTo>
                  <a:cubicBezTo>
                    <a:pt x="20695" y="21907"/>
                    <a:pt x="20351" y="22000"/>
                    <a:pt x="20000" y="22000"/>
                  </a:cubicBezTo>
                  <a:lnTo>
                    <a:pt x="4000" y="22000"/>
                  </a:lnTo>
                  <a:cubicBezTo>
                    <a:pt x="3648" y="22000"/>
                    <a:pt x="3304" y="21907"/>
                    <a:pt x="3000" y="21732"/>
                  </a:cubicBezTo>
                  <a:cubicBezTo>
                    <a:pt x="2695" y="21556"/>
                    <a:pt x="2443" y="21304"/>
                    <a:pt x="2267" y="21000"/>
                  </a:cubicBezTo>
                  <a:cubicBezTo>
                    <a:pt x="2092" y="20695"/>
                    <a:pt x="2000" y="20351"/>
                    <a:pt x="2000" y="20000"/>
                  </a:cubicBezTo>
                  <a:lnTo>
                    <a:pt x="2000" y="16000"/>
                  </a:lnTo>
                  <a:cubicBezTo>
                    <a:pt x="2000" y="15648"/>
                    <a:pt x="2092" y="15304"/>
                    <a:pt x="2267" y="15000"/>
                  </a:cubicBezTo>
                  <a:cubicBezTo>
                    <a:pt x="2443" y="14695"/>
                    <a:pt x="2695" y="14443"/>
                    <a:pt x="2999" y="14267"/>
                  </a:cubicBezTo>
                  <a:cubicBezTo>
                    <a:pt x="3304" y="14092"/>
                    <a:pt x="3648" y="14000"/>
                    <a:pt x="4000" y="14000"/>
                  </a:cubicBezTo>
                  <a:close/>
                </a:path>
                <a:path w="24000" h="24000" fill="none">
                  <a:moveTo>
                    <a:pt x="6000" y="6000"/>
                  </a:moveTo>
                  <a:lnTo>
                    <a:pt x="6010" y="6000"/>
                  </a:lnTo>
                </a:path>
                <a:path w="24000" h="24000" fill="none">
                  <a:moveTo>
                    <a:pt x="6000" y="18000"/>
                  </a:moveTo>
                  <a:lnTo>
                    <a:pt x="6010" y="18000"/>
                  </a:ln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55" name="Server title"/>
            <p:cNvSpPr txBox="1"/>
            <p:nvPr/>
          </p:nvSpPr>
          <p:spPr>
            <a:xfrm>
              <a:off x="3602736" y="1371600"/>
              <a:ext cx="219456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Central server / VM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Provided by Welspun on its IT network</a:t>
              </a:r>
              <a:endParaRPr lang="en-US" sz="640" dirty="0">
                <a:latin typeface="Inter"/>
              </a:endParaRPr>
            </a:p>
          </p:txBody>
        </p:sp>
        <p:sp>
          <p:nvSpPr>
            <p:cNvPr id="56" name="IOsense platform layer"/>
            <p:cNvSpPr/>
            <p:nvPr/>
          </p:nvSpPr>
          <p:spPr>
            <a:xfrm>
              <a:off x="3255264" y="1755648"/>
              <a:ext cx="2523744" cy="246888"/>
            </a:xfrm>
            <a:prstGeom prst="roundRect">
              <a:avLst>
                <a:gd name="adj" fmla="val 14814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7" name="Icon layers"/>
            <p:cNvSpPr/>
            <p:nvPr/>
          </p:nvSpPr>
          <p:spPr>
            <a:xfrm>
              <a:off x="3328416" y="181508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830" y="2180"/>
                  </a:moveTo>
                  <a:cubicBezTo>
                    <a:pt x="12569" y="2061"/>
                    <a:pt x="12286" y="1999"/>
                    <a:pt x="12000" y="1999"/>
                  </a:cubicBezTo>
                  <a:cubicBezTo>
                    <a:pt x="11713" y="1999"/>
                    <a:pt x="11430" y="2061"/>
                    <a:pt x="11170" y="2180"/>
                  </a:cubicBezTo>
                  <a:lnTo>
                    <a:pt x="2600" y="6080"/>
                  </a:lnTo>
                  <a:cubicBezTo>
                    <a:pt x="2458" y="6142"/>
                    <a:pt x="2333" y="6236"/>
                    <a:pt x="2234" y="6355"/>
                  </a:cubicBezTo>
                  <a:cubicBezTo>
                    <a:pt x="2135" y="6474"/>
                    <a:pt x="2065" y="6615"/>
                    <a:pt x="2030" y="6765"/>
                  </a:cubicBezTo>
                  <a:cubicBezTo>
                    <a:pt x="1994" y="6916"/>
                    <a:pt x="1994" y="7073"/>
                    <a:pt x="2030" y="7224"/>
                  </a:cubicBezTo>
                  <a:cubicBezTo>
                    <a:pt x="2065" y="7374"/>
                    <a:pt x="2135" y="7515"/>
                    <a:pt x="2234" y="7634"/>
                  </a:cubicBezTo>
                  <a:cubicBezTo>
                    <a:pt x="2333" y="7753"/>
                    <a:pt x="2458" y="7847"/>
                    <a:pt x="2600" y="7910"/>
                  </a:cubicBezTo>
                  <a:lnTo>
                    <a:pt x="11180" y="11820"/>
                  </a:lnTo>
                  <a:cubicBezTo>
                    <a:pt x="11440" y="11938"/>
                    <a:pt x="11723" y="12000"/>
                    <a:pt x="12010" y="12000"/>
                  </a:cubicBezTo>
                  <a:cubicBezTo>
                    <a:pt x="12296" y="12000"/>
                    <a:pt x="12579" y="11938"/>
                    <a:pt x="12840" y="11820"/>
                  </a:cubicBezTo>
                  <a:lnTo>
                    <a:pt x="21420" y="7920"/>
                  </a:lnTo>
                  <a:cubicBezTo>
                    <a:pt x="21561" y="7857"/>
                    <a:pt x="21686" y="7763"/>
                    <a:pt x="21785" y="7644"/>
                  </a:cubicBezTo>
                  <a:cubicBezTo>
                    <a:pt x="21884" y="7525"/>
                    <a:pt x="21954" y="7384"/>
                    <a:pt x="21989" y="7234"/>
                  </a:cubicBezTo>
                  <a:cubicBezTo>
                    <a:pt x="22025" y="7083"/>
                    <a:pt x="22025" y="6926"/>
                    <a:pt x="21989" y="6775"/>
                  </a:cubicBezTo>
                  <a:cubicBezTo>
                    <a:pt x="21954" y="6625"/>
                    <a:pt x="21884" y="6484"/>
                    <a:pt x="21785" y="6365"/>
                  </a:cubicBezTo>
                  <a:cubicBezTo>
                    <a:pt x="21686" y="6246"/>
                    <a:pt x="21561" y="6152"/>
                    <a:pt x="21420" y="6090"/>
                  </a:cubicBezTo>
                  <a:close/>
                </a:path>
                <a:path w="24000" h="24000" fill="none">
                  <a:moveTo>
                    <a:pt x="2000" y="12000"/>
                  </a:moveTo>
                  <a:cubicBezTo>
                    <a:pt x="1999" y="12127"/>
                    <a:pt x="2023" y="12252"/>
                    <a:pt x="2070" y="12371"/>
                  </a:cubicBezTo>
                  <a:cubicBezTo>
                    <a:pt x="2117" y="12489"/>
                    <a:pt x="2186" y="12597"/>
                    <a:pt x="2273" y="12689"/>
                  </a:cubicBezTo>
                  <a:cubicBezTo>
                    <a:pt x="2360" y="12781"/>
                    <a:pt x="2464" y="12856"/>
                    <a:pt x="2580" y="12910"/>
                  </a:cubicBezTo>
                  <a:lnTo>
                    <a:pt x="11180" y="16820"/>
                  </a:lnTo>
                  <a:cubicBezTo>
                    <a:pt x="11439" y="16937"/>
                    <a:pt x="11720" y="16998"/>
                    <a:pt x="12004" y="16998"/>
                  </a:cubicBezTo>
                  <a:cubicBezTo>
                    <a:pt x="12289" y="16998"/>
                    <a:pt x="12570" y="16937"/>
                    <a:pt x="12830" y="16820"/>
                  </a:cubicBezTo>
                  <a:lnTo>
                    <a:pt x="21410" y="12920"/>
                  </a:lnTo>
                  <a:cubicBezTo>
                    <a:pt x="21527" y="12867"/>
                    <a:pt x="21633" y="12792"/>
                    <a:pt x="21722" y="12698"/>
                  </a:cubicBezTo>
                  <a:cubicBezTo>
                    <a:pt x="21811" y="12605"/>
                    <a:pt x="21882" y="12496"/>
                    <a:pt x="21929" y="12376"/>
                  </a:cubicBezTo>
                  <a:cubicBezTo>
                    <a:pt x="21977" y="12256"/>
                    <a:pt x="22001" y="12128"/>
                    <a:pt x="22000" y="12000"/>
                  </a:cubicBezTo>
                </a:path>
                <a:path w="24000" h="24000" fill="none">
                  <a:moveTo>
                    <a:pt x="2000" y="17000"/>
                  </a:moveTo>
                  <a:cubicBezTo>
                    <a:pt x="1999" y="17127"/>
                    <a:pt x="2023" y="17252"/>
                    <a:pt x="2070" y="17371"/>
                  </a:cubicBezTo>
                  <a:cubicBezTo>
                    <a:pt x="2117" y="17489"/>
                    <a:pt x="2186" y="17597"/>
                    <a:pt x="2273" y="17689"/>
                  </a:cubicBezTo>
                  <a:cubicBezTo>
                    <a:pt x="2360" y="17781"/>
                    <a:pt x="2464" y="17856"/>
                    <a:pt x="2580" y="17910"/>
                  </a:cubicBezTo>
                  <a:lnTo>
                    <a:pt x="11180" y="21820"/>
                  </a:lnTo>
                  <a:cubicBezTo>
                    <a:pt x="11439" y="21937"/>
                    <a:pt x="11720" y="21998"/>
                    <a:pt x="12004" y="21998"/>
                  </a:cubicBezTo>
                  <a:cubicBezTo>
                    <a:pt x="12289" y="21998"/>
                    <a:pt x="12570" y="21937"/>
                    <a:pt x="12830" y="21820"/>
                  </a:cubicBezTo>
                  <a:lnTo>
                    <a:pt x="21410" y="17920"/>
                  </a:lnTo>
                  <a:cubicBezTo>
                    <a:pt x="21527" y="17867"/>
                    <a:pt x="21633" y="17792"/>
                    <a:pt x="21722" y="17698"/>
                  </a:cubicBezTo>
                  <a:cubicBezTo>
                    <a:pt x="21811" y="17605"/>
                    <a:pt x="21882" y="17496"/>
                    <a:pt x="21929" y="17376"/>
                  </a:cubicBezTo>
                  <a:cubicBezTo>
                    <a:pt x="21977" y="17256"/>
                    <a:pt x="22001" y="17128"/>
                    <a:pt x="22000" y="17000"/>
                  </a:cubicBezTo>
                </a:path>
              </a:pathLst>
            </a:custGeom>
            <a:noFill/>
            <a:ln w="11734" cap="rnd">
              <a:solidFill>
                <a:srgbClr val="FFFFFF"/>
              </a:solidFill>
              <a:round/>
            </a:ln>
          </p:spPr>
        </p:sp>
        <p:sp>
          <p:nvSpPr>
            <p:cNvPr id="58" name="Layer label"/>
            <p:cNvSpPr txBox="1"/>
            <p:nvPr/>
          </p:nvSpPr>
          <p:spPr>
            <a:xfrm>
              <a:off x="3529584" y="1755648"/>
              <a:ext cx="2249424" cy="24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IOsense platform</a:t>
              </a:r>
              <a:endParaRPr lang="en-US" sz="680" dirty="0">
                <a:latin typeface="Inter SemiBold"/>
              </a:endParaRPr>
            </a:p>
          </p:txBody>
        </p:sp>
        <p:sp>
          <p:nvSpPr>
            <p:cNvPr id="59" name="SAP Entry Application · IUT &amp; FUT layer"/>
            <p:cNvSpPr/>
            <p:nvPr/>
          </p:nvSpPr>
          <p:spPr>
            <a:xfrm>
              <a:off x="3255264" y="2057400"/>
              <a:ext cx="2523744" cy="246888"/>
            </a:xfrm>
            <a:prstGeom prst="roundRect">
              <a:avLst>
                <a:gd name="adj" fmla="val 14814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60" name="Icon app-window"/>
            <p:cNvSpPr/>
            <p:nvPr/>
          </p:nvSpPr>
          <p:spPr>
            <a:xfrm>
              <a:off x="3328416" y="211683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0351" y="4000"/>
                    <a:pt x="20695" y="4092"/>
                    <a:pt x="21000" y="4267"/>
                  </a:cubicBezTo>
                  <a:cubicBezTo>
                    <a:pt x="21304" y="4443"/>
                    <a:pt x="21556" y="4695"/>
                    <a:pt x="21732" y="5000"/>
                  </a:cubicBezTo>
                  <a:cubicBezTo>
                    <a:pt x="21907" y="5304"/>
                    <a:pt x="22000" y="5648"/>
                    <a:pt x="22000" y="6000"/>
                  </a:cubicBezTo>
                  <a:lnTo>
                    <a:pt x="22000" y="18000"/>
                  </a:lnTo>
                  <a:cubicBezTo>
                    <a:pt x="22000" y="18351"/>
                    <a:pt x="21907" y="18695"/>
                    <a:pt x="21732" y="19000"/>
                  </a:cubicBezTo>
                  <a:cubicBezTo>
                    <a:pt x="21556" y="19304"/>
                    <a:pt x="21304" y="19556"/>
                    <a:pt x="21000" y="19732"/>
                  </a:cubicBezTo>
                  <a:cubicBezTo>
                    <a:pt x="20695" y="19907"/>
                    <a:pt x="20351" y="20000"/>
                    <a:pt x="20000" y="20000"/>
                  </a:cubicBezTo>
                  <a:lnTo>
                    <a:pt x="4000" y="20000"/>
                  </a:lnTo>
                  <a:cubicBezTo>
                    <a:pt x="3648" y="20000"/>
                    <a:pt x="3304" y="19907"/>
                    <a:pt x="3000" y="19732"/>
                  </a:cubicBezTo>
                  <a:cubicBezTo>
                    <a:pt x="2695" y="19556"/>
                    <a:pt x="2443" y="19304"/>
                    <a:pt x="2267" y="19000"/>
                  </a:cubicBezTo>
                  <a:cubicBezTo>
                    <a:pt x="2092" y="18695"/>
                    <a:pt x="2000" y="18351"/>
                    <a:pt x="2000" y="18000"/>
                  </a:cubicBezTo>
                  <a:lnTo>
                    <a:pt x="2000" y="6000"/>
                  </a:lnTo>
                  <a:cubicBezTo>
                    <a:pt x="2000" y="5648"/>
                    <a:pt x="2092" y="5304"/>
                    <a:pt x="2267" y="5000"/>
                  </a:cubicBezTo>
                  <a:cubicBezTo>
                    <a:pt x="2443" y="4695"/>
                    <a:pt x="2695" y="4443"/>
                    <a:pt x="2999" y="4267"/>
                  </a:cubicBezTo>
                  <a:cubicBezTo>
                    <a:pt x="3304" y="4092"/>
                    <a:pt x="3648" y="4000"/>
                    <a:pt x="4000" y="4000"/>
                  </a:cubicBezTo>
                  <a:close/>
                </a:path>
                <a:path w="24000" h="24000" fill="none">
                  <a:moveTo>
                    <a:pt x="10000" y="4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2000" y="8000"/>
                  </a:moveTo>
                  <a:lnTo>
                    <a:pt x="22000" y="8000"/>
                  </a:lnTo>
                </a:path>
                <a:path w="24000" h="24000" fill="none">
                  <a:moveTo>
                    <a:pt x="6000" y="4000"/>
                  </a:moveTo>
                  <a:lnTo>
                    <a:pt x="6000" y="8000"/>
                  </a:lnTo>
                </a:path>
              </a:pathLst>
            </a:custGeom>
            <a:noFill/>
            <a:ln w="11734" cap="rnd">
              <a:solidFill>
                <a:srgbClr val="FFFFFF"/>
              </a:solidFill>
              <a:round/>
            </a:ln>
          </p:spPr>
        </p:sp>
        <p:sp>
          <p:nvSpPr>
            <p:cNvPr id="61" name="Layer label"/>
            <p:cNvSpPr txBox="1"/>
            <p:nvPr/>
          </p:nvSpPr>
          <p:spPr>
            <a:xfrm>
              <a:off x="3529584" y="2057400"/>
              <a:ext cx="2249424" cy="24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Entry Application · IUT &amp; FUT</a:t>
              </a:r>
              <a:endParaRPr lang="en-US" sz="680" dirty="0">
                <a:latin typeface="Inter SemiBold"/>
              </a:endParaRPr>
            </a:p>
          </p:txBody>
        </p:sp>
        <p:sp>
          <p:nvSpPr>
            <p:cNvPr id="62" name="Server note"/>
            <p:cNvSpPr txBox="1"/>
            <p:nvPr/>
          </p:nvSpPr>
          <p:spPr>
            <a:xfrm>
              <a:off x="3255264" y="2395728"/>
              <a:ext cx="25237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2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Parses report files, applies result, timestamp and routing rules,</a:t>
              </a:r>
              <a:endParaRPr lang="en-US" sz="600" dirty="0">
                <a:latin typeface="Inter"/>
              </a:endParaRPr>
            </a:p>
            <a:p>
              <a:pPr algn="l">
                <a:lnSpc>
                  <a:spcPts val="72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retries uploads and raises alerts</a:t>
              </a:r>
              <a:endParaRPr lang="en-US" sz="600" dirty="0">
                <a:latin typeface="Inter"/>
              </a:endParaRPr>
            </a:p>
          </p:txBody>
        </p:sp>
      </p:grpSp>
      <p:grpSp>
        <p:nvGrpSpPr>
          <p:cNvPr id="63" name="SAP"/>
          <p:cNvGrpSpPr/>
          <p:nvPr/>
        </p:nvGrpSpPr>
        <p:grpSpPr>
          <a:xfrm>
            <a:off x="6601968" y="1298448"/>
            <a:ext cx="2176272" cy="1005840"/>
            <a:chOff x="6601968" y="1298448"/>
            <a:chExt cx="2176272" cy="1005840"/>
          </a:xfrm>
        </p:grpSpPr>
        <p:sp>
          <p:nvSpPr>
            <p:cNvPr id="64" name="SAP card"/>
            <p:cNvSpPr/>
            <p:nvPr/>
          </p:nvSpPr>
          <p:spPr>
            <a:xfrm>
              <a:off x="6601968" y="1298448"/>
              <a:ext cx="2176272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5" name="Icon tile"/>
            <p:cNvSpPr/>
            <p:nvPr/>
          </p:nvSpPr>
          <p:spPr>
            <a:xfrm>
              <a:off x="6675120" y="137160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66" name="Icon database"/>
            <p:cNvSpPr/>
            <p:nvPr/>
          </p:nvSpPr>
          <p:spPr>
            <a:xfrm>
              <a:off x="6734556" y="143103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67" name="SAP title"/>
            <p:cNvSpPr txBox="1"/>
            <p:nvPr/>
          </p:nvSpPr>
          <p:spPr>
            <a:xfrm>
              <a:off x="7022592" y="1371600"/>
              <a:ext cx="17007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SAP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C65C10"/>
                  </a:solidFill>
                  <a:latin typeface="Inter"/>
                  <a:ea typeface="Inter"/>
                  <a:cs typeface="Inter"/>
                  <a:sym typeface="Inter"/>
                </a:rPr>
                <a:t>Interface type TBC</a:t>
              </a:r>
              <a:endParaRPr lang="en-US" sz="640" dirty="0">
                <a:latin typeface="Inter"/>
              </a:endParaRPr>
            </a:p>
          </p:txBody>
        </p:sp>
        <p:grpSp>
          <p:nvGrpSpPr>
            <p:cNvPr id="68" name="Chip Read"/>
            <p:cNvGrpSpPr/>
            <p:nvPr/>
          </p:nvGrpSpPr>
          <p:grpSpPr>
            <a:xfrm>
              <a:off x="6675120" y="1709928"/>
              <a:ext cx="292608" cy="137160"/>
              <a:chOff x="6675120" y="1709928"/>
              <a:chExt cx="292608" cy="137160"/>
            </a:xfrm>
          </p:grpSpPr>
          <p:sp>
            <p:nvSpPr>
              <p:cNvPr id="69" name="Chip fill"/>
              <p:cNvSpPr/>
              <p:nvPr/>
            </p:nvSpPr>
            <p:spPr>
              <a:xfrm>
                <a:off x="6675120" y="1709928"/>
                <a:ext cx="29260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0" name="Chip label"/>
              <p:cNvSpPr txBox="1"/>
              <p:nvPr/>
            </p:nvSpPr>
            <p:spPr>
              <a:xfrm>
                <a:off x="6716268" y="1709928"/>
                <a:ext cx="2286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Read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71" name="Endpoint"/>
            <p:cNvSpPr txBox="1"/>
            <p:nvPr/>
          </p:nvSpPr>
          <p:spPr>
            <a:xfrm>
              <a:off x="7013448" y="1705356"/>
              <a:ext cx="1700784" cy="1723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78"/>
                </a:lnSpc>
                <a:spcBef>
                  <a:spcPts val="0"/>
                </a:spcBef>
                <a:buNone/>
              </a:pPr>
              <a:r>
                <a:rPr lang="en-US" sz="59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PO numbers · general remarks · previous-station pipe nos.</a:t>
              </a:r>
              <a:endParaRPr lang="en-US" sz="590" dirty="0">
                <a:latin typeface="Inter"/>
              </a:endParaRPr>
            </a:p>
          </p:txBody>
        </p:sp>
        <p:grpSp>
          <p:nvGrpSpPr>
            <p:cNvPr id="72" name="Chip Post"/>
            <p:cNvGrpSpPr/>
            <p:nvPr/>
          </p:nvGrpSpPr>
          <p:grpSpPr>
            <a:xfrm>
              <a:off x="6675120" y="1932559"/>
              <a:ext cx="292608" cy="137160"/>
              <a:chOff x="6675120" y="1932559"/>
              <a:chExt cx="292608" cy="137160"/>
            </a:xfrm>
          </p:grpSpPr>
          <p:sp>
            <p:nvSpPr>
              <p:cNvPr id="73" name="Chip fill"/>
              <p:cNvSpPr/>
              <p:nvPr/>
            </p:nvSpPr>
            <p:spPr>
              <a:xfrm>
                <a:off x="6675120" y="1932559"/>
                <a:ext cx="29260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4" name="Chip label"/>
              <p:cNvSpPr txBox="1"/>
              <p:nvPr/>
            </p:nvSpPr>
            <p:spPr>
              <a:xfrm>
                <a:off x="6716268" y="1932559"/>
                <a:ext cx="2286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Post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75" name="Endpoint"/>
            <p:cNvSpPr txBox="1"/>
            <p:nvPr/>
          </p:nvSpPr>
          <p:spPr>
            <a:xfrm>
              <a:off x="7013448" y="1927987"/>
              <a:ext cx="1700784" cy="86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78"/>
                </a:lnSpc>
                <a:spcBef>
                  <a:spcPts val="0"/>
                </a:spcBef>
                <a:buNone/>
              </a:pPr>
              <a:r>
                <a:rPr lang="en-US" sz="59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Normal endpoint · regular pipes</a:t>
              </a:r>
              <a:endParaRPr lang="en-US" sz="590" dirty="0">
                <a:latin typeface="Inter"/>
              </a:endParaRPr>
            </a:p>
          </p:txBody>
        </p:sp>
        <p:grpSp>
          <p:nvGrpSpPr>
            <p:cNvPr id="76" name="Chip Post"/>
            <p:cNvGrpSpPr/>
            <p:nvPr/>
          </p:nvGrpSpPr>
          <p:grpSpPr>
            <a:xfrm>
              <a:off x="6675120" y="2120011"/>
              <a:ext cx="292608" cy="137160"/>
              <a:chOff x="6675120" y="2120011"/>
              <a:chExt cx="292608" cy="137160"/>
            </a:xfrm>
          </p:grpSpPr>
          <p:sp>
            <p:nvSpPr>
              <p:cNvPr id="77" name="Chip fill"/>
              <p:cNvSpPr/>
              <p:nvPr/>
            </p:nvSpPr>
            <p:spPr>
              <a:xfrm>
                <a:off x="6675120" y="2120011"/>
                <a:ext cx="29260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8" name="Chip label"/>
              <p:cNvSpPr txBox="1"/>
              <p:nvPr/>
            </p:nvSpPr>
            <p:spPr>
              <a:xfrm>
                <a:off x="6716268" y="2120011"/>
                <a:ext cx="22860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Post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79" name="Endpoint"/>
            <p:cNvSpPr txBox="1"/>
            <p:nvPr/>
          </p:nvSpPr>
          <p:spPr>
            <a:xfrm>
              <a:off x="7013448" y="2115439"/>
              <a:ext cx="1700784" cy="86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678"/>
                </a:lnSpc>
                <a:spcBef>
                  <a:spcPts val="0"/>
                </a:spcBef>
                <a:buNone/>
              </a:pPr>
              <a:r>
                <a:rPr lang="en-US" sz="59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Separate endpoint · calibration &amp; repeatability</a:t>
              </a:r>
              <a:endParaRPr lang="en-US" sz="590" dirty="0">
                <a:latin typeface="Inter"/>
              </a:endParaRPr>
            </a:p>
          </p:txBody>
        </p:sp>
      </p:grpSp>
      <p:grpSp>
        <p:nvGrpSpPr>
          <p:cNvPr id="80" name="Device · FTP target"/>
          <p:cNvGrpSpPr/>
          <p:nvPr/>
        </p:nvGrpSpPr>
        <p:grpSpPr>
          <a:xfrm>
            <a:off x="6601968" y="2377440"/>
            <a:ext cx="2176272" cy="457200"/>
            <a:chOff x="6601968" y="2377440"/>
            <a:chExt cx="2176272" cy="457200"/>
          </a:xfrm>
        </p:grpSpPr>
        <p:sp>
          <p:nvSpPr>
            <p:cNvPr id="81" name="Device card"/>
            <p:cNvSpPr/>
            <p:nvPr/>
          </p:nvSpPr>
          <p:spPr>
            <a:xfrm>
              <a:off x="6601968" y="2377440"/>
              <a:ext cx="2176272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82" name="Icon tile"/>
            <p:cNvSpPr/>
            <p:nvPr/>
          </p:nvSpPr>
          <p:spPr>
            <a:xfrm>
              <a:off x="6675120" y="2450592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40566D">
                <a:alpha val="9000"/>
              </a:srgbClr>
            </a:solidFill>
            <a:ln>
              <a:noFill/>
            </a:ln>
          </p:spPr>
        </p:sp>
        <p:sp>
          <p:nvSpPr>
            <p:cNvPr id="83" name="Icon folder-up"/>
            <p:cNvSpPr/>
            <p:nvPr/>
          </p:nvSpPr>
          <p:spPr>
            <a:xfrm>
              <a:off x="6734556" y="2510028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20000"/>
                  </a:moveTo>
                  <a:cubicBezTo>
                    <a:pt x="20351" y="20000"/>
                    <a:pt x="20695" y="19907"/>
                    <a:pt x="21000" y="19732"/>
                  </a:cubicBezTo>
                  <a:cubicBezTo>
                    <a:pt x="21304" y="19556"/>
                    <a:pt x="21556" y="19304"/>
                    <a:pt x="21732" y="19000"/>
                  </a:cubicBezTo>
                  <a:cubicBezTo>
                    <a:pt x="21907" y="18695"/>
                    <a:pt x="22000" y="18351"/>
                    <a:pt x="22000" y="18000"/>
                  </a:cubicBezTo>
                  <a:lnTo>
                    <a:pt x="22000" y="8000"/>
                  </a:lnTo>
                  <a:cubicBezTo>
                    <a:pt x="22000" y="7648"/>
                    <a:pt x="21907" y="7304"/>
                    <a:pt x="21732" y="7000"/>
                  </a:cubicBezTo>
                  <a:cubicBezTo>
                    <a:pt x="21556" y="6695"/>
                    <a:pt x="21304" y="6443"/>
                    <a:pt x="21000" y="6267"/>
                  </a:cubicBezTo>
                  <a:cubicBezTo>
                    <a:pt x="20695" y="6092"/>
                    <a:pt x="20351" y="6000"/>
                    <a:pt x="20000" y="6000"/>
                  </a:cubicBezTo>
                  <a:lnTo>
                    <a:pt x="12100" y="6000"/>
                  </a:lnTo>
                  <a:cubicBezTo>
                    <a:pt x="11765" y="6003"/>
                    <a:pt x="11435" y="5922"/>
                    <a:pt x="11140" y="5765"/>
                  </a:cubicBezTo>
                  <a:cubicBezTo>
                    <a:pt x="10845" y="5608"/>
                    <a:pt x="10593" y="5379"/>
                    <a:pt x="10410" y="5100"/>
                  </a:cubicBezTo>
                  <a:lnTo>
                    <a:pt x="9600" y="3900"/>
                  </a:lnTo>
                  <a:cubicBezTo>
                    <a:pt x="9417" y="3623"/>
                    <a:pt x="9169" y="3396"/>
                    <a:pt x="8878" y="3239"/>
                  </a:cubicBezTo>
                  <a:cubicBezTo>
                    <a:pt x="8587" y="3082"/>
                    <a:pt x="8261" y="3000"/>
                    <a:pt x="793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8000"/>
                  </a:lnTo>
                  <a:cubicBezTo>
                    <a:pt x="2000" y="18351"/>
                    <a:pt x="2092" y="18695"/>
                    <a:pt x="2267" y="19000"/>
                  </a:cubicBezTo>
                  <a:cubicBezTo>
                    <a:pt x="2443" y="19304"/>
                    <a:pt x="2695" y="19556"/>
                    <a:pt x="2999" y="19732"/>
                  </a:cubicBezTo>
                  <a:cubicBezTo>
                    <a:pt x="3304" y="19907"/>
                    <a:pt x="3648" y="20000"/>
                    <a:pt x="4000" y="20000"/>
                  </a:cubicBezTo>
                  <a:close/>
                </a:path>
                <a:path w="24000" h="24000" fill="none">
                  <a:moveTo>
                    <a:pt x="12000" y="10000"/>
                  </a:moveTo>
                  <a:lnTo>
                    <a:pt x="12000" y="16000"/>
                  </a:lnTo>
                </a:path>
                <a:path w="24000" h="24000" fill="none">
                  <a:moveTo>
                    <a:pt x="9000" y="13000"/>
                  </a:moveTo>
                  <a:lnTo>
                    <a:pt x="12000" y="10000"/>
                  </a:lnTo>
                  <a:lnTo>
                    <a:pt x="15000" y="13000"/>
                  </a:lnTo>
                </a:path>
              </a:pathLst>
            </a:custGeom>
            <a:noFill/>
            <a:ln w="12954" cap="rnd">
              <a:solidFill>
                <a:srgbClr val="40566D"/>
              </a:solidFill>
              <a:round/>
            </a:ln>
          </p:spPr>
        </p:sp>
        <p:sp>
          <p:nvSpPr>
            <p:cNvPr id="84" name="Device text"/>
            <p:cNvSpPr txBox="1"/>
            <p:nvPr/>
          </p:nvSpPr>
          <p:spPr>
            <a:xfrm>
              <a:off x="7022592" y="2441448"/>
              <a:ext cx="1700784" cy="21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FTP target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PDF report + JPEG image</a:t>
              </a:r>
              <a:endParaRPr lang="en-US" sz="640" dirty="0">
                <a:latin typeface="Inter"/>
              </a:endParaRPr>
            </a:p>
          </p:txBody>
        </p:sp>
        <p:grpSp>
          <p:nvGrpSpPr>
            <p:cNvPr id="85" name="Chip Host &amp; path TBC"/>
            <p:cNvGrpSpPr/>
            <p:nvPr/>
          </p:nvGrpSpPr>
          <p:grpSpPr>
            <a:xfrm>
              <a:off x="7022592" y="2642616"/>
              <a:ext cx="664716" cy="137160"/>
              <a:chOff x="7022592" y="2642616"/>
              <a:chExt cx="664716" cy="137160"/>
            </a:xfrm>
          </p:grpSpPr>
          <p:sp>
            <p:nvSpPr>
              <p:cNvPr id="86" name="Chip fill"/>
              <p:cNvSpPr/>
              <p:nvPr/>
            </p:nvSpPr>
            <p:spPr>
              <a:xfrm>
                <a:off x="7022592" y="2642616"/>
                <a:ext cx="664716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</p:sp>
          <p:sp>
            <p:nvSpPr>
              <p:cNvPr id="87" name="Chip label"/>
              <p:cNvSpPr txBox="1"/>
              <p:nvPr/>
            </p:nvSpPr>
            <p:spPr>
              <a:xfrm>
                <a:off x="7063740" y="2642616"/>
                <a:ext cx="60070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Host &amp; path TBC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88" name="Link 1 · report files"/>
          <p:cNvGrpSpPr/>
          <p:nvPr/>
        </p:nvGrpSpPr>
        <p:grpSpPr>
          <a:xfrm>
            <a:off x="2432304" y="1527048"/>
            <a:ext cx="722376" cy="530352"/>
            <a:chOff x="2432304" y="1527048"/>
            <a:chExt cx="722376" cy="530352"/>
          </a:xfrm>
        </p:grpSpPr>
        <p:cxnSp>
          <p:nvCxnSpPr>
            <p:cNvPr id="89" name="Station link"/>
            <p:cNvCxnSpPr/>
            <p:nvPr/>
          </p:nvCxnSpPr>
          <p:spPr>
            <a:xfrm>
              <a:off x="2432304" y="1527048"/>
              <a:ext cx="292608" cy="0"/>
            </a:xfrm>
            <a:prstGeom prst="straightConnector1">
              <a:avLst/>
            </a:prstGeom>
            <a:noFill/>
            <a:ln w="15240">
              <a:solidFill>
                <a:srgbClr val="165FF2"/>
              </a:solidFill>
              <a:round/>
            </a:ln>
          </p:spPr>
        </p:cxnSp>
        <p:cxnSp>
          <p:nvCxnSpPr>
            <p:cNvPr id="90" name="Station link"/>
            <p:cNvCxnSpPr/>
            <p:nvPr/>
          </p:nvCxnSpPr>
          <p:spPr>
            <a:xfrm>
              <a:off x="2432304" y="2057400"/>
              <a:ext cx="292608" cy="0"/>
            </a:xfrm>
            <a:prstGeom prst="straightConnector1">
              <a:avLst/>
            </a:prstGeom>
            <a:noFill/>
            <a:ln w="15240">
              <a:solidFill>
                <a:srgbClr val="165FF2"/>
              </a:solidFill>
              <a:round/>
            </a:ln>
          </p:spPr>
        </p:cxnSp>
        <p:cxnSp>
          <p:nvCxnSpPr>
            <p:cNvPr id="91" name="Station bus"/>
            <p:cNvCxnSpPr/>
            <p:nvPr/>
          </p:nvCxnSpPr>
          <p:spPr>
            <a:xfrm>
              <a:off x="2724912" y="1527048"/>
              <a:ext cx="0" cy="530352"/>
            </a:xfrm>
            <a:prstGeom prst="straightConnector1">
              <a:avLst/>
            </a:prstGeom>
            <a:noFill/>
            <a:ln w="15240">
              <a:solidFill>
                <a:srgbClr val="165FF2"/>
              </a:solidFill>
              <a:round/>
            </a:ln>
          </p:spPr>
        </p:cxnSp>
        <p:cxnSp>
          <p:nvCxnSpPr>
            <p:cNvPr id="92" name="Files to server"/>
            <p:cNvCxnSpPr/>
            <p:nvPr/>
          </p:nvCxnSpPr>
          <p:spPr>
            <a:xfrm>
              <a:off x="2724912" y="1792224"/>
              <a:ext cx="429768" cy="0"/>
            </a:xfrm>
            <a:prstGeom prst="straightConnector1">
              <a:avLst/>
            </a:prstGeom>
            <a:noFill/>
            <a:ln w="15240">
              <a:solidFill>
                <a:srgbClr val="165FF2"/>
              </a:solidFill>
              <a:round/>
              <a:tailEnd type="triangle" w="med" len="med"/>
            </a:ln>
          </p:spPr>
        </p:cxnSp>
        <p:grpSp>
          <p:nvGrpSpPr>
            <p:cNvPr id="93" name="Link 1"/>
            <p:cNvGrpSpPr/>
            <p:nvPr/>
          </p:nvGrpSpPr>
          <p:grpSpPr>
            <a:xfrm>
              <a:off x="2811780" y="1568196"/>
              <a:ext cx="155448" cy="155448"/>
              <a:chOff x="2811780" y="1568196"/>
              <a:chExt cx="155448" cy="155448"/>
            </a:xfrm>
          </p:grpSpPr>
          <p:sp>
            <p:nvSpPr>
              <p:cNvPr id="94" name="Link badge"/>
              <p:cNvSpPr/>
              <p:nvPr/>
            </p:nvSpPr>
            <p:spPr>
              <a:xfrm>
                <a:off x="2811780" y="1568196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95" name="Link number"/>
              <p:cNvSpPr txBox="1"/>
              <p:nvPr/>
            </p:nvSpPr>
            <p:spPr>
              <a:xfrm>
                <a:off x="2811780" y="1568196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1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96" name="Link 2 · operator access"/>
          <p:cNvGrpSpPr/>
          <p:nvPr/>
        </p:nvGrpSpPr>
        <p:grpSpPr>
          <a:xfrm>
            <a:off x="2432304" y="2432304"/>
            <a:ext cx="722376" cy="242316"/>
            <a:chOff x="2432304" y="2432304"/>
            <a:chExt cx="722376" cy="242316"/>
          </a:xfrm>
        </p:grpSpPr>
        <p:sp>
          <p:nvSpPr>
            <p:cNvPr id="97" name="Operator access"/>
            <p:cNvSpPr/>
            <p:nvPr/>
          </p:nvSpPr>
          <p:spPr>
            <a:xfrm>
              <a:off x="2432304" y="2432304"/>
              <a:ext cx="722376" cy="164592"/>
            </a:xfrm>
            <a:custGeom>
              <a:avLst/>
              <a:gdLst/>
              <a:ahLst/>
              <a:cxnLst/>
              <a:rect l="l" t="t" r="r" b="b"/>
              <a:pathLst>
                <a:path w="722376" h="164592" fill="none">
                  <a:moveTo>
                    <a:pt x="0" y="164592"/>
                  </a:moveTo>
                  <a:lnTo>
                    <a:pt x="457200" y="164592"/>
                  </a:lnTo>
                  <a:lnTo>
                    <a:pt x="457200" y="0"/>
                  </a:lnTo>
                  <a:lnTo>
                    <a:pt x="722376" y="0"/>
                  </a:lnTo>
                </a:path>
              </a:pathLst>
            </a:custGeom>
            <a:noFill/>
            <a:ln w="12700">
              <a:solidFill>
                <a:srgbClr val="40566D"/>
              </a:solidFill>
              <a:prstDash val="dash"/>
              <a:miter lim="800000"/>
              <a:headEnd type="triangle" w="med" len="med"/>
              <a:tailEnd type="triangle" w="med" len="med"/>
            </a:ln>
          </p:spPr>
        </p:sp>
        <p:grpSp>
          <p:nvGrpSpPr>
            <p:cNvPr id="98" name="Link 2"/>
            <p:cNvGrpSpPr/>
            <p:nvPr/>
          </p:nvGrpSpPr>
          <p:grpSpPr>
            <a:xfrm>
              <a:off x="2574036" y="2519172"/>
              <a:ext cx="155448" cy="155448"/>
              <a:chOff x="2574036" y="2519172"/>
              <a:chExt cx="155448" cy="155448"/>
            </a:xfrm>
          </p:grpSpPr>
          <p:sp>
            <p:nvSpPr>
              <p:cNvPr id="99" name="Link badge"/>
              <p:cNvSpPr/>
              <p:nvPr/>
            </p:nvSpPr>
            <p:spPr>
              <a:xfrm>
                <a:off x="2574036" y="2519172"/>
                <a:ext cx="155448" cy="155448"/>
              </a:xfrm>
              <a:prstGeom prst="ellipse">
                <a:avLst/>
              </a:prstGeom>
              <a:solidFill>
                <a:srgbClr val="40566D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100" name="Link number"/>
              <p:cNvSpPr txBox="1"/>
              <p:nvPr/>
            </p:nvSpPr>
            <p:spPr>
              <a:xfrm>
                <a:off x="2574036" y="2519172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2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101" name="Link 3 · SAP"/>
          <p:cNvGrpSpPr/>
          <p:nvPr/>
        </p:nvGrpSpPr>
        <p:grpSpPr>
          <a:xfrm>
            <a:off x="5879592" y="1417320"/>
            <a:ext cx="713232" cy="530352"/>
            <a:chOff x="5879592" y="1417320"/>
            <a:chExt cx="713232" cy="530352"/>
          </a:xfrm>
        </p:grpSpPr>
        <p:cxnSp>
          <p:nvCxnSpPr>
            <p:cNvPr id="102" name="SAP read"/>
            <p:cNvCxnSpPr/>
            <p:nvPr/>
          </p:nvCxnSpPr>
          <p:spPr>
            <a:xfrm flipH="1">
              <a:off x="5879592" y="1536192"/>
              <a:ext cx="713232" cy="0"/>
            </a:xfrm>
            <a:prstGeom prst="straightConnector1">
              <a:avLst/>
            </a:prstGeom>
            <a:noFill/>
            <a:ln w="13970">
              <a:solidFill>
                <a:srgbClr val="0C1927"/>
              </a:solidFill>
              <a:round/>
              <a:tailEnd type="triangle" w="med" len="med"/>
            </a:ln>
          </p:spPr>
        </p:cxnSp>
        <p:cxnSp>
          <p:nvCxnSpPr>
            <p:cNvPr id="103" name="SAP post"/>
            <p:cNvCxnSpPr/>
            <p:nvPr/>
          </p:nvCxnSpPr>
          <p:spPr>
            <a:xfrm>
              <a:off x="5879592" y="1792224"/>
              <a:ext cx="713232" cy="0"/>
            </a:xfrm>
            <a:prstGeom prst="straightConnector1">
              <a:avLst/>
            </a:prstGeom>
            <a:noFill/>
            <a:ln w="13970">
              <a:solidFill>
                <a:srgbClr val="165FF2"/>
              </a:solidFill>
              <a:round/>
              <a:tailEnd type="triangle" w="med" len="med"/>
            </a:ln>
          </p:spPr>
        </p:cxnSp>
        <p:sp>
          <p:nvSpPr>
            <p:cNvPr id="104" name="Link label"/>
            <p:cNvSpPr txBox="1"/>
            <p:nvPr/>
          </p:nvSpPr>
          <p:spPr>
            <a:xfrm>
              <a:off x="6361234" y="1417320"/>
              <a:ext cx="176726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read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105" name="Link label"/>
            <p:cNvSpPr txBox="1"/>
            <p:nvPr/>
          </p:nvSpPr>
          <p:spPr>
            <a:xfrm>
              <a:off x="6102054" y="1837944"/>
              <a:ext cx="435906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165FF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post entries</a:t>
              </a:r>
              <a:endParaRPr lang="en-US" sz="580" dirty="0">
                <a:latin typeface="Inter Medium"/>
              </a:endParaRPr>
            </a:p>
          </p:txBody>
        </p:sp>
        <p:grpSp>
          <p:nvGrpSpPr>
            <p:cNvPr id="106" name="Link 3"/>
            <p:cNvGrpSpPr/>
            <p:nvPr/>
          </p:nvGrpSpPr>
          <p:grpSpPr>
            <a:xfrm>
              <a:off x="5911596" y="1586484"/>
              <a:ext cx="155448" cy="155448"/>
              <a:chOff x="5911596" y="1586484"/>
              <a:chExt cx="155448" cy="155448"/>
            </a:xfrm>
          </p:grpSpPr>
          <p:sp>
            <p:nvSpPr>
              <p:cNvPr id="107" name="Link badge"/>
              <p:cNvSpPr/>
              <p:nvPr/>
            </p:nvSpPr>
            <p:spPr>
              <a:xfrm>
                <a:off x="5911596" y="1586484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108" name="Link number"/>
              <p:cNvSpPr txBox="1"/>
              <p:nvPr/>
            </p:nvSpPr>
            <p:spPr>
              <a:xfrm>
                <a:off x="5911596" y="1586484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3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109" name="Link 4 · FTP"/>
          <p:cNvGrpSpPr/>
          <p:nvPr/>
        </p:nvGrpSpPr>
        <p:grpSpPr>
          <a:xfrm>
            <a:off x="5879592" y="2487168"/>
            <a:ext cx="713232" cy="196596"/>
            <a:chOff x="5879592" y="2487168"/>
            <a:chExt cx="713232" cy="196596"/>
          </a:xfrm>
        </p:grpSpPr>
        <p:cxnSp>
          <p:nvCxnSpPr>
            <p:cNvPr id="110" name="FTP upload"/>
            <p:cNvCxnSpPr/>
            <p:nvPr/>
          </p:nvCxnSpPr>
          <p:spPr>
            <a:xfrm>
              <a:off x="5879592" y="2606040"/>
              <a:ext cx="713232" cy="0"/>
            </a:xfrm>
            <a:prstGeom prst="straightConnector1">
              <a:avLst/>
            </a:prstGeom>
            <a:noFill/>
            <a:ln w="13970">
              <a:solidFill>
                <a:srgbClr val="165FF2"/>
              </a:solidFill>
              <a:round/>
              <a:tailEnd type="triangle" w="med" len="med"/>
            </a:ln>
          </p:spPr>
        </p:cxnSp>
        <p:sp>
          <p:nvSpPr>
            <p:cNvPr id="111" name="Link label"/>
            <p:cNvSpPr txBox="1"/>
            <p:nvPr/>
          </p:nvSpPr>
          <p:spPr>
            <a:xfrm>
              <a:off x="6150497" y="2487168"/>
              <a:ext cx="387463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165FF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file upload</a:t>
              </a:r>
              <a:endParaRPr lang="en-US" sz="580" dirty="0">
                <a:latin typeface="Inter Medium"/>
              </a:endParaRPr>
            </a:p>
          </p:txBody>
        </p:sp>
        <p:grpSp>
          <p:nvGrpSpPr>
            <p:cNvPr id="112" name="Link 4"/>
            <p:cNvGrpSpPr/>
            <p:nvPr/>
          </p:nvGrpSpPr>
          <p:grpSpPr>
            <a:xfrm>
              <a:off x="5911596" y="2528316"/>
              <a:ext cx="155448" cy="155448"/>
              <a:chOff x="5911596" y="2528316"/>
              <a:chExt cx="155448" cy="155448"/>
            </a:xfrm>
          </p:grpSpPr>
          <p:sp>
            <p:nvSpPr>
              <p:cNvPr id="113" name="Link badge"/>
              <p:cNvSpPr/>
              <p:nvPr/>
            </p:nvSpPr>
            <p:spPr>
              <a:xfrm>
                <a:off x="5911596" y="2528316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114" name="Link number"/>
              <p:cNvSpPr txBox="1"/>
              <p:nvPr/>
            </p:nvSpPr>
            <p:spPr>
              <a:xfrm>
                <a:off x="5911596" y="2528316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4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115" name="Configuration table"/>
          <p:cNvGrpSpPr/>
          <p:nvPr/>
        </p:nvGrpSpPr>
        <p:grpSpPr>
          <a:xfrm>
            <a:off x="274320" y="2971800"/>
            <a:ext cx="8595360" cy="1682191"/>
            <a:chOff x="274320" y="2971800"/>
            <a:chExt cx="8595360" cy="1682191"/>
          </a:xfrm>
        </p:grpSpPr>
        <p:sp>
          <p:nvSpPr>
            <p:cNvPr id="116" name="Header row"/>
            <p:cNvSpPr/>
            <p:nvPr/>
          </p:nvSpPr>
          <p:spPr>
            <a:xfrm>
              <a:off x="274320" y="2971800"/>
              <a:ext cx="8595360" cy="20116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</p:spPr>
        </p:sp>
        <p:cxnSp>
          <p:nvCxnSpPr>
            <p:cNvPr id="117" name="Header rule"/>
            <p:cNvCxnSpPr/>
            <p:nvPr/>
          </p:nvCxnSpPr>
          <p:spPr>
            <a:xfrm>
              <a:off x="274320" y="3172968"/>
              <a:ext cx="8595360" cy="0"/>
            </a:xfrm>
            <a:prstGeom prst="straightConnector1">
              <a:avLst/>
            </a:prstGeom>
            <a:noFill/>
            <a:ln w="19050">
              <a:solidFill>
                <a:srgbClr val="40566D"/>
              </a:solidFill>
              <a:round/>
            </a:ln>
          </p:spPr>
        </p:cxnSp>
        <p:sp>
          <p:nvSpPr>
            <p:cNvPr id="118" name="Ref header"/>
            <p:cNvSpPr txBox="1"/>
            <p:nvPr/>
          </p:nvSpPr>
          <p:spPr>
            <a:xfrm>
              <a:off x="329184" y="2971800"/>
              <a:ext cx="256032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19" name="Link / component header"/>
            <p:cNvSpPr txBox="1"/>
            <p:nvPr/>
          </p:nvSpPr>
          <p:spPr>
            <a:xfrm>
              <a:off x="658368" y="2971800"/>
              <a:ext cx="155448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LINK / COMPONENT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20" name="What flows header"/>
            <p:cNvSpPr txBox="1"/>
            <p:nvPr/>
          </p:nvSpPr>
          <p:spPr>
            <a:xfrm>
              <a:off x="2286000" y="2971800"/>
              <a:ext cx="2871216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WHAT FLOWS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21" name="Configuration to set up header"/>
            <p:cNvSpPr txBox="1"/>
            <p:nvPr/>
          </p:nvSpPr>
          <p:spPr>
            <a:xfrm>
              <a:off x="5230368" y="2971800"/>
              <a:ext cx="2359152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CONFIGURATION TO SET UP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22" name="Status header"/>
            <p:cNvSpPr txBox="1"/>
            <p:nvPr/>
          </p:nvSpPr>
          <p:spPr>
            <a:xfrm>
              <a:off x="7662672" y="2971800"/>
              <a:ext cx="11887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STATUS</a:t>
              </a:r>
              <a:endParaRPr lang="en-US" sz="600" dirty="0">
                <a:latin typeface="Inter SemiBold"/>
              </a:endParaRPr>
            </a:p>
          </p:txBody>
        </p:sp>
        <p:grpSp>
          <p:nvGrpSpPr>
            <p:cNvPr id="123" name="Row 1"/>
            <p:cNvGrpSpPr/>
            <p:nvPr/>
          </p:nvGrpSpPr>
          <p:grpSpPr>
            <a:xfrm>
              <a:off x="274320" y="3197657"/>
              <a:ext cx="8595360" cy="180137"/>
              <a:chOff x="274320" y="3197657"/>
              <a:chExt cx="8595360" cy="180137"/>
            </a:xfrm>
          </p:grpSpPr>
          <p:grpSp>
            <p:nvGrpSpPr>
              <p:cNvPr id="124" name="Link 1"/>
              <p:cNvGrpSpPr/>
              <p:nvPr/>
            </p:nvGrpSpPr>
            <p:grpSpPr>
              <a:xfrm>
                <a:off x="342900" y="3197657"/>
                <a:ext cx="155448" cy="155448"/>
                <a:chOff x="342900" y="3197657"/>
                <a:chExt cx="155448" cy="155448"/>
              </a:xfrm>
            </p:grpSpPr>
            <p:sp>
              <p:nvSpPr>
                <p:cNvPr id="125" name="Link badge"/>
                <p:cNvSpPr/>
                <p:nvPr/>
              </p:nvSpPr>
              <p:spPr>
                <a:xfrm>
                  <a:off x="342900" y="3197657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26" name="Link number"/>
                <p:cNvSpPr txBox="1"/>
                <p:nvPr/>
              </p:nvSpPr>
              <p:spPr>
                <a:xfrm>
                  <a:off x="342900" y="3197657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1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27" name="Link / component cell"/>
              <p:cNvSpPr txBox="1"/>
              <p:nvPr/>
            </p:nvSpPr>
            <p:spPr>
              <a:xfrm>
                <a:off x="658368" y="3226994"/>
                <a:ext cx="1517904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IUT &amp; FUT machines → server</a:t>
                </a:r>
                <a:endParaRPr lang="en-US" sz="635" dirty="0">
                  <a:latin typeface="Inter SemiBold"/>
                </a:endParaRPr>
              </a:p>
            </p:txBody>
          </p:sp>
          <p:sp>
            <p:nvSpPr>
              <p:cNvPr id="128" name="What flows cell"/>
              <p:cNvSpPr txBox="1"/>
              <p:nvPr/>
            </p:nvSpPr>
            <p:spPr>
              <a:xfrm>
                <a:off x="2286000" y="3226994"/>
                <a:ext cx="2834640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PDF test report + JPEG indication image for every pipe tested</a:t>
                </a:r>
                <a:endParaRPr lang="en-US" sz="635" dirty="0">
                  <a:latin typeface="Inter"/>
                </a:endParaRPr>
              </a:p>
            </p:txBody>
          </p:sp>
          <p:sp>
            <p:nvSpPr>
              <p:cNvPr id="129" name="Configuration to set up cell"/>
              <p:cNvSpPr txBox="1"/>
              <p:nvPr/>
            </p:nvSpPr>
            <p:spPr>
              <a:xfrm>
                <a:off x="5230368" y="3226994"/>
                <a:ext cx="2322576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Transfer method, file location and trigger</a:t>
                </a:r>
                <a:endParaRPr lang="en-US" sz="635" dirty="0">
                  <a:latin typeface="Inter"/>
                </a:endParaRPr>
              </a:p>
            </p:txBody>
          </p:sp>
          <p:grpSp>
            <p:nvGrpSpPr>
              <p:cNvPr id="130" name="Chip TBC"/>
              <p:cNvGrpSpPr/>
              <p:nvPr/>
            </p:nvGrpSpPr>
            <p:grpSpPr>
              <a:xfrm>
                <a:off x="7662672" y="3202229"/>
                <a:ext cx="366230" cy="146304"/>
                <a:chOff x="7662672" y="3202229"/>
                <a:chExt cx="366230" cy="146304"/>
              </a:xfrm>
            </p:grpSpPr>
            <p:sp>
              <p:nvSpPr>
                <p:cNvPr id="131" name="Chip fill"/>
                <p:cNvSpPr/>
                <p:nvPr/>
              </p:nvSpPr>
              <p:spPr>
                <a:xfrm>
                  <a:off x="7662672" y="3202229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32" name="Icon circle-help"/>
                <p:cNvSpPr/>
                <p:nvPr/>
              </p:nvSpPr>
              <p:spPr>
                <a:xfrm>
                  <a:off x="7703820" y="3227756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33" name="Chip label"/>
                <p:cNvSpPr txBox="1"/>
                <p:nvPr/>
              </p:nvSpPr>
              <p:spPr>
                <a:xfrm>
                  <a:off x="7831074" y="3202229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34" name="Row rule"/>
              <p:cNvCxnSpPr/>
              <p:nvPr/>
            </p:nvCxnSpPr>
            <p:spPr>
              <a:xfrm>
                <a:off x="274320" y="3377794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35" name="Row 2"/>
            <p:cNvGrpSpPr/>
            <p:nvPr/>
          </p:nvGrpSpPr>
          <p:grpSpPr>
            <a:xfrm>
              <a:off x="274320" y="3402482"/>
              <a:ext cx="8595360" cy="180137"/>
              <a:chOff x="274320" y="3402482"/>
              <a:chExt cx="8595360" cy="180137"/>
            </a:xfrm>
          </p:grpSpPr>
          <p:grpSp>
            <p:nvGrpSpPr>
              <p:cNvPr id="136" name="Link 2"/>
              <p:cNvGrpSpPr/>
              <p:nvPr/>
            </p:nvGrpSpPr>
            <p:grpSpPr>
              <a:xfrm>
                <a:off x="342900" y="3402482"/>
                <a:ext cx="155448" cy="155448"/>
                <a:chOff x="342900" y="3402482"/>
                <a:chExt cx="155448" cy="155448"/>
              </a:xfrm>
            </p:grpSpPr>
            <p:sp>
              <p:nvSpPr>
                <p:cNvPr id="137" name="Link badge"/>
                <p:cNvSpPr/>
                <p:nvPr/>
              </p:nvSpPr>
              <p:spPr>
                <a:xfrm>
                  <a:off x="342900" y="3402482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38" name="Link number"/>
                <p:cNvSpPr txBox="1"/>
                <p:nvPr/>
              </p:nvSpPr>
              <p:spPr>
                <a:xfrm>
                  <a:off x="342900" y="3402482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2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39" name="Link / component cell"/>
              <p:cNvSpPr txBox="1"/>
              <p:nvPr/>
            </p:nvSpPr>
            <p:spPr>
              <a:xfrm>
                <a:off x="658368" y="3431819"/>
                <a:ext cx="1517904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Operator terminals ↔ application</a:t>
                </a:r>
                <a:endParaRPr lang="en-US" sz="635" dirty="0">
                  <a:latin typeface="Inter SemiBold"/>
                </a:endParaRPr>
              </a:p>
            </p:txBody>
          </p:sp>
          <p:sp>
            <p:nvSpPr>
              <p:cNvPr id="140" name="What flows cell"/>
              <p:cNvSpPr txBox="1"/>
              <p:nvPr/>
            </p:nvSpPr>
            <p:spPr>
              <a:xfrm>
                <a:off x="2286000" y="3431819"/>
                <a:ext cx="2834640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Review, classify pipe, enter checksum, upload</a:t>
                </a:r>
                <a:endParaRPr lang="en-US" sz="635" dirty="0">
                  <a:latin typeface="Inter"/>
                </a:endParaRPr>
              </a:p>
            </p:txBody>
          </p:sp>
          <p:sp>
            <p:nvSpPr>
              <p:cNvPr id="141" name="Configuration to set up cell"/>
              <p:cNvSpPr txBox="1"/>
              <p:nvPr/>
            </p:nvSpPr>
            <p:spPr>
              <a:xfrm>
                <a:off x="5230368" y="3431819"/>
                <a:ext cx="2322576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Terminal device and access method at IUT &amp; FUT</a:t>
                </a:r>
                <a:endParaRPr lang="en-US" sz="635" dirty="0">
                  <a:latin typeface="Inter"/>
                </a:endParaRPr>
              </a:p>
            </p:txBody>
          </p:sp>
          <p:grpSp>
            <p:nvGrpSpPr>
              <p:cNvPr id="142" name="Chip TBC"/>
              <p:cNvGrpSpPr/>
              <p:nvPr/>
            </p:nvGrpSpPr>
            <p:grpSpPr>
              <a:xfrm>
                <a:off x="7662672" y="3407054"/>
                <a:ext cx="366230" cy="146304"/>
                <a:chOff x="7662672" y="3407054"/>
                <a:chExt cx="366230" cy="146304"/>
              </a:xfrm>
            </p:grpSpPr>
            <p:sp>
              <p:nvSpPr>
                <p:cNvPr id="143" name="Chip fill"/>
                <p:cNvSpPr/>
                <p:nvPr/>
              </p:nvSpPr>
              <p:spPr>
                <a:xfrm>
                  <a:off x="7662672" y="3407054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44" name="Icon circle-help"/>
                <p:cNvSpPr/>
                <p:nvPr/>
              </p:nvSpPr>
              <p:spPr>
                <a:xfrm>
                  <a:off x="7703820" y="3432581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45" name="Chip label"/>
                <p:cNvSpPr txBox="1"/>
                <p:nvPr/>
              </p:nvSpPr>
              <p:spPr>
                <a:xfrm>
                  <a:off x="7831074" y="3407054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46" name="Row rule"/>
              <p:cNvCxnSpPr/>
              <p:nvPr/>
            </p:nvCxnSpPr>
            <p:spPr>
              <a:xfrm>
                <a:off x="274320" y="3582619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47" name="Row 3"/>
            <p:cNvGrpSpPr/>
            <p:nvPr/>
          </p:nvGrpSpPr>
          <p:grpSpPr>
            <a:xfrm>
              <a:off x="274320" y="3611880"/>
              <a:ext cx="8595360" cy="222809"/>
              <a:chOff x="274320" y="3611880"/>
              <a:chExt cx="8595360" cy="222809"/>
            </a:xfrm>
          </p:grpSpPr>
          <p:grpSp>
            <p:nvGrpSpPr>
              <p:cNvPr id="148" name="Link 3"/>
              <p:cNvGrpSpPr/>
              <p:nvPr/>
            </p:nvGrpSpPr>
            <p:grpSpPr>
              <a:xfrm>
                <a:off x="342900" y="3630930"/>
                <a:ext cx="155448" cy="155448"/>
                <a:chOff x="342900" y="3630930"/>
                <a:chExt cx="155448" cy="155448"/>
              </a:xfrm>
            </p:grpSpPr>
            <p:sp>
              <p:nvSpPr>
                <p:cNvPr id="149" name="Link badge"/>
                <p:cNvSpPr/>
                <p:nvPr/>
              </p:nvSpPr>
              <p:spPr>
                <a:xfrm>
                  <a:off x="342900" y="3630930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50" name="Link number"/>
                <p:cNvSpPr txBox="1"/>
                <p:nvPr/>
              </p:nvSpPr>
              <p:spPr>
                <a:xfrm>
                  <a:off x="342900" y="3630930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3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51" name="Link / component cell"/>
              <p:cNvSpPr txBox="1"/>
              <p:nvPr/>
            </p:nvSpPr>
            <p:spPr>
              <a:xfrm>
                <a:off x="658368" y="3660267"/>
                <a:ext cx="1517904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 ↔ SAP</a:t>
                </a:r>
                <a:endParaRPr lang="en-US" sz="635" dirty="0">
                  <a:latin typeface="Inter SemiBold"/>
                </a:endParaRPr>
              </a:p>
            </p:txBody>
          </p:sp>
          <p:sp>
            <p:nvSpPr>
              <p:cNvPr id="152" name="What flows cell"/>
              <p:cNvSpPr txBox="1"/>
              <p:nvPr/>
            </p:nvSpPr>
            <p:spPr>
              <a:xfrm>
                <a:off x="2286000" y="3611880"/>
                <a:ext cx="2834640" cy="193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Read: PO numbers, general remarks, previous-station pipe nos. · Post: normal and separate endpoints</a:t>
                </a:r>
                <a:endParaRPr lang="en-US" sz="635" dirty="0">
                  <a:latin typeface="Inter"/>
                </a:endParaRPr>
              </a:p>
            </p:txBody>
          </p:sp>
          <p:sp>
            <p:nvSpPr>
              <p:cNvPr id="153" name="Configuration to set up cell"/>
              <p:cNvSpPr txBox="1"/>
              <p:nvPr/>
            </p:nvSpPr>
            <p:spPr>
              <a:xfrm>
                <a:off x="5230368" y="3660267"/>
                <a:ext cx="2322576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SAP interface type, endpoint details, credentials</a:t>
                </a:r>
                <a:endParaRPr lang="en-US" sz="635" dirty="0">
                  <a:latin typeface="Inter"/>
                </a:endParaRPr>
              </a:p>
            </p:txBody>
          </p:sp>
          <p:grpSp>
            <p:nvGrpSpPr>
              <p:cNvPr id="154" name="Chip TBC"/>
              <p:cNvGrpSpPr/>
              <p:nvPr/>
            </p:nvGrpSpPr>
            <p:grpSpPr>
              <a:xfrm>
                <a:off x="7662672" y="3635502"/>
                <a:ext cx="366230" cy="146304"/>
                <a:chOff x="7662672" y="3635502"/>
                <a:chExt cx="366230" cy="146304"/>
              </a:xfrm>
            </p:grpSpPr>
            <p:sp>
              <p:nvSpPr>
                <p:cNvPr id="155" name="Chip fill"/>
                <p:cNvSpPr/>
                <p:nvPr/>
              </p:nvSpPr>
              <p:spPr>
                <a:xfrm>
                  <a:off x="7662672" y="3635502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56" name="Icon circle-help"/>
                <p:cNvSpPr/>
                <p:nvPr/>
              </p:nvSpPr>
              <p:spPr>
                <a:xfrm>
                  <a:off x="7703820" y="366102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57" name="Chip label"/>
                <p:cNvSpPr txBox="1"/>
                <p:nvPr/>
              </p:nvSpPr>
              <p:spPr>
                <a:xfrm>
                  <a:off x="7831074" y="3635502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58" name="Row rule"/>
              <p:cNvCxnSpPr/>
              <p:nvPr/>
            </p:nvCxnSpPr>
            <p:spPr>
              <a:xfrm>
                <a:off x="274320" y="3834689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59" name="Row 4"/>
            <p:cNvGrpSpPr/>
            <p:nvPr/>
          </p:nvGrpSpPr>
          <p:grpSpPr>
            <a:xfrm>
              <a:off x="274320" y="3859378"/>
              <a:ext cx="8595360" cy="180137"/>
              <a:chOff x="274320" y="3859378"/>
              <a:chExt cx="8595360" cy="180137"/>
            </a:xfrm>
          </p:grpSpPr>
          <p:grpSp>
            <p:nvGrpSpPr>
              <p:cNvPr id="160" name="Link 4"/>
              <p:cNvGrpSpPr/>
              <p:nvPr/>
            </p:nvGrpSpPr>
            <p:grpSpPr>
              <a:xfrm>
                <a:off x="342900" y="3859378"/>
                <a:ext cx="155448" cy="155448"/>
                <a:chOff x="342900" y="3859378"/>
                <a:chExt cx="155448" cy="155448"/>
              </a:xfrm>
            </p:grpSpPr>
            <p:sp>
              <p:nvSpPr>
                <p:cNvPr id="161" name="Link badge"/>
                <p:cNvSpPr/>
                <p:nvPr/>
              </p:nvSpPr>
              <p:spPr>
                <a:xfrm>
                  <a:off x="342900" y="3859378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62" name="Link number"/>
                <p:cNvSpPr txBox="1"/>
                <p:nvPr/>
              </p:nvSpPr>
              <p:spPr>
                <a:xfrm>
                  <a:off x="342900" y="3859378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4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63" name="Link / component cell"/>
              <p:cNvSpPr txBox="1"/>
              <p:nvPr/>
            </p:nvSpPr>
            <p:spPr>
              <a:xfrm>
                <a:off x="658368" y="3888715"/>
                <a:ext cx="1517904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 → FTP</a:t>
                </a:r>
                <a:endParaRPr lang="en-US" sz="635" dirty="0">
                  <a:latin typeface="Inter SemiBold"/>
                </a:endParaRPr>
              </a:p>
            </p:txBody>
          </p:sp>
          <p:sp>
            <p:nvSpPr>
              <p:cNvPr id="164" name="What flows cell"/>
              <p:cNvSpPr txBox="1"/>
              <p:nvPr/>
            </p:nvSpPr>
            <p:spPr>
              <a:xfrm>
                <a:off x="2286000" y="3888715"/>
                <a:ext cx="2834640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PDF report + JPEG image; upload status shown per entry</a:t>
                </a:r>
                <a:endParaRPr lang="en-US" sz="635" dirty="0">
                  <a:latin typeface="Inter"/>
                </a:endParaRPr>
              </a:p>
            </p:txBody>
          </p:sp>
          <p:sp>
            <p:nvSpPr>
              <p:cNvPr id="165" name="Configuration to set up cell"/>
              <p:cNvSpPr txBox="1"/>
              <p:nvPr/>
            </p:nvSpPr>
            <p:spPr>
              <a:xfrm>
                <a:off x="5230368" y="3888715"/>
                <a:ext cx="2322576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FTP host, folder and credentials</a:t>
                </a:r>
                <a:endParaRPr lang="en-US" sz="635" dirty="0">
                  <a:latin typeface="Inter"/>
                </a:endParaRPr>
              </a:p>
            </p:txBody>
          </p:sp>
          <p:grpSp>
            <p:nvGrpSpPr>
              <p:cNvPr id="166" name="Chip TBC"/>
              <p:cNvGrpSpPr/>
              <p:nvPr/>
            </p:nvGrpSpPr>
            <p:grpSpPr>
              <a:xfrm>
                <a:off x="7662672" y="3863950"/>
                <a:ext cx="366230" cy="146304"/>
                <a:chOff x="7662672" y="3863950"/>
                <a:chExt cx="366230" cy="146304"/>
              </a:xfrm>
            </p:grpSpPr>
            <p:sp>
              <p:nvSpPr>
                <p:cNvPr id="167" name="Chip fill"/>
                <p:cNvSpPr/>
                <p:nvPr/>
              </p:nvSpPr>
              <p:spPr>
                <a:xfrm>
                  <a:off x="7662672" y="3863950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68" name="Icon circle-help"/>
                <p:cNvSpPr/>
                <p:nvPr/>
              </p:nvSpPr>
              <p:spPr>
                <a:xfrm>
                  <a:off x="7703820" y="3889477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69" name="Chip label"/>
                <p:cNvSpPr txBox="1"/>
                <p:nvPr/>
              </p:nvSpPr>
              <p:spPr>
                <a:xfrm>
                  <a:off x="7831074" y="3863950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70" name="Row rule"/>
              <p:cNvCxnSpPr/>
              <p:nvPr/>
            </p:nvCxnSpPr>
            <p:spPr>
              <a:xfrm>
                <a:off x="274320" y="4039514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71" name="Row 5"/>
            <p:cNvGrpSpPr/>
            <p:nvPr/>
          </p:nvGrpSpPr>
          <p:grpSpPr>
            <a:xfrm>
              <a:off x="274320" y="4068775"/>
              <a:ext cx="8595360" cy="175565"/>
              <a:chOff x="274320" y="4068775"/>
              <a:chExt cx="8595360" cy="175565"/>
            </a:xfrm>
          </p:grpSpPr>
          <p:sp>
            <p:nvSpPr>
              <p:cNvPr id="172" name="Bullet"/>
              <p:cNvSpPr/>
              <p:nvPr/>
            </p:nvSpPr>
            <p:spPr>
              <a:xfrm>
                <a:off x="388620" y="4109923"/>
                <a:ext cx="64008" cy="64008"/>
              </a:xfrm>
              <a:prstGeom prst="ellipse">
                <a:avLst/>
              </a:prstGeom>
              <a:solidFill>
                <a:srgbClr val="B1C1D2"/>
              </a:solidFill>
              <a:ln>
                <a:noFill/>
              </a:ln>
            </p:spPr>
          </p:sp>
          <p:sp>
            <p:nvSpPr>
              <p:cNvPr id="173" name="Link / component cell"/>
              <p:cNvSpPr txBox="1"/>
              <p:nvPr/>
            </p:nvSpPr>
            <p:spPr>
              <a:xfrm>
                <a:off x="658368" y="4093540"/>
                <a:ext cx="1517904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 / VM</a:t>
                </a:r>
                <a:endParaRPr lang="en-US" sz="635" dirty="0">
                  <a:latin typeface="Inter SemiBold"/>
                </a:endParaRPr>
              </a:p>
            </p:txBody>
          </p:sp>
          <p:sp>
            <p:nvSpPr>
              <p:cNvPr id="174" name="What flows cell"/>
              <p:cNvSpPr txBox="1"/>
              <p:nvPr/>
            </p:nvSpPr>
            <p:spPr>
              <a:xfrm>
                <a:off x="2286000" y="4093540"/>
                <a:ext cx="2834640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Hosts the IOsense platform and the SAP Entry Application</a:t>
                </a:r>
                <a:endParaRPr lang="en-US" sz="635" dirty="0">
                  <a:latin typeface="Inter"/>
                </a:endParaRPr>
              </a:p>
            </p:txBody>
          </p:sp>
          <p:sp>
            <p:nvSpPr>
              <p:cNvPr id="175" name="Configuration to set up cell"/>
              <p:cNvSpPr txBox="1"/>
              <p:nvPr/>
            </p:nvSpPr>
            <p:spPr>
              <a:xfrm>
                <a:off x="5230368" y="4093540"/>
                <a:ext cx="2322576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On Welspun IT network, provided by Welspun</a:t>
                </a:r>
                <a:endParaRPr lang="en-US" sz="635" dirty="0">
                  <a:latin typeface="Inter"/>
                </a:endParaRPr>
              </a:p>
            </p:txBody>
          </p:sp>
          <p:grpSp>
            <p:nvGrpSpPr>
              <p:cNvPr id="176" name="Chip Defined"/>
              <p:cNvGrpSpPr/>
              <p:nvPr/>
            </p:nvGrpSpPr>
            <p:grpSpPr>
              <a:xfrm>
                <a:off x="7662672" y="4068775"/>
                <a:ext cx="498878" cy="146304"/>
                <a:chOff x="7662672" y="4068775"/>
                <a:chExt cx="498878" cy="146304"/>
              </a:xfrm>
            </p:grpSpPr>
            <p:sp>
              <p:nvSpPr>
                <p:cNvPr id="177" name="Chip fill"/>
                <p:cNvSpPr/>
                <p:nvPr/>
              </p:nvSpPr>
              <p:spPr>
                <a:xfrm>
                  <a:off x="7662672" y="4068775"/>
                  <a:ext cx="498878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00A251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78" name="Icon circle-check"/>
                <p:cNvSpPr/>
                <p:nvPr/>
              </p:nvSpPr>
              <p:spPr>
                <a:xfrm>
                  <a:off x="7703820" y="4094302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16000" y="9000"/>
                      </a:moveTo>
                      <a:lnTo>
                        <a:pt x="10500" y="14500"/>
                      </a:lnTo>
                      <a:lnTo>
                        <a:pt x="8000" y="12000"/>
                      </a:lnTo>
                    </a:path>
                  </a:pathLst>
                </a:custGeom>
                <a:noFill/>
                <a:ln w="9128" cap="rnd">
                  <a:solidFill>
                    <a:srgbClr val="008743"/>
                  </a:solidFill>
                  <a:round/>
                </a:ln>
              </p:spPr>
            </p:sp>
            <p:sp>
              <p:nvSpPr>
                <p:cNvPr id="179" name="Chip label"/>
                <p:cNvSpPr txBox="1"/>
                <p:nvPr/>
              </p:nvSpPr>
              <p:spPr>
                <a:xfrm>
                  <a:off x="7831074" y="4068775"/>
                  <a:ext cx="307616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008743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Defined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80" name="Row rule"/>
              <p:cNvCxnSpPr/>
              <p:nvPr/>
            </p:nvCxnSpPr>
            <p:spPr>
              <a:xfrm>
                <a:off x="274320" y="4244340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81" name="Row 6"/>
            <p:cNvGrpSpPr/>
            <p:nvPr/>
          </p:nvGrpSpPr>
          <p:grpSpPr>
            <a:xfrm>
              <a:off x="274320" y="4273601"/>
              <a:ext cx="8595360" cy="175565"/>
              <a:chOff x="274320" y="4273601"/>
              <a:chExt cx="8595360" cy="175565"/>
            </a:xfrm>
          </p:grpSpPr>
          <p:sp>
            <p:nvSpPr>
              <p:cNvPr id="182" name="Bullet"/>
              <p:cNvSpPr/>
              <p:nvPr/>
            </p:nvSpPr>
            <p:spPr>
              <a:xfrm>
                <a:off x="388620" y="4314749"/>
                <a:ext cx="64008" cy="64008"/>
              </a:xfrm>
              <a:prstGeom prst="ellipse">
                <a:avLst/>
              </a:prstGeom>
              <a:solidFill>
                <a:srgbClr val="B1C1D2"/>
              </a:solidFill>
              <a:ln>
                <a:noFill/>
              </a:ln>
            </p:spPr>
          </p:sp>
          <p:sp>
            <p:nvSpPr>
              <p:cNvPr id="183" name="Link / component cell"/>
              <p:cNvSpPr txBox="1"/>
              <p:nvPr/>
            </p:nvSpPr>
            <p:spPr>
              <a:xfrm>
                <a:off x="658368" y="4298366"/>
                <a:ext cx="1517904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Upload retry</a:t>
                </a:r>
                <a:endParaRPr lang="en-US" sz="635" dirty="0">
                  <a:latin typeface="Inter SemiBold"/>
                </a:endParaRPr>
              </a:p>
            </p:txBody>
          </p:sp>
          <p:sp>
            <p:nvSpPr>
              <p:cNvPr id="184" name="What flows cell"/>
              <p:cNvSpPr txBox="1"/>
              <p:nvPr/>
            </p:nvSpPr>
            <p:spPr>
              <a:xfrm>
                <a:off x="2286000" y="4298366"/>
                <a:ext cx="2834640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Network / SAP down · previous-station entry missing</a:t>
                </a:r>
                <a:endParaRPr lang="en-US" sz="635" dirty="0">
                  <a:latin typeface="Inter"/>
                </a:endParaRPr>
              </a:p>
            </p:txBody>
          </p:sp>
          <p:sp>
            <p:nvSpPr>
              <p:cNvPr id="185" name="Configuration to set up cell"/>
              <p:cNvSpPr txBox="1"/>
              <p:nvPr/>
            </p:nvSpPr>
            <p:spPr>
              <a:xfrm>
                <a:off x="5230368" y="4298366"/>
                <a:ext cx="2322576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Every 5 min, up to 3 tries · every 5 min until available</a:t>
                </a:r>
                <a:endParaRPr lang="en-US" sz="635" dirty="0">
                  <a:latin typeface="Inter"/>
                </a:endParaRPr>
              </a:p>
            </p:txBody>
          </p:sp>
          <p:grpSp>
            <p:nvGrpSpPr>
              <p:cNvPr id="186" name="Chip Cadence TBC"/>
              <p:cNvGrpSpPr/>
              <p:nvPr/>
            </p:nvGrpSpPr>
            <p:grpSpPr>
              <a:xfrm>
                <a:off x="7662672" y="4273601"/>
                <a:ext cx="714006" cy="146304"/>
                <a:chOff x="7662672" y="4273601"/>
                <a:chExt cx="714006" cy="146304"/>
              </a:xfrm>
            </p:grpSpPr>
            <p:sp>
              <p:nvSpPr>
                <p:cNvPr id="187" name="Chip fill"/>
                <p:cNvSpPr/>
                <p:nvPr/>
              </p:nvSpPr>
              <p:spPr>
                <a:xfrm>
                  <a:off x="7662672" y="4273601"/>
                  <a:ext cx="714006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88" name="Icon circle-help"/>
                <p:cNvSpPr/>
                <p:nvPr/>
              </p:nvSpPr>
              <p:spPr>
                <a:xfrm>
                  <a:off x="7703820" y="4299128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89" name="Chip label"/>
                <p:cNvSpPr txBox="1"/>
                <p:nvPr/>
              </p:nvSpPr>
              <p:spPr>
                <a:xfrm>
                  <a:off x="7831074" y="4273601"/>
                  <a:ext cx="522744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Cadence 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90" name="Row rule"/>
              <p:cNvCxnSpPr/>
              <p:nvPr/>
            </p:nvCxnSpPr>
            <p:spPr>
              <a:xfrm>
                <a:off x="274320" y="4449166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91" name="Row 7"/>
            <p:cNvGrpSpPr/>
            <p:nvPr/>
          </p:nvGrpSpPr>
          <p:grpSpPr>
            <a:xfrm>
              <a:off x="274320" y="4478426"/>
              <a:ext cx="8595360" cy="175565"/>
              <a:chOff x="274320" y="4478426"/>
              <a:chExt cx="8595360" cy="175565"/>
            </a:xfrm>
          </p:grpSpPr>
          <p:sp>
            <p:nvSpPr>
              <p:cNvPr id="192" name="Bullet"/>
              <p:cNvSpPr/>
              <p:nvPr/>
            </p:nvSpPr>
            <p:spPr>
              <a:xfrm>
                <a:off x="388620" y="4519574"/>
                <a:ext cx="64008" cy="64008"/>
              </a:xfrm>
              <a:prstGeom prst="ellipse">
                <a:avLst/>
              </a:prstGeom>
              <a:solidFill>
                <a:srgbClr val="B1C1D2"/>
              </a:solidFill>
              <a:ln>
                <a:noFill/>
              </a:ln>
            </p:spPr>
          </p:sp>
          <p:sp>
            <p:nvSpPr>
              <p:cNvPr id="193" name="Link / component cell"/>
              <p:cNvSpPr txBox="1"/>
              <p:nvPr/>
            </p:nvSpPr>
            <p:spPr>
              <a:xfrm>
                <a:off x="658368" y="4503191"/>
                <a:ext cx="1517904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Network access</a:t>
                </a:r>
                <a:endParaRPr lang="en-US" sz="635" dirty="0">
                  <a:latin typeface="Inter SemiBold"/>
                </a:endParaRPr>
              </a:p>
            </p:txBody>
          </p:sp>
          <p:sp>
            <p:nvSpPr>
              <p:cNvPr id="194" name="What flows cell"/>
              <p:cNvSpPr txBox="1"/>
              <p:nvPr/>
            </p:nvSpPr>
            <p:spPr>
              <a:xfrm>
                <a:off x="2286000" y="4503191"/>
                <a:ext cx="2834640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Stations, central server, SAP and FTP</a:t>
                </a:r>
                <a:endParaRPr lang="en-US" sz="635" dirty="0">
                  <a:latin typeface="Inter"/>
                </a:endParaRPr>
              </a:p>
            </p:txBody>
          </p:sp>
          <p:sp>
            <p:nvSpPr>
              <p:cNvPr id="195" name="Configuration to set up cell"/>
              <p:cNvSpPr txBox="1"/>
              <p:nvPr/>
            </p:nvSpPr>
            <p:spPr>
              <a:xfrm>
                <a:off x="5230368" y="4503191"/>
                <a:ext cx="2322576" cy="96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62"/>
                  </a:lnSpc>
                  <a:spcBef>
                    <a:spcPts val="0"/>
                  </a:spcBef>
                  <a:buNone/>
                </a:pPr>
                <a:r>
                  <a:rPr lang="en-US" sz="635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Ports, VLANs and firewall rules</a:t>
                </a:r>
                <a:endParaRPr lang="en-US" sz="635" dirty="0">
                  <a:latin typeface="Inter"/>
                </a:endParaRPr>
              </a:p>
            </p:txBody>
          </p:sp>
          <p:grpSp>
            <p:nvGrpSpPr>
              <p:cNvPr id="196" name="Chip TBC"/>
              <p:cNvGrpSpPr/>
              <p:nvPr/>
            </p:nvGrpSpPr>
            <p:grpSpPr>
              <a:xfrm>
                <a:off x="7662672" y="4478426"/>
                <a:ext cx="366230" cy="146304"/>
                <a:chOff x="7662672" y="4478426"/>
                <a:chExt cx="366230" cy="146304"/>
              </a:xfrm>
            </p:grpSpPr>
            <p:sp>
              <p:nvSpPr>
                <p:cNvPr id="197" name="Chip fill"/>
                <p:cNvSpPr/>
                <p:nvPr/>
              </p:nvSpPr>
              <p:spPr>
                <a:xfrm>
                  <a:off x="7662672" y="4478426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98" name="Icon circle-help"/>
                <p:cNvSpPr/>
                <p:nvPr/>
              </p:nvSpPr>
              <p:spPr>
                <a:xfrm>
                  <a:off x="7703820" y="4503953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99" name="Chip label"/>
                <p:cNvSpPr txBox="1"/>
                <p:nvPr/>
              </p:nvSpPr>
              <p:spPr>
                <a:xfrm>
                  <a:off x="7831074" y="4478426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200" name="Row rule"/>
              <p:cNvCxnSpPr/>
              <p:nvPr/>
            </p:nvCxnSpPr>
            <p:spPr>
              <a:xfrm>
                <a:off x="274320" y="4653991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</p:grpSp>
      <p:grpSp>
        <p:nvGrpSpPr>
          <p:cNvPr id="201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02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03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02  ·  HYDROTESTER STATION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Network Architecture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Data flow and configuration for the Hydrotester station. Items marked TBC are to be confirmed with Welspun IT and SAP teams.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Zone · Hydrotester station"/>
          <p:cNvGrpSpPr/>
          <p:nvPr/>
        </p:nvGrpSpPr>
        <p:grpSpPr>
          <a:xfrm>
            <a:off x="274320" y="1033272"/>
            <a:ext cx="2432304" cy="1856232"/>
            <a:chOff x="274320" y="1033272"/>
            <a:chExt cx="2432304" cy="1856232"/>
          </a:xfrm>
        </p:grpSpPr>
        <p:sp>
          <p:nvSpPr>
            <p:cNvPr id="22" name="Zone boundary"/>
            <p:cNvSpPr/>
            <p:nvPr/>
          </p:nvSpPr>
          <p:spPr>
            <a:xfrm>
              <a:off x="274320" y="1033272"/>
              <a:ext cx="2432304" cy="1856232"/>
            </a:xfrm>
            <a:prstGeom prst="roundRect">
              <a:avLst>
                <a:gd name="adj" fmla="val 3940"/>
              </a:avLst>
            </a:prstGeom>
            <a:solidFill>
              <a:srgbClr val="F8FAFC"/>
            </a:solidFill>
            <a:ln w="9525">
              <a:solidFill>
                <a:srgbClr val="CBD5E2"/>
              </a:solidFill>
              <a:prstDash val="dash"/>
              <a:round/>
            </a:ln>
          </p:spPr>
        </p:sp>
        <p:sp>
          <p:nvSpPr>
            <p:cNvPr id="23" name="Icon factory"/>
            <p:cNvSpPr/>
            <p:nvPr/>
          </p:nvSpPr>
          <p:spPr>
            <a:xfrm>
              <a:off x="365760" y="111099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6000"/>
                  </a:moveTo>
                  <a:lnTo>
                    <a:pt x="12010" y="16000"/>
                  </a:lnTo>
                </a:path>
                <a:path w="24000" h="24000" fill="none">
                  <a:moveTo>
                    <a:pt x="16000" y="16000"/>
                  </a:moveTo>
                  <a:lnTo>
                    <a:pt x="16010" y="16000"/>
                  </a:lnTo>
                </a:path>
                <a:path w="24000" h="24000" fill="none">
                  <a:moveTo>
                    <a:pt x="3000" y="19000"/>
                  </a:moveTo>
                  <a:cubicBezTo>
                    <a:pt x="3000" y="19351"/>
                    <a:pt x="3092" y="19695"/>
                    <a:pt x="3267" y="20000"/>
                  </a:cubicBezTo>
                  <a:cubicBezTo>
                    <a:pt x="3443" y="20304"/>
                    <a:pt x="3695" y="20556"/>
                    <a:pt x="3999" y="20732"/>
                  </a:cubicBezTo>
                  <a:cubicBezTo>
                    <a:pt x="4304" y="20907"/>
                    <a:pt x="4648" y="21000"/>
                    <a:pt x="5000" y="21000"/>
                  </a:cubicBezTo>
                  <a:lnTo>
                    <a:pt x="19000" y="21000"/>
                  </a:lnTo>
                  <a:cubicBezTo>
                    <a:pt x="19351" y="21000"/>
                    <a:pt x="19695" y="20907"/>
                    <a:pt x="20000" y="20732"/>
                  </a:cubicBezTo>
                  <a:cubicBezTo>
                    <a:pt x="20304" y="20556"/>
                    <a:pt x="20556" y="20304"/>
                    <a:pt x="20732" y="20000"/>
                  </a:cubicBezTo>
                  <a:cubicBezTo>
                    <a:pt x="20907" y="19695"/>
                    <a:pt x="21000" y="19351"/>
                    <a:pt x="21000" y="19000"/>
                  </a:cubicBezTo>
                  <a:lnTo>
                    <a:pt x="21000" y="8500"/>
                  </a:lnTo>
                  <a:cubicBezTo>
                    <a:pt x="21000" y="8428"/>
                    <a:pt x="20984" y="8357"/>
                    <a:pt x="20955" y="8292"/>
                  </a:cubicBezTo>
                  <a:cubicBezTo>
                    <a:pt x="20925" y="8227"/>
                    <a:pt x="20882" y="8169"/>
                    <a:pt x="20828" y="8122"/>
                  </a:cubicBezTo>
                  <a:cubicBezTo>
                    <a:pt x="20774" y="8075"/>
                    <a:pt x="20710" y="8040"/>
                    <a:pt x="20641" y="8020"/>
                  </a:cubicBezTo>
                  <a:cubicBezTo>
                    <a:pt x="20573" y="7999"/>
                    <a:pt x="20501" y="7994"/>
                    <a:pt x="20430" y="8004"/>
                  </a:cubicBezTo>
                  <a:cubicBezTo>
                    <a:pt x="20359" y="8014"/>
                    <a:pt x="20291" y="8039"/>
                    <a:pt x="20231" y="8077"/>
                  </a:cubicBezTo>
                  <a:lnTo>
                    <a:pt x="15769" y="10921"/>
                  </a:lnTo>
                  <a:cubicBezTo>
                    <a:pt x="15708" y="10960"/>
                    <a:pt x="15640" y="10985"/>
                    <a:pt x="15569" y="10995"/>
                  </a:cubicBezTo>
                  <a:cubicBezTo>
                    <a:pt x="15498" y="11005"/>
                    <a:pt x="15426" y="11000"/>
                    <a:pt x="15358" y="10979"/>
                  </a:cubicBezTo>
                  <a:cubicBezTo>
                    <a:pt x="15289" y="10959"/>
                    <a:pt x="15225" y="10924"/>
                    <a:pt x="15171" y="10877"/>
                  </a:cubicBezTo>
                  <a:cubicBezTo>
                    <a:pt x="15117" y="10830"/>
                    <a:pt x="15074" y="10772"/>
                    <a:pt x="15044" y="10707"/>
                  </a:cubicBezTo>
                  <a:cubicBezTo>
                    <a:pt x="15015" y="10642"/>
                    <a:pt x="14999" y="10571"/>
                    <a:pt x="15000" y="10500"/>
                  </a:cubicBezTo>
                  <a:lnTo>
                    <a:pt x="15000" y="8500"/>
                  </a:lnTo>
                  <a:cubicBezTo>
                    <a:pt x="15000" y="8428"/>
                    <a:pt x="14984" y="8357"/>
                    <a:pt x="14955" y="8292"/>
                  </a:cubicBezTo>
                  <a:cubicBezTo>
                    <a:pt x="14925" y="8227"/>
                    <a:pt x="14882" y="8169"/>
                    <a:pt x="14828" y="8122"/>
                  </a:cubicBezTo>
                  <a:cubicBezTo>
                    <a:pt x="14774" y="8075"/>
                    <a:pt x="14710" y="8040"/>
                    <a:pt x="14641" y="8020"/>
                  </a:cubicBezTo>
                  <a:cubicBezTo>
                    <a:pt x="14573" y="7999"/>
                    <a:pt x="14501" y="7994"/>
                    <a:pt x="14430" y="8004"/>
                  </a:cubicBezTo>
                  <a:cubicBezTo>
                    <a:pt x="14359" y="8014"/>
                    <a:pt x="14291" y="8039"/>
                    <a:pt x="14231" y="8077"/>
                  </a:cubicBezTo>
                  <a:lnTo>
                    <a:pt x="9770" y="10922"/>
                  </a:lnTo>
                  <a:cubicBezTo>
                    <a:pt x="9709" y="10960"/>
                    <a:pt x="9641" y="10986"/>
                    <a:pt x="9570" y="10996"/>
                  </a:cubicBezTo>
                  <a:cubicBezTo>
                    <a:pt x="9499" y="11006"/>
                    <a:pt x="9427" y="11001"/>
                    <a:pt x="9358" y="10980"/>
                  </a:cubicBezTo>
                  <a:cubicBezTo>
                    <a:pt x="9289" y="10960"/>
                    <a:pt x="9226" y="10925"/>
                    <a:pt x="9171" y="10878"/>
                  </a:cubicBezTo>
                  <a:cubicBezTo>
                    <a:pt x="9117" y="10831"/>
                    <a:pt x="9074" y="10773"/>
                    <a:pt x="9044" y="10707"/>
                  </a:cubicBezTo>
                  <a:cubicBezTo>
                    <a:pt x="9015" y="10642"/>
                    <a:pt x="8999" y="10571"/>
                    <a:pt x="9000" y="10500"/>
                  </a:cubicBezTo>
                  <a:lnTo>
                    <a:pt x="9000" y="5000"/>
                  </a:lnTo>
                  <a:cubicBezTo>
                    <a:pt x="9000" y="4648"/>
                    <a:pt x="8907" y="4304"/>
                    <a:pt x="8732" y="4000"/>
                  </a:cubicBezTo>
                  <a:cubicBezTo>
                    <a:pt x="8556" y="3695"/>
                    <a:pt x="8304" y="3443"/>
                    <a:pt x="8000" y="3267"/>
                  </a:cubicBezTo>
                  <a:cubicBezTo>
                    <a:pt x="7695" y="3092"/>
                    <a:pt x="7351" y="3000"/>
                    <a:pt x="7000" y="3000"/>
                  </a:cubicBezTo>
                  <a:lnTo>
                    <a:pt x="5000" y="3000"/>
                  </a:lnTo>
                  <a:cubicBezTo>
                    <a:pt x="4648" y="3000"/>
                    <a:pt x="4304" y="3092"/>
                    <a:pt x="4000" y="3267"/>
                  </a:cubicBezTo>
                  <a:cubicBezTo>
                    <a:pt x="3695" y="3443"/>
                    <a:pt x="3443" y="3695"/>
                    <a:pt x="3267" y="3999"/>
                  </a:cubicBezTo>
                  <a:cubicBezTo>
                    <a:pt x="3092" y="4304"/>
                    <a:pt x="3000" y="4648"/>
                    <a:pt x="3000" y="5000"/>
                  </a:cubicBezTo>
                  <a:close/>
                </a:path>
                <a:path w="24000" h="24000" fill="none">
                  <a:moveTo>
                    <a:pt x="8000" y="16000"/>
                  </a:moveTo>
                  <a:lnTo>
                    <a:pt x="8010" y="16000"/>
                  </a:lnTo>
                </a:path>
              </a:pathLst>
            </a:custGeom>
            <a:noFill/>
            <a:ln w="11734" cap="rnd">
              <a:solidFill>
                <a:srgbClr val="0C1927"/>
              </a:solidFill>
              <a:round/>
            </a:ln>
          </p:spPr>
        </p:sp>
        <p:sp>
          <p:nvSpPr>
            <p:cNvPr id="24" name="Zone label"/>
            <p:cNvSpPr txBox="1"/>
            <p:nvPr/>
          </p:nvSpPr>
          <p:spPr>
            <a:xfrm>
              <a:off x="539496" y="1088136"/>
              <a:ext cx="2112264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79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HYDROTESTER STATION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25" name="Zone · Welspun IT network"/>
          <p:cNvGrpSpPr/>
          <p:nvPr/>
        </p:nvGrpSpPr>
        <p:grpSpPr>
          <a:xfrm>
            <a:off x="3218688" y="1033272"/>
            <a:ext cx="2724912" cy="1856232"/>
            <a:chOff x="3218688" y="1033272"/>
            <a:chExt cx="2724912" cy="1856232"/>
          </a:xfrm>
        </p:grpSpPr>
        <p:sp>
          <p:nvSpPr>
            <p:cNvPr id="26" name="Zone boundary"/>
            <p:cNvSpPr/>
            <p:nvPr/>
          </p:nvSpPr>
          <p:spPr>
            <a:xfrm>
              <a:off x="3218688" y="1033272"/>
              <a:ext cx="2724912" cy="1856232"/>
            </a:xfrm>
            <a:prstGeom prst="roundRect">
              <a:avLst>
                <a:gd name="adj" fmla="val 3940"/>
              </a:avLst>
            </a:prstGeom>
            <a:solidFill>
              <a:srgbClr val="F8FAFC"/>
            </a:solidFill>
            <a:ln w="9525">
              <a:solidFill>
                <a:srgbClr val="CBD5E2"/>
              </a:solidFill>
              <a:prstDash val="dash"/>
              <a:round/>
            </a:ln>
          </p:spPr>
        </p:sp>
        <p:sp>
          <p:nvSpPr>
            <p:cNvPr id="27" name="Icon network"/>
            <p:cNvSpPr/>
            <p:nvPr/>
          </p:nvSpPr>
          <p:spPr>
            <a:xfrm>
              <a:off x="3310128" y="111099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6000"/>
                  </a:moveTo>
                  <a:lnTo>
                    <a:pt x="21000" y="16000"/>
                  </a:lnTo>
                  <a:cubicBezTo>
                    <a:pt x="21175" y="16000"/>
                    <a:pt x="21347" y="16046"/>
                    <a:pt x="21500" y="16133"/>
                  </a:cubicBezTo>
                  <a:cubicBezTo>
                    <a:pt x="21652" y="16221"/>
                    <a:pt x="21778" y="16347"/>
                    <a:pt x="21866" y="16500"/>
                  </a:cubicBezTo>
                  <a:cubicBezTo>
                    <a:pt x="21953" y="16652"/>
                    <a:pt x="22000" y="16824"/>
                    <a:pt x="22000" y="17000"/>
                  </a:cubicBezTo>
                  <a:lnTo>
                    <a:pt x="22000" y="21000"/>
                  </a:lnTo>
                  <a:cubicBezTo>
                    <a:pt x="22000" y="21175"/>
                    <a:pt x="21953" y="21347"/>
                    <a:pt x="21866" y="21500"/>
                  </a:cubicBezTo>
                  <a:cubicBezTo>
                    <a:pt x="21778" y="21652"/>
                    <a:pt x="21652" y="21778"/>
                    <a:pt x="21500" y="21866"/>
                  </a:cubicBezTo>
                  <a:cubicBezTo>
                    <a:pt x="21347" y="21953"/>
                    <a:pt x="21175" y="22000"/>
                    <a:pt x="21000" y="22000"/>
                  </a:cubicBezTo>
                  <a:lnTo>
                    <a:pt x="17000" y="22000"/>
                  </a:lnTo>
                  <a:cubicBezTo>
                    <a:pt x="16824" y="22000"/>
                    <a:pt x="16652" y="21953"/>
                    <a:pt x="16500" y="21866"/>
                  </a:cubicBezTo>
                  <a:cubicBezTo>
                    <a:pt x="16347" y="21778"/>
                    <a:pt x="16221" y="21652"/>
                    <a:pt x="16133" y="21500"/>
                  </a:cubicBezTo>
                  <a:cubicBezTo>
                    <a:pt x="16046" y="21347"/>
                    <a:pt x="16000" y="21175"/>
                    <a:pt x="16000" y="21000"/>
                  </a:cubicBezTo>
                  <a:lnTo>
                    <a:pt x="16000" y="17000"/>
                  </a:lnTo>
                  <a:cubicBezTo>
                    <a:pt x="16000" y="16824"/>
                    <a:pt x="16046" y="16652"/>
                    <a:pt x="16133" y="16500"/>
                  </a:cubicBezTo>
                  <a:cubicBezTo>
                    <a:pt x="16221" y="16347"/>
                    <a:pt x="16347" y="16221"/>
                    <a:pt x="16500" y="16133"/>
                  </a:cubicBezTo>
                  <a:cubicBezTo>
                    <a:pt x="16652" y="16046"/>
                    <a:pt x="16824" y="16000"/>
                    <a:pt x="17000" y="16000"/>
                  </a:cubicBezTo>
                  <a:close/>
                </a:path>
                <a:path w="24000" h="24000" fill="none">
                  <a:moveTo>
                    <a:pt x="3000" y="16000"/>
                  </a:moveTo>
                  <a:lnTo>
                    <a:pt x="7000" y="16000"/>
                  </a:lnTo>
                  <a:cubicBezTo>
                    <a:pt x="7175" y="16000"/>
                    <a:pt x="7347" y="16046"/>
                    <a:pt x="7500" y="16133"/>
                  </a:cubicBezTo>
                  <a:cubicBezTo>
                    <a:pt x="7652" y="16221"/>
                    <a:pt x="7778" y="16347"/>
                    <a:pt x="7866" y="16500"/>
                  </a:cubicBezTo>
                  <a:cubicBezTo>
                    <a:pt x="7953" y="16652"/>
                    <a:pt x="8000" y="16824"/>
                    <a:pt x="8000" y="17000"/>
                  </a:cubicBezTo>
                  <a:lnTo>
                    <a:pt x="8000" y="21000"/>
                  </a:lnTo>
                  <a:cubicBezTo>
                    <a:pt x="8000" y="21175"/>
                    <a:pt x="7953" y="21347"/>
                    <a:pt x="7866" y="21500"/>
                  </a:cubicBezTo>
                  <a:cubicBezTo>
                    <a:pt x="7778" y="21652"/>
                    <a:pt x="7652" y="21778"/>
                    <a:pt x="7500" y="21866"/>
                  </a:cubicBezTo>
                  <a:cubicBezTo>
                    <a:pt x="7347" y="21953"/>
                    <a:pt x="7175" y="22000"/>
                    <a:pt x="7000" y="22000"/>
                  </a:cubicBezTo>
                  <a:lnTo>
                    <a:pt x="3000" y="22000"/>
                  </a:lnTo>
                  <a:cubicBezTo>
                    <a:pt x="2824" y="22000"/>
                    <a:pt x="2652" y="21953"/>
                    <a:pt x="2500" y="21866"/>
                  </a:cubicBezTo>
                  <a:cubicBezTo>
                    <a:pt x="2347" y="21778"/>
                    <a:pt x="2221" y="21652"/>
                    <a:pt x="2133" y="21500"/>
                  </a:cubicBezTo>
                  <a:cubicBezTo>
                    <a:pt x="2046" y="21347"/>
                    <a:pt x="2000" y="21175"/>
                    <a:pt x="2000" y="21000"/>
                  </a:cubicBezTo>
                  <a:lnTo>
                    <a:pt x="2000" y="17000"/>
                  </a:lnTo>
                  <a:cubicBezTo>
                    <a:pt x="2000" y="16824"/>
                    <a:pt x="2046" y="16652"/>
                    <a:pt x="2133" y="16500"/>
                  </a:cubicBezTo>
                  <a:cubicBezTo>
                    <a:pt x="2221" y="16347"/>
                    <a:pt x="2347" y="16221"/>
                    <a:pt x="2499" y="16133"/>
                  </a:cubicBezTo>
                  <a:cubicBezTo>
                    <a:pt x="2652" y="16046"/>
                    <a:pt x="2824" y="16000"/>
                    <a:pt x="3000" y="16000"/>
                  </a:cubicBezTo>
                  <a:close/>
                </a:path>
                <a:path w="24000" h="24000" fill="none">
                  <a:moveTo>
                    <a:pt x="10000" y="2000"/>
                  </a:moveTo>
                  <a:lnTo>
                    <a:pt x="14000" y="2000"/>
                  </a:lnTo>
                  <a:cubicBezTo>
                    <a:pt x="14175" y="2000"/>
                    <a:pt x="14347" y="2046"/>
                    <a:pt x="14500" y="2133"/>
                  </a:cubicBezTo>
                  <a:cubicBezTo>
                    <a:pt x="14652" y="2221"/>
                    <a:pt x="14778" y="2347"/>
                    <a:pt x="14866" y="2500"/>
                  </a:cubicBezTo>
                  <a:cubicBezTo>
                    <a:pt x="14953" y="2652"/>
                    <a:pt x="15000" y="2824"/>
                    <a:pt x="15000" y="3000"/>
                  </a:cubicBezTo>
                  <a:lnTo>
                    <a:pt x="15000" y="7000"/>
                  </a:lnTo>
                  <a:cubicBezTo>
                    <a:pt x="15000" y="7175"/>
                    <a:pt x="14953" y="7347"/>
                    <a:pt x="14866" y="7500"/>
                  </a:cubicBezTo>
                  <a:cubicBezTo>
                    <a:pt x="14778" y="7652"/>
                    <a:pt x="14652" y="7778"/>
                    <a:pt x="14500" y="7866"/>
                  </a:cubicBezTo>
                  <a:cubicBezTo>
                    <a:pt x="14347" y="7953"/>
                    <a:pt x="14175" y="8000"/>
                    <a:pt x="14000" y="8000"/>
                  </a:cubicBezTo>
                  <a:lnTo>
                    <a:pt x="10000" y="8000"/>
                  </a:lnTo>
                  <a:cubicBezTo>
                    <a:pt x="9824" y="8000"/>
                    <a:pt x="9652" y="7953"/>
                    <a:pt x="9500" y="7866"/>
                  </a:cubicBezTo>
                  <a:cubicBezTo>
                    <a:pt x="9347" y="7778"/>
                    <a:pt x="9221" y="7652"/>
                    <a:pt x="9133" y="7500"/>
                  </a:cubicBezTo>
                  <a:cubicBezTo>
                    <a:pt x="9046" y="7347"/>
                    <a:pt x="9000" y="7175"/>
                    <a:pt x="9000" y="7000"/>
                  </a:cubicBezTo>
                  <a:lnTo>
                    <a:pt x="9000" y="3000"/>
                  </a:lnTo>
                  <a:cubicBezTo>
                    <a:pt x="9000" y="2824"/>
                    <a:pt x="9046" y="2652"/>
                    <a:pt x="9133" y="2500"/>
                  </a:cubicBezTo>
                  <a:cubicBezTo>
                    <a:pt x="9221" y="2347"/>
                    <a:pt x="9347" y="2221"/>
                    <a:pt x="9500" y="2133"/>
                  </a:cubicBezTo>
                  <a:cubicBezTo>
                    <a:pt x="9652" y="2046"/>
                    <a:pt x="9824" y="2000"/>
                    <a:pt x="10000" y="2000"/>
                  </a:cubicBezTo>
                  <a:close/>
                </a:path>
                <a:path w="24000" h="24000" fill="none">
                  <a:moveTo>
                    <a:pt x="5000" y="16000"/>
                  </a:moveTo>
                  <a:lnTo>
                    <a:pt x="5000" y="13000"/>
                  </a:lnTo>
                  <a:cubicBezTo>
                    <a:pt x="5000" y="12824"/>
                    <a:pt x="5046" y="12652"/>
                    <a:pt x="5133" y="12500"/>
                  </a:cubicBezTo>
                  <a:cubicBezTo>
                    <a:pt x="5221" y="12347"/>
                    <a:pt x="5347" y="12221"/>
                    <a:pt x="5500" y="12133"/>
                  </a:cubicBezTo>
                  <a:cubicBezTo>
                    <a:pt x="5652" y="12046"/>
                    <a:pt x="5824" y="12000"/>
                    <a:pt x="6000" y="12000"/>
                  </a:cubicBezTo>
                  <a:lnTo>
                    <a:pt x="18000" y="12000"/>
                  </a:lnTo>
                  <a:cubicBezTo>
                    <a:pt x="18175" y="12000"/>
                    <a:pt x="18347" y="12046"/>
                    <a:pt x="18500" y="12133"/>
                  </a:cubicBezTo>
                  <a:cubicBezTo>
                    <a:pt x="18652" y="12221"/>
                    <a:pt x="18778" y="12347"/>
                    <a:pt x="18866" y="12500"/>
                  </a:cubicBezTo>
                  <a:cubicBezTo>
                    <a:pt x="18953" y="12652"/>
                    <a:pt x="19000" y="12824"/>
                    <a:pt x="19000" y="13000"/>
                  </a:cubicBezTo>
                  <a:lnTo>
                    <a:pt x="19000" y="16000"/>
                  </a:lnTo>
                </a:path>
                <a:path w="24000" h="24000" fill="none">
                  <a:moveTo>
                    <a:pt x="12000" y="12000"/>
                  </a:moveTo>
                  <a:lnTo>
                    <a:pt x="12000" y="8000"/>
                  </a:lnTo>
                </a:path>
              </a:pathLst>
            </a:custGeom>
            <a:noFill/>
            <a:ln w="11734" cap="rnd">
              <a:solidFill>
                <a:srgbClr val="0C1927"/>
              </a:solidFill>
              <a:round/>
            </a:ln>
          </p:spPr>
        </p:sp>
        <p:sp>
          <p:nvSpPr>
            <p:cNvPr id="28" name="Zone label"/>
            <p:cNvSpPr txBox="1"/>
            <p:nvPr/>
          </p:nvSpPr>
          <p:spPr>
            <a:xfrm>
              <a:off x="3483864" y="1088136"/>
              <a:ext cx="2404872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79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IT NETWORK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29" name="Zone · Welspun systems"/>
          <p:cNvGrpSpPr/>
          <p:nvPr/>
        </p:nvGrpSpPr>
        <p:grpSpPr>
          <a:xfrm>
            <a:off x="6510528" y="1033272"/>
            <a:ext cx="2359152" cy="1856232"/>
            <a:chOff x="6510528" y="1033272"/>
            <a:chExt cx="2359152" cy="1856232"/>
          </a:xfrm>
        </p:grpSpPr>
        <p:sp>
          <p:nvSpPr>
            <p:cNvPr id="30" name="Zone boundary"/>
            <p:cNvSpPr/>
            <p:nvPr/>
          </p:nvSpPr>
          <p:spPr>
            <a:xfrm>
              <a:off x="6510528" y="1033272"/>
              <a:ext cx="2359152" cy="1856232"/>
            </a:xfrm>
            <a:prstGeom prst="roundRect">
              <a:avLst>
                <a:gd name="adj" fmla="val 3940"/>
              </a:avLst>
            </a:prstGeom>
            <a:solidFill>
              <a:srgbClr val="F8FAFC"/>
            </a:solidFill>
            <a:ln w="9525">
              <a:solidFill>
                <a:srgbClr val="CBD5E2"/>
              </a:solidFill>
              <a:prstDash val="dash"/>
              <a:round/>
            </a:ln>
          </p:spPr>
        </p:sp>
        <p:sp>
          <p:nvSpPr>
            <p:cNvPr id="31" name="Icon building-2"/>
            <p:cNvSpPr/>
            <p:nvPr/>
          </p:nvSpPr>
          <p:spPr>
            <a:xfrm>
              <a:off x="6601968" y="111099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2000"/>
                  </a:moveTo>
                  <a:lnTo>
                    <a:pt x="14000" y="12000"/>
                  </a:lnTo>
                </a:path>
                <a:path w="24000" h="24000" fill="none">
                  <a:moveTo>
                    <a:pt x="10000" y="8000"/>
                  </a:moveTo>
                  <a:lnTo>
                    <a:pt x="14000" y="8000"/>
                  </a:lnTo>
                </a:path>
                <a:path w="24000" h="24000" fill="none">
                  <a:moveTo>
                    <a:pt x="14000" y="21000"/>
                  </a:moveTo>
                  <a:lnTo>
                    <a:pt x="14000" y="18000"/>
                  </a:lnTo>
                  <a:cubicBezTo>
                    <a:pt x="14000" y="17648"/>
                    <a:pt x="13907" y="17304"/>
                    <a:pt x="13732" y="17000"/>
                  </a:cubicBezTo>
                  <a:cubicBezTo>
                    <a:pt x="13556" y="16695"/>
                    <a:pt x="13304" y="16443"/>
                    <a:pt x="13000" y="16267"/>
                  </a:cubicBezTo>
                  <a:cubicBezTo>
                    <a:pt x="12695" y="16092"/>
                    <a:pt x="12351" y="16000"/>
                    <a:pt x="12000" y="16000"/>
                  </a:cubicBezTo>
                  <a:cubicBezTo>
                    <a:pt x="11648" y="16000"/>
                    <a:pt x="11304" y="16092"/>
                    <a:pt x="11000" y="16267"/>
                  </a:cubicBezTo>
                  <a:cubicBezTo>
                    <a:pt x="10695" y="16443"/>
                    <a:pt x="10443" y="16695"/>
                    <a:pt x="10267" y="17000"/>
                  </a:cubicBezTo>
                  <a:cubicBezTo>
                    <a:pt x="10092" y="17304"/>
                    <a:pt x="10000" y="17648"/>
                    <a:pt x="10000" y="18000"/>
                  </a:cubicBezTo>
                  <a:lnTo>
                    <a:pt x="10000" y="21000"/>
                  </a:lnTo>
                </a:path>
                <a:path w="24000" h="24000" fill="none">
                  <a:moveTo>
                    <a:pt x="6000" y="10000"/>
                  </a:moveTo>
                  <a:lnTo>
                    <a:pt x="4000" y="10000"/>
                  </a:lnTo>
                  <a:cubicBezTo>
                    <a:pt x="3648" y="10000"/>
                    <a:pt x="3304" y="10092"/>
                    <a:pt x="3000" y="10267"/>
                  </a:cubicBezTo>
                  <a:cubicBezTo>
                    <a:pt x="2695" y="10443"/>
                    <a:pt x="2443" y="10695"/>
                    <a:pt x="2267" y="11000"/>
                  </a:cubicBezTo>
                  <a:cubicBezTo>
                    <a:pt x="2092" y="11304"/>
                    <a:pt x="2000" y="11648"/>
                    <a:pt x="2000" y="12000"/>
                  </a:cubicBezTo>
                  <a:lnTo>
                    <a:pt x="2000" y="19000"/>
                  </a:lnTo>
                  <a:cubicBezTo>
                    <a:pt x="2000" y="19351"/>
                    <a:pt x="2092" y="19695"/>
                    <a:pt x="2267" y="20000"/>
                  </a:cubicBezTo>
                  <a:cubicBezTo>
                    <a:pt x="2443" y="20304"/>
                    <a:pt x="2695" y="20556"/>
                    <a:pt x="2999" y="20732"/>
                  </a:cubicBezTo>
                  <a:cubicBezTo>
                    <a:pt x="3304" y="20907"/>
                    <a:pt x="3648" y="21000"/>
                    <a:pt x="4000" y="21000"/>
                  </a:cubicBezTo>
                  <a:lnTo>
                    <a:pt x="20000" y="21000"/>
                  </a:lnTo>
                  <a:cubicBezTo>
                    <a:pt x="20351" y="21000"/>
                    <a:pt x="20695" y="20907"/>
                    <a:pt x="21000" y="20732"/>
                  </a:cubicBezTo>
                  <a:cubicBezTo>
                    <a:pt x="21304" y="20556"/>
                    <a:pt x="21556" y="20304"/>
                    <a:pt x="21732" y="20000"/>
                  </a:cubicBezTo>
                  <a:cubicBezTo>
                    <a:pt x="21907" y="19695"/>
                    <a:pt x="22000" y="19351"/>
                    <a:pt x="22000" y="19000"/>
                  </a:cubicBezTo>
                  <a:lnTo>
                    <a:pt x="22000" y="9000"/>
                  </a:lnTo>
                  <a:cubicBezTo>
                    <a:pt x="22000" y="8648"/>
                    <a:pt x="21907" y="8304"/>
                    <a:pt x="21732" y="8000"/>
                  </a:cubicBezTo>
                  <a:cubicBezTo>
                    <a:pt x="21556" y="7695"/>
                    <a:pt x="21304" y="7443"/>
                    <a:pt x="21000" y="7267"/>
                  </a:cubicBezTo>
                  <a:cubicBezTo>
                    <a:pt x="20695" y="7092"/>
                    <a:pt x="20351" y="7000"/>
                    <a:pt x="20000" y="7000"/>
                  </a:cubicBezTo>
                  <a:lnTo>
                    <a:pt x="18000" y="7000"/>
                  </a:lnTo>
                </a:path>
                <a:path w="24000" h="24000" fill="none">
                  <a:moveTo>
                    <a:pt x="6000" y="21000"/>
                  </a:moveTo>
                  <a:lnTo>
                    <a:pt x="6000" y="5000"/>
                  </a:lnTo>
                  <a:cubicBezTo>
                    <a:pt x="6000" y="4648"/>
                    <a:pt x="6092" y="4304"/>
                    <a:pt x="6267" y="4000"/>
                  </a:cubicBezTo>
                  <a:cubicBezTo>
                    <a:pt x="6443" y="3695"/>
                    <a:pt x="6695" y="3443"/>
                    <a:pt x="6999" y="3267"/>
                  </a:cubicBezTo>
                  <a:cubicBezTo>
                    <a:pt x="7304" y="3092"/>
                    <a:pt x="7648" y="3000"/>
                    <a:pt x="8000" y="3000"/>
                  </a:cubicBezTo>
                  <a:lnTo>
                    <a:pt x="16000" y="3000"/>
                  </a:lnTo>
                  <a:cubicBezTo>
                    <a:pt x="16351" y="3000"/>
                    <a:pt x="16695" y="3092"/>
                    <a:pt x="17000" y="3267"/>
                  </a:cubicBezTo>
                  <a:cubicBezTo>
                    <a:pt x="17304" y="3443"/>
                    <a:pt x="17556" y="3695"/>
                    <a:pt x="17732" y="4000"/>
                  </a:cubicBezTo>
                  <a:cubicBezTo>
                    <a:pt x="17907" y="4304"/>
                    <a:pt x="18000" y="4648"/>
                    <a:pt x="18000" y="5000"/>
                  </a:cubicBezTo>
                  <a:lnTo>
                    <a:pt x="18000" y="21000"/>
                  </a:lnTo>
                </a:path>
              </a:pathLst>
            </a:custGeom>
            <a:noFill/>
            <a:ln w="11734" cap="rnd">
              <a:solidFill>
                <a:srgbClr val="0C1927"/>
              </a:solidFill>
              <a:round/>
            </a:ln>
          </p:spPr>
        </p:sp>
        <p:sp>
          <p:nvSpPr>
            <p:cNvPr id="32" name="Zone label"/>
            <p:cNvSpPr txBox="1"/>
            <p:nvPr/>
          </p:nvSpPr>
          <p:spPr>
            <a:xfrm>
              <a:off x="6775704" y="1088136"/>
              <a:ext cx="2039112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79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SYSTEMS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33" name="Device · Hydrotester SCADA"/>
          <p:cNvGrpSpPr/>
          <p:nvPr/>
        </p:nvGrpSpPr>
        <p:grpSpPr>
          <a:xfrm>
            <a:off x="365760" y="1298448"/>
            <a:ext cx="2249424" cy="420624"/>
            <a:chOff x="365760" y="1298448"/>
            <a:chExt cx="2249424" cy="420624"/>
          </a:xfrm>
        </p:grpSpPr>
        <p:sp>
          <p:nvSpPr>
            <p:cNvPr id="34" name="Device card"/>
            <p:cNvSpPr/>
            <p:nvPr/>
          </p:nvSpPr>
          <p:spPr>
            <a:xfrm>
              <a:off x="365760" y="1298448"/>
              <a:ext cx="2249424" cy="420624"/>
            </a:xfrm>
            <a:prstGeom prst="roundRect">
              <a:avLst>
                <a:gd name="adj" fmla="val 10869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35" name="Icon tile"/>
            <p:cNvSpPr/>
            <p:nvPr/>
          </p:nvSpPr>
          <p:spPr>
            <a:xfrm>
              <a:off x="438912" y="137160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0C1927">
                <a:alpha val="8000"/>
              </a:srgbClr>
            </a:solidFill>
            <a:ln>
              <a:noFill/>
            </a:ln>
          </p:spPr>
        </p:sp>
        <p:sp>
          <p:nvSpPr>
            <p:cNvPr id="36" name="Icon gauge"/>
            <p:cNvSpPr/>
            <p:nvPr/>
          </p:nvSpPr>
          <p:spPr>
            <a:xfrm>
              <a:off x="498348" y="143103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2560" y="17650"/>
                    <a:pt x="2107" y="16137"/>
                    <a:pt x="2016" y="14581"/>
                  </a:cubicBezTo>
                  <a:cubicBezTo>
                    <a:pt x="1926" y="13025"/>
                    <a:pt x="2200" y="11469"/>
                    <a:pt x="2817" y="10039"/>
                  </a:cubicBezTo>
                  <a:cubicBezTo>
                    <a:pt x="3434" y="8608"/>
                    <a:pt x="4378" y="7340"/>
                    <a:pt x="5571" y="6339"/>
                  </a:cubicBezTo>
                  <a:cubicBezTo>
                    <a:pt x="6765" y="5337"/>
                    <a:pt x="8177" y="4628"/>
                    <a:pt x="9693" y="4269"/>
                  </a:cubicBezTo>
                  <a:cubicBezTo>
                    <a:pt x="11210" y="3909"/>
                    <a:pt x="12789" y="3909"/>
                    <a:pt x="14306" y="4269"/>
                  </a:cubicBezTo>
                  <a:cubicBezTo>
                    <a:pt x="15822" y="4628"/>
                    <a:pt x="17234" y="5337"/>
                    <a:pt x="18428" y="6339"/>
                  </a:cubicBezTo>
                  <a:cubicBezTo>
                    <a:pt x="19621" y="7340"/>
                    <a:pt x="20565" y="8608"/>
                    <a:pt x="21182" y="10039"/>
                  </a:cubicBezTo>
                  <a:cubicBezTo>
                    <a:pt x="21799" y="11469"/>
                    <a:pt x="22073" y="13025"/>
                    <a:pt x="21983" y="14581"/>
                  </a:cubicBezTo>
                  <a:cubicBezTo>
                    <a:pt x="21892" y="16137"/>
                    <a:pt x="21439" y="17650"/>
                    <a:pt x="20660" y="19000"/>
                  </a:cubicBez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37" name="Device text"/>
            <p:cNvSpPr txBox="1"/>
            <p:nvPr/>
          </p:nvSpPr>
          <p:spPr>
            <a:xfrm>
              <a:off x="786384" y="1400861"/>
              <a:ext cx="1773936" cy="21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Hydrotester SCADA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OPC UA server  ·  live pressure</a:t>
              </a:r>
              <a:endParaRPr lang="en-US" sz="640" dirty="0">
                <a:latin typeface="Inter"/>
              </a:endParaRPr>
            </a:p>
          </p:txBody>
        </p:sp>
      </p:grpSp>
      <p:grpSp>
        <p:nvGrpSpPr>
          <p:cNvPr id="38" name="New IPC"/>
          <p:cNvGrpSpPr/>
          <p:nvPr/>
        </p:nvGrpSpPr>
        <p:grpSpPr>
          <a:xfrm>
            <a:off x="365760" y="1847088"/>
            <a:ext cx="2249424" cy="512064"/>
            <a:chOff x="365760" y="1847088"/>
            <a:chExt cx="2249424" cy="512064"/>
          </a:xfrm>
        </p:grpSpPr>
        <p:sp>
          <p:nvSpPr>
            <p:cNvPr id="39" name="IPC card"/>
            <p:cNvSpPr/>
            <p:nvPr/>
          </p:nvSpPr>
          <p:spPr>
            <a:xfrm>
              <a:off x="365760" y="1847088"/>
              <a:ext cx="2249424" cy="512064"/>
            </a:xfrm>
            <a:prstGeom prst="roundRect">
              <a:avLst>
                <a:gd name="adj" fmla="val 8928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40" name="Icon tile"/>
            <p:cNvSpPr/>
            <p:nvPr/>
          </p:nvSpPr>
          <p:spPr>
            <a:xfrm>
              <a:off x="438912" y="192024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41" name="Icon cpu"/>
            <p:cNvSpPr/>
            <p:nvPr/>
          </p:nvSpPr>
          <p:spPr>
            <a:xfrm>
              <a:off x="498348" y="197967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0000"/>
                  </a:moveTo>
                  <a:lnTo>
                    <a:pt x="12000" y="22000"/>
                  </a:lnTo>
                </a:path>
                <a:path w="24000" h="24000" fill="none">
                  <a:moveTo>
                    <a:pt x="12000" y="2000"/>
                  </a:moveTo>
                  <a:lnTo>
                    <a:pt x="12000" y="4000"/>
                  </a:lnTo>
                </a:path>
                <a:path w="24000" h="24000" fill="none">
                  <a:moveTo>
                    <a:pt x="17000" y="20000"/>
                  </a:moveTo>
                  <a:lnTo>
                    <a:pt x="17000" y="22000"/>
                  </a:lnTo>
                </a:path>
                <a:path w="24000" h="24000" fill="none">
                  <a:moveTo>
                    <a:pt x="17000" y="2000"/>
                  </a:moveTo>
                  <a:lnTo>
                    <a:pt x="17000" y="4000"/>
                  </a:lnTo>
                </a:path>
                <a:path w="24000" h="24000" fill="none">
                  <a:moveTo>
                    <a:pt x="2000" y="12000"/>
                  </a:moveTo>
                  <a:lnTo>
                    <a:pt x="4000" y="12000"/>
                  </a:lnTo>
                </a:path>
                <a:path w="24000" h="24000" fill="none">
                  <a:moveTo>
                    <a:pt x="2000" y="17000"/>
                  </a:moveTo>
                  <a:lnTo>
                    <a:pt x="4000" y="17000"/>
                  </a:lnTo>
                </a:path>
                <a:path w="24000" h="24000" fill="none">
                  <a:moveTo>
                    <a:pt x="2000" y="7000"/>
                  </a:moveTo>
                  <a:lnTo>
                    <a:pt x="4000" y="7000"/>
                  </a:lnTo>
                </a:path>
                <a:path w="24000" h="24000" fill="none">
                  <a:moveTo>
                    <a:pt x="20000" y="12000"/>
                  </a:moveTo>
                  <a:lnTo>
                    <a:pt x="22000" y="12000"/>
                  </a:lnTo>
                </a:path>
                <a:path w="24000" h="24000" fill="none">
                  <a:moveTo>
                    <a:pt x="20000" y="17000"/>
                  </a:moveTo>
                  <a:lnTo>
                    <a:pt x="22000" y="17000"/>
                  </a:lnTo>
                </a:path>
                <a:path w="24000" h="24000" fill="none">
                  <a:moveTo>
                    <a:pt x="20000" y="7000"/>
                  </a:moveTo>
                  <a:lnTo>
                    <a:pt x="22000" y="7000"/>
                  </a:lnTo>
                </a:path>
                <a:path w="24000" h="24000" fill="none">
                  <a:moveTo>
                    <a:pt x="7000" y="20000"/>
                  </a:move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4000"/>
                  </a:lnTo>
                </a:path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8351" y="4000"/>
                    <a:pt x="18695" y="4092"/>
                    <a:pt x="19000" y="4267"/>
                  </a:cubicBezTo>
                  <a:cubicBezTo>
                    <a:pt x="19304" y="4443"/>
                    <a:pt x="19556" y="4695"/>
                    <a:pt x="19732" y="5000"/>
                  </a:cubicBezTo>
                  <a:cubicBezTo>
                    <a:pt x="19907" y="5304"/>
                    <a:pt x="20000" y="5648"/>
                    <a:pt x="20000" y="6000"/>
                  </a:cubicBezTo>
                  <a:lnTo>
                    <a:pt x="20000" y="18000"/>
                  </a:lnTo>
                  <a:cubicBezTo>
                    <a:pt x="20000" y="18351"/>
                    <a:pt x="19907" y="18695"/>
                    <a:pt x="19732" y="19000"/>
                  </a:cubicBezTo>
                  <a:cubicBezTo>
                    <a:pt x="19556" y="19304"/>
                    <a:pt x="19304" y="19556"/>
                    <a:pt x="19000" y="19732"/>
                  </a:cubicBezTo>
                  <a:cubicBezTo>
                    <a:pt x="18695" y="19907"/>
                    <a:pt x="18351" y="20000"/>
                    <a:pt x="18000" y="20000"/>
                  </a:cubicBezTo>
                  <a:lnTo>
                    <a:pt x="6000" y="20000"/>
                  </a:lnTo>
                  <a:cubicBezTo>
                    <a:pt x="5648" y="20000"/>
                    <a:pt x="5304" y="19907"/>
                    <a:pt x="5000" y="19732"/>
                  </a:cubicBezTo>
                  <a:cubicBezTo>
                    <a:pt x="4695" y="19556"/>
                    <a:pt x="4443" y="19304"/>
                    <a:pt x="4267" y="19000"/>
                  </a:cubicBezTo>
                  <a:cubicBezTo>
                    <a:pt x="4092" y="18695"/>
                    <a:pt x="4000" y="18351"/>
                    <a:pt x="4000" y="18000"/>
                  </a:cubicBezTo>
                  <a:lnTo>
                    <a:pt x="4000" y="6000"/>
                  </a:lnTo>
                  <a:cubicBezTo>
                    <a:pt x="4000" y="5648"/>
                    <a:pt x="4092" y="5304"/>
                    <a:pt x="4267" y="5000"/>
                  </a:cubicBezTo>
                  <a:cubicBezTo>
                    <a:pt x="4443" y="4695"/>
                    <a:pt x="4695" y="4443"/>
                    <a:pt x="4999" y="4267"/>
                  </a:cubicBezTo>
                  <a:cubicBezTo>
                    <a:pt x="5304" y="4092"/>
                    <a:pt x="5648" y="4000"/>
                    <a:pt x="6000" y="4000"/>
                  </a:cubicBezTo>
                  <a:close/>
                </a:path>
                <a:path w="24000" h="24000" fill="none">
                  <a:moveTo>
                    <a:pt x="9000" y="8000"/>
                  </a:moveTo>
                  <a:lnTo>
                    <a:pt x="15000" y="8000"/>
                  </a:lnTo>
                  <a:cubicBezTo>
                    <a:pt x="15175" y="8000"/>
                    <a:pt x="15347" y="8046"/>
                    <a:pt x="15500" y="8133"/>
                  </a:cubicBezTo>
                  <a:cubicBezTo>
                    <a:pt x="15652" y="8221"/>
                    <a:pt x="15778" y="8347"/>
                    <a:pt x="15866" y="8500"/>
                  </a:cubicBezTo>
                  <a:cubicBezTo>
                    <a:pt x="15953" y="8652"/>
                    <a:pt x="16000" y="8824"/>
                    <a:pt x="16000" y="9000"/>
                  </a:cubicBezTo>
                  <a:lnTo>
                    <a:pt x="16000" y="15000"/>
                  </a:lnTo>
                  <a:cubicBezTo>
                    <a:pt x="16000" y="15175"/>
                    <a:pt x="15953" y="15347"/>
                    <a:pt x="15866" y="15500"/>
                  </a:cubicBezTo>
                  <a:cubicBezTo>
                    <a:pt x="15778" y="15652"/>
                    <a:pt x="15652" y="15778"/>
                    <a:pt x="15500" y="15866"/>
                  </a:cubicBezTo>
                  <a:cubicBezTo>
                    <a:pt x="15347" y="15953"/>
                    <a:pt x="15175" y="16000"/>
                    <a:pt x="15000" y="16000"/>
                  </a:cubicBezTo>
                  <a:lnTo>
                    <a:pt x="9000" y="16000"/>
                  </a:lnTo>
                  <a:cubicBezTo>
                    <a:pt x="8824" y="16000"/>
                    <a:pt x="8652" y="15953"/>
                    <a:pt x="8500" y="15866"/>
                  </a:cubicBezTo>
                  <a:cubicBezTo>
                    <a:pt x="8347" y="15778"/>
                    <a:pt x="8221" y="15652"/>
                    <a:pt x="8133" y="15500"/>
                  </a:cubicBezTo>
                  <a:cubicBezTo>
                    <a:pt x="8046" y="15347"/>
                    <a:pt x="8000" y="15175"/>
                    <a:pt x="8000" y="15000"/>
                  </a:cubicBezTo>
                  <a:lnTo>
                    <a:pt x="8000" y="9000"/>
                  </a:lnTo>
                  <a:cubicBezTo>
                    <a:pt x="8000" y="8824"/>
                    <a:pt x="8046" y="8652"/>
                    <a:pt x="8133" y="8500"/>
                  </a:cubicBezTo>
                  <a:cubicBezTo>
                    <a:pt x="8221" y="8347"/>
                    <a:pt x="8347" y="8221"/>
                    <a:pt x="8500" y="8133"/>
                  </a:cubicBezTo>
                  <a:cubicBezTo>
                    <a:pt x="8652" y="8046"/>
                    <a:pt x="8824" y="8000"/>
                    <a:pt x="9000" y="8000"/>
                  </a:cubicBezTo>
                  <a:close/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42" name="IPC text"/>
            <p:cNvSpPr txBox="1"/>
            <p:nvPr/>
          </p:nvSpPr>
          <p:spPr>
            <a:xfrm>
              <a:off x="786384" y="1915668"/>
              <a:ext cx="17739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New IPC / Panel PC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CBD5E2"/>
                  </a:solidFill>
                  <a:latin typeface="Inter"/>
                  <a:ea typeface="Inter"/>
                  <a:cs typeface="Inter"/>
                  <a:sym typeface="Inter"/>
                </a:rPr>
                <a:t>Graph Application · OPC UA client</a:t>
              </a:r>
              <a:endParaRPr lang="en-US" sz="640" dirty="0">
                <a:latin typeface="Inter"/>
              </a:endParaRPr>
            </a:p>
          </p:txBody>
        </p:sp>
        <p:grpSp>
          <p:nvGrpSpPr>
            <p:cNvPr id="43" name="Chip Supplied by Faclon"/>
            <p:cNvGrpSpPr/>
            <p:nvPr/>
          </p:nvGrpSpPr>
          <p:grpSpPr>
            <a:xfrm>
              <a:off x="786384" y="2176272"/>
              <a:ext cx="756688" cy="137160"/>
              <a:chOff x="786384" y="2176272"/>
              <a:chExt cx="756688" cy="137160"/>
            </a:xfrm>
          </p:grpSpPr>
          <p:sp>
            <p:nvSpPr>
              <p:cNvPr id="44" name="Chip fill"/>
              <p:cNvSpPr/>
              <p:nvPr/>
            </p:nvSpPr>
            <p:spPr>
              <a:xfrm>
                <a:off x="786384" y="2176272"/>
                <a:ext cx="75668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45" name="Chip label"/>
              <p:cNvSpPr txBox="1"/>
              <p:nvPr/>
            </p:nvSpPr>
            <p:spPr>
              <a:xfrm>
                <a:off x="827532" y="2176272"/>
                <a:ext cx="69268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Supplied by Faclon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46" name="Device · Operator terminal"/>
          <p:cNvGrpSpPr/>
          <p:nvPr/>
        </p:nvGrpSpPr>
        <p:grpSpPr>
          <a:xfrm>
            <a:off x="365760" y="2432304"/>
            <a:ext cx="2249424" cy="402336"/>
            <a:chOff x="365760" y="2432304"/>
            <a:chExt cx="2249424" cy="402336"/>
          </a:xfrm>
        </p:grpSpPr>
        <p:sp>
          <p:nvSpPr>
            <p:cNvPr id="47" name="Device card"/>
            <p:cNvSpPr/>
            <p:nvPr/>
          </p:nvSpPr>
          <p:spPr>
            <a:xfrm>
              <a:off x="365760" y="2432304"/>
              <a:ext cx="2249424" cy="402336"/>
            </a:xfrm>
            <a:prstGeom prst="roundRect">
              <a:avLst>
                <a:gd name="adj" fmla="val 1136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48" name="Icon tile"/>
            <p:cNvSpPr/>
            <p:nvPr/>
          </p:nvSpPr>
          <p:spPr>
            <a:xfrm>
              <a:off x="438912" y="2496312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40566D">
                <a:alpha val="9000"/>
              </a:srgbClr>
            </a:solidFill>
            <a:ln>
              <a:noFill/>
            </a:ln>
          </p:spPr>
        </p:sp>
        <p:sp>
          <p:nvSpPr>
            <p:cNvPr id="49" name="Icon user"/>
            <p:cNvSpPr/>
            <p:nvPr/>
          </p:nvSpPr>
          <p:spPr>
            <a:xfrm>
              <a:off x="498348" y="2555748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8297"/>
                    <a:pt x="18815" y="17608"/>
                    <a:pt x="18464" y="17000"/>
                  </a:cubicBezTo>
                  <a:cubicBezTo>
                    <a:pt x="18113" y="16391"/>
                    <a:pt x="17608" y="15886"/>
                    <a:pt x="17000" y="15535"/>
                  </a:cubicBezTo>
                  <a:cubicBezTo>
                    <a:pt x="16391" y="15184"/>
                    <a:pt x="15702" y="15000"/>
                    <a:pt x="15000" y="15000"/>
                  </a:cubicBezTo>
                  <a:lnTo>
                    <a:pt x="9000" y="15000"/>
                  </a:lnTo>
                  <a:cubicBezTo>
                    <a:pt x="8297" y="15000"/>
                    <a:pt x="7608" y="15184"/>
                    <a:pt x="7000" y="15535"/>
                  </a:cubicBezTo>
                  <a:cubicBezTo>
                    <a:pt x="6391" y="15886"/>
                    <a:pt x="5886" y="16391"/>
                    <a:pt x="5535" y="17000"/>
                  </a:cubicBezTo>
                  <a:cubicBezTo>
                    <a:pt x="5184" y="17608"/>
                    <a:pt x="5000" y="18297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7702"/>
                    <a:pt x="15815" y="8391"/>
                    <a:pt x="15464" y="9000"/>
                  </a:cubicBezTo>
                  <a:cubicBezTo>
                    <a:pt x="15113" y="9608"/>
                    <a:pt x="14608" y="10113"/>
                    <a:pt x="14000" y="10464"/>
                  </a:cubicBezTo>
                  <a:cubicBezTo>
                    <a:pt x="13391" y="10815"/>
                    <a:pt x="12702" y="11000"/>
                    <a:pt x="12000" y="11000"/>
                  </a:cubicBezTo>
                  <a:cubicBezTo>
                    <a:pt x="11297" y="11000"/>
                    <a:pt x="10608" y="10815"/>
                    <a:pt x="10000" y="10464"/>
                  </a:cubicBezTo>
                  <a:cubicBezTo>
                    <a:pt x="9391" y="10113"/>
                    <a:pt x="8886" y="9608"/>
                    <a:pt x="8535" y="9000"/>
                  </a:cubicBezTo>
                  <a:cubicBezTo>
                    <a:pt x="8184" y="8391"/>
                    <a:pt x="8000" y="7702"/>
                    <a:pt x="8000" y="7000"/>
                  </a:cubicBezTo>
                  <a:cubicBezTo>
                    <a:pt x="8000" y="6297"/>
                    <a:pt x="8184" y="5608"/>
                    <a:pt x="8535" y="5000"/>
                  </a:cubicBezTo>
                  <a:cubicBezTo>
                    <a:pt x="8886" y="4391"/>
                    <a:pt x="9391" y="3886"/>
                    <a:pt x="9999" y="3535"/>
                  </a:cubicBezTo>
                  <a:cubicBezTo>
                    <a:pt x="10608" y="3184"/>
                    <a:pt x="11297" y="3000"/>
                    <a:pt x="12000" y="3000"/>
                  </a:cubicBezTo>
                  <a:cubicBezTo>
                    <a:pt x="12702" y="3000"/>
                    <a:pt x="13391" y="3184"/>
                    <a:pt x="14000" y="3535"/>
                  </a:cubicBezTo>
                  <a:cubicBezTo>
                    <a:pt x="14608" y="3886"/>
                    <a:pt x="15113" y="4391"/>
                    <a:pt x="15464" y="5000"/>
                  </a:cubicBezTo>
                  <a:cubicBezTo>
                    <a:pt x="15815" y="5608"/>
                    <a:pt x="16000" y="6297"/>
                    <a:pt x="16000" y="6999"/>
                  </a:cubicBezTo>
                  <a:close/>
                </a:path>
              </a:pathLst>
            </a:custGeom>
            <a:noFill/>
            <a:ln w="12954" cap="rnd">
              <a:solidFill>
                <a:srgbClr val="40566D"/>
              </a:solidFill>
              <a:round/>
            </a:ln>
          </p:spPr>
        </p:sp>
        <p:sp>
          <p:nvSpPr>
            <p:cNvPr id="50" name="Device text"/>
            <p:cNvSpPr txBox="1"/>
            <p:nvPr/>
          </p:nvSpPr>
          <p:spPr>
            <a:xfrm>
              <a:off x="786384" y="2525573"/>
              <a:ext cx="1773936" cy="21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Operator terminal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Device &amp; access TBC</a:t>
              </a:r>
              <a:endParaRPr lang="en-US" sz="640" dirty="0">
                <a:latin typeface="Inter"/>
              </a:endParaRPr>
            </a:p>
          </p:txBody>
        </p:sp>
      </p:grpSp>
      <p:grpSp>
        <p:nvGrpSpPr>
          <p:cNvPr id="51" name="Central server"/>
          <p:cNvGrpSpPr/>
          <p:nvPr/>
        </p:nvGrpSpPr>
        <p:grpSpPr>
          <a:xfrm>
            <a:off x="3328416" y="1298448"/>
            <a:ext cx="2505456" cy="1536192"/>
            <a:chOff x="3328416" y="1298448"/>
            <a:chExt cx="2505456" cy="1536192"/>
          </a:xfrm>
        </p:grpSpPr>
        <p:sp>
          <p:nvSpPr>
            <p:cNvPr id="52" name="Server card"/>
            <p:cNvSpPr/>
            <p:nvPr/>
          </p:nvSpPr>
          <p:spPr>
            <a:xfrm>
              <a:off x="3328416" y="1298448"/>
              <a:ext cx="2505456" cy="1536192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2700">
              <a:solidFill>
                <a:srgbClr val="CBD5E2"/>
              </a:solidFill>
              <a:round/>
            </a:ln>
          </p:spPr>
        </p:sp>
        <p:sp>
          <p:nvSpPr>
            <p:cNvPr id="53" name="Icon tile"/>
            <p:cNvSpPr/>
            <p:nvPr/>
          </p:nvSpPr>
          <p:spPr>
            <a:xfrm>
              <a:off x="3419856" y="1380744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4" name="Icon server"/>
            <p:cNvSpPr/>
            <p:nvPr/>
          </p:nvSpPr>
          <p:spPr>
            <a:xfrm>
              <a:off x="3479292" y="144018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20000" y="2000"/>
                  </a:lnTo>
                  <a:cubicBezTo>
                    <a:pt x="20351" y="2000"/>
                    <a:pt x="20695" y="2092"/>
                    <a:pt x="21000" y="2267"/>
                  </a:cubicBezTo>
                  <a:cubicBezTo>
                    <a:pt x="21304" y="2443"/>
                    <a:pt x="21556" y="2695"/>
                    <a:pt x="21732" y="3000"/>
                  </a:cubicBezTo>
                  <a:cubicBezTo>
                    <a:pt x="21907" y="3304"/>
                    <a:pt x="22000" y="3648"/>
                    <a:pt x="22000" y="4000"/>
                  </a:cubicBezTo>
                  <a:lnTo>
                    <a:pt x="22000" y="8000"/>
                  </a:lnTo>
                  <a:cubicBezTo>
                    <a:pt x="22000" y="8351"/>
                    <a:pt x="21907" y="8695"/>
                    <a:pt x="21732" y="9000"/>
                  </a:cubicBezTo>
                  <a:cubicBezTo>
                    <a:pt x="21556" y="9304"/>
                    <a:pt x="21304" y="9556"/>
                    <a:pt x="21000" y="9732"/>
                  </a:cubicBezTo>
                  <a:cubicBezTo>
                    <a:pt x="20695" y="9907"/>
                    <a:pt x="20351" y="10000"/>
                    <a:pt x="20000" y="10000"/>
                  </a:cubicBezTo>
                  <a:lnTo>
                    <a:pt x="4000" y="10000"/>
                  </a:lnTo>
                  <a:cubicBezTo>
                    <a:pt x="3648" y="10000"/>
                    <a:pt x="3304" y="9907"/>
                    <a:pt x="3000" y="9732"/>
                  </a:cubicBezTo>
                  <a:cubicBezTo>
                    <a:pt x="2695" y="9556"/>
                    <a:pt x="2443" y="9304"/>
                    <a:pt x="2267" y="9000"/>
                  </a:cubicBezTo>
                  <a:cubicBezTo>
                    <a:pt x="2092" y="8695"/>
                    <a:pt x="2000" y="8351"/>
                    <a:pt x="2000" y="8000"/>
                  </a:cubicBezTo>
                  <a:lnTo>
                    <a:pt x="2000" y="4000"/>
                  </a:lnTo>
                  <a:cubicBezTo>
                    <a:pt x="2000" y="3648"/>
                    <a:pt x="2092" y="3304"/>
                    <a:pt x="2267" y="3000"/>
                  </a:cubicBezTo>
                  <a:cubicBezTo>
                    <a:pt x="2443" y="2695"/>
                    <a:pt x="2695" y="2443"/>
                    <a:pt x="2999" y="2267"/>
                  </a:cubicBezTo>
                  <a:cubicBezTo>
                    <a:pt x="3304" y="2092"/>
                    <a:pt x="3648" y="2000"/>
                    <a:pt x="4000" y="2000"/>
                  </a:cubicBezTo>
                  <a:close/>
                </a:path>
                <a:path w="24000" h="24000" fill="none">
                  <a:moveTo>
                    <a:pt x="4000" y="14000"/>
                  </a:moveTo>
                  <a:lnTo>
                    <a:pt x="20000" y="14000"/>
                  </a:lnTo>
                  <a:cubicBezTo>
                    <a:pt x="20351" y="14000"/>
                    <a:pt x="20695" y="14092"/>
                    <a:pt x="21000" y="14267"/>
                  </a:cubicBezTo>
                  <a:cubicBezTo>
                    <a:pt x="21304" y="14443"/>
                    <a:pt x="21556" y="14695"/>
                    <a:pt x="21732" y="15000"/>
                  </a:cubicBezTo>
                  <a:cubicBezTo>
                    <a:pt x="21907" y="15304"/>
                    <a:pt x="22000" y="15648"/>
                    <a:pt x="22000" y="16000"/>
                  </a:cubicBezTo>
                  <a:lnTo>
                    <a:pt x="22000" y="20000"/>
                  </a:lnTo>
                  <a:cubicBezTo>
                    <a:pt x="22000" y="20351"/>
                    <a:pt x="21907" y="20695"/>
                    <a:pt x="21732" y="21000"/>
                  </a:cubicBezTo>
                  <a:cubicBezTo>
                    <a:pt x="21556" y="21304"/>
                    <a:pt x="21304" y="21556"/>
                    <a:pt x="21000" y="21732"/>
                  </a:cubicBezTo>
                  <a:cubicBezTo>
                    <a:pt x="20695" y="21907"/>
                    <a:pt x="20351" y="22000"/>
                    <a:pt x="20000" y="22000"/>
                  </a:cubicBezTo>
                  <a:lnTo>
                    <a:pt x="4000" y="22000"/>
                  </a:lnTo>
                  <a:cubicBezTo>
                    <a:pt x="3648" y="22000"/>
                    <a:pt x="3304" y="21907"/>
                    <a:pt x="3000" y="21732"/>
                  </a:cubicBezTo>
                  <a:cubicBezTo>
                    <a:pt x="2695" y="21556"/>
                    <a:pt x="2443" y="21304"/>
                    <a:pt x="2267" y="21000"/>
                  </a:cubicBezTo>
                  <a:cubicBezTo>
                    <a:pt x="2092" y="20695"/>
                    <a:pt x="2000" y="20351"/>
                    <a:pt x="2000" y="20000"/>
                  </a:cubicBezTo>
                  <a:lnTo>
                    <a:pt x="2000" y="16000"/>
                  </a:lnTo>
                  <a:cubicBezTo>
                    <a:pt x="2000" y="15648"/>
                    <a:pt x="2092" y="15304"/>
                    <a:pt x="2267" y="15000"/>
                  </a:cubicBezTo>
                  <a:cubicBezTo>
                    <a:pt x="2443" y="14695"/>
                    <a:pt x="2695" y="14443"/>
                    <a:pt x="2999" y="14267"/>
                  </a:cubicBezTo>
                  <a:cubicBezTo>
                    <a:pt x="3304" y="14092"/>
                    <a:pt x="3648" y="14000"/>
                    <a:pt x="4000" y="14000"/>
                  </a:cubicBezTo>
                  <a:close/>
                </a:path>
                <a:path w="24000" h="24000" fill="none">
                  <a:moveTo>
                    <a:pt x="6000" y="6000"/>
                  </a:moveTo>
                  <a:lnTo>
                    <a:pt x="6010" y="6000"/>
                  </a:lnTo>
                </a:path>
                <a:path w="24000" h="24000" fill="none">
                  <a:moveTo>
                    <a:pt x="6000" y="18000"/>
                  </a:moveTo>
                  <a:lnTo>
                    <a:pt x="6010" y="18000"/>
                  </a:ln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55" name="Server title"/>
            <p:cNvSpPr txBox="1"/>
            <p:nvPr/>
          </p:nvSpPr>
          <p:spPr>
            <a:xfrm>
              <a:off x="3767328" y="1371600"/>
              <a:ext cx="199339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Central server / VM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Provided by Welspun on its IT network</a:t>
              </a:r>
              <a:endParaRPr lang="en-US" sz="640" dirty="0">
                <a:latin typeface="Inter"/>
              </a:endParaRPr>
            </a:p>
          </p:txBody>
        </p:sp>
        <p:sp>
          <p:nvSpPr>
            <p:cNvPr id="56" name="IOsense platform layer"/>
            <p:cNvSpPr/>
            <p:nvPr/>
          </p:nvSpPr>
          <p:spPr>
            <a:xfrm>
              <a:off x="3419856" y="1755648"/>
              <a:ext cx="2322576" cy="246888"/>
            </a:xfrm>
            <a:prstGeom prst="roundRect">
              <a:avLst>
                <a:gd name="adj" fmla="val 14814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7" name="Icon layers"/>
            <p:cNvSpPr/>
            <p:nvPr/>
          </p:nvSpPr>
          <p:spPr>
            <a:xfrm>
              <a:off x="3493008" y="181508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830" y="2180"/>
                  </a:moveTo>
                  <a:cubicBezTo>
                    <a:pt x="12569" y="2061"/>
                    <a:pt x="12286" y="1999"/>
                    <a:pt x="12000" y="1999"/>
                  </a:cubicBezTo>
                  <a:cubicBezTo>
                    <a:pt x="11713" y="1999"/>
                    <a:pt x="11430" y="2061"/>
                    <a:pt x="11170" y="2180"/>
                  </a:cubicBezTo>
                  <a:lnTo>
                    <a:pt x="2600" y="6080"/>
                  </a:lnTo>
                  <a:cubicBezTo>
                    <a:pt x="2458" y="6142"/>
                    <a:pt x="2333" y="6236"/>
                    <a:pt x="2234" y="6355"/>
                  </a:cubicBezTo>
                  <a:cubicBezTo>
                    <a:pt x="2135" y="6474"/>
                    <a:pt x="2065" y="6615"/>
                    <a:pt x="2030" y="6765"/>
                  </a:cubicBezTo>
                  <a:cubicBezTo>
                    <a:pt x="1994" y="6916"/>
                    <a:pt x="1994" y="7073"/>
                    <a:pt x="2030" y="7224"/>
                  </a:cubicBezTo>
                  <a:cubicBezTo>
                    <a:pt x="2065" y="7374"/>
                    <a:pt x="2135" y="7515"/>
                    <a:pt x="2234" y="7634"/>
                  </a:cubicBezTo>
                  <a:cubicBezTo>
                    <a:pt x="2333" y="7753"/>
                    <a:pt x="2458" y="7847"/>
                    <a:pt x="2600" y="7910"/>
                  </a:cubicBezTo>
                  <a:lnTo>
                    <a:pt x="11180" y="11820"/>
                  </a:lnTo>
                  <a:cubicBezTo>
                    <a:pt x="11440" y="11938"/>
                    <a:pt x="11723" y="12000"/>
                    <a:pt x="12010" y="12000"/>
                  </a:cubicBezTo>
                  <a:cubicBezTo>
                    <a:pt x="12296" y="12000"/>
                    <a:pt x="12579" y="11938"/>
                    <a:pt x="12840" y="11820"/>
                  </a:cubicBezTo>
                  <a:lnTo>
                    <a:pt x="21420" y="7920"/>
                  </a:lnTo>
                  <a:cubicBezTo>
                    <a:pt x="21561" y="7857"/>
                    <a:pt x="21686" y="7763"/>
                    <a:pt x="21785" y="7644"/>
                  </a:cubicBezTo>
                  <a:cubicBezTo>
                    <a:pt x="21884" y="7525"/>
                    <a:pt x="21954" y="7384"/>
                    <a:pt x="21989" y="7234"/>
                  </a:cubicBezTo>
                  <a:cubicBezTo>
                    <a:pt x="22025" y="7083"/>
                    <a:pt x="22025" y="6926"/>
                    <a:pt x="21989" y="6775"/>
                  </a:cubicBezTo>
                  <a:cubicBezTo>
                    <a:pt x="21954" y="6625"/>
                    <a:pt x="21884" y="6484"/>
                    <a:pt x="21785" y="6365"/>
                  </a:cubicBezTo>
                  <a:cubicBezTo>
                    <a:pt x="21686" y="6246"/>
                    <a:pt x="21561" y="6152"/>
                    <a:pt x="21420" y="6090"/>
                  </a:cubicBezTo>
                  <a:close/>
                </a:path>
                <a:path w="24000" h="24000" fill="none">
                  <a:moveTo>
                    <a:pt x="2000" y="12000"/>
                  </a:moveTo>
                  <a:cubicBezTo>
                    <a:pt x="1999" y="12127"/>
                    <a:pt x="2023" y="12252"/>
                    <a:pt x="2070" y="12371"/>
                  </a:cubicBezTo>
                  <a:cubicBezTo>
                    <a:pt x="2117" y="12489"/>
                    <a:pt x="2186" y="12597"/>
                    <a:pt x="2273" y="12689"/>
                  </a:cubicBezTo>
                  <a:cubicBezTo>
                    <a:pt x="2360" y="12781"/>
                    <a:pt x="2464" y="12856"/>
                    <a:pt x="2580" y="12910"/>
                  </a:cubicBezTo>
                  <a:lnTo>
                    <a:pt x="11180" y="16820"/>
                  </a:lnTo>
                  <a:cubicBezTo>
                    <a:pt x="11439" y="16937"/>
                    <a:pt x="11720" y="16998"/>
                    <a:pt x="12004" y="16998"/>
                  </a:cubicBezTo>
                  <a:cubicBezTo>
                    <a:pt x="12289" y="16998"/>
                    <a:pt x="12570" y="16937"/>
                    <a:pt x="12830" y="16820"/>
                  </a:cubicBezTo>
                  <a:lnTo>
                    <a:pt x="21410" y="12920"/>
                  </a:lnTo>
                  <a:cubicBezTo>
                    <a:pt x="21527" y="12867"/>
                    <a:pt x="21633" y="12792"/>
                    <a:pt x="21722" y="12698"/>
                  </a:cubicBezTo>
                  <a:cubicBezTo>
                    <a:pt x="21811" y="12605"/>
                    <a:pt x="21882" y="12496"/>
                    <a:pt x="21929" y="12376"/>
                  </a:cubicBezTo>
                  <a:cubicBezTo>
                    <a:pt x="21977" y="12256"/>
                    <a:pt x="22001" y="12128"/>
                    <a:pt x="22000" y="12000"/>
                  </a:cubicBezTo>
                </a:path>
                <a:path w="24000" h="24000" fill="none">
                  <a:moveTo>
                    <a:pt x="2000" y="17000"/>
                  </a:moveTo>
                  <a:cubicBezTo>
                    <a:pt x="1999" y="17127"/>
                    <a:pt x="2023" y="17252"/>
                    <a:pt x="2070" y="17371"/>
                  </a:cubicBezTo>
                  <a:cubicBezTo>
                    <a:pt x="2117" y="17489"/>
                    <a:pt x="2186" y="17597"/>
                    <a:pt x="2273" y="17689"/>
                  </a:cubicBezTo>
                  <a:cubicBezTo>
                    <a:pt x="2360" y="17781"/>
                    <a:pt x="2464" y="17856"/>
                    <a:pt x="2580" y="17910"/>
                  </a:cubicBezTo>
                  <a:lnTo>
                    <a:pt x="11180" y="21820"/>
                  </a:lnTo>
                  <a:cubicBezTo>
                    <a:pt x="11439" y="21937"/>
                    <a:pt x="11720" y="21998"/>
                    <a:pt x="12004" y="21998"/>
                  </a:cubicBezTo>
                  <a:cubicBezTo>
                    <a:pt x="12289" y="21998"/>
                    <a:pt x="12570" y="21937"/>
                    <a:pt x="12830" y="21820"/>
                  </a:cubicBezTo>
                  <a:lnTo>
                    <a:pt x="21410" y="17920"/>
                  </a:lnTo>
                  <a:cubicBezTo>
                    <a:pt x="21527" y="17867"/>
                    <a:pt x="21633" y="17792"/>
                    <a:pt x="21722" y="17698"/>
                  </a:cubicBezTo>
                  <a:cubicBezTo>
                    <a:pt x="21811" y="17605"/>
                    <a:pt x="21882" y="17496"/>
                    <a:pt x="21929" y="17376"/>
                  </a:cubicBezTo>
                  <a:cubicBezTo>
                    <a:pt x="21977" y="17256"/>
                    <a:pt x="22001" y="17128"/>
                    <a:pt x="22000" y="17000"/>
                  </a:cubicBezTo>
                </a:path>
              </a:pathLst>
            </a:custGeom>
            <a:noFill/>
            <a:ln w="11734" cap="rnd">
              <a:solidFill>
                <a:srgbClr val="FFFFFF"/>
              </a:solidFill>
              <a:round/>
            </a:ln>
          </p:spPr>
        </p:sp>
        <p:sp>
          <p:nvSpPr>
            <p:cNvPr id="58" name="Layer label"/>
            <p:cNvSpPr txBox="1"/>
            <p:nvPr/>
          </p:nvSpPr>
          <p:spPr>
            <a:xfrm>
              <a:off x="3694176" y="1755648"/>
              <a:ext cx="2048256" cy="24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IOsense platform</a:t>
              </a:r>
              <a:endParaRPr lang="en-US" sz="680" dirty="0">
                <a:latin typeface="Inter SemiBold"/>
              </a:endParaRPr>
            </a:p>
          </p:txBody>
        </p:sp>
        <p:sp>
          <p:nvSpPr>
            <p:cNvPr id="59" name="SAP Entry Application · Hydrotester layer"/>
            <p:cNvSpPr/>
            <p:nvPr/>
          </p:nvSpPr>
          <p:spPr>
            <a:xfrm>
              <a:off x="3419856" y="2057400"/>
              <a:ext cx="2322576" cy="246888"/>
            </a:xfrm>
            <a:prstGeom prst="roundRect">
              <a:avLst>
                <a:gd name="adj" fmla="val 14814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60" name="Icon app-window"/>
            <p:cNvSpPr/>
            <p:nvPr/>
          </p:nvSpPr>
          <p:spPr>
            <a:xfrm>
              <a:off x="3493008" y="211683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0351" y="4000"/>
                    <a:pt x="20695" y="4092"/>
                    <a:pt x="21000" y="4267"/>
                  </a:cubicBezTo>
                  <a:cubicBezTo>
                    <a:pt x="21304" y="4443"/>
                    <a:pt x="21556" y="4695"/>
                    <a:pt x="21732" y="5000"/>
                  </a:cubicBezTo>
                  <a:cubicBezTo>
                    <a:pt x="21907" y="5304"/>
                    <a:pt x="22000" y="5648"/>
                    <a:pt x="22000" y="6000"/>
                  </a:cubicBezTo>
                  <a:lnTo>
                    <a:pt x="22000" y="18000"/>
                  </a:lnTo>
                  <a:cubicBezTo>
                    <a:pt x="22000" y="18351"/>
                    <a:pt x="21907" y="18695"/>
                    <a:pt x="21732" y="19000"/>
                  </a:cubicBezTo>
                  <a:cubicBezTo>
                    <a:pt x="21556" y="19304"/>
                    <a:pt x="21304" y="19556"/>
                    <a:pt x="21000" y="19732"/>
                  </a:cubicBezTo>
                  <a:cubicBezTo>
                    <a:pt x="20695" y="19907"/>
                    <a:pt x="20351" y="20000"/>
                    <a:pt x="20000" y="20000"/>
                  </a:cubicBezTo>
                  <a:lnTo>
                    <a:pt x="4000" y="20000"/>
                  </a:lnTo>
                  <a:cubicBezTo>
                    <a:pt x="3648" y="20000"/>
                    <a:pt x="3304" y="19907"/>
                    <a:pt x="3000" y="19732"/>
                  </a:cubicBezTo>
                  <a:cubicBezTo>
                    <a:pt x="2695" y="19556"/>
                    <a:pt x="2443" y="19304"/>
                    <a:pt x="2267" y="19000"/>
                  </a:cubicBezTo>
                  <a:cubicBezTo>
                    <a:pt x="2092" y="18695"/>
                    <a:pt x="2000" y="18351"/>
                    <a:pt x="2000" y="18000"/>
                  </a:cubicBezTo>
                  <a:lnTo>
                    <a:pt x="2000" y="6000"/>
                  </a:lnTo>
                  <a:cubicBezTo>
                    <a:pt x="2000" y="5648"/>
                    <a:pt x="2092" y="5304"/>
                    <a:pt x="2267" y="5000"/>
                  </a:cubicBezTo>
                  <a:cubicBezTo>
                    <a:pt x="2443" y="4695"/>
                    <a:pt x="2695" y="4443"/>
                    <a:pt x="2999" y="4267"/>
                  </a:cubicBezTo>
                  <a:cubicBezTo>
                    <a:pt x="3304" y="4092"/>
                    <a:pt x="3648" y="4000"/>
                    <a:pt x="4000" y="4000"/>
                  </a:cubicBezTo>
                  <a:close/>
                </a:path>
                <a:path w="24000" h="24000" fill="none">
                  <a:moveTo>
                    <a:pt x="10000" y="4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2000" y="8000"/>
                  </a:moveTo>
                  <a:lnTo>
                    <a:pt x="22000" y="8000"/>
                  </a:lnTo>
                </a:path>
                <a:path w="24000" h="24000" fill="none">
                  <a:moveTo>
                    <a:pt x="6000" y="4000"/>
                  </a:moveTo>
                  <a:lnTo>
                    <a:pt x="6000" y="8000"/>
                  </a:lnTo>
                </a:path>
              </a:pathLst>
            </a:custGeom>
            <a:noFill/>
            <a:ln w="11734" cap="rnd">
              <a:solidFill>
                <a:srgbClr val="FFFFFF"/>
              </a:solidFill>
              <a:round/>
            </a:ln>
          </p:spPr>
        </p:sp>
        <p:sp>
          <p:nvSpPr>
            <p:cNvPr id="61" name="Layer label"/>
            <p:cNvSpPr txBox="1"/>
            <p:nvPr/>
          </p:nvSpPr>
          <p:spPr>
            <a:xfrm>
              <a:off x="3694176" y="2057400"/>
              <a:ext cx="2048256" cy="24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Entry Application · Hydrotester</a:t>
              </a:r>
              <a:endParaRPr lang="en-US" sz="680" dirty="0">
                <a:latin typeface="Inter SemiBold"/>
              </a:endParaRPr>
            </a:p>
          </p:txBody>
        </p:sp>
        <p:sp>
          <p:nvSpPr>
            <p:cNvPr id="62" name="Server note"/>
            <p:cNvSpPr txBox="1"/>
            <p:nvPr/>
          </p:nvSpPr>
          <p:spPr>
            <a:xfrm>
              <a:off x="3419856" y="2395728"/>
              <a:ext cx="23225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2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Creates the entry from graph data, resolves the pipe number, posts to SAP and retries uploads</a:t>
              </a:r>
              <a:endParaRPr lang="en-US" sz="600" dirty="0">
                <a:latin typeface="Inter"/>
              </a:endParaRPr>
            </a:p>
          </p:txBody>
        </p:sp>
      </p:grpSp>
      <p:grpSp>
        <p:nvGrpSpPr>
          <p:cNvPr id="63" name="SAP"/>
          <p:cNvGrpSpPr/>
          <p:nvPr/>
        </p:nvGrpSpPr>
        <p:grpSpPr>
          <a:xfrm>
            <a:off x="6601968" y="1298448"/>
            <a:ext cx="2176272" cy="676656"/>
            <a:chOff x="6601968" y="1298448"/>
            <a:chExt cx="2176272" cy="676656"/>
          </a:xfrm>
        </p:grpSpPr>
        <p:sp>
          <p:nvSpPr>
            <p:cNvPr id="64" name="SAP card"/>
            <p:cNvSpPr/>
            <p:nvPr/>
          </p:nvSpPr>
          <p:spPr>
            <a:xfrm>
              <a:off x="6601968" y="1298448"/>
              <a:ext cx="2176272" cy="676656"/>
            </a:xfrm>
            <a:prstGeom prst="roundRect">
              <a:avLst>
                <a:gd name="adj" fmla="val 675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5" name="Icon tile"/>
            <p:cNvSpPr/>
            <p:nvPr/>
          </p:nvSpPr>
          <p:spPr>
            <a:xfrm>
              <a:off x="6675120" y="137160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66" name="Icon database"/>
            <p:cNvSpPr/>
            <p:nvPr/>
          </p:nvSpPr>
          <p:spPr>
            <a:xfrm>
              <a:off x="6734556" y="143103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67" name="SAP title"/>
            <p:cNvSpPr txBox="1"/>
            <p:nvPr/>
          </p:nvSpPr>
          <p:spPr>
            <a:xfrm>
              <a:off x="7022592" y="1371600"/>
              <a:ext cx="17007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SAP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C65C10"/>
                  </a:solidFill>
                  <a:latin typeface="Inter"/>
                  <a:ea typeface="Inter"/>
                  <a:cs typeface="Inter"/>
                  <a:sym typeface="Inter"/>
                </a:rPr>
                <a:t>Interface type TBC</a:t>
              </a:r>
              <a:endParaRPr lang="en-US" sz="640" dirty="0">
                <a:latin typeface="Inter"/>
              </a:endParaRPr>
            </a:p>
          </p:txBody>
        </p:sp>
        <p:grpSp>
          <p:nvGrpSpPr>
            <p:cNvPr id="68" name="Chip Read"/>
            <p:cNvGrpSpPr/>
            <p:nvPr/>
          </p:nvGrpSpPr>
          <p:grpSpPr>
            <a:xfrm>
              <a:off x="6675120" y="1719072"/>
              <a:ext cx="292608" cy="118872"/>
              <a:chOff x="6675120" y="1719072"/>
              <a:chExt cx="292608" cy="118872"/>
            </a:xfrm>
          </p:grpSpPr>
          <p:sp>
            <p:nvSpPr>
              <p:cNvPr id="69" name="Chip fill"/>
              <p:cNvSpPr/>
              <p:nvPr/>
            </p:nvSpPr>
            <p:spPr>
              <a:xfrm>
                <a:off x="6675120" y="1719072"/>
                <a:ext cx="292608" cy="118872"/>
              </a:xfrm>
              <a:prstGeom prst="roundRect">
                <a:avLst>
                  <a:gd name="adj" fmla="val 23076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0" name="Chip label"/>
              <p:cNvSpPr txBox="1"/>
              <p:nvPr/>
            </p:nvSpPr>
            <p:spPr>
              <a:xfrm>
                <a:off x="6716268" y="1719072"/>
                <a:ext cx="228600" cy="118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Read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71" name="Endpoint"/>
            <p:cNvSpPr txBox="1"/>
            <p:nvPr/>
          </p:nvSpPr>
          <p:spPr>
            <a:xfrm>
              <a:off x="7013448" y="1709928"/>
              <a:ext cx="17007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49"/>
                </a:lnSpc>
                <a:spcBef>
                  <a:spcPts val="0"/>
                </a:spcBef>
                <a:buNone/>
              </a:pPr>
              <a:r>
                <a:rPr lang="en-US" sz="59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Previous-station pipe numbers</a:t>
              </a:r>
              <a:endParaRPr lang="en-US" sz="590" dirty="0">
                <a:latin typeface="Inter"/>
              </a:endParaRPr>
            </a:p>
          </p:txBody>
        </p:sp>
        <p:grpSp>
          <p:nvGrpSpPr>
            <p:cNvPr id="72" name="Chip Post"/>
            <p:cNvGrpSpPr/>
            <p:nvPr/>
          </p:nvGrpSpPr>
          <p:grpSpPr>
            <a:xfrm>
              <a:off x="6675120" y="1847088"/>
              <a:ext cx="292608" cy="118872"/>
              <a:chOff x="6675120" y="1847088"/>
              <a:chExt cx="292608" cy="118872"/>
            </a:xfrm>
          </p:grpSpPr>
          <p:sp>
            <p:nvSpPr>
              <p:cNvPr id="73" name="Chip fill"/>
              <p:cNvSpPr/>
              <p:nvPr/>
            </p:nvSpPr>
            <p:spPr>
              <a:xfrm>
                <a:off x="6675120" y="1847088"/>
                <a:ext cx="292608" cy="118872"/>
              </a:xfrm>
              <a:prstGeom prst="roundRect">
                <a:avLst>
                  <a:gd name="adj" fmla="val 23076"/>
                </a:avLst>
              </a:prstGeom>
              <a:solidFill>
                <a:srgbClr val="0C1927">
                  <a:alpha val="9000"/>
                </a:srgbClr>
              </a:solidFill>
              <a:ln>
                <a:noFill/>
              </a:ln>
            </p:spPr>
          </p:sp>
          <p:sp>
            <p:nvSpPr>
              <p:cNvPr id="74" name="Chip label"/>
              <p:cNvSpPr txBox="1"/>
              <p:nvPr/>
            </p:nvSpPr>
            <p:spPr>
              <a:xfrm>
                <a:off x="6716268" y="1847088"/>
                <a:ext cx="228600" cy="118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ctr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Post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75" name="Endpoint"/>
            <p:cNvSpPr txBox="1"/>
            <p:nvPr/>
          </p:nvSpPr>
          <p:spPr>
            <a:xfrm>
              <a:off x="7013448" y="1837944"/>
              <a:ext cx="17007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49"/>
                </a:lnSpc>
                <a:spcBef>
                  <a:spcPts val="0"/>
                </a:spcBef>
                <a:buNone/>
              </a:pPr>
              <a:r>
                <a:rPr lang="en-US" sz="59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Hydrotester entry</a:t>
              </a:r>
              <a:endParaRPr lang="en-US" sz="590" dirty="0">
                <a:latin typeface="Inter"/>
              </a:endParaRPr>
            </a:p>
          </p:txBody>
        </p:sp>
      </p:grpSp>
      <p:grpSp>
        <p:nvGrpSpPr>
          <p:cNvPr id="76" name="Device · MES"/>
          <p:cNvGrpSpPr/>
          <p:nvPr/>
        </p:nvGrpSpPr>
        <p:grpSpPr>
          <a:xfrm>
            <a:off x="6601968" y="2029968"/>
            <a:ext cx="2176272" cy="365760"/>
            <a:chOff x="6601968" y="2029968"/>
            <a:chExt cx="2176272" cy="365760"/>
          </a:xfrm>
        </p:grpSpPr>
        <p:sp>
          <p:nvSpPr>
            <p:cNvPr id="77" name="Device card"/>
            <p:cNvSpPr/>
            <p:nvPr/>
          </p:nvSpPr>
          <p:spPr>
            <a:xfrm>
              <a:off x="6601968" y="2029968"/>
              <a:ext cx="2176272" cy="36576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78" name="Icon tile"/>
            <p:cNvSpPr/>
            <p:nvPr/>
          </p:nvSpPr>
          <p:spPr>
            <a:xfrm>
              <a:off x="6675120" y="2075688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40566D">
                <a:alpha val="9000"/>
              </a:srgbClr>
            </a:solidFill>
            <a:ln>
              <a:noFill/>
            </a:ln>
          </p:spPr>
        </p:sp>
        <p:sp>
          <p:nvSpPr>
            <p:cNvPr id="79" name="Icon scan-qr-code"/>
            <p:cNvSpPr/>
            <p:nvPr/>
          </p:nvSpPr>
          <p:spPr>
            <a:xfrm>
              <a:off x="6734556" y="2135124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2000"/>
                  </a:moveTo>
                  <a:lnTo>
                    <a:pt x="17000" y="16000"/>
                  </a:lnTo>
                  <a:cubicBezTo>
                    <a:pt x="17000" y="16175"/>
                    <a:pt x="16953" y="16347"/>
                    <a:pt x="16866" y="16500"/>
                  </a:cubicBezTo>
                  <a:cubicBezTo>
                    <a:pt x="16778" y="16652"/>
                    <a:pt x="16652" y="16778"/>
                    <a:pt x="16500" y="16866"/>
                  </a:cubicBezTo>
                  <a:cubicBezTo>
                    <a:pt x="16347" y="16953"/>
                    <a:pt x="16175" y="17000"/>
                    <a:pt x="16000" y="17000"/>
                  </a:cubicBezTo>
                  <a:lnTo>
                    <a:pt x="12000" y="17000"/>
                  </a:lnTo>
                </a:path>
                <a:path w="24000" h="24000" fill="none">
                  <a:moveTo>
                    <a:pt x="17000" y="3000"/>
                  </a:moveTo>
                  <a:lnTo>
                    <a:pt x="19000" y="3000"/>
                  </a:lnTo>
                  <a:cubicBezTo>
                    <a:pt x="19351" y="3000"/>
                    <a:pt x="19695" y="3092"/>
                    <a:pt x="20000" y="3267"/>
                  </a:cubicBezTo>
                  <a:cubicBezTo>
                    <a:pt x="20304" y="3443"/>
                    <a:pt x="20556" y="3695"/>
                    <a:pt x="20732" y="4000"/>
                  </a:cubicBezTo>
                  <a:cubicBezTo>
                    <a:pt x="20907" y="4304"/>
                    <a:pt x="21000" y="4648"/>
                    <a:pt x="21000" y="5000"/>
                  </a:cubicBezTo>
                  <a:lnTo>
                    <a:pt x="21000" y="7000"/>
                  </a:lnTo>
                </a:path>
                <a:path w="24000" h="24000" fill="none">
                  <a:moveTo>
                    <a:pt x="17000" y="8000"/>
                  </a:moveTo>
                  <a:lnTo>
                    <a:pt x="17000" y="7000"/>
                  </a:lnTo>
                </a:path>
                <a:path w="24000" h="24000" fill="none">
                  <a:moveTo>
                    <a:pt x="21000" y="17000"/>
                  </a:moveTo>
                  <a:lnTo>
                    <a:pt x="21000" y="19000"/>
                  </a:lnTo>
                  <a:cubicBezTo>
                    <a:pt x="21000" y="19351"/>
                    <a:pt x="20907" y="19695"/>
                    <a:pt x="20732" y="20000"/>
                  </a:cubicBezTo>
                  <a:cubicBezTo>
                    <a:pt x="20556" y="20304"/>
                    <a:pt x="20304" y="20556"/>
                    <a:pt x="20000" y="20732"/>
                  </a:cubicBezTo>
                  <a:cubicBezTo>
                    <a:pt x="19695" y="20907"/>
                    <a:pt x="19351" y="21000"/>
                    <a:pt x="19000" y="21000"/>
                  </a:cubicBezTo>
                  <a:lnTo>
                    <a:pt x="17000" y="21000"/>
                  </a:lnTo>
                </a:path>
                <a:path w="24000" h="24000" fill="none">
                  <a:moveTo>
                    <a:pt x="3000" y="7000"/>
                  </a:moveTo>
                  <a:lnTo>
                    <a:pt x="3000" y="5000"/>
                  </a:lnTo>
                  <a:cubicBezTo>
                    <a:pt x="3000" y="4648"/>
                    <a:pt x="3092" y="4304"/>
                    <a:pt x="3267" y="4000"/>
                  </a:cubicBezTo>
                  <a:cubicBezTo>
                    <a:pt x="3443" y="3695"/>
                    <a:pt x="3695" y="3443"/>
                    <a:pt x="3999" y="3267"/>
                  </a:cubicBezTo>
                  <a:cubicBezTo>
                    <a:pt x="4304" y="3092"/>
                    <a:pt x="4648" y="3000"/>
                    <a:pt x="5000" y="3000"/>
                  </a:cubicBezTo>
                  <a:lnTo>
                    <a:pt x="7000" y="3000"/>
                  </a:lnTo>
                </a:path>
                <a:path w="24000" h="24000" fill="none">
                  <a:moveTo>
                    <a:pt x="7000" y="17000"/>
                  </a:moveTo>
                  <a:lnTo>
                    <a:pt x="7010" y="17000"/>
                  </a:lnTo>
                </a:path>
                <a:path w="24000" h="24000" fill="none">
                  <a:moveTo>
                    <a:pt x="7000" y="21000"/>
                  </a:moveTo>
                  <a:lnTo>
                    <a:pt x="5000" y="21000"/>
                  </a:lnTo>
                  <a:cubicBezTo>
                    <a:pt x="4648" y="21000"/>
                    <a:pt x="4304" y="20907"/>
                    <a:pt x="4000" y="20732"/>
                  </a:cubicBezTo>
                  <a:cubicBezTo>
                    <a:pt x="3695" y="20556"/>
                    <a:pt x="3443" y="20304"/>
                    <a:pt x="3267" y="20000"/>
                  </a:cubicBezTo>
                  <a:cubicBezTo>
                    <a:pt x="3092" y="19695"/>
                    <a:pt x="3000" y="19351"/>
                    <a:pt x="3000" y="19000"/>
                  </a:cubicBezTo>
                  <a:lnTo>
                    <a:pt x="3000" y="17000"/>
                  </a:lnTo>
                </a:path>
                <a:path w="24000" h="24000" fill="none">
                  <a:moveTo>
                    <a:pt x="8000" y="7000"/>
                  </a:moveTo>
                  <a:lnTo>
                    <a:pt x="11000" y="7000"/>
                  </a:lnTo>
                  <a:cubicBezTo>
                    <a:pt x="11175" y="7000"/>
                    <a:pt x="11347" y="7046"/>
                    <a:pt x="11500" y="7133"/>
                  </a:cubicBezTo>
                  <a:cubicBezTo>
                    <a:pt x="11652" y="7221"/>
                    <a:pt x="11778" y="7347"/>
                    <a:pt x="11866" y="7500"/>
                  </a:cubicBezTo>
                  <a:cubicBezTo>
                    <a:pt x="11953" y="7652"/>
                    <a:pt x="12000" y="7824"/>
                    <a:pt x="12000" y="8000"/>
                  </a:cubicBezTo>
                  <a:lnTo>
                    <a:pt x="12000" y="11000"/>
                  </a:lnTo>
                  <a:cubicBezTo>
                    <a:pt x="12000" y="11175"/>
                    <a:pt x="11953" y="11347"/>
                    <a:pt x="11866" y="11500"/>
                  </a:cubicBezTo>
                  <a:cubicBezTo>
                    <a:pt x="11778" y="11652"/>
                    <a:pt x="11652" y="11778"/>
                    <a:pt x="11500" y="11866"/>
                  </a:cubicBezTo>
                  <a:cubicBezTo>
                    <a:pt x="11347" y="11953"/>
                    <a:pt x="11175" y="12000"/>
                    <a:pt x="11000" y="12000"/>
                  </a:cubicBezTo>
                  <a:lnTo>
                    <a:pt x="8000" y="12000"/>
                  </a:lnTo>
                  <a:cubicBezTo>
                    <a:pt x="7824" y="12000"/>
                    <a:pt x="7652" y="11953"/>
                    <a:pt x="7500" y="11866"/>
                  </a:cubicBezTo>
                  <a:cubicBezTo>
                    <a:pt x="7347" y="11778"/>
                    <a:pt x="7221" y="11652"/>
                    <a:pt x="7133" y="11500"/>
                  </a:cubicBezTo>
                  <a:cubicBezTo>
                    <a:pt x="7046" y="11347"/>
                    <a:pt x="7000" y="11175"/>
                    <a:pt x="7000" y="11000"/>
                  </a:cubicBezTo>
                  <a:lnTo>
                    <a:pt x="7000" y="8000"/>
                  </a:lnTo>
                  <a:cubicBezTo>
                    <a:pt x="7000" y="7824"/>
                    <a:pt x="7046" y="7652"/>
                    <a:pt x="7133" y="7500"/>
                  </a:cubicBezTo>
                  <a:cubicBezTo>
                    <a:pt x="7221" y="7347"/>
                    <a:pt x="7347" y="7221"/>
                    <a:pt x="7500" y="7133"/>
                  </a:cubicBezTo>
                  <a:cubicBezTo>
                    <a:pt x="7652" y="7046"/>
                    <a:pt x="7824" y="7000"/>
                    <a:pt x="8000" y="7000"/>
                  </a:cubicBezTo>
                  <a:close/>
                </a:path>
              </a:pathLst>
            </a:custGeom>
            <a:noFill/>
            <a:ln w="12954" cap="rnd">
              <a:solidFill>
                <a:srgbClr val="40566D"/>
              </a:solidFill>
              <a:round/>
            </a:ln>
          </p:spPr>
        </p:sp>
        <p:sp>
          <p:nvSpPr>
            <p:cNvPr id="80" name="Device text"/>
            <p:cNvSpPr txBox="1"/>
            <p:nvPr/>
          </p:nvSpPr>
          <p:spPr>
            <a:xfrm>
              <a:off x="7022592" y="2104949"/>
              <a:ext cx="1700784" cy="21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MES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QR scan data  ·  source TBC</a:t>
              </a:r>
              <a:endParaRPr lang="en-US" sz="640" dirty="0">
                <a:latin typeface="Inter"/>
              </a:endParaRPr>
            </a:p>
          </p:txBody>
        </p:sp>
      </p:grpSp>
      <p:grpSp>
        <p:nvGrpSpPr>
          <p:cNvPr id="81" name="Device · FTP target"/>
          <p:cNvGrpSpPr/>
          <p:nvPr/>
        </p:nvGrpSpPr>
        <p:grpSpPr>
          <a:xfrm>
            <a:off x="6601968" y="2450592"/>
            <a:ext cx="2176272" cy="384048"/>
            <a:chOff x="6601968" y="2450592"/>
            <a:chExt cx="2176272" cy="384048"/>
          </a:xfrm>
        </p:grpSpPr>
        <p:sp>
          <p:nvSpPr>
            <p:cNvPr id="82" name="Device card"/>
            <p:cNvSpPr/>
            <p:nvPr/>
          </p:nvSpPr>
          <p:spPr>
            <a:xfrm>
              <a:off x="6601968" y="2450592"/>
              <a:ext cx="2176272" cy="384048"/>
            </a:xfrm>
            <a:prstGeom prst="roundRect">
              <a:avLst>
                <a:gd name="adj" fmla="val 1190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83" name="Icon tile"/>
            <p:cNvSpPr/>
            <p:nvPr/>
          </p:nvSpPr>
          <p:spPr>
            <a:xfrm>
              <a:off x="6675120" y="2505456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40566D">
                <a:alpha val="9000"/>
              </a:srgbClr>
            </a:solidFill>
            <a:ln>
              <a:noFill/>
            </a:ln>
          </p:spPr>
        </p:sp>
        <p:sp>
          <p:nvSpPr>
            <p:cNvPr id="84" name="Icon folder-up"/>
            <p:cNvSpPr/>
            <p:nvPr/>
          </p:nvSpPr>
          <p:spPr>
            <a:xfrm>
              <a:off x="6734556" y="2564892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20000"/>
                  </a:moveTo>
                  <a:cubicBezTo>
                    <a:pt x="20351" y="20000"/>
                    <a:pt x="20695" y="19907"/>
                    <a:pt x="21000" y="19732"/>
                  </a:cubicBezTo>
                  <a:cubicBezTo>
                    <a:pt x="21304" y="19556"/>
                    <a:pt x="21556" y="19304"/>
                    <a:pt x="21732" y="19000"/>
                  </a:cubicBezTo>
                  <a:cubicBezTo>
                    <a:pt x="21907" y="18695"/>
                    <a:pt x="22000" y="18351"/>
                    <a:pt x="22000" y="18000"/>
                  </a:cubicBezTo>
                  <a:lnTo>
                    <a:pt x="22000" y="8000"/>
                  </a:lnTo>
                  <a:cubicBezTo>
                    <a:pt x="22000" y="7648"/>
                    <a:pt x="21907" y="7304"/>
                    <a:pt x="21732" y="7000"/>
                  </a:cubicBezTo>
                  <a:cubicBezTo>
                    <a:pt x="21556" y="6695"/>
                    <a:pt x="21304" y="6443"/>
                    <a:pt x="21000" y="6267"/>
                  </a:cubicBezTo>
                  <a:cubicBezTo>
                    <a:pt x="20695" y="6092"/>
                    <a:pt x="20351" y="6000"/>
                    <a:pt x="20000" y="6000"/>
                  </a:cubicBezTo>
                  <a:lnTo>
                    <a:pt x="12100" y="6000"/>
                  </a:lnTo>
                  <a:cubicBezTo>
                    <a:pt x="11765" y="6003"/>
                    <a:pt x="11435" y="5922"/>
                    <a:pt x="11140" y="5765"/>
                  </a:cubicBezTo>
                  <a:cubicBezTo>
                    <a:pt x="10845" y="5608"/>
                    <a:pt x="10593" y="5379"/>
                    <a:pt x="10410" y="5100"/>
                  </a:cubicBezTo>
                  <a:lnTo>
                    <a:pt x="9600" y="3900"/>
                  </a:lnTo>
                  <a:cubicBezTo>
                    <a:pt x="9417" y="3623"/>
                    <a:pt x="9169" y="3396"/>
                    <a:pt x="8878" y="3239"/>
                  </a:cubicBezTo>
                  <a:cubicBezTo>
                    <a:pt x="8587" y="3082"/>
                    <a:pt x="8261" y="3000"/>
                    <a:pt x="793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8000"/>
                  </a:lnTo>
                  <a:cubicBezTo>
                    <a:pt x="2000" y="18351"/>
                    <a:pt x="2092" y="18695"/>
                    <a:pt x="2267" y="19000"/>
                  </a:cubicBezTo>
                  <a:cubicBezTo>
                    <a:pt x="2443" y="19304"/>
                    <a:pt x="2695" y="19556"/>
                    <a:pt x="2999" y="19732"/>
                  </a:cubicBezTo>
                  <a:cubicBezTo>
                    <a:pt x="3304" y="19907"/>
                    <a:pt x="3648" y="20000"/>
                    <a:pt x="4000" y="20000"/>
                  </a:cubicBezTo>
                  <a:close/>
                </a:path>
                <a:path w="24000" h="24000" fill="none">
                  <a:moveTo>
                    <a:pt x="12000" y="10000"/>
                  </a:moveTo>
                  <a:lnTo>
                    <a:pt x="12000" y="16000"/>
                  </a:lnTo>
                </a:path>
                <a:path w="24000" h="24000" fill="none">
                  <a:moveTo>
                    <a:pt x="9000" y="13000"/>
                  </a:moveTo>
                  <a:lnTo>
                    <a:pt x="12000" y="10000"/>
                  </a:lnTo>
                  <a:lnTo>
                    <a:pt x="15000" y="13000"/>
                  </a:lnTo>
                </a:path>
              </a:pathLst>
            </a:custGeom>
            <a:noFill/>
            <a:ln w="12954" cap="rnd">
              <a:solidFill>
                <a:srgbClr val="40566D"/>
              </a:solidFill>
              <a:round/>
            </a:ln>
          </p:spPr>
        </p:sp>
        <p:sp>
          <p:nvSpPr>
            <p:cNvPr id="85" name="Device text"/>
            <p:cNvSpPr txBox="1"/>
            <p:nvPr/>
          </p:nvSpPr>
          <p:spPr>
            <a:xfrm>
              <a:off x="7022592" y="2534717"/>
              <a:ext cx="1700784" cy="215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FTP target</a:t>
              </a:r>
              <a:endParaRPr lang="en-US" sz="640" dirty="0">
                <a:latin typeface="Inter"/>
              </a:endParaRPr>
            </a:p>
            <a:p>
              <a:pPr algn="l">
                <a:lnSpc>
                  <a:spcPts val="755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Graph images  ·  host &amp; path TBC</a:t>
              </a:r>
              <a:endParaRPr lang="en-US" sz="640" dirty="0">
                <a:latin typeface="Inter"/>
              </a:endParaRPr>
            </a:p>
          </p:txBody>
        </p:sp>
      </p:grpSp>
      <p:grpSp>
        <p:nvGrpSpPr>
          <p:cNvPr id="86" name="Link 1 · OPC UA"/>
          <p:cNvGrpSpPr/>
          <p:nvPr/>
        </p:nvGrpSpPr>
        <p:grpSpPr>
          <a:xfrm>
            <a:off x="589788" y="1705356"/>
            <a:ext cx="1232222" cy="155448"/>
            <a:chOff x="589788" y="1705356"/>
            <a:chExt cx="1232222" cy="155448"/>
          </a:xfrm>
        </p:grpSpPr>
        <p:cxnSp>
          <p:nvCxnSpPr>
            <p:cNvPr id="87" name="Pressure to IPC"/>
            <p:cNvCxnSpPr/>
            <p:nvPr/>
          </p:nvCxnSpPr>
          <p:spPr>
            <a:xfrm>
              <a:off x="868680" y="1719072"/>
              <a:ext cx="0" cy="123444"/>
            </a:xfrm>
            <a:prstGeom prst="straightConnector1">
              <a:avLst/>
            </a:prstGeom>
            <a:noFill/>
            <a:ln w="15240">
              <a:solidFill>
                <a:srgbClr val="165FF2"/>
              </a:solidFill>
              <a:round/>
              <a:tailEnd type="triangle" w="med" len="med"/>
            </a:ln>
          </p:spPr>
        </p:cxnSp>
        <p:grpSp>
          <p:nvGrpSpPr>
            <p:cNvPr id="88" name="Link 1"/>
            <p:cNvGrpSpPr/>
            <p:nvPr/>
          </p:nvGrpSpPr>
          <p:grpSpPr>
            <a:xfrm>
              <a:off x="589788" y="1705356"/>
              <a:ext cx="155448" cy="155448"/>
              <a:chOff x="589788" y="1705356"/>
              <a:chExt cx="155448" cy="155448"/>
            </a:xfrm>
          </p:grpSpPr>
          <p:sp>
            <p:nvSpPr>
              <p:cNvPr id="89" name="Link badge"/>
              <p:cNvSpPr/>
              <p:nvPr/>
            </p:nvSpPr>
            <p:spPr>
              <a:xfrm>
                <a:off x="589788" y="1705356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90" name="Link number"/>
              <p:cNvSpPr txBox="1"/>
              <p:nvPr/>
            </p:nvSpPr>
            <p:spPr>
              <a:xfrm>
                <a:off x="589788" y="1705356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1</a:t>
                </a:r>
                <a:endParaRPr lang="en-US" sz="620" dirty="0">
                  <a:latin typeface="TASA Orbiter SemiBold"/>
                </a:endParaRPr>
              </a:p>
            </p:txBody>
          </p:sp>
        </p:grpSp>
        <p:sp>
          <p:nvSpPr>
            <p:cNvPr id="91" name="Link label"/>
            <p:cNvSpPr txBox="1"/>
            <p:nvPr/>
          </p:nvSpPr>
          <p:spPr>
            <a:xfrm>
              <a:off x="969264" y="1732788"/>
              <a:ext cx="852746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165FF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OPC UA  ·  live pressure</a:t>
              </a:r>
              <a:endParaRPr lang="en-US" sz="580" dirty="0">
                <a:latin typeface="Inter Medium"/>
              </a:endParaRPr>
            </a:p>
          </p:txBody>
        </p:sp>
      </p:grpSp>
      <p:grpSp>
        <p:nvGrpSpPr>
          <p:cNvPr id="92" name="Link 2 · graph data"/>
          <p:cNvGrpSpPr/>
          <p:nvPr/>
        </p:nvGrpSpPr>
        <p:grpSpPr>
          <a:xfrm>
            <a:off x="2619756" y="2025396"/>
            <a:ext cx="699516" cy="155448"/>
            <a:chOff x="2619756" y="2025396"/>
            <a:chExt cx="699516" cy="155448"/>
          </a:xfrm>
        </p:grpSpPr>
        <p:cxnSp>
          <p:nvCxnSpPr>
            <p:cNvPr id="93" name="Graph data to server"/>
            <p:cNvCxnSpPr/>
            <p:nvPr/>
          </p:nvCxnSpPr>
          <p:spPr>
            <a:xfrm>
              <a:off x="2619756" y="2103120"/>
              <a:ext cx="699516" cy="0"/>
            </a:xfrm>
            <a:prstGeom prst="straightConnector1">
              <a:avLst/>
            </a:prstGeom>
            <a:noFill/>
            <a:ln w="15240">
              <a:solidFill>
                <a:srgbClr val="165FF2"/>
              </a:solidFill>
              <a:round/>
              <a:tailEnd type="triangle" w="med" len="med"/>
            </a:ln>
          </p:spPr>
        </p:cxnSp>
        <p:grpSp>
          <p:nvGrpSpPr>
            <p:cNvPr id="94" name="Link 2"/>
            <p:cNvGrpSpPr/>
            <p:nvPr/>
          </p:nvGrpSpPr>
          <p:grpSpPr>
            <a:xfrm>
              <a:off x="2848356" y="2025396"/>
              <a:ext cx="155448" cy="155448"/>
              <a:chOff x="2848356" y="2025396"/>
              <a:chExt cx="155448" cy="155448"/>
            </a:xfrm>
          </p:grpSpPr>
          <p:sp>
            <p:nvSpPr>
              <p:cNvPr id="95" name="Link badge"/>
              <p:cNvSpPr/>
              <p:nvPr/>
            </p:nvSpPr>
            <p:spPr>
              <a:xfrm>
                <a:off x="2848356" y="2025396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96" name="Link number"/>
              <p:cNvSpPr txBox="1"/>
              <p:nvPr/>
            </p:nvSpPr>
            <p:spPr>
              <a:xfrm>
                <a:off x="2848356" y="2025396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2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97" name="Link 3 · operator access"/>
          <p:cNvGrpSpPr/>
          <p:nvPr/>
        </p:nvGrpSpPr>
        <p:grpSpPr>
          <a:xfrm>
            <a:off x="2619756" y="2450592"/>
            <a:ext cx="699516" cy="260604"/>
            <a:chOff x="2619756" y="2450592"/>
            <a:chExt cx="699516" cy="260604"/>
          </a:xfrm>
        </p:grpSpPr>
        <p:sp>
          <p:nvSpPr>
            <p:cNvPr id="98" name="Operator access"/>
            <p:cNvSpPr/>
            <p:nvPr/>
          </p:nvSpPr>
          <p:spPr>
            <a:xfrm>
              <a:off x="2619756" y="2450592"/>
              <a:ext cx="699516" cy="182880"/>
            </a:xfrm>
            <a:custGeom>
              <a:avLst/>
              <a:gdLst/>
              <a:ahLst/>
              <a:cxnLst/>
              <a:rect l="l" t="t" r="r" b="b"/>
              <a:pathLst>
                <a:path w="699516" h="182880" fill="none">
                  <a:moveTo>
                    <a:pt x="0" y="182880"/>
                  </a:moveTo>
                  <a:lnTo>
                    <a:pt x="379476" y="182880"/>
                  </a:lnTo>
                  <a:lnTo>
                    <a:pt x="379476" y="0"/>
                  </a:lnTo>
                  <a:lnTo>
                    <a:pt x="699516" y="0"/>
                  </a:lnTo>
                </a:path>
              </a:pathLst>
            </a:custGeom>
            <a:noFill/>
            <a:ln w="12700">
              <a:solidFill>
                <a:srgbClr val="40566D"/>
              </a:solidFill>
              <a:prstDash val="dash"/>
              <a:miter lim="800000"/>
              <a:headEnd type="triangle" w="med" len="med"/>
              <a:tailEnd type="triangle" w="med" len="med"/>
            </a:ln>
          </p:spPr>
        </p:sp>
        <p:grpSp>
          <p:nvGrpSpPr>
            <p:cNvPr id="99" name="Link 3"/>
            <p:cNvGrpSpPr/>
            <p:nvPr/>
          </p:nvGrpSpPr>
          <p:grpSpPr>
            <a:xfrm>
              <a:off x="2720340" y="2555748"/>
              <a:ext cx="155448" cy="155448"/>
              <a:chOff x="2720340" y="2555748"/>
              <a:chExt cx="155448" cy="155448"/>
            </a:xfrm>
          </p:grpSpPr>
          <p:sp>
            <p:nvSpPr>
              <p:cNvPr id="100" name="Link badge"/>
              <p:cNvSpPr/>
              <p:nvPr/>
            </p:nvSpPr>
            <p:spPr>
              <a:xfrm>
                <a:off x="2720340" y="2555748"/>
                <a:ext cx="155448" cy="155448"/>
              </a:xfrm>
              <a:prstGeom prst="ellipse">
                <a:avLst/>
              </a:prstGeom>
              <a:solidFill>
                <a:srgbClr val="40566D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101" name="Link number"/>
              <p:cNvSpPr txBox="1"/>
              <p:nvPr/>
            </p:nvSpPr>
            <p:spPr>
              <a:xfrm>
                <a:off x="2720340" y="2555748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3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102" name="Link 4 · SAP"/>
          <p:cNvGrpSpPr/>
          <p:nvPr/>
        </p:nvGrpSpPr>
        <p:grpSpPr>
          <a:xfrm>
            <a:off x="5843016" y="1399032"/>
            <a:ext cx="749808" cy="530352"/>
            <a:chOff x="5843016" y="1399032"/>
            <a:chExt cx="749808" cy="530352"/>
          </a:xfrm>
        </p:grpSpPr>
        <p:cxnSp>
          <p:nvCxnSpPr>
            <p:cNvPr id="103" name="SAP read"/>
            <p:cNvCxnSpPr/>
            <p:nvPr/>
          </p:nvCxnSpPr>
          <p:spPr>
            <a:xfrm flipH="1">
              <a:off x="5843016" y="1517904"/>
              <a:ext cx="749808" cy="0"/>
            </a:xfrm>
            <a:prstGeom prst="straightConnector1">
              <a:avLst/>
            </a:prstGeom>
            <a:noFill/>
            <a:ln w="13970">
              <a:solidFill>
                <a:srgbClr val="0C1927"/>
              </a:solidFill>
              <a:round/>
              <a:tailEnd type="triangle" w="med" len="med"/>
            </a:ln>
          </p:spPr>
        </p:cxnSp>
        <p:cxnSp>
          <p:nvCxnSpPr>
            <p:cNvPr id="104" name="SAP post"/>
            <p:cNvCxnSpPr/>
            <p:nvPr/>
          </p:nvCxnSpPr>
          <p:spPr>
            <a:xfrm>
              <a:off x="5843016" y="1773936"/>
              <a:ext cx="749808" cy="0"/>
            </a:xfrm>
            <a:prstGeom prst="straightConnector1">
              <a:avLst/>
            </a:prstGeom>
            <a:noFill/>
            <a:ln w="13970">
              <a:solidFill>
                <a:srgbClr val="165FF2"/>
              </a:solidFill>
              <a:round/>
              <a:tailEnd type="triangle" w="med" len="med"/>
            </a:ln>
          </p:spPr>
        </p:cxnSp>
        <p:sp>
          <p:nvSpPr>
            <p:cNvPr id="105" name="Link label"/>
            <p:cNvSpPr txBox="1"/>
            <p:nvPr/>
          </p:nvSpPr>
          <p:spPr>
            <a:xfrm>
              <a:off x="6361234" y="1399032"/>
              <a:ext cx="176726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read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106" name="Link label"/>
            <p:cNvSpPr txBox="1"/>
            <p:nvPr/>
          </p:nvSpPr>
          <p:spPr>
            <a:xfrm>
              <a:off x="6160608" y="1819656"/>
              <a:ext cx="377352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165FF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post entry</a:t>
              </a:r>
              <a:endParaRPr lang="en-US" sz="580" dirty="0">
                <a:latin typeface="Inter Medium"/>
              </a:endParaRPr>
            </a:p>
          </p:txBody>
        </p:sp>
        <p:grpSp>
          <p:nvGrpSpPr>
            <p:cNvPr id="107" name="Link 4"/>
            <p:cNvGrpSpPr/>
            <p:nvPr/>
          </p:nvGrpSpPr>
          <p:grpSpPr>
            <a:xfrm>
              <a:off x="5911596" y="1568196"/>
              <a:ext cx="155448" cy="155448"/>
              <a:chOff x="5911596" y="1568196"/>
              <a:chExt cx="155448" cy="155448"/>
            </a:xfrm>
          </p:grpSpPr>
          <p:sp>
            <p:nvSpPr>
              <p:cNvPr id="108" name="Link badge"/>
              <p:cNvSpPr/>
              <p:nvPr/>
            </p:nvSpPr>
            <p:spPr>
              <a:xfrm>
                <a:off x="5911596" y="1568196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109" name="Link number"/>
              <p:cNvSpPr txBox="1"/>
              <p:nvPr/>
            </p:nvSpPr>
            <p:spPr>
              <a:xfrm>
                <a:off x="5911596" y="1568196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4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110" name="Link 5 · MES"/>
          <p:cNvGrpSpPr/>
          <p:nvPr/>
        </p:nvGrpSpPr>
        <p:grpSpPr>
          <a:xfrm>
            <a:off x="5843016" y="2080260"/>
            <a:ext cx="749808" cy="210312"/>
            <a:chOff x="5843016" y="2080260"/>
            <a:chExt cx="749808" cy="210312"/>
          </a:xfrm>
        </p:grpSpPr>
        <p:cxnSp>
          <p:nvCxnSpPr>
            <p:cNvPr id="111" name="MES to server"/>
            <p:cNvCxnSpPr/>
            <p:nvPr/>
          </p:nvCxnSpPr>
          <p:spPr>
            <a:xfrm flipH="1">
              <a:off x="5843016" y="2212848"/>
              <a:ext cx="749808" cy="0"/>
            </a:xfrm>
            <a:prstGeom prst="straightConnector1">
              <a:avLst/>
            </a:prstGeom>
            <a:noFill/>
            <a:ln w="13970">
              <a:solidFill>
                <a:srgbClr val="0C1927"/>
              </a:solidFill>
              <a:round/>
              <a:tailEnd type="triangle" w="med" len="med"/>
            </a:ln>
          </p:spPr>
        </p:cxnSp>
        <p:sp>
          <p:nvSpPr>
            <p:cNvPr id="112" name="Link label"/>
            <p:cNvSpPr txBox="1"/>
            <p:nvPr/>
          </p:nvSpPr>
          <p:spPr>
            <a:xfrm>
              <a:off x="6084934" y="2080260"/>
              <a:ext cx="462170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pipe number</a:t>
              </a:r>
              <a:endParaRPr lang="en-US" sz="580" dirty="0">
                <a:latin typeface="Inter Medium"/>
              </a:endParaRPr>
            </a:p>
          </p:txBody>
        </p:sp>
        <p:grpSp>
          <p:nvGrpSpPr>
            <p:cNvPr id="113" name="Link 5"/>
            <p:cNvGrpSpPr/>
            <p:nvPr/>
          </p:nvGrpSpPr>
          <p:grpSpPr>
            <a:xfrm>
              <a:off x="5911596" y="2135124"/>
              <a:ext cx="155448" cy="155448"/>
              <a:chOff x="5911596" y="2135124"/>
              <a:chExt cx="155448" cy="155448"/>
            </a:xfrm>
          </p:grpSpPr>
          <p:sp>
            <p:nvSpPr>
              <p:cNvPr id="114" name="Link badge"/>
              <p:cNvSpPr/>
              <p:nvPr/>
            </p:nvSpPr>
            <p:spPr>
              <a:xfrm>
                <a:off x="5911596" y="2135124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115" name="Link number"/>
              <p:cNvSpPr txBox="1"/>
              <p:nvPr/>
            </p:nvSpPr>
            <p:spPr>
              <a:xfrm>
                <a:off x="5911596" y="2135124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5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116" name="Link 6 · FTP"/>
          <p:cNvGrpSpPr/>
          <p:nvPr/>
        </p:nvGrpSpPr>
        <p:grpSpPr>
          <a:xfrm>
            <a:off x="5843016" y="2510028"/>
            <a:ext cx="749808" cy="210312"/>
            <a:chOff x="5843016" y="2510028"/>
            <a:chExt cx="749808" cy="210312"/>
          </a:xfrm>
        </p:grpSpPr>
        <p:cxnSp>
          <p:nvCxnSpPr>
            <p:cNvPr id="117" name="FTP upload"/>
            <p:cNvCxnSpPr/>
            <p:nvPr/>
          </p:nvCxnSpPr>
          <p:spPr>
            <a:xfrm>
              <a:off x="5843016" y="2642616"/>
              <a:ext cx="749808" cy="0"/>
            </a:xfrm>
            <a:prstGeom prst="straightConnector1">
              <a:avLst/>
            </a:prstGeom>
            <a:noFill/>
            <a:ln w="13970">
              <a:solidFill>
                <a:srgbClr val="165FF2"/>
              </a:solidFill>
              <a:round/>
              <a:tailEnd type="triangle" w="med" len="med"/>
            </a:ln>
          </p:spPr>
        </p:cxnSp>
        <p:sp>
          <p:nvSpPr>
            <p:cNvPr id="118" name="Link label"/>
            <p:cNvSpPr txBox="1"/>
            <p:nvPr/>
          </p:nvSpPr>
          <p:spPr>
            <a:xfrm>
              <a:off x="6159641" y="2510028"/>
              <a:ext cx="387463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165FF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file upload</a:t>
              </a:r>
              <a:endParaRPr lang="en-US" sz="580" dirty="0">
                <a:latin typeface="Inter Medium"/>
              </a:endParaRPr>
            </a:p>
          </p:txBody>
        </p:sp>
        <p:grpSp>
          <p:nvGrpSpPr>
            <p:cNvPr id="119" name="Link 6"/>
            <p:cNvGrpSpPr/>
            <p:nvPr/>
          </p:nvGrpSpPr>
          <p:grpSpPr>
            <a:xfrm>
              <a:off x="5911596" y="2564892"/>
              <a:ext cx="155448" cy="155448"/>
              <a:chOff x="5911596" y="2564892"/>
              <a:chExt cx="155448" cy="155448"/>
            </a:xfrm>
          </p:grpSpPr>
          <p:sp>
            <p:nvSpPr>
              <p:cNvPr id="120" name="Link badge"/>
              <p:cNvSpPr/>
              <p:nvPr/>
            </p:nvSpPr>
            <p:spPr>
              <a:xfrm>
                <a:off x="5911596" y="2564892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 w="12700">
                <a:solidFill>
                  <a:srgbClr val="FFFFFF"/>
                </a:solidFill>
                <a:round/>
              </a:ln>
            </p:spPr>
          </p:sp>
          <p:sp>
            <p:nvSpPr>
              <p:cNvPr id="121" name="Link number"/>
              <p:cNvSpPr txBox="1"/>
              <p:nvPr/>
            </p:nvSpPr>
            <p:spPr>
              <a:xfrm>
                <a:off x="5911596" y="2564892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6</a:t>
                </a:r>
                <a:endParaRPr lang="en-US" sz="620" dirty="0">
                  <a:latin typeface="TASA Orbiter SemiBold"/>
                </a:endParaRPr>
              </a:p>
            </p:txBody>
          </p:sp>
        </p:grpSp>
      </p:grpSp>
      <p:grpSp>
        <p:nvGrpSpPr>
          <p:cNvPr id="122" name="Configuration table"/>
          <p:cNvGrpSpPr/>
          <p:nvPr/>
        </p:nvGrpSpPr>
        <p:grpSpPr>
          <a:xfrm>
            <a:off x="274320" y="2971800"/>
            <a:ext cx="8595360" cy="1736141"/>
            <a:chOff x="274320" y="2971800"/>
            <a:chExt cx="8595360" cy="1736141"/>
          </a:xfrm>
        </p:grpSpPr>
        <p:sp>
          <p:nvSpPr>
            <p:cNvPr id="123" name="Header row"/>
            <p:cNvSpPr/>
            <p:nvPr/>
          </p:nvSpPr>
          <p:spPr>
            <a:xfrm>
              <a:off x="274320" y="2971800"/>
              <a:ext cx="8595360" cy="20116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</p:spPr>
        </p:sp>
        <p:cxnSp>
          <p:nvCxnSpPr>
            <p:cNvPr id="124" name="Header rule"/>
            <p:cNvCxnSpPr/>
            <p:nvPr/>
          </p:nvCxnSpPr>
          <p:spPr>
            <a:xfrm>
              <a:off x="274320" y="3172968"/>
              <a:ext cx="8595360" cy="0"/>
            </a:xfrm>
            <a:prstGeom prst="straightConnector1">
              <a:avLst/>
            </a:prstGeom>
            <a:noFill/>
            <a:ln w="19050">
              <a:solidFill>
                <a:srgbClr val="40566D"/>
              </a:solidFill>
              <a:round/>
            </a:ln>
          </p:spPr>
        </p:cxnSp>
        <p:sp>
          <p:nvSpPr>
            <p:cNvPr id="125" name="Ref header"/>
            <p:cNvSpPr txBox="1"/>
            <p:nvPr/>
          </p:nvSpPr>
          <p:spPr>
            <a:xfrm>
              <a:off x="329184" y="2971800"/>
              <a:ext cx="256032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26" name="Link / component header"/>
            <p:cNvSpPr txBox="1"/>
            <p:nvPr/>
          </p:nvSpPr>
          <p:spPr>
            <a:xfrm>
              <a:off x="658368" y="2971800"/>
              <a:ext cx="155448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LINK / COMPONENT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27" name="What flows header"/>
            <p:cNvSpPr txBox="1"/>
            <p:nvPr/>
          </p:nvSpPr>
          <p:spPr>
            <a:xfrm>
              <a:off x="2286000" y="2971800"/>
              <a:ext cx="2871216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WHAT FLOWS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28" name="Configuration to set up header"/>
            <p:cNvSpPr txBox="1"/>
            <p:nvPr/>
          </p:nvSpPr>
          <p:spPr>
            <a:xfrm>
              <a:off x="5230368" y="2971800"/>
              <a:ext cx="2359152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CONFIGURATION TO SET UP</a:t>
              </a:r>
              <a:endParaRPr lang="en-US" sz="600" dirty="0">
                <a:latin typeface="Inter SemiBold"/>
              </a:endParaRPr>
            </a:p>
          </p:txBody>
        </p:sp>
        <p:sp>
          <p:nvSpPr>
            <p:cNvPr id="129" name="Status header"/>
            <p:cNvSpPr txBox="1"/>
            <p:nvPr/>
          </p:nvSpPr>
          <p:spPr>
            <a:xfrm>
              <a:off x="7662672" y="2971800"/>
              <a:ext cx="11887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cap="all" spc="6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STATUS</a:t>
              </a:r>
              <a:endParaRPr lang="en-US" sz="600" dirty="0">
                <a:latin typeface="Inter SemiBold"/>
              </a:endParaRPr>
            </a:p>
          </p:txBody>
        </p:sp>
        <p:grpSp>
          <p:nvGrpSpPr>
            <p:cNvPr id="130" name="Row 1"/>
            <p:cNvGrpSpPr/>
            <p:nvPr/>
          </p:nvGrpSpPr>
          <p:grpSpPr>
            <a:xfrm>
              <a:off x="274320" y="3188513"/>
              <a:ext cx="8595360" cy="170993"/>
              <a:chOff x="274320" y="3188513"/>
              <a:chExt cx="8595360" cy="170993"/>
            </a:xfrm>
          </p:grpSpPr>
          <p:grpSp>
            <p:nvGrpSpPr>
              <p:cNvPr id="131" name="Link 1"/>
              <p:cNvGrpSpPr/>
              <p:nvPr/>
            </p:nvGrpSpPr>
            <p:grpSpPr>
              <a:xfrm>
                <a:off x="342900" y="3188513"/>
                <a:ext cx="155448" cy="155448"/>
                <a:chOff x="342900" y="3188513"/>
                <a:chExt cx="155448" cy="155448"/>
              </a:xfrm>
            </p:grpSpPr>
            <p:sp>
              <p:nvSpPr>
                <p:cNvPr id="132" name="Link badge"/>
                <p:cNvSpPr/>
                <p:nvPr/>
              </p:nvSpPr>
              <p:spPr>
                <a:xfrm>
                  <a:off x="342900" y="3188513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33" name="Link number"/>
                <p:cNvSpPr txBox="1"/>
                <p:nvPr/>
              </p:nvSpPr>
              <p:spPr>
                <a:xfrm>
                  <a:off x="342900" y="3188513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1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34" name="Link / component cell"/>
              <p:cNvSpPr txBox="1"/>
              <p:nvPr/>
            </p:nvSpPr>
            <p:spPr>
              <a:xfrm>
                <a:off x="658368" y="3218993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SCADA ↔ IPC (OPC UA)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135" name="What flows cell"/>
              <p:cNvSpPr txBox="1"/>
              <p:nvPr/>
            </p:nvSpPr>
            <p:spPr>
              <a:xfrm>
                <a:off x="2286000" y="3218993"/>
                <a:ext cx="2834640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Live pressure; polling frequency increased when a test starts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136" name="Configuration to set up cell"/>
              <p:cNvSpPr txBox="1"/>
              <p:nvPr/>
            </p:nvSpPr>
            <p:spPr>
              <a:xfrm>
                <a:off x="5230368" y="3218993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Endpoint, security, pressure tag, polling rates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137" name="Chip TBC"/>
              <p:cNvGrpSpPr/>
              <p:nvPr/>
            </p:nvGrpSpPr>
            <p:grpSpPr>
              <a:xfrm>
                <a:off x="7662672" y="3193085"/>
                <a:ext cx="366230" cy="146304"/>
                <a:chOff x="7662672" y="3193085"/>
                <a:chExt cx="366230" cy="146304"/>
              </a:xfrm>
            </p:grpSpPr>
            <p:sp>
              <p:nvSpPr>
                <p:cNvPr id="138" name="Chip fill"/>
                <p:cNvSpPr/>
                <p:nvPr/>
              </p:nvSpPr>
              <p:spPr>
                <a:xfrm>
                  <a:off x="7662672" y="3193085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39" name="Icon circle-help"/>
                <p:cNvSpPr/>
                <p:nvPr/>
              </p:nvSpPr>
              <p:spPr>
                <a:xfrm>
                  <a:off x="7703820" y="3218612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40" name="Chip label"/>
                <p:cNvSpPr txBox="1"/>
                <p:nvPr/>
              </p:nvSpPr>
              <p:spPr>
                <a:xfrm>
                  <a:off x="7831074" y="3193085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41" name="Row rule"/>
              <p:cNvCxnSpPr/>
              <p:nvPr/>
            </p:nvCxnSpPr>
            <p:spPr>
              <a:xfrm>
                <a:off x="274320" y="3359506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42" name="Row 2"/>
            <p:cNvGrpSpPr/>
            <p:nvPr/>
          </p:nvGrpSpPr>
          <p:grpSpPr>
            <a:xfrm>
              <a:off x="274320" y="3375050"/>
              <a:ext cx="8595360" cy="170993"/>
              <a:chOff x="274320" y="3375050"/>
              <a:chExt cx="8595360" cy="170993"/>
            </a:xfrm>
          </p:grpSpPr>
          <p:grpSp>
            <p:nvGrpSpPr>
              <p:cNvPr id="143" name="Link 2"/>
              <p:cNvGrpSpPr/>
              <p:nvPr/>
            </p:nvGrpSpPr>
            <p:grpSpPr>
              <a:xfrm>
                <a:off x="342900" y="3375050"/>
                <a:ext cx="155448" cy="155448"/>
                <a:chOff x="342900" y="3375050"/>
                <a:chExt cx="155448" cy="155448"/>
              </a:xfrm>
            </p:grpSpPr>
            <p:sp>
              <p:nvSpPr>
                <p:cNvPr id="144" name="Link badge"/>
                <p:cNvSpPr/>
                <p:nvPr/>
              </p:nvSpPr>
              <p:spPr>
                <a:xfrm>
                  <a:off x="342900" y="3375050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45" name="Link number"/>
                <p:cNvSpPr txBox="1"/>
                <p:nvPr/>
              </p:nvSpPr>
              <p:spPr>
                <a:xfrm>
                  <a:off x="342900" y="3375050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2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46" name="Link / component cell"/>
              <p:cNvSpPr txBox="1"/>
              <p:nvPr/>
            </p:nvSpPr>
            <p:spPr>
              <a:xfrm>
                <a:off x="658368" y="3405530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IPC → central server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147" name="What flows cell"/>
              <p:cNvSpPr txBox="1"/>
              <p:nvPr/>
            </p:nvSpPr>
            <p:spPr>
              <a:xfrm>
                <a:off x="2286000" y="3405530"/>
                <a:ext cx="2834640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Test-start signal; pressure, hold time, date/time + graph files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148" name="Configuration to set up cell"/>
              <p:cNvSpPr txBox="1"/>
              <p:nvPr/>
            </p:nvSpPr>
            <p:spPr>
              <a:xfrm>
                <a:off x="5230368" y="3405530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Transfer protocol, routing, local buffering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149" name="Chip TBC"/>
              <p:cNvGrpSpPr/>
              <p:nvPr/>
            </p:nvGrpSpPr>
            <p:grpSpPr>
              <a:xfrm>
                <a:off x="7662672" y="3379622"/>
                <a:ext cx="366230" cy="146304"/>
                <a:chOff x="7662672" y="3379622"/>
                <a:chExt cx="366230" cy="146304"/>
              </a:xfrm>
            </p:grpSpPr>
            <p:sp>
              <p:nvSpPr>
                <p:cNvPr id="150" name="Chip fill"/>
                <p:cNvSpPr/>
                <p:nvPr/>
              </p:nvSpPr>
              <p:spPr>
                <a:xfrm>
                  <a:off x="7662672" y="3379622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51" name="Icon circle-help"/>
                <p:cNvSpPr/>
                <p:nvPr/>
              </p:nvSpPr>
              <p:spPr>
                <a:xfrm>
                  <a:off x="7703820" y="340514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52" name="Chip label"/>
                <p:cNvSpPr txBox="1"/>
                <p:nvPr/>
              </p:nvSpPr>
              <p:spPr>
                <a:xfrm>
                  <a:off x="7831074" y="3379622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53" name="Row rule"/>
              <p:cNvCxnSpPr/>
              <p:nvPr/>
            </p:nvCxnSpPr>
            <p:spPr>
              <a:xfrm>
                <a:off x="274320" y="3546043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54" name="Row 3"/>
            <p:cNvGrpSpPr/>
            <p:nvPr/>
          </p:nvGrpSpPr>
          <p:grpSpPr>
            <a:xfrm>
              <a:off x="274320" y="3561588"/>
              <a:ext cx="8595360" cy="170993"/>
              <a:chOff x="274320" y="3561588"/>
              <a:chExt cx="8595360" cy="170993"/>
            </a:xfrm>
          </p:grpSpPr>
          <p:grpSp>
            <p:nvGrpSpPr>
              <p:cNvPr id="155" name="Link 3"/>
              <p:cNvGrpSpPr/>
              <p:nvPr/>
            </p:nvGrpSpPr>
            <p:grpSpPr>
              <a:xfrm>
                <a:off x="342900" y="3561588"/>
                <a:ext cx="155448" cy="155448"/>
                <a:chOff x="342900" y="3561588"/>
                <a:chExt cx="155448" cy="155448"/>
              </a:xfrm>
            </p:grpSpPr>
            <p:sp>
              <p:nvSpPr>
                <p:cNvPr id="156" name="Link badge"/>
                <p:cNvSpPr/>
                <p:nvPr/>
              </p:nvSpPr>
              <p:spPr>
                <a:xfrm>
                  <a:off x="342900" y="3561588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57" name="Link number"/>
                <p:cNvSpPr txBox="1"/>
                <p:nvPr/>
              </p:nvSpPr>
              <p:spPr>
                <a:xfrm>
                  <a:off x="342900" y="3561588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3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58" name="Link / component cell"/>
              <p:cNvSpPr txBox="1"/>
              <p:nvPr/>
            </p:nvSpPr>
            <p:spPr>
              <a:xfrm>
                <a:off x="658368" y="3592068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Operator terminal ↔ application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159" name="What flows cell"/>
              <p:cNvSpPr txBox="1"/>
              <p:nvPr/>
            </p:nvSpPr>
            <p:spPr>
              <a:xfrm>
                <a:off x="2286000" y="3592068"/>
                <a:ext cx="2834640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Pipe number before the test, edits, corrections, upload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160" name="Configuration to set up cell"/>
              <p:cNvSpPr txBox="1"/>
              <p:nvPr/>
            </p:nvSpPr>
            <p:spPr>
              <a:xfrm>
                <a:off x="5230368" y="3592068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Terminal device and access method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161" name="Chip TBC"/>
              <p:cNvGrpSpPr/>
              <p:nvPr/>
            </p:nvGrpSpPr>
            <p:grpSpPr>
              <a:xfrm>
                <a:off x="7662672" y="3566160"/>
                <a:ext cx="366230" cy="146304"/>
                <a:chOff x="7662672" y="3566160"/>
                <a:chExt cx="366230" cy="146304"/>
              </a:xfrm>
            </p:grpSpPr>
            <p:sp>
              <p:nvSpPr>
                <p:cNvPr id="162" name="Chip fill"/>
                <p:cNvSpPr/>
                <p:nvPr/>
              </p:nvSpPr>
              <p:spPr>
                <a:xfrm>
                  <a:off x="7662672" y="3566160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63" name="Icon circle-help"/>
                <p:cNvSpPr/>
                <p:nvPr/>
              </p:nvSpPr>
              <p:spPr>
                <a:xfrm>
                  <a:off x="7703820" y="3591687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64" name="Chip label"/>
                <p:cNvSpPr txBox="1"/>
                <p:nvPr/>
              </p:nvSpPr>
              <p:spPr>
                <a:xfrm>
                  <a:off x="7831074" y="3566160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65" name="Row rule"/>
              <p:cNvCxnSpPr/>
              <p:nvPr/>
            </p:nvCxnSpPr>
            <p:spPr>
              <a:xfrm>
                <a:off x="274320" y="3732581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66" name="Row 4"/>
            <p:cNvGrpSpPr/>
            <p:nvPr/>
          </p:nvGrpSpPr>
          <p:grpSpPr>
            <a:xfrm>
              <a:off x="274320" y="3748126"/>
              <a:ext cx="8595360" cy="170993"/>
              <a:chOff x="274320" y="3748126"/>
              <a:chExt cx="8595360" cy="170993"/>
            </a:xfrm>
          </p:grpSpPr>
          <p:grpSp>
            <p:nvGrpSpPr>
              <p:cNvPr id="167" name="Link 4"/>
              <p:cNvGrpSpPr/>
              <p:nvPr/>
            </p:nvGrpSpPr>
            <p:grpSpPr>
              <a:xfrm>
                <a:off x="342900" y="3748126"/>
                <a:ext cx="155448" cy="155448"/>
                <a:chOff x="342900" y="3748126"/>
                <a:chExt cx="155448" cy="155448"/>
              </a:xfrm>
            </p:grpSpPr>
            <p:sp>
              <p:nvSpPr>
                <p:cNvPr id="168" name="Link badge"/>
                <p:cNvSpPr/>
                <p:nvPr/>
              </p:nvSpPr>
              <p:spPr>
                <a:xfrm>
                  <a:off x="342900" y="3748126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69" name="Link number"/>
                <p:cNvSpPr txBox="1"/>
                <p:nvPr/>
              </p:nvSpPr>
              <p:spPr>
                <a:xfrm>
                  <a:off x="342900" y="3748126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4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70" name="Link / component cell"/>
              <p:cNvSpPr txBox="1"/>
              <p:nvPr/>
            </p:nvSpPr>
            <p:spPr>
              <a:xfrm>
                <a:off x="658368" y="3778606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 ↔ SAP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171" name="What flows cell"/>
              <p:cNvSpPr txBox="1"/>
              <p:nvPr/>
            </p:nvSpPr>
            <p:spPr>
              <a:xfrm>
                <a:off x="2286000" y="3778606"/>
                <a:ext cx="2834640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Read previous-station pipe numbers · post the Hydrotester entry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172" name="Configuration to set up cell"/>
              <p:cNvSpPr txBox="1"/>
              <p:nvPr/>
            </p:nvSpPr>
            <p:spPr>
              <a:xfrm>
                <a:off x="5230368" y="3778606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SAP interface type, endpoint details, credentials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173" name="Chip TBC"/>
              <p:cNvGrpSpPr/>
              <p:nvPr/>
            </p:nvGrpSpPr>
            <p:grpSpPr>
              <a:xfrm>
                <a:off x="7662672" y="3752698"/>
                <a:ext cx="366230" cy="146304"/>
                <a:chOff x="7662672" y="3752698"/>
                <a:chExt cx="366230" cy="146304"/>
              </a:xfrm>
            </p:grpSpPr>
            <p:sp>
              <p:nvSpPr>
                <p:cNvPr id="174" name="Chip fill"/>
                <p:cNvSpPr/>
                <p:nvPr/>
              </p:nvSpPr>
              <p:spPr>
                <a:xfrm>
                  <a:off x="7662672" y="3752698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75" name="Icon circle-help"/>
                <p:cNvSpPr/>
                <p:nvPr/>
              </p:nvSpPr>
              <p:spPr>
                <a:xfrm>
                  <a:off x="7703820" y="377822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76" name="Chip label"/>
                <p:cNvSpPr txBox="1"/>
                <p:nvPr/>
              </p:nvSpPr>
              <p:spPr>
                <a:xfrm>
                  <a:off x="7831074" y="3752698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77" name="Row rule"/>
              <p:cNvCxnSpPr/>
              <p:nvPr/>
            </p:nvCxnSpPr>
            <p:spPr>
              <a:xfrm>
                <a:off x="274320" y="3919118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78" name="Row 5"/>
            <p:cNvGrpSpPr/>
            <p:nvPr/>
          </p:nvGrpSpPr>
          <p:grpSpPr>
            <a:xfrm>
              <a:off x="274320" y="3934663"/>
              <a:ext cx="8595360" cy="170993"/>
              <a:chOff x="274320" y="3934663"/>
              <a:chExt cx="8595360" cy="170993"/>
            </a:xfrm>
          </p:grpSpPr>
          <p:grpSp>
            <p:nvGrpSpPr>
              <p:cNvPr id="179" name="Link 5"/>
              <p:cNvGrpSpPr/>
              <p:nvPr/>
            </p:nvGrpSpPr>
            <p:grpSpPr>
              <a:xfrm>
                <a:off x="342900" y="3934663"/>
                <a:ext cx="155448" cy="155448"/>
                <a:chOff x="342900" y="3934663"/>
                <a:chExt cx="155448" cy="155448"/>
              </a:xfrm>
            </p:grpSpPr>
            <p:sp>
              <p:nvSpPr>
                <p:cNvPr id="180" name="Link badge"/>
                <p:cNvSpPr/>
                <p:nvPr/>
              </p:nvSpPr>
              <p:spPr>
                <a:xfrm>
                  <a:off x="342900" y="3934663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81" name="Link number"/>
                <p:cNvSpPr txBox="1"/>
                <p:nvPr/>
              </p:nvSpPr>
              <p:spPr>
                <a:xfrm>
                  <a:off x="342900" y="3934663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5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82" name="Link / component cell"/>
              <p:cNvSpPr txBox="1"/>
              <p:nvPr/>
            </p:nvSpPr>
            <p:spPr>
              <a:xfrm>
                <a:off x="658368" y="3965143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MES → central server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183" name="What flows cell"/>
              <p:cNvSpPr txBox="1"/>
              <p:nvPr/>
            </p:nvSpPr>
            <p:spPr>
              <a:xfrm>
                <a:off x="2286000" y="3965143"/>
                <a:ext cx="2834640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QR scan data fills the pipe number before the test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184" name="Configuration to set up cell"/>
              <p:cNvSpPr txBox="1"/>
              <p:nvPr/>
            </p:nvSpPr>
            <p:spPr>
              <a:xfrm>
                <a:off x="5230368" y="3965143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MES data source and interface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185" name="Chip TBC"/>
              <p:cNvGrpSpPr/>
              <p:nvPr/>
            </p:nvGrpSpPr>
            <p:grpSpPr>
              <a:xfrm>
                <a:off x="7662672" y="3939235"/>
                <a:ext cx="366230" cy="146304"/>
                <a:chOff x="7662672" y="3939235"/>
                <a:chExt cx="366230" cy="146304"/>
              </a:xfrm>
            </p:grpSpPr>
            <p:sp>
              <p:nvSpPr>
                <p:cNvPr id="186" name="Chip fill"/>
                <p:cNvSpPr/>
                <p:nvPr/>
              </p:nvSpPr>
              <p:spPr>
                <a:xfrm>
                  <a:off x="7662672" y="3939235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87" name="Icon circle-help"/>
                <p:cNvSpPr/>
                <p:nvPr/>
              </p:nvSpPr>
              <p:spPr>
                <a:xfrm>
                  <a:off x="7703820" y="3964762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188" name="Chip label"/>
                <p:cNvSpPr txBox="1"/>
                <p:nvPr/>
              </p:nvSpPr>
              <p:spPr>
                <a:xfrm>
                  <a:off x="7831074" y="3939235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189" name="Row rule"/>
              <p:cNvCxnSpPr/>
              <p:nvPr/>
            </p:nvCxnSpPr>
            <p:spPr>
              <a:xfrm>
                <a:off x="274320" y="4105656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190" name="Row 6"/>
            <p:cNvGrpSpPr/>
            <p:nvPr/>
          </p:nvGrpSpPr>
          <p:grpSpPr>
            <a:xfrm>
              <a:off x="274320" y="4121201"/>
              <a:ext cx="8595360" cy="170993"/>
              <a:chOff x="274320" y="4121201"/>
              <a:chExt cx="8595360" cy="170993"/>
            </a:xfrm>
          </p:grpSpPr>
          <p:grpSp>
            <p:nvGrpSpPr>
              <p:cNvPr id="191" name="Link 6"/>
              <p:cNvGrpSpPr/>
              <p:nvPr/>
            </p:nvGrpSpPr>
            <p:grpSpPr>
              <a:xfrm>
                <a:off x="342900" y="4121201"/>
                <a:ext cx="155448" cy="155448"/>
                <a:chOff x="342900" y="4121201"/>
                <a:chExt cx="155448" cy="155448"/>
              </a:xfrm>
            </p:grpSpPr>
            <p:sp>
              <p:nvSpPr>
                <p:cNvPr id="192" name="Link badge"/>
                <p:cNvSpPr/>
                <p:nvPr/>
              </p:nvSpPr>
              <p:spPr>
                <a:xfrm>
                  <a:off x="342900" y="4121201"/>
                  <a:ext cx="155448" cy="155448"/>
                </a:xfrm>
                <a:prstGeom prst="ellipse">
                  <a:avLst/>
                </a:prstGeom>
                <a:solidFill>
                  <a:srgbClr val="165FF2"/>
                </a:solidFill>
                <a:ln w="12700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193" name="Link number"/>
                <p:cNvSpPr txBox="1"/>
                <p:nvPr/>
              </p:nvSpPr>
              <p:spPr>
                <a:xfrm>
                  <a:off x="342900" y="4121201"/>
                  <a:ext cx="155448" cy="155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rtlCol="0">
                  <a:noAutofit/>
                </a:bodyPr>
                <a:lstStyle/>
                <a:p>
                  <a:pPr algn="ctr">
                    <a:lnSpc>
                      <a:spcPts val="620"/>
                    </a:lnSpc>
                    <a:spcBef>
                      <a:spcPts val="0"/>
                    </a:spcBef>
                    <a:buNone/>
                  </a:pPr>
                  <a:r>
                    <a:rPr lang="en-US" sz="620" b="0" i="0" spc="0" dirty="0">
                      <a:solidFill>
                        <a:srgbClr val="FFFFFF"/>
                      </a:solidFill>
                      <a:latin typeface="TASA Orbiter SemiBold"/>
                      <a:ea typeface="TASA Orbiter SemiBold"/>
                      <a:cs typeface="TASA Orbiter SemiBold"/>
                      <a:sym typeface="TASA Orbiter SemiBold"/>
                    </a:rPr>
                    <a:t>6</a:t>
                  </a:r>
                  <a:endParaRPr lang="en-US" sz="620" dirty="0">
                    <a:latin typeface="TASA Orbiter SemiBold"/>
                  </a:endParaRPr>
                </a:p>
              </p:txBody>
            </p:sp>
          </p:grpSp>
          <p:sp>
            <p:nvSpPr>
              <p:cNvPr id="194" name="Link / component cell"/>
              <p:cNvSpPr txBox="1"/>
              <p:nvPr/>
            </p:nvSpPr>
            <p:spPr>
              <a:xfrm>
                <a:off x="658368" y="4151681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 → FTP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195" name="What flows cell"/>
              <p:cNvSpPr txBox="1"/>
              <p:nvPr/>
            </p:nvSpPr>
            <p:spPr>
              <a:xfrm>
                <a:off x="2286000" y="4151681"/>
                <a:ext cx="2834640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+ actual graph images; upload status per entry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196" name="Configuration to set up cell"/>
              <p:cNvSpPr txBox="1"/>
              <p:nvPr/>
            </p:nvSpPr>
            <p:spPr>
              <a:xfrm>
                <a:off x="5230368" y="4151681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FTP host, folder and credentials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197" name="Chip TBC"/>
              <p:cNvGrpSpPr/>
              <p:nvPr/>
            </p:nvGrpSpPr>
            <p:grpSpPr>
              <a:xfrm>
                <a:off x="7662672" y="4125773"/>
                <a:ext cx="366230" cy="146304"/>
                <a:chOff x="7662672" y="4125773"/>
                <a:chExt cx="366230" cy="146304"/>
              </a:xfrm>
            </p:grpSpPr>
            <p:sp>
              <p:nvSpPr>
                <p:cNvPr id="198" name="Chip fill"/>
                <p:cNvSpPr/>
                <p:nvPr/>
              </p:nvSpPr>
              <p:spPr>
                <a:xfrm>
                  <a:off x="7662672" y="4125773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199" name="Icon circle-help"/>
                <p:cNvSpPr/>
                <p:nvPr/>
              </p:nvSpPr>
              <p:spPr>
                <a:xfrm>
                  <a:off x="7703820" y="41513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200" name="Chip label"/>
                <p:cNvSpPr txBox="1"/>
                <p:nvPr/>
              </p:nvSpPr>
              <p:spPr>
                <a:xfrm>
                  <a:off x="7831074" y="4125773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201" name="Row rule"/>
              <p:cNvCxnSpPr/>
              <p:nvPr/>
            </p:nvCxnSpPr>
            <p:spPr>
              <a:xfrm>
                <a:off x="274320" y="4292194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202" name="Row 7"/>
            <p:cNvGrpSpPr/>
            <p:nvPr/>
          </p:nvGrpSpPr>
          <p:grpSpPr>
            <a:xfrm>
              <a:off x="274320" y="4312310"/>
              <a:ext cx="8595360" cy="209093"/>
              <a:chOff x="274320" y="4312310"/>
              <a:chExt cx="8595360" cy="209093"/>
            </a:xfrm>
          </p:grpSpPr>
          <p:sp>
            <p:nvSpPr>
              <p:cNvPr id="203" name="Bullet"/>
              <p:cNvSpPr/>
              <p:nvPr/>
            </p:nvSpPr>
            <p:spPr>
              <a:xfrm>
                <a:off x="388620" y="4374794"/>
                <a:ext cx="64008" cy="64008"/>
              </a:xfrm>
              <a:prstGeom prst="ellipse">
                <a:avLst/>
              </a:prstGeom>
              <a:solidFill>
                <a:srgbClr val="B1C1D2"/>
              </a:solidFill>
              <a:ln>
                <a:noFill/>
              </a:ln>
            </p:spPr>
          </p:sp>
          <p:sp>
            <p:nvSpPr>
              <p:cNvPr id="204" name="Link / component cell"/>
              <p:cNvSpPr txBox="1"/>
              <p:nvPr/>
            </p:nvSpPr>
            <p:spPr>
              <a:xfrm>
                <a:off x="658368" y="4359554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Hosting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205" name="What flows cell"/>
              <p:cNvSpPr txBox="1"/>
              <p:nvPr/>
            </p:nvSpPr>
            <p:spPr>
              <a:xfrm>
                <a:off x="2286000" y="4312310"/>
                <a:ext cx="2834640" cy="188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New IPC runs the Graph Application · central server runs the SAP Entry Application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206" name="Configuration to set up cell"/>
              <p:cNvSpPr txBox="1"/>
              <p:nvPr/>
            </p:nvSpPr>
            <p:spPr>
              <a:xfrm>
                <a:off x="5230368" y="4359554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IPC supplied by Faclon · server / VM provided by Welspun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207" name="Chip Defined"/>
              <p:cNvGrpSpPr/>
              <p:nvPr/>
            </p:nvGrpSpPr>
            <p:grpSpPr>
              <a:xfrm>
                <a:off x="7662672" y="4333646"/>
                <a:ext cx="498878" cy="146304"/>
                <a:chOff x="7662672" y="4333646"/>
                <a:chExt cx="498878" cy="146304"/>
              </a:xfrm>
            </p:grpSpPr>
            <p:sp>
              <p:nvSpPr>
                <p:cNvPr id="208" name="Chip fill"/>
                <p:cNvSpPr/>
                <p:nvPr/>
              </p:nvSpPr>
              <p:spPr>
                <a:xfrm>
                  <a:off x="7662672" y="4333646"/>
                  <a:ext cx="498878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00A251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209" name="Icon circle-check"/>
                <p:cNvSpPr/>
                <p:nvPr/>
              </p:nvSpPr>
              <p:spPr>
                <a:xfrm>
                  <a:off x="7703820" y="4359173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16000" y="9000"/>
                      </a:moveTo>
                      <a:lnTo>
                        <a:pt x="10500" y="14500"/>
                      </a:lnTo>
                      <a:lnTo>
                        <a:pt x="8000" y="12000"/>
                      </a:lnTo>
                    </a:path>
                  </a:pathLst>
                </a:custGeom>
                <a:noFill/>
                <a:ln w="9128" cap="rnd">
                  <a:solidFill>
                    <a:srgbClr val="008743"/>
                  </a:solidFill>
                  <a:round/>
                </a:ln>
              </p:spPr>
            </p:sp>
            <p:sp>
              <p:nvSpPr>
                <p:cNvPr id="210" name="Chip label"/>
                <p:cNvSpPr txBox="1"/>
                <p:nvPr/>
              </p:nvSpPr>
              <p:spPr>
                <a:xfrm>
                  <a:off x="7831074" y="4333646"/>
                  <a:ext cx="307616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008743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Defined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211" name="Row rule"/>
              <p:cNvCxnSpPr/>
              <p:nvPr/>
            </p:nvCxnSpPr>
            <p:spPr>
              <a:xfrm>
                <a:off x="274320" y="4521403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  <p:grpSp>
          <p:nvGrpSpPr>
            <p:cNvPr id="212" name="Row 8"/>
            <p:cNvGrpSpPr/>
            <p:nvPr/>
          </p:nvGrpSpPr>
          <p:grpSpPr>
            <a:xfrm>
              <a:off x="274320" y="4541520"/>
              <a:ext cx="8595360" cy="166421"/>
              <a:chOff x="274320" y="4541520"/>
              <a:chExt cx="8595360" cy="166421"/>
            </a:xfrm>
          </p:grpSpPr>
          <p:sp>
            <p:nvSpPr>
              <p:cNvPr id="213" name="Bullet"/>
              <p:cNvSpPr/>
              <p:nvPr/>
            </p:nvSpPr>
            <p:spPr>
              <a:xfrm>
                <a:off x="388620" y="4582668"/>
                <a:ext cx="64008" cy="64008"/>
              </a:xfrm>
              <a:prstGeom prst="ellipse">
                <a:avLst/>
              </a:prstGeom>
              <a:solidFill>
                <a:srgbClr val="B1C1D2"/>
              </a:solidFill>
              <a:ln>
                <a:noFill/>
              </a:ln>
            </p:spPr>
          </p:sp>
          <p:sp>
            <p:nvSpPr>
              <p:cNvPr id="214" name="Link / component cell"/>
              <p:cNvSpPr txBox="1"/>
              <p:nvPr/>
            </p:nvSpPr>
            <p:spPr>
              <a:xfrm>
                <a:off x="658368" y="4567428"/>
                <a:ext cx="1517904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Network access</a:t>
                </a:r>
                <a:endParaRPr lang="en-US" sz="620" dirty="0">
                  <a:latin typeface="Inter SemiBold"/>
                </a:endParaRPr>
              </a:p>
            </p:txBody>
          </p:sp>
          <p:sp>
            <p:nvSpPr>
              <p:cNvPr id="215" name="What flows cell"/>
              <p:cNvSpPr txBox="1"/>
              <p:nvPr/>
            </p:nvSpPr>
            <p:spPr>
              <a:xfrm>
                <a:off x="2286000" y="4567428"/>
                <a:ext cx="2834640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Station, central server, SAP, MES and FTP</a:t>
                </a:r>
                <a:endParaRPr lang="en-US" sz="620" dirty="0">
                  <a:latin typeface="Inter"/>
                </a:endParaRPr>
              </a:p>
            </p:txBody>
          </p:sp>
          <p:sp>
            <p:nvSpPr>
              <p:cNvPr id="216" name="Configuration to set up cell"/>
              <p:cNvSpPr txBox="1"/>
              <p:nvPr/>
            </p:nvSpPr>
            <p:spPr>
              <a:xfrm>
                <a:off x="5230368" y="4567428"/>
                <a:ext cx="2322576" cy="9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744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Ports, VLANs and firewall rules</a:t>
                </a:r>
                <a:endParaRPr lang="en-US" sz="620" dirty="0">
                  <a:latin typeface="Inter"/>
                </a:endParaRPr>
              </a:p>
            </p:txBody>
          </p:sp>
          <p:grpSp>
            <p:nvGrpSpPr>
              <p:cNvPr id="217" name="Chip TBC"/>
              <p:cNvGrpSpPr/>
              <p:nvPr/>
            </p:nvGrpSpPr>
            <p:grpSpPr>
              <a:xfrm>
                <a:off x="7662672" y="4541520"/>
                <a:ext cx="366230" cy="146304"/>
                <a:chOff x="7662672" y="4541520"/>
                <a:chExt cx="366230" cy="146304"/>
              </a:xfrm>
            </p:grpSpPr>
            <p:sp>
              <p:nvSpPr>
                <p:cNvPr id="218" name="Chip fill"/>
                <p:cNvSpPr/>
                <p:nvPr/>
              </p:nvSpPr>
              <p:spPr>
                <a:xfrm>
                  <a:off x="7662672" y="4541520"/>
                  <a:ext cx="366230" cy="146304"/>
                </a:xfrm>
                <a:prstGeom prst="roundRect">
                  <a:avLst>
                    <a:gd name="adj" fmla="val 18750"/>
                  </a:avLst>
                </a:prstGeom>
                <a:solidFill>
                  <a:srgbClr val="E9690C">
                    <a:alpha val="9000"/>
                  </a:srgbClr>
                </a:solidFill>
                <a:ln>
                  <a:noFill/>
                </a:ln>
              </p:spPr>
            </p:sp>
            <p:sp>
              <p:nvSpPr>
                <p:cNvPr id="219" name="Icon circle-help"/>
                <p:cNvSpPr/>
                <p:nvPr/>
              </p:nvSpPr>
              <p:spPr>
                <a:xfrm>
                  <a:off x="7703820" y="4567047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0" h="24000" fill="none">
                      <a:moveTo>
                        <a:pt x="22000" y="12000"/>
                      </a:moveTo>
                      <a:cubicBezTo>
                        <a:pt x="22000" y="13755"/>
                        <a:pt x="21537" y="15479"/>
                        <a:pt x="20660" y="17000"/>
                      </a:cubicBezTo>
                      <a:cubicBezTo>
                        <a:pt x="19782" y="18520"/>
                        <a:pt x="18520" y="19782"/>
                        <a:pt x="17000" y="20660"/>
                      </a:cubicBezTo>
                      <a:cubicBezTo>
                        <a:pt x="15479" y="21537"/>
                        <a:pt x="13755" y="22000"/>
                        <a:pt x="12000" y="22000"/>
                      </a:cubicBezTo>
                      <a:cubicBezTo>
                        <a:pt x="10244" y="22000"/>
                        <a:pt x="8520" y="21537"/>
                        <a:pt x="7000" y="20660"/>
                      </a:cubicBezTo>
                      <a:cubicBezTo>
                        <a:pt x="5479" y="19782"/>
                        <a:pt x="4217" y="18520"/>
                        <a:pt x="3339" y="17000"/>
                      </a:cubicBezTo>
                      <a:cubicBezTo>
                        <a:pt x="2462" y="15479"/>
                        <a:pt x="2000" y="13755"/>
                        <a:pt x="2000" y="12000"/>
                      </a:cubicBezTo>
                      <a:cubicBezTo>
                        <a:pt x="1999" y="10244"/>
                        <a:pt x="2462" y="8520"/>
                        <a:pt x="3339" y="7000"/>
                      </a:cubicBezTo>
                      <a:cubicBezTo>
                        <a:pt x="4217" y="5479"/>
                        <a:pt x="5479" y="4217"/>
                        <a:pt x="6999" y="3339"/>
                      </a:cubicBezTo>
                      <a:cubicBezTo>
                        <a:pt x="8520" y="2462"/>
                        <a:pt x="10244" y="2000"/>
                        <a:pt x="11999" y="2000"/>
                      </a:cubicBezTo>
                      <a:cubicBezTo>
                        <a:pt x="13755" y="1999"/>
                        <a:pt x="15479" y="2462"/>
                        <a:pt x="17000" y="3339"/>
                      </a:cubicBezTo>
                      <a:cubicBezTo>
                        <a:pt x="18520" y="4217"/>
                        <a:pt x="19782" y="5479"/>
                        <a:pt x="20660" y="7000"/>
                      </a:cubicBezTo>
                      <a:cubicBezTo>
                        <a:pt x="21537" y="8520"/>
                        <a:pt x="22000" y="10244"/>
                        <a:pt x="22000" y="11999"/>
                      </a:cubicBezTo>
                      <a:close/>
                    </a:path>
                    <a:path w="24000" h="24000" fill="none">
                      <a:moveTo>
                        <a:pt x="9090" y="9000"/>
                      </a:moveTo>
                      <a:cubicBezTo>
                        <a:pt x="9245" y="8557"/>
                        <a:pt x="9503" y="8156"/>
                        <a:pt x="9842" y="7831"/>
                      </a:cubicBezTo>
                      <a:cubicBezTo>
                        <a:pt x="10180" y="7506"/>
                        <a:pt x="10591" y="7265"/>
                        <a:pt x="11040" y="7127"/>
                      </a:cubicBezTo>
                      <a:cubicBezTo>
                        <a:pt x="11489" y="6989"/>
                        <a:pt x="11964" y="6959"/>
                        <a:pt x="12427" y="7038"/>
                      </a:cubicBezTo>
                      <a:cubicBezTo>
                        <a:pt x="12890" y="7118"/>
                        <a:pt x="13327" y="7305"/>
                        <a:pt x="13705" y="7584"/>
                      </a:cubicBezTo>
                      <a:cubicBezTo>
                        <a:pt x="14082" y="7863"/>
                        <a:pt x="14389" y="8228"/>
                        <a:pt x="14600" y="8647"/>
                      </a:cubicBezTo>
                      <a:cubicBezTo>
                        <a:pt x="14811" y="9067"/>
                        <a:pt x="14920" y="9530"/>
                        <a:pt x="14920" y="10000"/>
                      </a:cubicBezTo>
                      <a:cubicBezTo>
                        <a:pt x="14920" y="12000"/>
                        <a:pt x="11920" y="13000"/>
                        <a:pt x="11920" y="13000"/>
                      </a:cubicBezTo>
                    </a:path>
                    <a:path w="24000" h="24000" fill="none">
                      <a:moveTo>
                        <a:pt x="12000" y="17000"/>
                      </a:moveTo>
                      <a:lnTo>
                        <a:pt x="12010" y="17000"/>
                      </a:lnTo>
                    </a:path>
                  </a:pathLst>
                </a:custGeom>
                <a:noFill/>
                <a:ln w="9128" cap="rnd">
                  <a:solidFill>
                    <a:srgbClr val="C65C10"/>
                  </a:solidFill>
                  <a:round/>
                </a:ln>
              </p:spPr>
            </p:sp>
            <p:sp>
              <p:nvSpPr>
                <p:cNvPr id="220" name="Chip label"/>
                <p:cNvSpPr txBox="1"/>
                <p:nvPr/>
              </p:nvSpPr>
              <p:spPr>
                <a:xfrm>
                  <a:off x="7831074" y="4541520"/>
                  <a:ext cx="174968" cy="146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rtlCol="0">
                  <a:noAutofit/>
                </a:bodyPr>
                <a:lstStyle/>
                <a:p>
                  <a:pPr algn="l">
                    <a:lnSpc>
                      <a:spcPts val="600"/>
                    </a:lnSpc>
                    <a:spcBef>
                      <a:spcPts val="0"/>
                    </a:spcBef>
                    <a:buNone/>
                  </a:pPr>
                  <a:r>
                    <a:rPr lang="en-US" sz="600" b="0" i="0" spc="0" dirty="0">
                      <a:solidFill>
                        <a:srgbClr val="C65C1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TBC</a:t>
                  </a:r>
                  <a:endParaRPr lang="en-US" sz="600" dirty="0">
                    <a:latin typeface="Inter SemiBold"/>
                  </a:endParaRPr>
                </a:p>
              </p:txBody>
            </p:sp>
          </p:grpSp>
          <p:cxnSp>
            <p:nvCxnSpPr>
              <p:cNvPr id="221" name="Row rule"/>
              <p:cNvCxnSpPr/>
              <p:nvPr/>
            </p:nvCxnSpPr>
            <p:spPr>
              <a:xfrm>
                <a:off x="274320" y="4707941"/>
                <a:ext cx="8595360" cy="0"/>
              </a:xfrm>
              <a:prstGeom prst="straightConnector1">
                <a:avLst/>
              </a:prstGeom>
              <a:noFill/>
              <a:ln w="9525">
                <a:solidFill>
                  <a:srgbClr val="E3EAF3"/>
                </a:solidFill>
                <a:round/>
              </a:ln>
            </p:spPr>
          </p:cxnSp>
        </p:grpSp>
      </p:grpSp>
      <p:grpSp>
        <p:nvGrpSpPr>
          <p:cNvPr id="222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23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24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01  ·  UT STATIONS (IUT &amp; FUT)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Scope of Work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What Faclon Labs delivers and what Welspun provides for the UT stations project.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Faclon Labs scope header"/>
          <p:cNvGrpSpPr/>
          <p:nvPr/>
        </p:nvGrpSpPr>
        <p:grpSpPr>
          <a:xfrm>
            <a:off x="274320" y="1033272"/>
            <a:ext cx="5138928" cy="310896"/>
            <a:chOff x="274320" y="1033272"/>
            <a:chExt cx="5138928" cy="310896"/>
          </a:xfrm>
        </p:grpSpPr>
        <p:sp>
          <p:nvSpPr>
            <p:cNvPr id="22" name="Column header"/>
            <p:cNvSpPr/>
            <p:nvPr/>
          </p:nvSpPr>
          <p:spPr>
            <a:xfrm>
              <a:off x="274320" y="1033272"/>
              <a:ext cx="5138928" cy="310896"/>
            </a:xfrm>
            <a:prstGeom prst="roundRect">
              <a:avLst>
                <a:gd name="adj" fmla="val 14705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3" name="Icon package-check"/>
            <p:cNvSpPr/>
            <p:nvPr/>
          </p:nvSpPr>
          <p:spPr>
            <a:xfrm>
              <a:off x="384048" y="111099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18000" y="19000"/>
                  </a:lnTo>
                  <a:lnTo>
                    <a:pt x="22000" y="15000"/>
                  </a:lnTo>
                </a:path>
                <a:path w="24000" h="24000" fill="none">
                  <a:moveTo>
                    <a:pt x="21000" y="11127"/>
                  </a:moveTo>
                  <a:lnTo>
                    <a:pt x="21000" y="8000"/>
                  </a:lnTo>
                  <a:cubicBezTo>
                    <a:pt x="20999" y="7649"/>
                    <a:pt x="20907" y="7304"/>
                    <a:pt x="20731" y="7001"/>
                  </a:cubicBezTo>
                  <a:cubicBezTo>
                    <a:pt x="20556" y="6697"/>
                    <a:pt x="20303" y="6445"/>
                    <a:pt x="20000" y="6270"/>
                  </a:cubicBezTo>
                  <a:lnTo>
                    <a:pt x="13000" y="2269"/>
                  </a:lnTo>
                  <a:cubicBezTo>
                    <a:pt x="12695" y="2094"/>
                    <a:pt x="12351" y="2002"/>
                    <a:pt x="12000" y="2002"/>
                  </a:cubicBezTo>
                  <a:cubicBezTo>
                    <a:pt x="11648" y="2002"/>
                    <a:pt x="11304" y="2094"/>
                    <a:pt x="11000" y="2269"/>
                  </a:cubicBezTo>
                  <a:lnTo>
                    <a:pt x="4000" y="6270"/>
                  </a:lnTo>
                  <a:cubicBezTo>
                    <a:pt x="3696" y="6445"/>
                    <a:pt x="3443" y="6697"/>
                    <a:pt x="3268" y="7001"/>
                  </a:cubicBezTo>
                  <a:cubicBezTo>
                    <a:pt x="3092" y="7304"/>
                    <a:pt x="3000" y="7649"/>
                    <a:pt x="3000" y="8000"/>
                  </a:cubicBezTo>
                  <a:lnTo>
                    <a:pt x="3000" y="16000"/>
                  </a:lnTo>
                  <a:cubicBezTo>
                    <a:pt x="3000" y="16350"/>
                    <a:pt x="3093" y="16694"/>
                    <a:pt x="3268" y="16998"/>
                  </a:cubicBezTo>
                  <a:cubicBezTo>
                    <a:pt x="3444" y="17301"/>
                    <a:pt x="3696" y="17553"/>
                    <a:pt x="4000" y="17729"/>
                  </a:cubicBezTo>
                  <a:lnTo>
                    <a:pt x="11000" y="21729"/>
                  </a:lnTo>
                  <a:cubicBezTo>
                    <a:pt x="11201" y="21845"/>
                    <a:pt x="11422" y="21926"/>
                    <a:pt x="11652" y="21966"/>
                  </a:cubicBezTo>
                  <a:cubicBezTo>
                    <a:pt x="11882" y="22007"/>
                    <a:pt x="12117" y="22007"/>
                    <a:pt x="12347" y="21967"/>
                  </a:cubicBezTo>
                  <a:cubicBezTo>
                    <a:pt x="12576" y="21926"/>
                    <a:pt x="12797" y="21846"/>
                    <a:pt x="13000" y="21730"/>
                  </a:cubicBezTo>
                  <a:lnTo>
                    <a:pt x="14320" y="20977"/>
                  </a:lnTo>
                </a:path>
                <a:path w="24000" h="24000" fill="none">
                  <a:moveTo>
                    <a:pt x="3290" y="7000"/>
                  </a:moveTo>
                  <a:lnTo>
                    <a:pt x="12000" y="12000"/>
                  </a:lnTo>
                  <a:lnTo>
                    <a:pt x="20710" y="7000"/>
                  </a:lnTo>
                </a:path>
                <a:path w="24000" h="24000" fill="none">
                  <a:moveTo>
                    <a:pt x="7500" y="4270"/>
                  </a:moveTo>
                  <a:lnTo>
                    <a:pt x="16497" y="9418"/>
                  </a:ln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24" name="Column title"/>
            <p:cNvSpPr txBox="1"/>
            <p:nvPr/>
          </p:nvSpPr>
          <p:spPr>
            <a:xfrm>
              <a:off x="621792" y="1033272"/>
              <a:ext cx="4681728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Faclon Labs scope</a:t>
              </a:r>
              <a:r>
                <a:rPr lang="en-US" sz="680" b="0" i="0" spc="0" dirty="0">
                  <a:solidFill>
                    <a:srgbClr val="CBD5E2"/>
                  </a:solidFill>
                  <a:latin typeface="Inter"/>
                  <a:ea typeface="Inter"/>
                  <a:cs typeface="Inter"/>
                  <a:sym typeface="Inter"/>
                </a:rPr>
                <a:t>   design, build, integrate, deploy and support</a:t>
              </a:r>
              <a:endParaRPr lang="en-US" sz="680" dirty="0">
                <a:latin typeface="Inter"/>
              </a:endParaRPr>
            </a:p>
          </p:txBody>
        </p:sp>
      </p:grpSp>
      <p:grpSp>
        <p:nvGrpSpPr>
          <p:cNvPr id="25" name="Faclon · SAP Entry Application for IUT &amp; FUT  ·  design and development"/>
          <p:cNvGrpSpPr/>
          <p:nvPr/>
        </p:nvGrpSpPr>
        <p:grpSpPr>
          <a:xfrm>
            <a:off x="274320" y="1417320"/>
            <a:ext cx="5138928" cy="1517548"/>
            <a:chOff x="274320" y="1417320"/>
            <a:chExt cx="5138928" cy="1517548"/>
          </a:xfrm>
        </p:grpSpPr>
        <p:sp>
          <p:nvSpPr>
            <p:cNvPr id="26" name="Card"/>
            <p:cNvSpPr/>
            <p:nvPr/>
          </p:nvSpPr>
          <p:spPr>
            <a:xfrm>
              <a:off x="274320" y="1417320"/>
              <a:ext cx="5138928" cy="1517548"/>
            </a:xfrm>
            <a:prstGeom prst="roundRect">
              <a:avLst>
                <a:gd name="adj" fmla="val 301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27" name="Icon tile"/>
            <p:cNvSpPr/>
            <p:nvPr/>
          </p:nvSpPr>
          <p:spPr>
            <a:xfrm>
              <a:off x="365760" y="1499616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165FF2">
                <a:alpha val="9000"/>
              </a:srgbClr>
            </a:solidFill>
            <a:ln>
              <a:noFill/>
            </a:ln>
          </p:spPr>
        </p:sp>
        <p:sp>
          <p:nvSpPr>
            <p:cNvPr id="28" name="Icon app-window"/>
            <p:cNvSpPr/>
            <p:nvPr/>
          </p:nvSpPr>
          <p:spPr>
            <a:xfrm>
              <a:off x="429768" y="1563624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0351" y="4000"/>
                    <a:pt x="20695" y="4092"/>
                    <a:pt x="21000" y="4267"/>
                  </a:cubicBezTo>
                  <a:cubicBezTo>
                    <a:pt x="21304" y="4443"/>
                    <a:pt x="21556" y="4695"/>
                    <a:pt x="21732" y="5000"/>
                  </a:cubicBezTo>
                  <a:cubicBezTo>
                    <a:pt x="21907" y="5304"/>
                    <a:pt x="22000" y="5648"/>
                    <a:pt x="22000" y="6000"/>
                  </a:cubicBezTo>
                  <a:lnTo>
                    <a:pt x="22000" y="18000"/>
                  </a:lnTo>
                  <a:cubicBezTo>
                    <a:pt x="22000" y="18351"/>
                    <a:pt x="21907" y="18695"/>
                    <a:pt x="21732" y="19000"/>
                  </a:cubicBezTo>
                  <a:cubicBezTo>
                    <a:pt x="21556" y="19304"/>
                    <a:pt x="21304" y="19556"/>
                    <a:pt x="21000" y="19732"/>
                  </a:cubicBezTo>
                  <a:cubicBezTo>
                    <a:pt x="20695" y="19907"/>
                    <a:pt x="20351" y="20000"/>
                    <a:pt x="20000" y="20000"/>
                  </a:cubicBezTo>
                  <a:lnTo>
                    <a:pt x="4000" y="20000"/>
                  </a:lnTo>
                  <a:cubicBezTo>
                    <a:pt x="3648" y="20000"/>
                    <a:pt x="3304" y="19907"/>
                    <a:pt x="3000" y="19732"/>
                  </a:cubicBezTo>
                  <a:cubicBezTo>
                    <a:pt x="2695" y="19556"/>
                    <a:pt x="2443" y="19304"/>
                    <a:pt x="2267" y="19000"/>
                  </a:cubicBezTo>
                  <a:cubicBezTo>
                    <a:pt x="2092" y="18695"/>
                    <a:pt x="2000" y="18351"/>
                    <a:pt x="2000" y="18000"/>
                  </a:cubicBezTo>
                  <a:lnTo>
                    <a:pt x="2000" y="6000"/>
                  </a:lnTo>
                  <a:cubicBezTo>
                    <a:pt x="2000" y="5648"/>
                    <a:pt x="2092" y="5304"/>
                    <a:pt x="2267" y="5000"/>
                  </a:cubicBezTo>
                  <a:cubicBezTo>
                    <a:pt x="2443" y="4695"/>
                    <a:pt x="2695" y="4443"/>
                    <a:pt x="2999" y="4267"/>
                  </a:cubicBezTo>
                  <a:cubicBezTo>
                    <a:pt x="3304" y="4092"/>
                    <a:pt x="3648" y="4000"/>
                    <a:pt x="4000" y="4000"/>
                  </a:cubicBezTo>
                  <a:close/>
                </a:path>
                <a:path w="24000" h="24000" fill="none">
                  <a:moveTo>
                    <a:pt x="10000" y="4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2000" y="8000"/>
                  </a:moveTo>
                  <a:lnTo>
                    <a:pt x="22000" y="8000"/>
                  </a:lnTo>
                </a:path>
                <a:path w="24000" h="24000" fill="none">
                  <a:moveTo>
                    <a:pt x="6000" y="4000"/>
                  </a:moveTo>
                  <a:lnTo>
                    <a:pt x="6000" y="8000"/>
                  </a:lnTo>
                </a:path>
              </a:pathLst>
            </a:custGeom>
            <a:noFill/>
            <a:ln w="13716" cap="rnd">
              <a:solidFill>
                <a:srgbClr val="165FF2"/>
              </a:solidFill>
              <a:round/>
            </a:ln>
          </p:spPr>
        </p:sp>
        <p:sp>
          <p:nvSpPr>
            <p:cNvPr id="29" name="Group title"/>
            <p:cNvSpPr txBox="1"/>
            <p:nvPr/>
          </p:nvSpPr>
          <p:spPr>
            <a:xfrm>
              <a:off x="749808" y="1485900"/>
              <a:ext cx="45720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4"/>
                </a:lnSpc>
                <a:spcBef>
                  <a:spcPts val="0"/>
                </a:spcBef>
                <a:buNone/>
              </a:pPr>
              <a:r>
                <a:rPr lang="en-US" sz="8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Entry Application for IUT &amp; FUT  ·  design and development</a:t>
              </a:r>
              <a:endParaRPr lang="en-US" sz="840" dirty="0">
                <a:latin typeface="Inter SemiBold"/>
              </a:endParaRPr>
            </a:p>
          </p:txBody>
        </p:sp>
        <p:sp>
          <p:nvSpPr>
            <p:cNvPr id="30" name="Bullet"/>
            <p:cNvSpPr/>
            <p:nvPr/>
          </p:nvSpPr>
          <p:spPr>
            <a:xfrm>
              <a:off x="758952" y="1733779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1" name="Scope item"/>
            <p:cNvSpPr txBox="1"/>
            <p:nvPr/>
          </p:nvSpPr>
          <p:spPr>
            <a:xfrm>
              <a:off x="859536" y="1691640"/>
              <a:ext cx="4462272" cy="1208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 configuration:</a:t>
              </a: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PO list from SAP; MUT and / or X-Ray prove-up rule saved per PO</a:t>
              </a:r>
              <a:endParaRPr lang="en-US" sz="780" dirty="0">
                <a:latin typeface="Inter"/>
              </a:endParaRPr>
            </a:p>
          </p:txBody>
        </p:sp>
        <p:sp>
          <p:nvSpPr>
            <p:cNvPr id="32" name="Bullet"/>
            <p:cNvSpPr/>
            <p:nvPr/>
          </p:nvSpPr>
          <p:spPr>
            <a:xfrm>
              <a:off x="758952" y="1895780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3" name="Scope item"/>
            <p:cNvSpPr txBox="1"/>
            <p:nvPr/>
          </p:nvSpPr>
          <p:spPr>
            <a:xfrm>
              <a:off x="859536" y="1853641"/>
              <a:ext cx="4462272" cy="1208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Report capture:</a:t>
              </a: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PDF + JPEG saved; pipe no, test date, indication name &amp; count parsed</a:t>
              </a:r>
              <a:endParaRPr lang="en-US" sz="780" dirty="0">
                <a:latin typeface="Inter"/>
              </a:endParaRPr>
            </a:p>
          </p:txBody>
        </p:sp>
        <p:sp>
          <p:nvSpPr>
            <p:cNvPr id="34" name="Bullet"/>
            <p:cNvSpPr/>
            <p:nvPr/>
          </p:nvSpPr>
          <p:spPr>
            <a:xfrm>
              <a:off x="758952" y="2057781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5" name="Scope item"/>
            <p:cNvSpPr txBox="1"/>
            <p:nvPr/>
          </p:nvSpPr>
          <p:spPr>
            <a:xfrm>
              <a:off x="859536" y="2015642"/>
              <a:ext cx="4462272" cy="1208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Result logic:</a:t>
              </a: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MUT Prove-Up, X-Ray Prove-Up or SAT; pipe classification; retest suffix removal</a:t>
              </a:r>
              <a:endParaRPr lang="en-US" sz="780" dirty="0">
                <a:latin typeface="Inter"/>
              </a:endParaRPr>
            </a:p>
          </p:txBody>
        </p:sp>
        <p:sp>
          <p:nvSpPr>
            <p:cNvPr id="36" name="Bullet"/>
            <p:cNvSpPr/>
            <p:nvPr/>
          </p:nvSpPr>
          <p:spPr>
            <a:xfrm>
              <a:off x="758952" y="2219782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7" name="Scope item"/>
            <p:cNvSpPr txBox="1"/>
            <p:nvPr/>
          </p:nvSpPr>
          <p:spPr>
            <a:xfrm>
              <a:off x="859536" y="2177644"/>
              <a:ext cx="4462272" cy="2417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Upload:</a:t>
              </a: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preview and checksum; normal or separate SAP endpoint with timestamp rules; FTP file upload</a:t>
              </a:r>
              <a:endParaRPr lang="en-US" sz="780" dirty="0">
                <a:latin typeface="Inter"/>
              </a:endParaRPr>
            </a:p>
          </p:txBody>
        </p:sp>
        <p:sp>
          <p:nvSpPr>
            <p:cNvPr id="38" name="Bullet"/>
            <p:cNvSpPr/>
            <p:nvPr/>
          </p:nvSpPr>
          <p:spPr>
            <a:xfrm>
              <a:off x="758952" y="2502637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9" name="Scope item"/>
            <p:cNvSpPr txBox="1"/>
            <p:nvPr/>
          </p:nvSpPr>
          <p:spPr>
            <a:xfrm>
              <a:off x="859536" y="2460498"/>
              <a:ext cx="4462272" cy="2417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Reliability:</a:t>
              </a: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retries, shift-end highlight, 4-hour calibration alert, edit rules, status, previous-station tab</a:t>
              </a:r>
              <a:endParaRPr lang="en-US" sz="780" dirty="0">
                <a:latin typeface="Inter"/>
              </a:endParaRPr>
            </a:p>
          </p:txBody>
        </p:sp>
      </p:grpSp>
      <p:grpSp>
        <p:nvGrpSpPr>
          <p:cNvPr id="40" name="Faclon · Integration and deployment"/>
          <p:cNvGrpSpPr/>
          <p:nvPr/>
        </p:nvGrpSpPr>
        <p:grpSpPr>
          <a:xfrm>
            <a:off x="274320" y="2998876"/>
            <a:ext cx="5138928" cy="789838"/>
            <a:chOff x="274320" y="2998876"/>
            <a:chExt cx="5138928" cy="789838"/>
          </a:xfrm>
        </p:grpSpPr>
        <p:sp>
          <p:nvSpPr>
            <p:cNvPr id="41" name="Card"/>
            <p:cNvSpPr/>
            <p:nvPr/>
          </p:nvSpPr>
          <p:spPr>
            <a:xfrm>
              <a:off x="274320" y="2998876"/>
              <a:ext cx="5138928" cy="789838"/>
            </a:xfrm>
            <a:prstGeom prst="roundRect">
              <a:avLst>
                <a:gd name="adj" fmla="val 5788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42" name="Icon tile"/>
            <p:cNvSpPr/>
            <p:nvPr/>
          </p:nvSpPr>
          <p:spPr>
            <a:xfrm>
              <a:off x="365760" y="3081172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165FF2">
                <a:alpha val="9000"/>
              </a:srgbClr>
            </a:solidFill>
            <a:ln>
              <a:noFill/>
            </a:ln>
          </p:spPr>
        </p:sp>
        <p:sp>
          <p:nvSpPr>
            <p:cNvPr id="43" name="Icon plug-zap"/>
            <p:cNvSpPr/>
            <p:nvPr/>
          </p:nvSpPr>
          <p:spPr>
            <a:xfrm>
              <a:off x="429768" y="314518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300" y="20300"/>
                  </a:moveTo>
                  <a:cubicBezTo>
                    <a:pt x="6522" y="20523"/>
                    <a:pt x="6787" y="20701"/>
                    <a:pt x="7079" y="20822"/>
                  </a:cubicBezTo>
                  <a:cubicBezTo>
                    <a:pt x="7371" y="20943"/>
                    <a:pt x="7684" y="21005"/>
                    <a:pt x="8000" y="21005"/>
                  </a:cubicBezTo>
                  <a:cubicBezTo>
                    <a:pt x="8315" y="21005"/>
                    <a:pt x="8628" y="20943"/>
                    <a:pt x="8920" y="20822"/>
                  </a:cubicBezTo>
                  <a:cubicBezTo>
                    <a:pt x="9212" y="20701"/>
                    <a:pt x="9477" y="20523"/>
                    <a:pt x="9700" y="20300"/>
                  </a:cubicBezTo>
                  <a:lnTo>
                    <a:pt x="12000" y="18000"/>
                  </a:lnTo>
                  <a:lnTo>
                    <a:pt x="6000" y="12000"/>
                  </a:lnTo>
                  <a:lnTo>
                    <a:pt x="3700" y="14300"/>
                  </a:lnTo>
                  <a:cubicBezTo>
                    <a:pt x="3476" y="14522"/>
                    <a:pt x="3298" y="14787"/>
                    <a:pt x="3177" y="15079"/>
                  </a:cubicBezTo>
                  <a:cubicBezTo>
                    <a:pt x="3056" y="15371"/>
                    <a:pt x="2994" y="15684"/>
                    <a:pt x="2994" y="15999"/>
                  </a:cubicBezTo>
                  <a:cubicBezTo>
                    <a:pt x="2994" y="16315"/>
                    <a:pt x="3056" y="16628"/>
                    <a:pt x="3177" y="16920"/>
                  </a:cubicBezTo>
                  <a:cubicBezTo>
                    <a:pt x="3298" y="17212"/>
                    <a:pt x="3476" y="17477"/>
                    <a:pt x="3700" y="17700"/>
                  </a:cubicBezTo>
                  <a:close/>
                </a:path>
                <a:path w="24000" h="24000" fill="none">
                  <a:moveTo>
                    <a:pt x="2000" y="22000"/>
                  </a:moveTo>
                  <a:lnTo>
                    <a:pt x="5000" y="19000"/>
                  </a:lnTo>
                </a:path>
                <a:path w="24000" h="24000" fill="none">
                  <a:moveTo>
                    <a:pt x="7500" y="13500"/>
                  </a:moveTo>
                  <a:lnTo>
                    <a:pt x="10000" y="11000"/>
                  </a:lnTo>
                </a:path>
                <a:path w="24000" h="24000" fill="none">
                  <a:moveTo>
                    <a:pt x="10500" y="16500"/>
                  </a:moveTo>
                  <a:lnTo>
                    <a:pt x="13000" y="14000"/>
                  </a:lnTo>
                </a:path>
                <a:path w="24000" h="24000" fill="none">
                  <a:moveTo>
                    <a:pt x="18000" y="3000"/>
                  </a:moveTo>
                  <a:lnTo>
                    <a:pt x="14000" y="7000"/>
                  </a:lnTo>
                  <a:lnTo>
                    <a:pt x="20000" y="7000"/>
                  </a:lnTo>
                  <a:lnTo>
                    <a:pt x="16000" y="11000"/>
                  </a:lnTo>
                </a:path>
              </a:pathLst>
            </a:custGeom>
            <a:noFill/>
            <a:ln w="13716" cap="rnd">
              <a:solidFill>
                <a:srgbClr val="165FF2"/>
              </a:solidFill>
              <a:round/>
            </a:ln>
          </p:spPr>
        </p:sp>
        <p:sp>
          <p:nvSpPr>
            <p:cNvPr id="44" name="Group title"/>
            <p:cNvSpPr txBox="1"/>
            <p:nvPr/>
          </p:nvSpPr>
          <p:spPr>
            <a:xfrm>
              <a:off x="749808" y="3067456"/>
              <a:ext cx="45720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4"/>
                </a:lnSpc>
                <a:spcBef>
                  <a:spcPts val="0"/>
                </a:spcBef>
                <a:buNone/>
              </a:pPr>
              <a:r>
                <a:rPr lang="en-US" sz="8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Integration and deployment</a:t>
              </a:r>
              <a:endParaRPr lang="en-US" sz="840" dirty="0">
                <a:latin typeface="Inter SemiBold"/>
              </a:endParaRPr>
            </a:p>
          </p:txBody>
        </p:sp>
        <p:sp>
          <p:nvSpPr>
            <p:cNvPr id="45" name="Bullet"/>
            <p:cNvSpPr/>
            <p:nvPr/>
          </p:nvSpPr>
          <p:spPr>
            <a:xfrm>
              <a:off x="758952" y="3315335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46" name="Scope item"/>
            <p:cNvSpPr txBox="1"/>
            <p:nvPr/>
          </p:nvSpPr>
          <p:spPr>
            <a:xfrm>
              <a:off x="859536" y="3273196"/>
              <a:ext cx="4462272" cy="1208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Integration with Welspun SAP endpoints (read and post) and the FTP target</a:t>
              </a:r>
              <a:endParaRPr lang="en-US" sz="780" dirty="0">
                <a:latin typeface="Inter"/>
              </a:endParaRPr>
            </a:p>
          </p:txBody>
        </p:sp>
        <p:sp>
          <p:nvSpPr>
            <p:cNvPr id="47" name="Bullet"/>
            <p:cNvSpPr/>
            <p:nvPr/>
          </p:nvSpPr>
          <p:spPr>
            <a:xfrm>
              <a:off x="758952" y="3477336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48" name="Scope item"/>
            <p:cNvSpPr txBox="1"/>
            <p:nvPr/>
          </p:nvSpPr>
          <p:spPr>
            <a:xfrm>
              <a:off x="859536" y="3435198"/>
              <a:ext cx="4462272" cy="1208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Deployment on the Welspun-provided central server as part of the IOsense platform</a:t>
              </a:r>
              <a:endParaRPr lang="en-US" sz="780" dirty="0">
                <a:latin typeface="Inter"/>
              </a:endParaRPr>
            </a:p>
          </p:txBody>
        </p:sp>
      </p:grpSp>
      <p:grpSp>
        <p:nvGrpSpPr>
          <p:cNvPr id="49" name="Faclon · Services"/>
          <p:cNvGrpSpPr/>
          <p:nvPr/>
        </p:nvGrpSpPr>
        <p:grpSpPr>
          <a:xfrm>
            <a:off x="274320" y="3852723"/>
            <a:ext cx="5138928" cy="627837"/>
            <a:chOff x="274320" y="3852723"/>
            <a:chExt cx="5138928" cy="627837"/>
          </a:xfrm>
        </p:grpSpPr>
        <p:sp>
          <p:nvSpPr>
            <p:cNvPr id="50" name="Card"/>
            <p:cNvSpPr/>
            <p:nvPr/>
          </p:nvSpPr>
          <p:spPr>
            <a:xfrm>
              <a:off x="274320" y="3852723"/>
              <a:ext cx="5138928" cy="627837"/>
            </a:xfrm>
            <a:prstGeom prst="roundRect">
              <a:avLst>
                <a:gd name="adj" fmla="val 728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51" name="Icon tile"/>
            <p:cNvSpPr/>
            <p:nvPr/>
          </p:nvSpPr>
          <p:spPr>
            <a:xfrm>
              <a:off x="365760" y="3935019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165FF2">
                <a:alpha val="9000"/>
              </a:srgbClr>
            </a:solidFill>
            <a:ln>
              <a:noFill/>
            </a:ln>
          </p:spPr>
        </p:sp>
        <p:sp>
          <p:nvSpPr>
            <p:cNvPr id="52" name="Icon life-buoy"/>
            <p:cNvSpPr/>
            <p:nvPr/>
          </p:nvSpPr>
          <p:spPr>
            <a:xfrm>
              <a:off x="429768" y="3999027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3755"/>
                    <a:pt x="21537" y="15479"/>
                    <a:pt x="20660" y="17000"/>
                  </a:cubicBezTo>
                  <a:cubicBezTo>
                    <a:pt x="19782" y="18520"/>
                    <a:pt x="18520" y="19782"/>
                    <a:pt x="17000" y="20660"/>
                  </a:cubicBezTo>
                  <a:cubicBezTo>
                    <a:pt x="15479" y="21537"/>
                    <a:pt x="13755" y="22000"/>
                    <a:pt x="12000" y="22000"/>
                  </a:cubicBezTo>
                  <a:cubicBezTo>
                    <a:pt x="10244" y="22000"/>
                    <a:pt x="8520" y="21537"/>
                    <a:pt x="7000" y="20660"/>
                  </a:cubicBezTo>
                  <a:cubicBezTo>
                    <a:pt x="5479" y="19782"/>
                    <a:pt x="4217" y="18520"/>
                    <a:pt x="3339" y="17000"/>
                  </a:cubicBezTo>
                  <a:cubicBezTo>
                    <a:pt x="2462" y="15479"/>
                    <a:pt x="2000" y="13755"/>
                    <a:pt x="2000" y="12000"/>
                  </a:cubicBezTo>
                  <a:cubicBezTo>
                    <a:pt x="1999" y="10244"/>
                    <a:pt x="2462" y="8520"/>
                    <a:pt x="3339" y="7000"/>
                  </a:cubicBezTo>
                  <a:cubicBezTo>
                    <a:pt x="4217" y="5479"/>
                    <a:pt x="5479" y="4217"/>
                    <a:pt x="6999" y="3339"/>
                  </a:cubicBezTo>
                  <a:cubicBezTo>
                    <a:pt x="8520" y="2462"/>
                    <a:pt x="10244" y="2000"/>
                    <a:pt x="11999" y="2000"/>
                  </a:cubicBezTo>
                  <a:cubicBezTo>
                    <a:pt x="13755" y="1999"/>
                    <a:pt x="15479" y="2462"/>
                    <a:pt x="17000" y="3339"/>
                  </a:cubicBezTo>
                  <a:cubicBezTo>
                    <a:pt x="18520" y="4217"/>
                    <a:pt x="19782" y="5479"/>
                    <a:pt x="20660" y="7000"/>
                  </a:cubicBezTo>
                  <a:cubicBezTo>
                    <a:pt x="21537" y="8520"/>
                    <a:pt x="22000" y="10244"/>
                    <a:pt x="22000" y="11999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2702"/>
                    <a:pt x="15815" y="13391"/>
                    <a:pt x="15464" y="14000"/>
                  </a:cubicBezTo>
                  <a:cubicBezTo>
                    <a:pt x="15113" y="14608"/>
                    <a:pt x="14608" y="15113"/>
                    <a:pt x="14000" y="15464"/>
                  </a:cubicBezTo>
                  <a:cubicBezTo>
                    <a:pt x="13391" y="15815"/>
                    <a:pt x="12702" y="16000"/>
                    <a:pt x="12000" y="16000"/>
                  </a:cubicBezTo>
                  <a:cubicBezTo>
                    <a:pt x="11297" y="16000"/>
                    <a:pt x="10608" y="15815"/>
                    <a:pt x="10000" y="15464"/>
                  </a:cubicBezTo>
                  <a:cubicBezTo>
                    <a:pt x="9391" y="15113"/>
                    <a:pt x="8886" y="14608"/>
                    <a:pt x="8535" y="14000"/>
                  </a:cubicBezTo>
                  <a:cubicBezTo>
                    <a:pt x="8184" y="13391"/>
                    <a:pt x="8000" y="12702"/>
                    <a:pt x="8000" y="12000"/>
                  </a:cubicBezTo>
                  <a:cubicBezTo>
                    <a:pt x="8000" y="11297"/>
                    <a:pt x="8184" y="10608"/>
                    <a:pt x="8535" y="10000"/>
                  </a:cubicBezTo>
                  <a:cubicBezTo>
                    <a:pt x="8886" y="9391"/>
                    <a:pt x="9391" y="8886"/>
                    <a:pt x="9999" y="8535"/>
                  </a:cubicBezTo>
                  <a:cubicBezTo>
                    <a:pt x="10608" y="8184"/>
                    <a:pt x="11297" y="8000"/>
                    <a:pt x="12000" y="8000"/>
                  </a:cubicBezTo>
                  <a:cubicBezTo>
                    <a:pt x="12702" y="8000"/>
                    <a:pt x="13391" y="8184"/>
                    <a:pt x="14000" y="8535"/>
                  </a:cubicBezTo>
                  <a:cubicBezTo>
                    <a:pt x="14608" y="8886"/>
                    <a:pt x="15113" y="9391"/>
                    <a:pt x="15464" y="10000"/>
                  </a:cubicBezTo>
                  <a:cubicBezTo>
                    <a:pt x="15815" y="10608"/>
                    <a:pt x="16000" y="11297"/>
                    <a:pt x="16000" y="11999"/>
                  </a:cubicBezTo>
                  <a:close/>
                </a:path>
              </a:pathLst>
            </a:custGeom>
            <a:noFill/>
            <a:ln w="13716" cap="rnd">
              <a:solidFill>
                <a:srgbClr val="165FF2"/>
              </a:solidFill>
              <a:round/>
            </a:ln>
          </p:spPr>
        </p:sp>
        <p:sp>
          <p:nvSpPr>
            <p:cNvPr id="53" name="Group title"/>
            <p:cNvSpPr txBox="1"/>
            <p:nvPr/>
          </p:nvSpPr>
          <p:spPr>
            <a:xfrm>
              <a:off x="749808" y="3921303"/>
              <a:ext cx="45720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4"/>
                </a:lnSpc>
                <a:spcBef>
                  <a:spcPts val="0"/>
                </a:spcBef>
                <a:buNone/>
              </a:pPr>
              <a:r>
                <a:rPr lang="en-US" sz="8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Services</a:t>
              </a:r>
              <a:endParaRPr lang="en-US" sz="840" dirty="0">
                <a:latin typeface="Inter SemiBold"/>
              </a:endParaRPr>
            </a:p>
          </p:txBody>
        </p:sp>
        <p:sp>
          <p:nvSpPr>
            <p:cNvPr id="54" name="Bullet"/>
            <p:cNvSpPr/>
            <p:nvPr/>
          </p:nvSpPr>
          <p:spPr>
            <a:xfrm>
              <a:off x="758952" y="4169181"/>
              <a:ext cx="36576" cy="36576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55" name="Scope item"/>
            <p:cNvSpPr txBox="1"/>
            <p:nvPr/>
          </p:nvSpPr>
          <p:spPr>
            <a:xfrm>
              <a:off x="859536" y="4127043"/>
              <a:ext cx="4462272" cy="1208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2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User manual / SOP  ·  operator training  ·  UAT and go-live support  ·  post go-live support</a:t>
              </a:r>
              <a:endParaRPr lang="en-US" sz="780" dirty="0">
                <a:latin typeface="Inter"/>
              </a:endParaRPr>
            </a:p>
          </p:txBody>
        </p:sp>
      </p:grpSp>
      <p:grpSp>
        <p:nvGrpSpPr>
          <p:cNvPr id="56" name="Welspun scope header"/>
          <p:cNvGrpSpPr/>
          <p:nvPr/>
        </p:nvGrpSpPr>
        <p:grpSpPr>
          <a:xfrm>
            <a:off x="5559552" y="1033272"/>
            <a:ext cx="3310128" cy="310896"/>
            <a:chOff x="5559552" y="1033272"/>
            <a:chExt cx="3310128" cy="310896"/>
          </a:xfrm>
        </p:grpSpPr>
        <p:sp>
          <p:nvSpPr>
            <p:cNvPr id="57" name="Column header"/>
            <p:cNvSpPr/>
            <p:nvPr/>
          </p:nvSpPr>
          <p:spPr>
            <a:xfrm>
              <a:off x="5559552" y="1033272"/>
              <a:ext cx="3310128" cy="310896"/>
            </a:xfrm>
            <a:prstGeom prst="roundRect">
              <a:avLst>
                <a:gd name="adj" fmla="val 14705"/>
              </a:avLst>
            </a:prstGeom>
            <a:solidFill>
              <a:srgbClr val="F1F5FA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58" name="Icon building-2"/>
            <p:cNvSpPr/>
            <p:nvPr/>
          </p:nvSpPr>
          <p:spPr>
            <a:xfrm>
              <a:off x="5669280" y="111099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2000"/>
                  </a:moveTo>
                  <a:lnTo>
                    <a:pt x="14000" y="12000"/>
                  </a:lnTo>
                </a:path>
                <a:path w="24000" h="24000" fill="none">
                  <a:moveTo>
                    <a:pt x="10000" y="8000"/>
                  </a:moveTo>
                  <a:lnTo>
                    <a:pt x="14000" y="8000"/>
                  </a:lnTo>
                </a:path>
                <a:path w="24000" h="24000" fill="none">
                  <a:moveTo>
                    <a:pt x="14000" y="21000"/>
                  </a:moveTo>
                  <a:lnTo>
                    <a:pt x="14000" y="18000"/>
                  </a:lnTo>
                  <a:cubicBezTo>
                    <a:pt x="14000" y="17648"/>
                    <a:pt x="13907" y="17304"/>
                    <a:pt x="13732" y="17000"/>
                  </a:cubicBezTo>
                  <a:cubicBezTo>
                    <a:pt x="13556" y="16695"/>
                    <a:pt x="13304" y="16443"/>
                    <a:pt x="13000" y="16267"/>
                  </a:cubicBezTo>
                  <a:cubicBezTo>
                    <a:pt x="12695" y="16092"/>
                    <a:pt x="12351" y="16000"/>
                    <a:pt x="12000" y="16000"/>
                  </a:cubicBezTo>
                  <a:cubicBezTo>
                    <a:pt x="11648" y="16000"/>
                    <a:pt x="11304" y="16092"/>
                    <a:pt x="11000" y="16267"/>
                  </a:cubicBezTo>
                  <a:cubicBezTo>
                    <a:pt x="10695" y="16443"/>
                    <a:pt x="10443" y="16695"/>
                    <a:pt x="10267" y="17000"/>
                  </a:cubicBezTo>
                  <a:cubicBezTo>
                    <a:pt x="10092" y="17304"/>
                    <a:pt x="10000" y="17648"/>
                    <a:pt x="10000" y="18000"/>
                  </a:cubicBezTo>
                  <a:lnTo>
                    <a:pt x="10000" y="21000"/>
                  </a:lnTo>
                </a:path>
                <a:path w="24000" h="24000" fill="none">
                  <a:moveTo>
                    <a:pt x="6000" y="10000"/>
                  </a:moveTo>
                  <a:lnTo>
                    <a:pt x="4000" y="10000"/>
                  </a:lnTo>
                  <a:cubicBezTo>
                    <a:pt x="3648" y="10000"/>
                    <a:pt x="3304" y="10092"/>
                    <a:pt x="3000" y="10267"/>
                  </a:cubicBezTo>
                  <a:cubicBezTo>
                    <a:pt x="2695" y="10443"/>
                    <a:pt x="2443" y="10695"/>
                    <a:pt x="2267" y="11000"/>
                  </a:cubicBezTo>
                  <a:cubicBezTo>
                    <a:pt x="2092" y="11304"/>
                    <a:pt x="2000" y="11648"/>
                    <a:pt x="2000" y="12000"/>
                  </a:cubicBezTo>
                  <a:lnTo>
                    <a:pt x="2000" y="19000"/>
                  </a:lnTo>
                  <a:cubicBezTo>
                    <a:pt x="2000" y="19351"/>
                    <a:pt x="2092" y="19695"/>
                    <a:pt x="2267" y="20000"/>
                  </a:cubicBezTo>
                  <a:cubicBezTo>
                    <a:pt x="2443" y="20304"/>
                    <a:pt x="2695" y="20556"/>
                    <a:pt x="2999" y="20732"/>
                  </a:cubicBezTo>
                  <a:cubicBezTo>
                    <a:pt x="3304" y="20907"/>
                    <a:pt x="3648" y="21000"/>
                    <a:pt x="4000" y="21000"/>
                  </a:cubicBezTo>
                  <a:lnTo>
                    <a:pt x="20000" y="21000"/>
                  </a:lnTo>
                  <a:cubicBezTo>
                    <a:pt x="20351" y="21000"/>
                    <a:pt x="20695" y="20907"/>
                    <a:pt x="21000" y="20732"/>
                  </a:cubicBezTo>
                  <a:cubicBezTo>
                    <a:pt x="21304" y="20556"/>
                    <a:pt x="21556" y="20304"/>
                    <a:pt x="21732" y="20000"/>
                  </a:cubicBezTo>
                  <a:cubicBezTo>
                    <a:pt x="21907" y="19695"/>
                    <a:pt x="22000" y="19351"/>
                    <a:pt x="22000" y="19000"/>
                  </a:cubicBezTo>
                  <a:lnTo>
                    <a:pt x="22000" y="9000"/>
                  </a:lnTo>
                  <a:cubicBezTo>
                    <a:pt x="22000" y="8648"/>
                    <a:pt x="21907" y="8304"/>
                    <a:pt x="21732" y="8000"/>
                  </a:cubicBezTo>
                  <a:cubicBezTo>
                    <a:pt x="21556" y="7695"/>
                    <a:pt x="21304" y="7443"/>
                    <a:pt x="21000" y="7267"/>
                  </a:cubicBezTo>
                  <a:cubicBezTo>
                    <a:pt x="20695" y="7092"/>
                    <a:pt x="20351" y="7000"/>
                    <a:pt x="20000" y="7000"/>
                  </a:cubicBezTo>
                  <a:lnTo>
                    <a:pt x="18000" y="7000"/>
                  </a:lnTo>
                </a:path>
                <a:path w="24000" h="24000" fill="none">
                  <a:moveTo>
                    <a:pt x="6000" y="21000"/>
                  </a:moveTo>
                  <a:lnTo>
                    <a:pt x="6000" y="5000"/>
                  </a:lnTo>
                  <a:cubicBezTo>
                    <a:pt x="6000" y="4648"/>
                    <a:pt x="6092" y="4304"/>
                    <a:pt x="6267" y="4000"/>
                  </a:cubicBezTo>
                  <a:cubicBezTo>
                    <a:pt x="6443" y="3695"/>
                    <a:pt x="6695" y="3443"/>
                    <a:pt x="6999" y="3267"/>
                  </a:cubicBezTo>
                  <a:cubicBezTo>
                    <a:pt x="7304" y="3092"/>
                    <a:pt x="7648" y="3000"/>
                    <a:pt x="8000" y="3000"/>
                  </a:cubicBezTo>
                  <a:lnTo>
                    <a:pt x="16000" y="3000"/>
                  </a:lnTo>
                  <a:cubicBezTo>
                    <a:pt x="16351" y="3000"/>
                    <a:pt x="16695" y="3092"/>
                    <a:pt x="17000" y="3267"/>
                  </a:cubicBezTo>
                  <a:cubicBezTo>
                    <a:pt x="17304" y="3443"/>
                    <a:pt x="17556" y="3695"/>
                    <a:pt x="17732" y="4000"/>
                  </a:cubicBezTo>
                  <a:cubicBezTo>
                    <a:pt x="17907" y="4304"/>
                    <a:pt x="18000" y="4648"/>
                    <a:pt x="18000" y="5000"/>
                  </a:cubicBezTo>
                  <a:lnTo>
                    <a:pt x="18000" y="21000"/>
                  </a:ln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59" name="Column title"/>
            <p:cNvSpPr txBox="1"/>
            <p:nvPr/>
          </p:nvSpPr>
          <p:spPr>
            <a:xfrm>
              <a:off x="5907024" y="1033272"/>
              <a:ext cx="2852928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scope</a:t>
              </a:r>
              <a:r>
                <a:rPr lang="en-US" sz="68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   inputs, access and infrastructure</a:t>
              </a:r>
              <a:endParaRPr lang="en-US" sz="680" dirty="0">
                <a:latin typeface="Inter"/>
              </a:endParaRPr>
            </a:p>
          </p:txBody>
        </p:sp>
      </p:grpSp>
      <p:grpSp>
        <p:nvGrpSpPr>
          <p:cNvPr id="60" name="Welspun scope items"/>
          <p:cNvGrpSpPr/>
          <p:nvPr/>
        </p:nvGrpSpPr>
        <p:grpSpPr>
          <a:xfrm>
            <a:off x="5559552" y="1417320"/>
            <a:ext cx="3310128" cy="3063240"/>
            <a:chOff x="5559552" y="1417320"/>
            <a:chExt cx="3310128" cy="3063240"/>
          </a:xfrm>
        </p:grpSpPr>
        <p:sp>
          <p:nvSpPr>
            <p:cNvPr id="61" name="Card"/>
            <p:cNvSpPr/>
            <p:nvPr/>
          </p:nvSpPr>
          <p:spPr>
            <a:xfrm>
              <a:off x="5559552" y="1417320"/>
              <a:ext cx="3310128" cy="3063240"/>
            </a:xfrm>
            <a:prstGeom prst="roundRect">
              <a:avLst>
                <a:gd name="adj" fmla="val 149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2" name="Icon tile"/>
            <p:cNvSpPr/>
            <p:nvPr/>
          </p:nvSpPr>
          <p:spPr>
            <a:xfrm>
              <a:off x="5650992" y="1516786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63" name="Icon server"/>
            <p:cNvSpPr/>
            <p:nvPr/>
          </p:nvSpPr>
          <p:spPr>
            <a:xfrm>
              <a:off x="5692140" y="155793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20000" y="2000"/>
                  </a:lnTo>
                  <a:cubicBezTo>
                    <a:pt x="20351" y="2000"/>
                    <a:pt x="20695" y="2092"/>
                    <a:pt x="21000" y="2267"/>
                  </a:cubicBezTo>
                  <a:cubicBezTo>
                    <a:pt x="21304" y="2443"/>
                    <a:pt x="21556" y="2695"/>
                    <a:pt x="21732" y="3000"/>
                  </a:cubicBezTo>
                  <a:cubicBezTo>
                    <a:pt x="21907" y="3304"/>
                    <a:pt x="22000" y="3648"/>
                    <a:pt x="22000" y="4000"/>
                  </a:cubicBezTo>
                  <a:lnTo>
                    <a:pt x="22000" y="8000"/>
                  </a:lnTo>
                  <a:cubicBezTo>
                    <a:pt x="22000" y="8351"/>
                    <a:pt x="21907" y="8695"/>
                    <a:pt x="21732" y="9000"/>
                  </a:cubicBezTo>
                  <a:cubicBezTo>
                    <a:pt x="21556" y="9304"/>
                    <a:pt x="21304" y="9556"/>
                    <a:pt x="21000" y="9732"/>
                  </a:cubicBezTo>
                  <a:cubicBezTo>
                    <a:pt x="20695" y="9907"/>
                    <a:pt x="20351" y="10000"/>
                    <a:pt x="20000" y="10000"/>
                  </a:cubicBezTo>
                  <a:lnTo>
                    <a:pt x="4000" y="10000"/>
                  </a:lnTo>
                  <a:cubicBezTo>
                    <a:pt x="3648" y="10000"/>
                    <a:pt x="3304" y="9907"/>
                    <a:pt x="3000" y="9732"/>
                  </a:cubicBezTo>
                  <a:cubicBezTo>
                    <a:pt x="2695" y="9556"/>
                    <a:pt x="2443" y="9304"/>
                    <a:pt x="2267" y="9000"/>
                  </a:cubicBezTo>
                  <a:cubicBezTo>
                    <a:pt x="2092" y="8695"/>
                    <a:pt x="2000" y="8351"/>
                    <a:pt x="2000" y="8000"/>
                  </a:cubicBezTo>
                  <a:lnTo>
                    <a:pt x="2000" y="4000"/>
                  </a:lnTo>
                  <a:cubicBezTo>
                    <a:pt x="2000" y="3648"/>
                    <a:pt x="2092" y="3304"/>
                    <a:pt x="2267" y="3000"/>
                  </a:cubicBezTo>
                  <a:cubicBezTo>
                    <a:pt x="2443" y="2695"/>
                    <a:pt x="2695" y="2443"/>
                    <a:pt x="2999" y="2267"/>
                  </a:cubicBezTo>
                  <a:cubicBezTo>
                    <a:pt x="3304" y="2092"/>
                    <a:pt x="3648" y="2000"/>
                    <a:pt x="4000" y="2000"/>
                  </a:cubicBezTo>
                  <a:close/>
                </a:path>
                <a:path w="24000" h="24000" fill="none">
                  <a:moveTo>
                    <a:pt x="4000" y="14000"/>
                  </a:moveTo>
                  <a:lnTo>
                    <a:pt x="20000" y="14000"/>
                  </a:lnTo>
                  <a:cubicBezTo>
                    <a:pt x="20351" y="14000"/>
                    <a:pt x="20695" y="14092"/>
                    <a:pt x="21000" y="14267"/>
                  </a:cubicBezTo>
                  <a:cubicBezTo>
                    <a:pt x="21304" y="14443"/>
                    <a:pt x="21556" y="14695"/>
                    <a:pt x="21732" y="15000"/>
                  </a:cubicBezTo>
                  <a:cubicBezTo>
                    <a:pt x="21907" y="15304"/>
                    <a:pt x="22000" y="15648"/>
                    <a:pt x="22000" y="16000"/>
                  </a:cubicBezTo>
                  <a:lnTo>
                    <a:pt x="22000" y="20000"/>
                  </a:lnTo>
                  <a:cubicBezTo>
                    <a:pt x="22000" y="20351"/>
                    <a:pt x="21907" y="20695"/>
                    <a:pt x="21732" y="21000"/>
                  </a:cubicBezTo>
                  <a:cubicBezTo>
                    <a:pt x="21556" y="21304"/>
                    <a:pt x="21304" y="21556"/>
                    <a:pt x="21000" y="21732"/>
                  </a:cubicBezTo>
                  <a:cubicBezTo>
                    <a:pt x="20695" y="21907"/>
                    <a:pt x="20351" y="22000"/>
                    <a:pt x="20000" y="22000"/>
                  </a:cubicBezTo>
                  <a:lnTo>
                    <a:pt x="4000" y="22000"/>
                  </a:lnTo>
                  <a:cubicBezTo>
                    <a:pt x="3648" y="22000"/>
                    <a:pt x="3304" y="21907"/>
                    <a:pt x="3000" y="21732"/>
                  </a:cubicBezTo>
                  <a:cubicBezTo>
                    <a:pt x="2695" y="21556"/>
                    <a:pt x="2443" y="21304"/>
                    <a:pt x="2267" y="21000"/>
                  </a:cubicBezTo>
                  <a:cubicBezTo>
                    <a:pt x="2092" y="20695"/>
                    <a:pt x="2000" y="20351"/>
                    <a:pt x="2000" y="20000"/>
                  </a:cubicBezTo>
                  <a:lnTo>
                    <a:pt x="2000" y="16000"/>
                  </a:lnTo>
                  <a:cubicBezTo>
                    <a:pt x="2000" y="15648"/>
                    <a:pt x="2092" y="15304"/>
                    <a:pt x="2267" y="15000"/>
                  </a:cubicBezTo>
                  <a:cubicBezTo>
                    <a:pt x="2443" y="14695"/>
                    <a:pt x="2695" y="14443"/>
                    <a:pt x="2999" y="14267"/>
                  </a:cubicBezTo>
                  <a:cubicBezTo>
                    <a:pt x="3304" y="14092"/>
                    <a:pt x="3648" y="14000"/>
                    <a:pt x="4000" y="14000"/>
                  </a:cubicBezTo>
                  <a:close/>
                </a:path>
                <a:path w="24000" h="24000" fill="none">
                  <a:moveTo>
                    <a:pt x="6000" y="6000"/>
                  </a:moveTo>
                  <a:lnTo>
                    <a:pt x="6010" y="6000"/>
                  </a:lnTo>
                </a:path>
                <a:path w="24000" h="24000" fill="none">
                  <a:moveTo>
                    <a:pt x="6000" y="18000"/>
                  </a:moveTo>
                  <a:lnTo>
                    <a:pt x="6010" y="18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64" name="Scope item"/>
            <p:cNvSpPr txBox="1"/>
            <p:nvPr/>
          </p:nvSpPr>
          <p:spPr>
            <a:xfrm>
              <a:off x="5961888" y="1508760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Central server / VM on the Welspun IT network to host the IOsense platform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65" name="Rule"/>
            <p:cNvCxnSpPr/>
            <p:nvPr/>
          </p:nvCxnSpPr>
          <p:spPr>
            <a:xfrm>
              <a:off x="5961888" y="1793824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66" name="Icon tile"/>
            <p:cNvSpPr/>
            <p:nvPr/>
          </p:nvSpPr>
          <p:spPr>
            <a:xfrm>
              <a:off x="5650992" y="1851406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67" name="Icon database"/>
            <p:cNvSpPr/>
            <p:nvPr/>
          </p:nvSpPr>
          <p:spPr>
            <a:xfrm>
              <a:off x="5692140" y="189255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68" name="Scope item"/>
            <p:cNvSpPr txBox="1"/>
            <p:nvPr/>
          </p:nvSpPr>
          <p:spPr>
            <a:xfrm>
              <a:off x="5961888" y="1843380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SAP endpoints to read PO numbers, general remarks and previous-station pipe numbers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69" name="Rule"/>
            <p:cNvCxnSpPr/>
            <p:nvPr/>
          </p:nvCxnSpPr>
          <p:spPr>
            <a:xfrm>
              <a:off x="5961888" y="2128444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0" name="Icon tile"/>
            <p:cNvSpPr/>
            <p:nvPr/>
          </p:nvSpPr>
          <p:spPr>
            <a:xfrm>
              <a:off x="5650992" y="2186026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71" name="Icon cloud-upload"/>
            <p:cNvSpPr/>
            <p:nvPr/>
          </p:nvSpPr>
          <p:spPr>
            <a:xfrm>
              <a:off x="5692140" y="222717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3000"/>
                  </a:moveTo>
                  <a:lnTo>
                    <a:pt x="12000" y="21000"/>
                  </a:lnTo>
                </a:path>
                <a:path w="24000" h="24000" fill="none">
                  <a:moveTo>
                    <a:pt x="4000" y="14899"/>
                  </a:moveTo>
                  <a:cubicBezTo>
                    <a:pt x="3149" y="14030"/>
                    <a:pt x="2540" y="12955"/>
                    <a:pt x="2231" y="11779"/>
                  </a:cubicBezTo>
                  <a:cubicBezTo>
                    <a:pt x="1923" y="10603"/>
                    <a:pt x="1926" y="9368"/>
                    <a:pt x="2240" y="8193"/>
                  </a:cubicBezTo>
                  <a:cubicBezTo>
                    <a:pt x="2554" y="7019"/>
                    <a:pt x="3168" y="5947"/>
                    <a:pt x="4023" y="5082"/>
                  </a:cubicBezTo>
                  <a:cubicBezTo>
                    <a:pt x="4877" y="4218"/>
                    <a:pt x="5942" y="3590"/>
                    <a:pt x="7112" y="3262"/>
                  </a:cubicBezTo>
                  <a:cubicBezTo>
                    <a:pt x="8282" y="2934"/>
                    <a:pt x="9518" y="2916"/>
                    <a:pt x="10697" y="3211"/>
                  </a:cubicBezTo>
                  <a:cubicBezTo>
                    <a:pt x="11877" y="3505"/>
                    <a:pt x="12959" y="4101"/>
                    <a:pt x="13838" y="4941"/>
                  </a:cubicBezTo>
                  <a:cubicBezTo>
                    <a:pt x="14717" y="5781"/>
                    <a:pt x="15362" y="6835"/>
                    <a:pt x="15710" y="8000"/>
                  </a:cubicBezTo>
                  <a:lnTo>
                    <a:pt x="17500" y="8000"/>
                  </a:lnTo>
                  <a:cubicBezTo>
                    <a:pt x="18269" y="7999"/>
                    <a:pt x="19027" y="8197"/>
                    <a:pt x="19699" y="8573"/>
                  </a:cubicBezTo>
                  <a:cubicBezTo>
                    <a:pt x="20370" y="8949"/>
                    <a:pt x="20935" y="9492"/>
                    <a:pt x="21337" y="10148"/>
                  </a:cubicBezTo>
                  <a:cubicBezTo>
                    <a:pt x="21739" y="10805"/>
                    <a:pt x="21966" y="11554"/>
                    <a:pt x="21997" y="12323"/>
                  </a:cubicBezTo>
                  <a:cubicBezTo>
                    <a:pt x="22027" y="13092"/>
                    <a:pt x="21859" y="13857"/>
                    <a:pt x="21509" y="14543"/>
                  </a:cubicBezTo>
                  <a:cubicBezTo>
                    <a:pt x="21160" y="15229"/>
                    <a:pt x="20640" y="15814"/>
                    <a:pt x="20000" y="16242"/>
                  </a:cubicBezTo>
                </a:path>
                <a:path w="24000" h="24000" fill="none">
                  <a:moveTo>
                    <a:pt x="8000" y="17000"/>
                  </a:moveTo>
                  <a:lnTo>
                    <a:pt x="12000" y="13000"/>
                  </a:lnTo>
                  <a:lnTo>
                    <a:pt x="16000" y="17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72" name="Scope item"/>
            <p:cNvSpPr txBox="1"/>
            <p:nvPr/>
          </p:nvSpPr>
          <p:spPr>
            <a:xfrm>
              <a:off x="5961888" y="2177999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SAP endpoints to post regular and calibration / repeatability entries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73" name="Rule"/>
            <p:cNvCxnSpPr/>
            <p:nvPr/>
          </p:nvCxnSpPr>
          <p:spPr>
            <a:xfrm>
              <a:off x="5961888" y="2463063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4" name="Icon tile"/>
            <p:cNvSpPr/>
            <p:nvPr/>
          </p:nvSpPr>
          <p:spPr>
            <a:xfrm>
              <a:off x="5650992" y="2520645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75" name="Icon users-round"/>
            <p:cNvSpPr/>
            <p:nvPr/>
          </p:nvSpPr>
          <p:spPr>
            <a:xfrm>
              <a:off x="5692140" y="2561793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000" y="21000"/>
                  </a:moveTo>
                  <a:cubicBezTo>
                    <a:pt x="18000" y="19595"/>
                    <a:pt x="17630" y="18216"/>
                    <a:pt x="16928" y="17000"/>
                  </a:cubicBezTo>
                  <a:cubicBezTo>
                    <a:pt x="16226" y="15783"/>
                    <a:pt x="15216" y="14773"/>
                    <a:pt x="14000" y="14071"/>
                  </a:cubicBezTo>
                  <a:cubicBezTo>
                    <a:pt x="12783" y="13369"/>
                    <a:pt x="11404" y="13000"/>
                    <a:pt x="10000" y="13000"/>
                  </a:cubicBezTo>
                  <a:cubicBezTo>
                    <a:pt x="8595" y="13000"/>
                    <a:pt x="7216" y="13369"/>
                    <a:pt x="6000" y="14071"/>
                  </a:cubicBezTo>
                  <a:cubicBezTo>
                    <a:pt x="4783" y="14773"/>
                    <a:pt x="3773" y="15783"/>
                    <a:pt x="3071" y="16999"/>
                  </a:cubicBezTo>
                  <a:cubicBezTo>
                    <a:pt x="2369" y="18216"/>
                    <a:pt x="2000" y="19595"/>
                    <a:pt x="2000" y="21000"/>
                  </a:cubicBezTo>
                </a:path>
                <a:path w="24000" h="24000" fill="none">
                  <a:moveTo>
                    <a:pt x="15000" y="8000"/>
                  </a:moveTo>
                  <a:cubicBezTo>
                    <a:pt x="15000" y="8877"/>
                    <a:pt x="14768" y="9739"/>
                    <a:pt x="14330" y="10500"/>
                  </a:cubicBezTo>
                  <a:cubicBezTo>
                    <a:pt x="13891" y="11260"/>
                    <a:pt x="13260" y="11891"/>
                    <a:pt x="12500" y="12330"/>
                  </a:cubicBezTo>
                  <a:cubicBezTo>
                    <a:pt x="11739" y="12768"/>
                    <a:pt x="10877" y="13000"/>
                    <a:pt x="10000" y="13000"/>
                  </a:cubicBezTo>
                  <a:cubicBezTo>
                    <a:pt x="9122" y="13000"/>
                    <a:pt x="8260" y="12768"/>
                    <a:pt x="7500" y="12330"/>
                  </a:cubicBezTo>
                  <a:cubicBezTo>
                    <a:pt x="6739" y="11891"/>
                    <a:pt x="6108" y="11260"/>
                    <a:pt x="5669" y="10500"/>
                  </a:cubicBezTo>
                  <a:cubicBezTo>
                    <a:pt x="5231" y="9739"/>
                    <a:pt x="5000" y="8877"/>
                    <a:pt x="5000" y="8000"/>
                  </a:cubicBezTo>
                  <a:cubicBezTo>
                    <a:pt x="5000" y="7122"/>
                    <a:pt x="5231" y="6260"/>
                    <a:pt x="5669" y="5500"/>
                  </a:cubicBezTo>
                  <a:cubicBezTo>
                    <a:pt x="6108" y="4739"/>
                    <a:pt x="6739" y="4108"/>
                    <a:pt x="7499" y="3669"/>
                  </a:cubicBezTo>
                  <a:cubicBezTo>
                    <a:pt x="8260" y="3231"/>
                    <a:pt x="9122" y="3000"/>
                    <a:pt x="9999" y="3000"/>
                  </a:cubicBezTo>
                  <a:cubicBezTo>
                    <a:pt x="10877" y="3000"/>
                    <a:pt x="11739" y="3231"/>
                    <a:pt x="12500" y="3669"/>
                  </a:cubicBezTo>
                  <a:cubicBezTo>
                    <a:pt x="13260" y="4108"/>
                    <a:pt x="13891" y="4739"/>
                    <a:pt x="14330" y="5500"/>
                  </a:cubicBezTo>
                  <a:cubicBezTo>
                    <a:pt x="14768" y="6260"/>
                    <a:pt x="15000" y="7122"/>
                    <a:pt x="15000" y="7999"/>
                  </a:cubicBezTo>
                  <a:close/>
                </a:path>
                <a:path w="24000" h="24000" fill="none">
                  <a:moveTo>
                    <a:pt x="22000" y="20000"/>
                  </a:moveTo>
                  <a:cubicBezTo>
                    <a:pt x="22000" y="16630"/>
                    <a:pt x="20000" y="13500"/>
                    <a:pt x="18000" y="12000"/>
                  </a:cubicBezTo>
                  <a:cubicBezTo>
                    <a:pt x="18657" y="11506"/>
                    <a:pt x="19183" y="10859"/>
                    <a:pt x="19530" y="10114"/>
                  </a:cubicBezTo>
                  <a:cubicBezTo>
                    <a:pt x="19878" y="9369"/>
                    <a:pt x="20036" y="8550"/>
                    <a:pt x="19992" y="7729"/>
                  </a:cubicBezTo>
                  <a:cubicBezTo>
                    <a:pt x="19947" y="6909"/>
                    <a:pt x="19701" y="6112"/>
                    <a:pt x="19275" y="5409"/>
                  </a:cubicBezTo>
                  <a:cubicBezTo>
                    <a:pt x="18849" y="4706"/>
                    <a:pt x="18256" y="4119"/>
                    <a:pt x="17550" y="3699"/>
                  </a:cubicBez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76" name="Scope item"/>
            <p:cNvSpPr txBox="1"/>
            <p:nvPr/>
          </p:nvSpPr>
          <p:spPr>
            <a:xfrm>
              <a:off x="5961888" y="2512619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SAP team support, incl. confirming the retry cadence for missing previous-station entries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77" name="Rule"/>
            <p:cNvCxnSpPr/>
            <p:nvPr/>
          </p:nvCxnSpPr>
          <p:spPr>
            <a:xfrm>
              <a:off x="5961888" y="2797683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8" name="Icon tile"/>
            <p:cNvSpPr/>
            <p:nvPr/>
          </p:nvSpPr>
          <p:spPr>
            <a:xfrm>
              <a:off x="5650992" y="2855265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79" name="Icon file-text"/>
            <p:cNvSpPr/>
            <p:nvPr/>
          </p:nvSpPr>
          <p:spPr>
            <a:xfrm>
              <a:off x="5692140" y="2896413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4000"/>
                  </a:lnTo>
                  <a:cubicBezTo>
                    <a:pt x="4000" y="3648"/>
                    <a:pt x="4092" y="3304"/>
                    <a:pt x="4267" y="3000"/>
                  </a:cubicBezTo>
                  <a:cubicBezTo>
                    <a:pt x="4443" y="2695"/>
                    <a:pt x="4695" y="2443"/>
                    <a:pt x="4999" y="2267"/>
                  </a:cubicBezTo>
                  <a:cubicBezTo>
                    <a:pt x="5304" y="2092"/>
                    <a:pt x="5648" y="2000"/>
                    <a:pt x="6000" y="2000"/>
                  </a:cubicBezTo>
                  <a:lnTo>
                    <a:pt x="14000" y="2000"/>
                  </a:lnTo>
                  <a:cubicBezTo>
                    <a:pt x="14316" y="1999"/>
                    <a:pt x="14630" y="2061"/>
                    <a:pt x="14922" y="2182"/>
                  </a:cubicBezTo>
                  <a:cubicBezTo>
                    <a:pt x="15214" y="2303"/>
                    <a:pt x="15480" y="2481"/>
                    <a:pt x="15704" y="2706"/>
                  </a:cubicBezTo>
                  <a:lnTo>
                    <a:pt x="19292" y="6294"/>
                  </a:lnTo>
                  <a:cubicBezTo>
                    <a:pt x="19516" y="6517"/>
                    <a:pt x="19695" y="6783"/>
                    <a:pt x="19816" y="7076"/>
                  </a:cubicBezTo>
                  <a:cubicBezTo>
                    <a:pt x="19938" y="7368"/>
                    <a:pt x="20000" y="7682"/>
                    <a:pt x="20000" y="8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175"/>
                    <a:pt x="14046" y="7347"/>
                    <a:pt x="14133" y="7500"/>
                  </a:cubicBezTo>
                  <a:cubicBezTo>
                    <a:pt x="14221" y="7652"/>
                    <a:pt x="14347" y="7778"/>
                    <a:pt x="14500" y="7866"/>
                  </a:cubicBezTo>
                  <a:cubicBezTo>
                    <a:pt x="14652" y="7953"/>
                    <a:pt x="14824" y="8000"/>
                    <a:pt x="15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80" name="Scope item"/>
            <p:cNvSpPr txBox="1"/>
            <p:nvPr/>
          </p:nvSpPr>
          <p:spPr>
            <a:xfrm>
              <a:off x="5961888" y="2847238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Access to IUT &amp; FUT machine report files (PDF test report + JPEG indication image)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81" name="Rule"/>
            <p:cNvCxnSpPr/>
            <p:nvPr/>
          </p:nvCxnSpPr>
          <p:spPr>
            <a:xfrm>
              <a:off x="5961888" y="3132303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2" name="Icon tile"/>
            <p:cNvSpPr/>
            <p:nvPr/>
          </p:nvSpPr>
          <p:spPr>
            <a:xfrm>
              <a:off x="5650992" y="3181858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83" name="Icon folder-up"/>
            <p:cNvSpPr/>
            <p:nvPr/>
          </p:nvSpPr>
          <p:spPr>
            <a:xfrm>
              <a:off x="5692140" y="322300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20000"/>
                  </a:moveTo>
                  <a:cubicBezTo>
                    <a:pt x="20351" y="20000"/>
                    <a:pt x="20695" y="19907"/>
                    <a:pt x="21000" y="19732"/>
                  </a:cubicBezTo>
                  <a:cubicBezTo>
                    <a:pt x="21304" y="19556"/>
                    <a:pt x="21556" y="19304"/>
                    <a:pt x="21732" y="19000"/>
                  </a:cubicBezTo>
                  <a:cubicBezTo>
                    <a:pt x="21907" y="18695"/>
                    <a:pt x="22000" y="18351"/>
                    <a:pt x="22000" y="18000"/>
                  </a:cubicBezTo>
                  <a:lnTo>
                    <a:pt x="22000" y="8000"/>
                  </a:lnTo>
                  <a:cubicBezTo>
                    <a:pt x="22000" y="7648"/>
                    <a:pt x="21907" y="7304"/>
                    <a:pt x="21732" y="7000"/>
                  </a:cubicBezTo>
                  <a:cubicBezTo>
                    <a:pt x="21556" y="6695"/>
                    <a:pt x="21304" y="6443"/>
                    <a:pt x="21000" y="6267"/>
                  </a:cubicBezTo>
                  <a:cubicBezTo>
                    <a:pt x="20695" y="6092"/>
                    <a:pt x="20351" y="6000"/>
                    <a:pt x="20000" y="6000"/>
                  </a:cubicBezTo>
                  <a:lnTo>
                    <a:pt x="12100" y="6000"/>
                  </a:lnTo>
                  <a:cubicBezTo>
                    <a:pt x="11765" y="6003"/>
                    <a:pt x="11435" y="5922"/>
                    <a:pt x="11140" y="5765"/>
                  </a:cubicBezTo>
                  <a:cubicBezTo>
                    <a:pt x="10845" y="5608"/>
                    <a:pt x="10593" y="5379"/>
                    <a:pt x="10410" y="5100"/>
                  </a:cubicBezTo>
                  <a:lnTo>
                    <a:pt x="9600" y="3900"/>
                  </a:lnTo>
                  <a:cubicBezTo>
                    <a:pt x="9417" y="3623"/>
                    <a:pt x="9169" y="3396"/>
                    <a:pt x="8878" y="3239"/>
                  </a:cubicBezTo>
                  <a:cubicBezTo>
                    <a:pt x="8587" y="3082"/>
                    <a:pt x="8261" y="3000"/>
                    <a:pt x="793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8000"/>
                  </a:lnTo>
                  <a:cubicBezTo>
                    <a:pt x="2000" y="18351"/>
                    <a:pt x="2092" y="18695"/>
                    <a:pt x="2267" y="19000"/>
                  </a:cubicBezTo>
                  <a:cubicBezTo>
                    <a:pt x="2443" y="19304"/>
                    <a:pt x="2695" y="19556"/>
                    <a:pt x="2999" y="19732"/>
                  </a:cubicBezTo>
                  <a:cubicBezTo>
                    <a:pt x="3304" y="19907"/>
                    <a:pt x="3648" y="20000"/>
                    <a:pt x="4000" y="20000"/>
                  </a:cubicBezTo>
                  <a:close/>
                </a:path>
                <a:path w="24000" h="24000" fill="none">
                  <a:moveTo>
                    <a:pt x="12000" y="10000"/>
                  </a:moveTo>
                  <a:lnTo>
                    <a:pt x="12000" y="16000"/>
                  </a:lnTo>
                </a:path>
                <a:path w="24000" h="24000" fill="none">
                  <a:moveTo>
                    <a:pt x="9000" y="13000"/>
                  </a:moveTo>
                  <a:lnTo>
                    <a:pt x="12000" y="10000"/>
                  </a:lnTo>
                  <a:lnTo>
                    <a:pt x="15000" y="13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84" name="Scope item"/>
            <p:cNvSpPr txBox="1"/>
            <p:nvPr/>
          </p:nvSpPr>
          <p:spPr>
            <a:xfrm>
              <a:off x="5961888" y="3232709"/>
              <a:ext cx="2834640" cy="117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FTP target and credentials for file uploads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85" name="Rule"/>
            <p:cNvCxnSpPr/>
            <p:nvPr/>
          </p:nvCxnSpPr>
          <p:spPr>
            <a:xfrm>
              <a:off x="5961888" y="3450869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6" name="Icon tile"/>
            <p:cNvSpPr/>
            <p:nvPr/>
          </p:nvSpPr>
          <p:spPr>
            <a:xfrm>
              <a:off x="5650992" y="3508451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87" name="Icon network"/>
            <p:cNvSpPr/>
            <p:nvPr/>
          </p:nvSpPr>
          <p:spPr>
            <a:xfrm>
              <a:off x="5692140" y="3549599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6000"/>
                  </a:moveTo>
                  <a:lnTo>
                    <a:pt x="21000" y="16000"/>
                  </a:lnTo>
                  <a:cubicBezTo>
                    <a:pt x="21175" y="16000"/>
                    <a:pt x="21347" y="16046"/>
                    <a:pt x="21500" y="16133"/>
                  </a:cubicBezTo>
                  <a:cubicBezTo>
                    <a:pt x="21652" y="16221"/>
                    <a:pt x="21778" y="16347"/>
                    <a:pt x="21866" y="16500"/>
                  </a:cubicBezTo>
                  <a:cubicBezTo>
                    <a:pt x="21953" y="16652"/>
                    <a:pt x="22000" y="16824"/>
                    <a:pt x="22000" y="17000"/>
                  </a:cubicBezTo>
                  <a:lnTo>
                    <a:pt x="22000" y="21000"/>
                  </a:lnTo>
                  <a:cubicBezTo>
                    <a:pt x="22000" y="21175"/>
                    <a:pt x="21953" y="21347"/>
                    <a:pt x="21866" y="21500"/>
                  </a:cubicBezTo>
                  <a:cubicBezTo>
                    <a:pt x="21778" y="21652"/>
                    <a:pt x="21652" y="21778"/>
                    <a:pt x="21500" y="21866"/>
                  </a:cubicBezTo>
                  <a:cubicBezTo>
                    <a:pt x="21347" y="21953"/>
                    <a:pt x="21175" y="22000"/>
                    <a:pt x="21000" y="22000"/>
                  </a:cubicBezTo>
                  <a:lnTo>
                    <a:pt x="17000" y="22000"/>
                  </a:lnTo>
                  <a:cubicBezTo>
                    <a:pt x="16824" y="22000"/>
                    <a:pt x="16652" y="21953"/>
                    <a:pt x="16500" y="21866"/>
                  </a:cubicBezTo>
                  <a:cubicBezTo>
                    <a:pt x="16347" y="21778"/>
                    <a:pt x="16221" y="21652"/>
                    <a:pt x="16133" y="21500"/>
                  </a:cubicBezTo>
                  <a:cubicBezTo>
                    <a:pt x="16046" y="21347"/>
                    <a:pt x="16000" y="21175"/>
                    <a:pt x="16000" y="21000"/>
                  </a:cubicBezTo>
                  <a:lnTo>
                    <a:pt x="16000" y="17000"/>
                  </a:lnTo>
                  <a:cubicBezTo>
                    <a:pt x="16000" y="16824"/>
                    <a:pt x="16046" y="16652"/>
                    <a:pt x="16133" y="16500"/>
                  </a:cubicBezTo>
                  <a:cubicBezTo>
                    <a:pt x="16221" y="16347"/>
                    <a:pt x="16347" y="16221"/>
                    <a:pt x="16500" y="16133"/>
                  </a:cubicBezTo>
                  <a:cubicBezTo>
                    <a:pt x="16652" y="16046"/>
                    <a:pt x="16824" y="16000"/>
                    <a:pt x="17000" y="16000"/>
                  </a:cubicBezTo>
                  <a:close/>
                </a:path>
                <a:path w="24000" h="24000" fill="none">
                  <a:moveTo>
                    <a:pt x="3000" y="16000"/>
                  </a:moveTo>
                  <a:lnTo>
                    <a:pt x="7000" y="16000"/>
                  </a:lnTo>
                  <a:cubicBezTo>
                    <a:pt x="7175" y="16000"/>
                    <a:pt x="7347" y="16046"/>
                    <a:pt x="7500" y="16133"/>
                  </a:cubicBezTo>
                  <a:cubicBezTo>
                    <a:pt x="7652" y="16221"/>
                    <a:pt x="7778" y="16347"/>
                    <a:pt x="7866" y="16500"/>
                  </a:cubicBezTo>
                  <a:cubicBezTo>
                    <a:pt x="7953" y="16652"/>
                    <a:pt x="8000" y="16824"/>
                    <a:pt x="8000" y="17000"/>
                  </a:cubicBezTo>
                  <a:lnTo>
                    <a:pt x="8000" y="21000"/>
                  </a:lnTo>
                  <a:cubicBezTo>
                    <a:pt x="8000" y="21175"/>
                    <a:pt x="7953" y="21347"/>
                    <a:pt x="7866" y="21500"/>
                  </a:cubicBezTo>
                  <a:cubicBezTo>
                    <a:pt x="7778" y="21652"/>
                    <a:pt x="7652" y="21778"/>
                    <a:pt x="7500" y="21866"/>
                  </a:cubicBezTo>
                  <a:cubicBezTo>
                    <a:pt x="7347" y="21953"/>
                    <a:pt x="7175" y="22000"/>
                    <a:pt x="7000" y="22000"/>
                  </a:cubicBezTo>
                  <a:lnTo>
                    <a:pt x="3000" y="22000"/>
                  </a:lnTo>
                  <a:cubicBezTo>
                    <a:pt x="2824" y="22000"/>
                    <a:pt x="2652" y="21953"/>
                    <a:pt x="2500" y="21866"/>
                  </a:cubicBezTo>
                  <a:cubicBezTo>
                    <a:pt x="2347" y="21778"/>
                    <a:pt x="2221" y="21652"/>
                    <a:pt x="2133" y="21500"/>
                  </a:cubicBezTo>
                  <a:cubicBezTo>
                    <a:pt x="2046" y="21347"/>
                    <a:pt x="2000" y="21175"/>
                    <a:pt x="2000" y="21000"/>
                  </a:cubicBezTo>
                  <a:lnTo>
                    <a:pt x="2000" y="17000"/>
                  </a:lnTo>
                  <a:cubicBezTo>
                    <a:pt x="2000" y="16824"/>
                    <a:pt x="2046" y="16652"/>
                    <a:pt x="2133" y="16500"/>
                  </a:cubicBezTo>
                  <a:cubicBezTo>
                    <a:pt x="2221" y="16347"/>
                    <a:pt x="2347" y="16221"/>
                    <a:pt x="2499" y="16133"/>
                  </a:cubicBezTo>
                  <a:cubicBezTo>
                    <a:pt x="2652" y="16046"/>
                    <a:pt x="2824" y="16000"/>
                    <a:pt x="3000" y="16000"/>
                  </a:cubicBezTo>
                  <a:close/>
                </a:path>
                <a:path w="24000" h="24000" fill="none">
                  <a:moveTo>
                    <a:pt x="10000" y="2000"/>
                  </a:moveTo>
                  <a:lnTo>
                    <a:pt x="14000" y="2000"/>
                  </a:lnTo>
                  <a:cubicBezTo>
                    <a:pt x="14175" y="2000"/>
                    <a:pt x="14347" y="2046"/>
                    <a:pt x="14500" y="2133"/>
                  </a:cubicBezTo>
                  <a:cubicBezTo>
                    <a:pt x="14652" y="2221"/>
                    <a:pt x="14778" y="2347"/>
                    <a:pt x="14866" y="2500"/>
                  </a:cubicBezTo>
                  <a:cubicBezTo>
                    <a:pt x="14953" y="2652"/>
                    <a:pt x="15000" y="2824"/>
                    <a:pt x="15000" y="3000"/>
                  </a:cubicBezTo>
                  <a:lnTo>
                    <a:pt x="15000" y="7000"/>
                  </a:lnTo>
                  <a:cubicBezTo>
                    <a:pt x="15000" y="7175"/>
                    <a:pt x="14953" y="7347"/>
                    <a:pt x="14866" y="7500"/>
                  </a:cubicBezTo>
                  <a:cubicBezTo>
                    <a:pt x="14778" y="7652"/>
                    <a:pt x="14652" y="7778"/>
                    <a:pt x="14500" y="7866"/>
                  </a:cubicBezTo>
                  <a:cubicBezTo>
                    <a:pt x="14347" y="7953"/>
                    <a:pt x="14175" y="8000"/>
                    <a:pt x="14000" y="8000"/>
                  </a:cubicBezTo>
                  <a:lnTo>
                    <a:pt x="10000" y="8000"/>
                  </a:lnTo>
                  <a:cubicBezTo>
                    <a:pt x="9824" y="8000"/>
                    <a:pt x="9652" y="7953"/>
                    <a:pt x="9500" y="7866"/>
                  </a:cubicBezTo>
                  <a:cubicBezTo>
                    <a:pt x="9347" y="7778"/>
                    <a:pt x="9221" y="7652"/>
                    <a:pt x="9133" y="7500"/>
                  </a:cubicBezTo>
                  <a:cubicBezTo>
                    <a:pt x="9046" y="7347"/>
                    <a:pt x="9000" y="7175"/>
                    <a:pt x="9000" y="7000"/>
                  </a:cubicBezTo>
                  <a:lnTo>
                    <a:pt x="9000" y="3000"/>
                  </a:lnTo>
                  <a:cubicBezTo>
                    <a:pt x="9000" y="2824"/>
                    <a:pt x="9046" y="2652"/>
                    <a:pt x="9133" y="2500"/>
                  </a:cubicBezTo>
                  <a:cubicBezTo>
                    <a:pt x="9221" y="2347"/>
                    <a:pt x="9347" y="2221"/>
                    <a:pt x="9500" y="2133"/>
                  </a:cubicBezTo>
                  <a:cubicBezTo>
                    <a:pt x="9652" y="2046"/>
                    <a:pt x="9824" y="2000"/>
                    <a:pt x="10000" y="2000"/>
                  </a:cubicBezTo>
                  <a:close/>
                </a:path>
                <a:path w="24000" h="24000" fill="none">
                  <a:moveTo>
                    <a:pt x="5000" y="16000"/>
                  </a:moveTo>
                  <a:lnTo>
                    <a:pt x="5000" y="13000"/>
                  </a:lnTo>
                  <a:cubicBezTo>
                    <a:pt x="5000" y="12824"/>
                    <a:pt x="5046" y="12652"/>
                    <a:pt x="5133" y="12500"/>
                  </a:cubicBezTo>
                  <a:cubicBezTo>
                    <a:pt x="5221" y="12347"/>
                    <a:pt x="5347" y="12221"/>
                    <a:pt x="5500" y="12133"/>
                  </a:cubicBezTo>
                  <a:cubicBezTo>
                    <a:pt x="5652" y="12046"/>
                    <a:pt x="5824" y="12000"/>
                    <a:pt x="6000" y="12000"/>
                  </a:cubicBezTo>
                  <a:lnTo>
                    <a:pt x="18000" y="12000"/>
                  </a:lnTo>
                  <a:cubicBezTo>
                    <a:pt x="18175" y="12000"/>
                    <a:pt x="18347" y="12046"/>
                    <a:pt x="18500" y="12133"/>
                  </a:cubicBezTo>
                  <a:cubicBezTo>
                    <a:pt x="18652" y="12221"/>
                    <a:pt x="18778" y="12347"/>
                    <a:pt x="18866" y="12500"/>
                  </a:cubicBezTo>
                  <a:cubicBezTo>
                    <a:pt x="18953" y="12652"/>
                    <a:pt x="19000" y="12824"/>
                    <a:pt x="19000" y="13000"/>
                  </a:cubicBezTo>
                  <a:lnTo>
                    <a:pt x="19000" y="16000"/>
                  </a:lnTo>
                </a:path>
                <a:path w="24000" h="24000" fill="none">
                  <a:moveTo>
                    <a:pt x="12000" y="12000"/>
                  </a:moveTo>
                  <a:lnTo>
                    <a:pt x="12000" y="8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88" name="Scope item"/>
            <p:cNvSpPr txBox="1"/>
            <p:nvPr/>
          </p:nvSpPr>
          <p:spPr>
            <a:xfrm>
              <a:off x="5961888" y="3500425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Network connectivity between stations, central server, SAP and FTP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89" name="Rule"/>
            <p:cNvCxnSpPr/>
            <p:nvPr/>
          </p:nvCxnSpPr>
          <p:spPr>
            <a:xfrm>
              <a:off x="5961888" y="3785489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90" name="Icon tile"/>
            <p:cNvSpPr/>
            <p:nvPr/>
          </p:nvSpPr>
          <p:spPr>
            <a:xfrm>
              <a:off x="5650992" y="3835044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91" name="Icon clipboard-check"/>
            <p:cNvSpPr/>
            <p:nvPr/>
          </p:nvSpPr>
          <p:spPr>
            <a:xfrm>
              <a:off x="5692140" y="387619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2000"/>
                  </a:moveTo>
                  <a:lnTo>
                    <a:pt x="15000" y="2000"/>
                  </a:lnTo>
                  <a:cubicBezTo>
                    <a:pt x="15175" y="2000"/>
                    <a:pt x="15347" y="2046"/>
                    <a:pt x="15500" y="2133"/>
                  </a:cubicBezTo>
                  <a:cubicBezTo>
                    <a:pt x="15652" y="2221"/>
                    <a:pt x="15778" y="2347"/>
                    <a:pt x="15866" y="2500"/>
                  </a:cubicBezTo>
                  <a:cubicBezTo>
                    <a:pt x="15953" y="2652"/>
                    <a:pt x="16000" y="2824"/>
                    <a:pt x="16000" y="3000"/>
                  </a:cubicBezTo>
                  <a:lnTo>
                    <a:pt x="16000" y="5000"/>
                  </a:lnTo>
                  <a:cubicBezTo>
                    <a:pt x="16000" y="5175"/>
                    <a:pt x="15953" y="5347"/>
                    <a:pt x="15866" y="5500"/>
                  </a:cubicBezTo>
                  <a:cubicBezTo>
                    <a:pt x="15778" y="5652"/>
                    <a:pt x="15652" y="5778"/>
                    <a:pt x="15500" y="5866"/>
                  </a:cubicBezTo>
                  <a:cubicBezTo>
                    <a:pt x="15347" y="5953"/>
                    <a:pt x="15175" y="6000"/>
                    <a:pt x="15000" y="6000"/>
                  </a:cubicBezTo>
                  <a:lnTo>
                    <a:pt x="9000" y="6000"/>
                  </a:lnTo>
                  <a:cubicBezTo>
                    <a:pt x="8824" y="6000"/>
                    <a:pt x="8652" y="5953"/>
                    <a:pt x="8500" y="5866"/>
                  </a:cubicBezTo>
                  <a:cubicBezTo>
                    <a:pt x="8347" y="5778"/>
                    <a:pt x="8221" y="5652"/>
                    <a:pt x="8133" y="5500"/>
                  </a:cubicBezTo>
                  <a:cubicBezTo>
                    <a:pt x="8046" y="5347"/>
                    <a:pt x="8000" y="5175"/>
                    <a:pt x="8000" y="5000"/>
                  </a:cubicBezTo>
                  <a:lnTo>
                    <a:pt x="8000" y="3000"/>
                  </a:lnTo>
                  <a:cubicBezTo>
                    <a:pt x="8000" y="2824"/>
                    <a:pt x="8046" y="2652"/>
                    <a:pt x="8133" y="2500"/>
                  </a:cubicBezTo>
                  <a:cubicBezTo>
                    <a:pt x="8221" y="2347"/>
                    <a:pt x="8347" y="2221"/>
                    <a:pt x="8500" y="2133"/>
                  </a:cubicBezTo>
                  <a:cubicBezTo>
                    <a:pt x="8652" y="2046"/>
                    <a:pt x="8824" y="2000"/>
                    <a:pt x="9000" y="2000"/>
                  </a:cubicBezTo>
                  <a:close/>
                </a:path>
                <a:path w="24000" h="24000" fill="none">
                  <a:moveTo>
                    <a:pt x="16000" y="4000"/>
                  </a:moveTo>
                  <a:lnTo>
                    <a:pt x="18000" y="4000"/>
                  </a:lnTo>
                  <a:cubicBezTo>
                    <a:pt x="18351" y="4000"/>
                    <a:pt x="18695" y="4092"/>
                    <a:pt x="19000" y="4267"/>
                  </a:cubicBezTo>
                  <a:cubicBezTo>
                    <a:pt x="19304" y="4443"/>
                    <a:pt x="19556" y="4695"/>
                    <a:pt x="19732" y="5000"/>
                  </a:cubicBezTo>
                  <a:cubicBezTo>
                    <a:pt x="19907" y="5304"/>
                    <a:pt x="20000" y="5648"/>
                    <a:pt x="20000" y="6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lnTo>
                    <a:pt x="6000" y="22000"/>
                  </a:ln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6000"/>
                  </a:lnTo>
                  <a:cubicBezTo>
                    <a:pt x="4000" y="5648"/>
                    <a:pt x="4092" y="5304"/>
                    <a:pt x="4267" y="5000"/>
                  </a:cubicBezTo>
                  <a:cubicBezTo>
                    <a:pt x="4443" y="4695"/>
                    <a:pt x="4695" y="4443"/>
                    <a:pt x="4999" y="4267"/>
                  </a:cubicBezTo>
                  <a:cubicBezTo>
                    <a:pt x="5304" y="4092"/>
                    <a:pt x="5648" y="4000"/>
                    <a:pt x="6000" y="4000"/>
                  </a:cubicBezTo>
                  <a:lnTo>
                    <a:pt x="8000" y="4000"/>
                  </a:lnTo>
                </a:path>
                <a:path w="24000" h="24000" fill="none">
                  <a:moveTo>
                    <a:pt x="9000" y="14000"/>
                  </a:moveTo>
                  <a:lnTo>
                    <a:pt x="11000" y="16000"/>
                  </a:lnTo>
                  <a:lnTo>
                    <a:pt x="15000" y="12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92" name="Scope item"/>
            <p:cNvSpPr txBox="1"/>
            <p:nvPr/>
          </p:nvSpPr>
          <p:spPr>
            <a:xfrm>
              <a:off x="5961888" y="3885895"/>
              <a:ext cx="2834640" cy="117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Operator and SAP team availability for UAT and training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93" name="Rule"/>
            <p:cNvCxnSpPr/>
            <p:nvPr/>
          </p:nvCxnSpPr>
          <p:spPr>
            <a:xfrm>
              <a:off x="5961888" y="4104056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94" name="Icon tile"/>
            <p:cNvSpPr/>
            <p:nvPr/>
          </p:nvSpPr>
          <p:spPr>
            <a:xfrm>
              <a:off x="5650992" y="4161638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95" name="Icon plane"/>
            <p:cNvSpPr/>
            <p:nvPr/>
          </p:nvSpPr>
          <p:spPr>
            <a:xfrm>
              <a:off x="5692140" y="420278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800" y="19200"/>
                  </a:moveTo>
                  <a:lnTo>
                    <a:pt x="16000" y="11000"/>
                  </a:lnTo>
                  <a:lnTo>
                    <a:pt x="19500" y="7500"/>
                  </a:lnTo>
                  <a:cubicBezTo>
                    <a:pt x="21000" y="6000"/>
                    <a:pt x="21500" y="4000"/>
                    <a:pt x="21000" y="3000"/>
                  </a:cubicBezTo>
                  <a:cubicBezTo>
                    <a:pt x="20000" y="2500"/>
                    <a:pt x="18000" y="3000"/>
                    <a:pt x="16500" y="4500"/>
                  </a:cubicBezTo>
                  <a:lnTo>
                    <a:pt x="13000" y="8000"/>
                  </a:lnTo>
                  <a:lnTo>
                    <a:pt x="4800" y="6200"/>
                  </a:lnTo>
                  <a:cubicBezTo>
                    <a:pt x="4300" y="6100"/>
                    <a:pt x="3900" y="6300"/>
                    <a:pt x="3699" y="6700"/>
                  </a:cubicBezTo>
                  <a:lnTo>
                    <a:pt x="3400" y="7200"/>
                  </a:lnTo>
                  <a:cubicBezTo>
                    <a:pt x="3199" y="7700"/>
                    <a:pt x="3300" y="8200"/>
                    <a:pt x="3699" y="8500"/>
                  </a:cubicBezTo>
                  <a:lnTo>
                    <a:pt x="9000" y="12000"/>
                  </a:lnTo>
                  <a:lnTo>
                    <a:pt x="7000" y="15000"/>
                  </a:lnTo>
                  <a:lnTo>
                    <a:pt x="4000" y="15000"/>
                  </a:lnTo>
                  <a:lnTo>
                    <a:pt x="3000" y="16000"/>
                  </a:lnTo>
                  <a:lnTo>
                    <a:pt x="6000" y="18000"/>
                  </a:lnTo>
                  <a:lnTo>
                    <a:pt x="8000" y="21000"/>
                  </a:lnTo>
                  <a:lnTo>
                    <a:pt x="9000" y="20000"/>
                  </a:lnTo>
                  <a:lnTo>
                    <a:pt x="9000" y="17000"/>
                  </a:lnTo>
                  <a:lnTo>
                    <a:pt x="12000" y="15000"/>
                  </a:lnTo>
                  <a:lnTo>
                    <a:pt x="15500" y="20300"/>
                  </a:lnTo>
                  <a:cubicBezTo>
                    <a:pt x="15800" y="20700"/>
                    <a:pt x="16300" y="20800"/>
                    <a:pt x="16800" y="20600"/>
                  </a:cubicBezTo>
                  <a:lnTo>
                    <a:pt x="17300" y="20400"/>
                  </a:lnTo>
                  <a:cubicBezTo>
                    <a:pt x="17700" y="20100"/>
                    <a:pt x="17900" y="19700"/>
                    <a:pt x="17800" y="19200"/>
                  </a:cubicBezTo>
                  <a:close/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96" name="Scope item"/>
            <p:cNvSpPr txBox="1"/>
            <p:nvPr/>
          </p:nvSpPr>
          <p:spPr>
            <a:xfrm>
              <a:off x="5961888" y="4153611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Travel and accommodation for Faclon engineers during site visits</a:t>
              </a:r>
              <a:endParaRPr lang="en-US" sz="760" dirty="0">
                <a:latin typeface="Inter"/>
              </a:endParaRPr>
            </a:p>
          </p:txBody>
        </p:sp>
      </p:grpSp>
      <p:grpSp>
        <p:nvGrpSpPr>
          <p:cNvPr id="97" name="To be agreed"/>
          <p:cNvGrpSpPr/>
          <p:nvPr/>
        </p:nvGrpSpPr>
        <p:grpSpPr>
          <a:xfrm>
            <a:off x="274320" y="4553712"/>
            <a:ext cx="8595360" cy="237744"/>
            <a:chOff x="274320" y="4553712"/>
            <a:chExt cx="8595360" cy="237744"/>
          </a:xfrm>
        </p:grpSpPr>
        <p:sp>
          <p:nvSpPr>
            <p:cNvPr id="98" name="Strip"/>
            <p:cNvSpPr/>
            <p:nvPr/>
          </p:nvSpPr>
          <p:spPr>
            <a:xfrm>
              <a:off x="274320" y="4553712"/>
              <a:ext cx="8595360" cy="237744"/>
            </a:xfrm>
            <a:prstGeom prst="roundRect">
              <a:avLst>
                <a:gd name="adj" fmla="val 15384"/>
              </a:avLst>
            </a:prstGeom>
            <a:solidFill>
              <a:srgbClr val="E9690C">
                <a:alpha val="7000"/>
              </a:srgbClr>
            </a:solidFill>
            <a:ln>
              <a:noFill/>
            </a:ln>
          </p:spPr>
        </p:sp>
        <p:grpSp>
          <p:nvGrpSpPr>
            <p:cNvPr id="99" name="Chip Responsibility to be agreed"/>
            <p:cNvGrpSpPr/>
            <p:nvPr/>
          </p:nvGrpSpPr>
          <p:grpSpPr>
            <a:xfrm>
              <a:off x="347472" y="4599432"/>
              <a:ext cx="1272678" cy="146304"/>
              <a:chOff x="347472" y="4599432"/>
              <a:chExt cx="1272678" cy="146304"/>
            </a:xfrm>
          </p:grpSpPr>
          <p:sp>
            <p:nvSpPr>
              <p:cNvPr id="100" name="Chip fill"/>
              <p:cNvSpPr/>
              <p:nvPr/>
            </p:nvSpPr>
            <p:spPr>
              <a:xfrm>
                <a:off x="347472" y="4599432"/>
                <a:ext cx="1272678" cy="146304"/>
              </a:xfrm>
              <a:prstGeom prst="roundRect">
                <a:avLst>
                  <a:gd name="adj" fmla="val 18750"/>
                </a:avLst>
              </a:prstGeom>
              <a:solidFill>
                <a:srgbClr val="E9690C"/>
              </a:solidFill>
              <a:ln>
                <a:noFill/>
              </a:ln>
            </p:spPr>
          </p:sp>
          <p:sp>
            <p:nvSpPr>
              <p:cNvPr id="101" name="Icon circle-help"/>
              <p:cNvSpPr/>
              <p:nvPr/>
            </p:nvSpPr>
            <p:spPr>
              <a:xfrm>
                <a:off x="402336" y="4623372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9090" y="9000"/>
                    </a:moveTo>
                    <a:cubicBezTo>
                      <a:pt x="9245" y="8557"/>
                      <a:pt x="9503" y="8156"/>
                      <a:pt x="9842" y="7831"/>
                    </a:cubicBezTo>
                    <a:cubicBezTo>
                      <a:pt x="10180" y="7506"/>
                      <a:pt x="10591" y="7265"/>
                      <a:pt x="11040" y="7127"/>
                    </a:cubicBezTo>
                    <a:cubicBezTo>
                      <a:pt x="11489" y="6989"/>
                      <a:pt x="11964" y="6959"/>
                      <a:pt x="12427" y="7038"/>
                    </a:cubicBezTo>
                    <a:cubicBezTo>
                      <a:pt x="12890" y="7118"/>
                      <a:pt x="13327" y="7305"/>
                      <a:pt x="13705" y="7584"/>
                    </a:cubicBezTo>
                    <a:cubicBezTo>
                      <a:pt x="14082" y="7863"/>
                      <a:pt x="14389" y="8228"/>
                      <a:pt x="14600" y="8647"/>
                    </a:cubicBezTo>
                    <a:cubicBezTo>
                      <a:pt x="14811" y="9067"/>
                      <a:pt x="14920" y="9530"/>
                      <a:pt x="14920" y="10000"/>
                    </a:cubicBezTo>
                    <a:cubicBezTo>
                      <a:pt x="14920" y="12000"/>
                      <a:pt x="11920" y="13000"/>
                      <a:pt x="11920" y="13000"/>
                    </a:cubicBez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102" name="Chip label"/>
              <p:cNvSpPr txBox="1"/>
              <p:nvPr/>
            </p:nvSpPr>
            <p:spPr>
              <a:xfrm>
                <a:off x="532765" y="4599432"/>
                <a:ext cx="1050809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Responsibility to be agreed</a:t>
                </a:r>
                <a:endParaRPr lang="en-US" sz="620" dirty="0">
                  <a:latin typeface="Inter SemiBold"/>
                </a:endParaRPr>
              </a:p>
            </p:txBody>
          </p:sp>
        </p:grpSp>
        <p:sp>
          <p:nvSpPr>
            <p:cNvPr id="103" name="Items"/>
            <p:cNvSpPr txBox="1"/>
            <p:nvPr/>
          </p:nvSpPr>
          <p:spPr>
            <a:xfrm>
              <a:off x="1711590" y="4553712"/>
              <a:ext cx="7094082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70"/>
                </a:lnSpc>
                <a:spcBef>
                  <a:spcPts val="0"/>
                </a:spcBef>
                <a:buNone/>
              </a:pPr>
              <a:r>
                <a:rPr lang="en-US" sz="67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Operator terminals at the IUT &amp; FUT stations</a:t>
              </a:r>
              <a:endParaRPr lang="en-US" sz="670" dirty="0">
                <a:latin typeface="Inter"/>
              </a:endParaRP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05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06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02  ·  HYDROTESTER STATION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Scope of Work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What Faclon Labs delivers and what Welspun provides for the Hydrotester project.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Faclon Labs scope header"/>
          <p:cNvGrpSpPr/>
          <p:nvPr/>
        </p:nvGrpSpPr>
        <p:grpSpPr>
          <a:xfrm>
            <a:off x="274320" y="1033272"/>
            <a:ext cx="5138928" cy="310896"/>
            <a:chOff x="274320" y="1033272"/>
            <a:chExt cx="5138928" cy="310896"/>
          </a:xfrm>
        </p:grpSpPr>
        <p:sp>
          <p:nvSpPr>
            <p:cNvPr id="22" name="Column header"/>
            <p:cNvSpPr/>
            <p:nvPr/>
          </p:nvSpPr>
          <p:spPr>
            <a:xfrm>
              <a:off x="274320" y="1033272"/>
              <a:ext cx="5138928" cy="310896"/>
            </a:xfrm>
            <a:prstGeom prst="roundRect">
              <a:avLst>
                <a:gd name="adj" fmla="val 14705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23" name="Icon package-check"/>
            <p:cNvSpPr/>
            <p:nvPr/>
          </p:nvSpPr>
          <p:spPr>
            <a:xfrm>
              <a:off x="384048" y="111099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18000" y="19000"/>
                  </a:lnTo>
                  <a:lnTo>
                    <a:pt x="22000" y="15000"/>
                  </a:lnTo>
                </a:path>
                <a:path w="24000" h="24000" fill="none">
                  <a:moveTo>
                    <a:pt x="21000" y="11127"/>
                  </a:moveTo>
                  <a:lnTo>
                    <a:pt x="21000" y="8000"/>
                  </a:lnTo>
                  <a:cubicBezTo>
                    <a:pt x="20999" y="7649"/>
                    <a:pt x="20907" y="7304"/>
                    <a:pt x="20731" y="7001"/>
                  </a:cubicBezTo>
                  <a:cubicBezTo>
                    <a:pt x="20556" y="6697"/>
                    <a:pt x="20303" y="6445"/>
                    <a:pt x="20000" y="6270"/>
                  </a:cubicBezTo>
                  <a:lnTo>
                    <a:pt x="13000" y="2269"/>
                  </a:lnTo>
                  <a:cubicBezTo>
                    <a:pt x="12695" y="2094"/>
                    <a:pt x="12351" y="2002"/>
                    <a:pt x="12000" y="2002"/>
                  </a:cubicBezTo>
                  <a:cubicBezTo>
                    <a:pt x="11648" y="2002"/>
                    <a:pt x="11304" y="2094"/>
                    <a:pt x="11000" y="2269"/>
                  </a:cubicBezTo>
                  <a:lnTo>
                    <a:pt x="4000" y="6270"/>
                  </a:lnTo>
                  <a:cubicBezTo>
                    <a:pt x="3696" y="6445"/>
                    <a:pt x="3443" y="6697"/>
                    <a:pt x="3268" y="7001"/>
                  </a:cubicBezTo>
                  <a:cubicBezTo>
                    <a:pt x="3092" y="7304"/>
                    <a:pt x="3000" y="7649"/>
                    <a:pt x="3000" y="8000"/>
                  </a:cubicBezTo>
                  <a:lnTo>
                    <a:pt x="3000" y="16000"/>
                  </a:lnTo>
                  <a:cubicBezTo>
                    <a:pt x="3000" y="16350"/>
                    <a:pt x="3093" y="16694"/>
                    <a:pt x="3268" y="16998"/>
                  </a:cubicBezTo>
                  <a:cubicBezTo>
                    <a:pt x="3444" y="17301"/>
                    <a:pt x="3696" y="17553"/>
                    <a:pt x="4000" y="17729"/>
                  </a:cubicBezTo>
                  <a:lnTo>
                    <a:pt x="11000" y="21729"/>
                  </a:lnTo>
                  <a:cubicBezTo>
                    <a:pt x="11201" y="21845"/>
                    <a:pt x="11422" y="21926"/>
                    <a:pt x="11652" y="21966"/>
                  </a:cubicBezTo>
                  <a:cubicBezTo>
                    <a:pt x="11882" y="22007"/>
                    <a:pt x="12117" y="22007"/>
                    <a:pt x="12347" y="21967"/>
                  </a:cubicBezTo>
                  <a:cubicBezTo>
                    <a:pt x="12576" y="21926"/>
                    <a:pt x="12797" y="21846"/>
                    <a:pt x="13000" y="21730"/>
                  </a:cubicBezTo>
                  <a:lnTo>
                    <a:pt x="14320" y="20977"/>
                  </a:lnTo>
                </a:path>
                <a:path w="24000" h="24000" fill="none">
                  <a:moveTo>
                    <a:pt x="3290" y="7000"/>
                  </a:moveTo>
                  <a:lnTo>
                    <a:pt x="12000" y="12000"/>
                  </a:lnTo>
                  <a:lnTo>
                    <a:pt x="20710" y="7000"/>
                  </a:lnTo>
                </a:path>
                <a:path w="24000" h="24000" fill="none">
                  <a:moveTo>
                    <a:pt x="7500" y="4270"/>
                  </a:moveTo>
                  <a:lnTo>
                    <a:pt x="16497" y="9418"/>
                  </a:ln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24" name="Column title"/>
            <p:cNvSpPr txBox="1"/>
            <p:nvPr/>
          </p:nvSpPr>
          <p:spPr>
            <a:xfrm>
              <a:off x="621792" y="1033272"/>
              <a:ext cx="4681728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Faclon Labs scope</a:t>
              </a:r>
              <a:r>
                <a:rPr lang="en-US" sz="680" b="0" i="0" spc="0" dirty="0">
                  <a:solidFill>
                    <a:srgbClr val="CBD5E2"/>
                  </a:solidFill>
                  <a:latin typeface="Inter"/>
                  <a:ea typeface="Inter"/>
                  <a:cs typeface="Inter"/>
                  <a:sym typeface="Inter"/>
                </a:rPr>
                <a:t>   design, build, integrate, deploy and support</a:t>
              </a:r>
              <a:endParaRPr lang="en-US" sz="680" dirty="0">
                <a:latin typeface="Inter"/>
              </a:endParaRPr>
            </a:p>
          </p:txBody>
        </p:sp>
      </p:grpSp>
      <p:grpSp>
        <p:nvGrpSpPr>
          <p:cNvPr id="25" name="Faclon · Hardware and Graph Application on the IPC  ·  design and development"/>
          <p:cNvGrpSpPr/>
          <p:nvPr/>
        </p:nvGrpSpPr>
        <p:grpSpPr>
          <a:xfrm>
            <a:off x="274320" y="1417320"/>
            <a:ext cx="5138928" cy="1067359"/>
            <a:chOff x="274320" y="1417320"/>
            <a:chExt cx="5138928" cy="1067359"/>
          </a:xfrm>
        </p:grpSpPr>
        <p:sp>
          <p:nvSpPr>
            <p:cNvPr id="26" name="Card"/>
            <p:cNvSpPr/>
            <p:nvPr/>
          </p:nvSpPr>
          <p:spPr>
            <a:xfrm>
              <a:off x="274320" y="1417320"/>
              <a:ext cx="5138928" cy="1067359"/>
            </a:xfrm>
            <a:prstGeom prst="roundRect">
              <a:avLst>
                <a:gd name="adj" fmla="val 428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27" name="Icon tile"/>
            <p:cNvSpPr/>
            <p:nvPr/>
          </p:nvSpPr>
          <p:spPr>
            <a:xfrm>
              <a:off x="365760" y="1499616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0C1927">
                <a:alpha val="8000"/>
              </a:srgbClr>
            </a:solidFill>
            <a:ln>
              <a:noFill/>
            </a:ln>
          </p:spPr>
        </p:sp>
        <p:sp>
          <p:nvSpPr>
            <p:cNvPr id="28" name="Icon cpu"/>
            <p:cNvSpPr/>
            <p:nvPr/>
          </p:nvSpPr>
          <p:spPr>
            <a:xfrm>
              <a:off x="429768" y="1563624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0000"/>
                  </a:moveTo>
                  <a:lnTo>
                    <a:pt x="12000" y="22000"/>
                  </a:lnTo>
                </a:path>
                <a:path w="24000" h="24000" fill="none">
                  <a:moveTo>
                    <a:pt x="12000" y="2000"/>
                  </a:moveTo>
                  <a:lnTo>
                    <a:pt x="12000" y="4000"/>
                  </a:lnTo>
                </a:path>
                <a:path w="24000" h="24000" fill="none">
                  <a:moveTo>
                    <a:pt x="17000" y="20000"/>
                  </a:moveTo>
                  <a:lnTo>
                    <a:pt x="17000" y="22000"/>
                  </a:lnTo>
                </a:path>
                <a:path w="24000" h="24000" fill="none">
                  <a:moveTo>
                    <a:pt x="17000" y="2000"/>
                  </a:moveTo>
                  <a:lnTo>
                    <a:pt x="17000" y="4000"/>
                  </a:lnTo>
                </a:path>
                <a:path w="24000" h="24000" fill="none">
                  <a:moveTo>
                    <a:pt x="2000" y="12000"/>
                  </a:moveTo>
                  <a:lnTo>
                    <a:pt x="4000" y="12000"/>
                  </a:lnTo>
                </a:path>
                <a:path w="24000" h="24000" fill="none">
                  <a:moveTo>
                    <a:pt x="2000" y="17000"/>
                  </a:moveTo>
                  <a:lnTo>
                    <a:pt x="4000" y="17000"/>
                  </a:lnTo>
                </a:path>
                <a:path w="24000" h="24000" fill="none">
                  <a:moveTo>
                    <a:pt x="2000" y="7000"/>
                  </a:moveTo>
                  <a:lnTo>
                    <a:pt x="4000" y="7000"/>
                  </a:lnTo>
                </a:path>
                <a:path w="24000" h="24000" fill="none">
                  <a:moveTo>
                    <a:pt x="20000" y="12000"/>
                  </a:moveTo>
                  <a:lnTo>
                    <a:pt x="22000" y="12000"/>
                  </a:lnTo>
                </a:path>
                <a:path w="24000" h="24000" fill="none">
                  <a:moveTo>
                    <a:pt x="20000" y="17000"/>
                  </a:moveTo>
                  <a:lnTo>
                    <a:pt x="22000" y="17000"/>
                  </a:lnTo>
                </a:path>
                <a:path w="24000" h="24000" fill="none">
                  <a:moveTo>
                    <a:pt x="20000" y="7000"/>
                  </a:moveTo>
                  <a:lnTo>
                    <a:pt x="22000" y="7000"/>
                  </a:lnTo>
                </a:path>
                <a:path w="24000" h="24000" fill="none">
                  <a:moveTo>
                    <a:pt x="7000" y="20000"/>
                  </a:move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4000"/>
                  </a:lnTo>
                </a:path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8351" y="4000"/>
                    <a:pt x="18695" y="4092"/>
                    <a:pt x="19000" y="4267"/>
                  </a:cubicBezTo>
                  <a:cubicBezTo>
                    <a:pt x="19304" y="4443"/>
                    <a:pt x="19556" y="4695"/>
                    <a:pt x="19732" y="5000"/>
                  </a:cubicBezTo>
                  <a:cubicBezTo>
                    <a:pt x="19907" y="5304"/>
                    <a:pt x="20000" y="5648"/>
                    <a:pt x="20000" y="6000"/>
                  </a:cubicBezTo>
                  <a:lnTo>
                    <a:pt x="20000" y="18000"/>
                  </a:lnTo>
                  <a:cubicBezTo>
                    <a:pt x="20000" y="18351"/>
                    <a:pt x="19907" y="18695"/>
                    <a:pt x="19732" y="19000"/>
                  </a:cubicBezTo>
                  <a:cubicBezTo>
                    <a:pt x="19556" y="19304"/>
                    <a:pt x="19304" y="19556"/>
                    <a:pt x="19000" y="19732"/>
                  </a:cubicBezTo>
                  <a:cubicBezTo>
                    <a:pt x="18695" y="19907"/>
                    <a:pt x="18351" y="20000"/>
                    <a:pt x="18000" y="20000"/>
                  </a:cubicBezTo>
                  <a:lnTo>
                    <a:pt x="6000" y="20000"/>
                  </a:lnTo>
                  <a:cubicBezTo>
                    <a:pt x="5648" y="20000"/>
                    <a:pt x="5304" y="19907"/>
                    <a:pt x="5000" y="19732"/>
                  </a:cubicBezTo>
                  <a:cubicBezTo>
                    <a:pt x="4695" y="19556"/>
                    <a:pt x="4443" y="19304"/>
                    <a:pt x="4267" y="19000"/>
                  </a:cubicBezTo>
                  <a:cubicBezTo>
                    <a:pt x="4092" y="18695"/>
                    <a:pt x="4000" y="18351"/>
                    <a:pt x="4000" y="18000"/>
                  </a:cubicBezTo>
                  <a:lnTo>
                    <a:pt x="4000" y="6000"/>
                  </a:lnTo>
                  <a:cubicBezTo>
                    <a:pt x="4000" y="5648"/>
                    <a:pt x="4092" y="5304"/>
                    <a:pt x="4267" y="5000"/>
                  </a:cubicBezTo>
                  <a:cubicBezTo>
                    <a:pt x="4443" y="4695"/>
                    <a:pt x="4695" y="4443"/>
                    <a:pt x="4999" y="4267"/>
                  </a:cubicBezTo>
                  <a:cubicBezTo>
                    <a:pt x="5304" y="4092"/>
                    <a:pt x="5648" y="4000"/>
                    <a:pt x="6000" y="4000"/>
                  </a:cubicBezTo>
                  <a:close/>
                </a:path>
                <a:path w="24000" h="24000" fill="none">
                  <a:moveTo>
                    <a:pt x="9000" y="8000"/>
                  </a:moveTo>
                  <a:lnTo>
                    <a:pt x="15000" y="8000"/>
                  </a:lnTo>
                  <a:cubicBezTo>
                    <a:pt x="15175" y="8000"/>
                    <a:pt x="15347" y="8046"/>
                    <a:pt x="15500" y="8133"/>
                  </a:cubicBezTo>
                  <a:cubicBezTo>
                    <a:pt x="15652" y="8221"/>
                    <a:pt x="15778" y="8347"/>
                    <a:pt x="15866" y="8500"/>
                  </a:cubicBezTo>
                  <a:cubicBezTo>
                    <a:pt x="15953" y="8652"/>
                    <a:pt x="16000" y="8824"/>
                    <a:pt x="16000" y="9000"/>
                  </a:cubicBezTo>
                  <a:lnTo>
                    <a:pt x="16000" y="15000"/>
                  </a:lnTo>
                  <a:cubicBezTo>
                    <a:pt x="16000" y="15175"/>
                    <a:pt x="15953" y="15347"/>
                    <a:pt x="15866" y="15500"/>
                  </a:cubicBezTo>
                  <a:cubicBezTo>
                    <a:pt x="15778" y="15652"/>
                    <a:pt x="15652" y="15778"/>
                    <a:pt x="15500" y="15866"/>
                  </a:cubicBezTo>
                  <a:cubicBezTo>
                    <a:pt x="15347" y="15953"/>
                    <a:pt x="15175" y="16000"/>
                    <a:pt x="15000" y="16000"/>
                  </a:cubicBezTo>
                  <a:lnTo>
                    <a:pt x="9000" y="16000"/>
                  </a:lnTo>
                  <a:cubicBezTo>
                    <a:pt x="8824" y="16000"/>
                    <a:pt x="8652" y="15953"/>
                    <a:pt x="8500" y="15866"/>
                  </a:cubicBezTo>
                  <a:cubicBezTo>
                    <a:pt x="8347" y="15778"/>
                    <a:pt x="8221" y="15652"/>
                    <a:pt x="8133" y="15500"/>
                  </a:cubicBezTo>
                  <a:cubicBezTo>
                    <a:pt x="8046" y="15347"/>
                    <a:pt x="8000" y="15175"/>
                    <a:pt x="8000" y="15000"/>
                  </a:cubicBezTo>
                  <a:lnTo>
                    <a:pt x="8000" y="9000"/>
                  </a:lnTo>
                  <a:cubicBezTo>
                    <a:pt x="8000" y="8824"/>
                    <a:pt x="8046" y="8652"/>
                    <a:pt x="8133" y="8500"/>
                  </a:cubicBezTo>
                  <a:cubicBezTo>
                    <a:pt x="8221" y="8347"/>
                    <a:pt x="8347" y="8221"/>
                    <a:pt x="8500" y="8133"/>
                  </a:cubicBezTo>
                  <a:cubicBezTo>
                    <a:pt x="8652" y="8046"/>
                    <a:pt x="8824" y="8000"/>
                    <a:pt x="9000" y="8000"/>
                  </a:cubicBezTo>
                  <a:close/>
                </a:path>
              </a:pathLst>
            </a:custGeom>
            <a:noFill/>
            <a:ln w="13716" cap="rnd">
              <a:solidFill>
                <a:srgbClr val="0C1927"/>
              </a:solidFill>
              <a:round/>
            </a:ln>
          </p:spPr>
        </p:sp>
        <p:sp>
          <p:nvSpPr>
            <p:cNvPr id="29" name="Group title"/>
            <p:cNvSpPr txBox="1"/>
            <p:nvPr/>
          </p:nvSpPr>
          <p:spPr>
            <a:xfrm>
              <a:off x="749808" y="1485900"/>
              <a:ext cx="45720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92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Hardware and Graph Application on the IPC  ·  design and development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30" name="Bullet"/>
            <p:cNvSpPr/>
            <p:nvPr/>
          </p:nvSpPr>
          <p:spPr>
            <a:xfrm>
              <a:off x="758952" y="1724482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31" name="Scope item"/>
            <p:cNvSpPr txBox="1"/>
            <p:nvPr/>
          </p:nvSpPr>
          <p:spPr>
            <a:xfrm>
              <a:off x="859536" y="1691640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Supply of a new </a:t>
              </a: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IPC / Panel PC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for the Hydrotester station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32" name="Bullet"/>
            <p:cNvSpPr/>
            <p:nvPr/>
          </p:nvSpPr>
          <p:spPr>
            <a:xfrm>
              <a:off x="758952" y="1867891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33" name="Scope item"/>
            <p:cNvSpPr txBox="1"/>
            <p:nvPr/>
          </p:nvSpPr>
          <p:spPr>
            <a:xfrm>
              <a:off x="859536" y="1835048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OPC UA connection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to the Hydrotester SCADA; polling frequency increased when a test starts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34" name="Bullet"/>
            <p:cNvSpPr/>
            <p:nvPr/>
          </p:nvSpPr>
          <p:spPr>
            <a:xfrm>
              <a:off x="758952" y="2011299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35" name="Scope item"/>
            <p:cNvSpPr txBox="1"/>
            <p:nvPr/>
          </p:nvSpPr>
          <p:spPr>
            <a:xfrm>
              <a:off x="859536" y="1978457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 graph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(square wave, hold time) and </a:t>
              </a: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actual graph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(true rise and fall of pressure)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36" name="Bullet"/>
            <p:cNvSpPr/>
            <p:nvPr/>
          </p:nvSpPr>
          <p:spPr>
            <a:xfrm>
              <a:off x="758952" y="2154707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37" name="Scope item"/>
            <p:cNvSpPr txBox="1"/>
            <p:nvPr/>
          </p:nvSpPr>
          <p:spPr>
            <a:xfrm>
              <a:off x="859536" y="2121865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 test finish: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pressure, hold time, date/time and both graph data files pushed to the central server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38" name="Bullet"/>
            <p:cNvSpPr/>
            <p:nvPr/>
          </p:nvSpPr>
          <p:spPr>
            <a:xfrm>
              <a:off x="758952" y="2298116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39" name="Scope item"/>
            <p:cNvSpPr txBox="1"/>
            <p:nvPr/>
          </p:nvSpPr>
          <p:spPr>
            <a:xfrm>
              <a:off x="859536" y="2265274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If the link is down: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tests buffered on the IPC and forwarded automatically when it returns</a:t>
              </a:r>
              <a:endParaRPr lang="en-US" sz="660" dirty="0">
                <a:latin typeface="Inter"/>
              </a:endParaRPr>
            </a:p>
          </p:txBody>
        </p:sp>
      </p:grpSp>
      <p:grpSp>
        <p:nvGrpSpPr>
          <p:cNvPr id="40" name="Faclon · SAP Entry Application for the Hydrotester  ·  design and development"/>
          <p:cNvGrpSpPr/>
          <p:nvPr/>
        </p:nvGrpSpPr>
        <p:grpSpPr>
          <a:xfrm>
            <a:off x="274320" y="2548687"/>
            <a:ext cx="5138928" cy="1230732"/>
            <a:chOff x="274320" y="2548687"/>
            <a:chExt cx="5138928" cy="1230732"/>
          </a:xfrm>
        </p:grpSpPr>
        <p:sp>
          <p:nvSpPr>
            <p:cNvPr id="41" name="Card"/>
            <p:cNvSpPr/>
            <p:nvPr/>
          </p:nvSpPr>
          <p:spPr>
            <a:xfrm>
              <a:off x="274320" y="2548687"/>
              <a:ext cx="5138928" cy="1230732"/>
            </a:xfrm>
            <a:prstGeom prst="roundRect">
              <a:avLst>
                <a:gd name="adj" fmla="val 371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42" name="Icon tile"/>
            <p:cNvSpPr/>
            <p:nvPr/>
          </p:nvSpPr>
          <p:spPr>
            <a:xfrm>
              <a:off x="365760" y="2630983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0C1927">
                <a:alpha val="8000"/>
              </a:srgbClr>
            </a:solidFill>
            <a:ln>
              <a:noFill/>
            </a:ln>
          </p:spPr>
        </p:sp>
        <p:sp>
          <p:nvSpPr>
            <p:cNvPr id="43" name="Icon app-window"/>
            <p:cNvSpPr/>
            <p:nvPr/>
          </p:nvSpPr>
          <p:spPr>
            <a:xfrm>
              <a:off x="429768" y="2694991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0351" y="4000"/>
                    <a:pt x="20695" y="4092"/>
                    <a:pt x="21000" y="4267"/>
                  </a:cubicBezTo>
                  <a:cubicBezTo>
                    <a:pt x="21304" y="4443"/>
                    <a:pt x="21556" y="4695"/>
                    <a:pt x="21732" y="5000"/>
                  </a:cubicBezTo>
                  <a:cubicBezTo>
                    <a:pt x="21907" y="5304"/>
                    <a:pt x="22000" y="5648"/>
                    <a:pt x="22000" y="6000"/>
                  </a:cubicBezTo>
                  <a:lnTo>
                    <a:pt x="22000" y="18000"/>
                  </a:lnTo>
                  <a:cubicBezTo>
                    <a:pt x="22000" y="18351"/>
                    <a:pt x="21907" y="18695"/>
                    <a:pt x="21732" y="19000"/>
                  </a:cubicBezTo>
                  <a:cubicBezTo>
                    <a:pt x="21556" y="19304"/>
                    <a:pt x="21304" y="19556"/>
                    <a:pt x="21000" y="19732"/>
                  </a:cubicBezTo>
                  <a:cubicBezTo>
                    <a:pt x="20695" y="19907"/>
                    <a:pt x="20351" y="20000"/>
                    <a:pt x="20000" y="20000"/>
                  </a:cubicBezTo>
                  <a:lnTo>
                    <a:pt x="4000" y="20000"/>
                  </a:lnTo>
                  <a:cubicBezTo>
                    <a:pt x="3648" y="20000"/>
                    <a:pt x="3304" y="19907"/>
                    <a:pt x="3000" y="19732"/>
                  </a:cubicBezTo>
                  <a:cubicBezTo>
                    <a:pt x="2695" y="19556"/>
                    <a:pt x="2443" y="19304"/>
                    <a:pt x="2267" y="19000"/>
                  </a:cubicBezTo>
                  <a:cubicBezTo>
                    <a:pt x="2092" y="18695"/>
                    <a:pt x="2000" y="18351"/>
                    <a:pt x="2000" y="18000"/>
                  </a:cubicBezTo>
                  <a:lnTo>
                    <a:pt x="2000" y="6000"/>
                  </a:lnTo>
                  <a:cubicBezTo>
                    <a:pt x="2000" y="5648"/>
                    <a:pt x="2092" y="5304"/>
                    <a:pt x="2267" y="5000"/>
                  </a:cubicBezTo>
                  <a:cubicBezTo>
                    <a:pt x="2443" y="4695"/>
                    <a:pt x="2695" y="4443"/>
                    <a:pt x="2999" y="4267"/>
                  </a:cubicBezTo>
                  <a:cubicBezTo>
                    <a:pt x="3304" y="4092"/>
                    <a:pt x="3648" y="4000"/>
                    <a:pt x="4000" y="4000"/>
                  </a:cubicBezTo>
                  <a:close/>
                </a:path>
                <a:path w="24000" h="24000" fill="none">
                  <a:moveTo>
                    <a:pt x="10000" y="4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2000" y="8000"/>
                  </a:moveTo>
                  <a:lnTo>
                    <a:pt x="22000" y="8000"/>
                  </a:lnTo>
                </a:path>
                <a:path w="24000" h="24000" fill="none">
                  <a:moveTo>
                    <a:pt x="6000" y="4000"/>
                  </a:moveTo>
                  <a:lnTo>
                    <a:pt x="6000" y="8000"/>
                  </a:lnTo>
                </a:path>
              </a:pathLst>
            </a:custGeom>
            <a:noFill/>
            <a:ln w="13716" cap="rnd">
              <a:solidFill>
                <a:srgbClr val="0C1927"/>
              </a:solidFill>
              <a:round/>
            </a:ln>
          </p:spPr>
        </p:sp>
        <p:sp>
          <p:nvSpPr>
            <p:cNvPr id="44" name="Group title"/>
            <p:cNvSpPr txBox="1"/>
            <p:nvPr/>
          </p:nvSpPr>
          <p:spPr>
            <a:xfrm>
              <a:off x="749808" y="2617267"/>
              <a:ext cx="45720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92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Entry Application for the Hydrotester  ·  design and development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45" name="Bullet"/>
            <p:cNvSpPr/>
            <p:nvPr/>
          </p:nvSpPr>
          <p:spPr>
            <a:xfrm>
              <a:off x="758952" y="2855849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46" name="Scope item"/>
            <p:cNvSpPr txBox="1"/>
            <p:nvPr/>
          </p:nvSpPr>
          <p:spPr>
            <a:xfrm>
              <a:off x="859536" y="2823007"/>
              <a:ext cx="4462272" cy="2045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Pipe number before every test: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scan, previous-station list or manual entry; pop-up if a test starts without one; test discarded if none entered by test end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47" name="Bullet"/>
            <p:cNvSpPr/>
            <p:nvPr/>
          </p:nvSpPr>
          <p:spPr>
            <a:xfrm>
              <a:off x="758952" y="3101518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48" name="Scope item"/>
            <p:cNvSpPr txBox="1"/>
            <p:nvPr/>
          </p:nvSpPr>
          <p:spPr>
            <a:xfrm>
              <a:off x="859536" y="3068676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Entry creation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from graph data; tests and pipe numbers paired in time order after a connectivity loss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49" name="Bullet"/>
            <p:cNvSpPr/>
            <p:nvPr/>
          </p:nvSpPr>
          <p:spPr>
            <a:xfrm>
              <a:off x="758952" y="3244926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0" name="Scope item"/>
            <p:cNvSpPr txBox="1"/>
            <p:nvPr/>
          </p:nvSpPr>
          <p:spPr>
            <a:xfrm>
              <a:off x="859536" y="3212084"/>
              <a:ext cx="4462272" cy="2045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Upload: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text fields selected and edited; pressure / holding time corrected (standard graph redrawn, actual graph kept as captured); preview, remarks, checksum; FTP upload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51" name="Bullet"/>
            <p:cNvSpPr/>
            <p:nvPr/>
          </p:nvSpPr>
          <p:spPr>
            <a:xfrm>
              <a:off x="758952" y="3490595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2" name="Scope item"/>
            <p:cNvSpPr txBox="1"/>
            <p:nvPr/>
          </p:nvSpPr>
          <p:spPr>
            <a:xfrm>
              <a:off x="859536" y="3457753"/>
              <a:ext cx="4462272" cy="2045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Reliability: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retries, shift-end highlight, edit rules (pressure &amp; hold time locked after upload), status, previous-station tab</a:t>
              </a:r>
              <a:endParaRPr lang="en-US" sz="660" dirty="0">
                <a:latin typeface="Inter"/>
              </a:endParaRPr>
            </a:p>
          </p:txBody>
        </p:sp>
      </p:grpSp>
      <p:grpSp>
        <p:nvGrpSpPr>
          <p:cNvPr id="53" name="Faclon · Integration, deployment and services"/>
          <p:cNvGrpSpPr/>
          <p:nvPr/>
        </p:nvGrpSpPr>
        <p:grpSpPr>
          <a:xfrm>
            <a:off x="274320" y="3843426"/>
            <a:ext cx="5138928" cy="637134"/>
            <a:chOff x="274320" y="3843426"/>
            <a:chExt cx="5138928" cy="637134"/>
          </a:xfrm>
        </p:grpSpPr>
        <p:sp>
          <p:nvSpPr>
            <p:cNvPr id="54" name="Card"/>
            <p:cNvSpPr/>
            <p:nvPr/>
          </p:nvSpPr>
          <p:spPr>
            <a:xfrm>
              <a:off x="274320" y="3843426"/>
              <a:ext cx="5138928" cy="637134"/>
            </a:xfrm>
            <a:prstGeom prst="roundRect">
              <a:avLst>
                <a:gd name="adj" fmla="val 717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55" name="Icon tile"/>
            <p:cNvSpPr/>
            <p:nvPr/>
          </p:nvSpPr>
          <p:spPr>
            <a:xfrm>
              <a:off x="365760" y="3925722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0C1927">
                <a:alpha val="8000"/>
              </a:srgbClr>
            </a:solidFill>
            <a:ln>
              <a:noFill/>
            </a:ln>
          </p:spPr>
        </p:sp>
        <p:sp>
          <p:nvSpPr>
            <p:cNvPr id="56" name="Icon plug-zap"/>
            <p:cNvSpPr/>
            <p:nvPr/>
          </p:nvSpPr>
          <p:spPr>
            <a:xfrm>
              <a:off x="429768" y="398973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300" y="20300"/>
                  </a:moveTo>
                  <a:cubicBezTo>
                    <a:pt x="6522" y="20523"/>
                    <a:pt x="6787" y="20701"/>
                    <a:pt x="7079" y="20822"/>
                  </a:cubicBezTo>
                  <a:cubicBezTo>
                    <a:pt x="7371" y="20943"/>
                    <a:pt x="7684" y="21005"/>
                    <a:pt x="8000" y="21005"/>
                  </a:cubicBezTo>
                  <a:cubicBezTo>
                    <a:pt x="8315" y="21005"/>
                    <a:pt x="8628" y="20943"/>
                    <a:pt x="8920" y="20822"/>
                  </a:cubicBezTo>
                  <a:cubicBezTo>
                    <a:pt x="9212" y="20701"/>
                    <a:pt x="9477" y="20523"/>
                    <a:pt x="9700" y="20300"/>
                  </a:cubicBezTo>
                  <a:lnTo>
                    <a:pt x="12000" y="18000"/>
                  </a:lnTo>
                  <a:lnTo>
                    <a:pt x="6000" y="12000"/>
                  </a:lnTo>
                  <a:lnTo>
                    <a:pt x="3700" y="14300"/>
                  </a:lnTo>
                  <a:cubicBezTo>
                    <a:pt x="3476" y="14522"/>
                    <a:pt x="3298" y="14787"/>
                    <a:pt x="3177" y="15079"/>
                  </a:cubicBezTo>
                  <a:cubicBezTo>
                    <a:pt x="3056" y="15371"/>
                    <a:pt x="2994" y="15684"/>
                    <a:pt x="2994" y="15999"/>
                  </a:cubicBezTo>
                  <a:cubicBezTo>
                    <a:pt x="2994" y="16315"/>
                    <a:pt x="3056" y="16628"/>
                    <a:pt x="3177" y="16920"/>
                  </a:cubicBezTo>
                  <a:cubicBezTo>
                    <a:pt x="3298" y="17212"/>
                    <a:pt x="3476" y="17477"/>
                    <a:pt x="3700" y="17700"/>
                  </a:cubicBezTo>
                  <a:close/>
                </a:path>
                <a:path w="24000" h="24000" fill="none">
                  <a:moveTo>
                    <a:pt x="2000" y="22000"/>
                  </a:moveTo>
                  <a:lnTo>
                    <a:pt x="5000" y="19000"/>
                  </a:lnTo>
                </a:path>
                <a:path w="24000" h="24000" fill="none">
                  <a:moveTo>
                    <a:pt x="7500" y="13500"/>
                  </a:moveTo>
                  <a:lnTo>
                    <a:pt x="10000" y="11000"/>
                  </a:lnTo>
                </a:path>
                <a:path w="24000" h="24000" fill="none">
                  <a:moveTo>
                    <a:pt x="10500" y="16500"/>
                  </a:moveTo>
                  <a:lnTo>
                    <a:pt x="13000" y="14000"/>
                  </a:lnTo>
                </a:path>
                <a:path w="24000" h="24000" fill="none">
                  <a:moveTo>
                    <a:pt x="18000" y="3000"/>
                  </a:moveTo>
                  <a:lnTo>
                    <a:pt x="14000" y="7000"/>
                  </a:lnTo>
                  <a:lnTo>
                    <a:pt x="20000" y="7000"/>
                  </a:lnTo>
                  <a:lnTo>
                    <a:pt x="16000" y="11000"/>
                  </a:lnTo>
                </a:path>
              </a:pathLst>
            </a:custGeom>
            <a:noFill/>
            <a:ln w="13716" cap="rnd">
              <a:solidFill>
                <a:srgbClr val="0C1927"/>
              </a:solidFill>
              <a:round/>
            </a:ln>
          </p:spPr>
        </p:sp>
        <p:sp>
          <p:nvSpPr>
            <p:cNvPr id="57" name="Group title"/>
            <p:cNvSpPr txBox="1"/>
            <p:nvPr/>
          </p:nvSpPr>
          <p:spPr>
            <a:xfrm>
              <a:off x="749808" y="3912006"/>
              <a:ext cx="45720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92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Integration, deployment and services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58" name="Bullet"/>
            <p:cNvSpPr/>
            <p:nvPr/>
          </p:nvSpPr>
          <p:spPr>
            <a:xfrm>
              <a:off x="758952" y="4150589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9" name="Scope item"/>
            <p:cNvSpPr txBox="1"/>
            <p:nvPr/>
          </p:nvSpPr>
          <p:spPr>
            <a:xfrm>
              <a:off x="859536" y="4117746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Integration with SAP, MES data and the FTP target; deployment on the central server; set-up on the IPC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60" name="Bullet"/>
            <p:cNvSpPr/>
            <p:nvPr/>
          </p:nvSpPr>
          <p:spPr>
            <a:xfrm>
              <a:off x="758952" y="4293997"/>
              <a:ext cx="36576" cy="36576"/>
            </a:xfrm>
            <a:prstGeom prst="ellipse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61" name="Scope item"/>
            <p:cNvSpPr txBox="1"/>
            <p:nvPr/>
          </p:nvSpPr>
          <p:spPr>
            <a:xfrm>
              <a:off x="859536" y="4261155"/>
              <a:ext cx="4462272" cy="102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User manual / SOP  ·  operator training  ·  UAT and go-live support  ·  post go-live support</a:t>
              </a:r>
              <a:endParaRPr lang="en-US" sz="660" dirty="0">
                <a:latin typeface="Inter"/>
              </a:endParaRPr>
            </a:p>
          </p:txBody>
        </p:sp>
      </p:grpSp>
      <p:grpSp>
        <p:nvGrpSpPr>
          <p:cNvPr id="62" name="Welspun scope header"/>
          <p:cNvGrpSpPr/>
          <p:nvPr/>
        </p:nvGrpSpPr>
        <p:grpSpPr>
          <a:xfrm>
            <a:off x="5559552" y="1033272"/>
            <a:ext cx="3310128" cy="310896"/>
            <a:chOff x="5559552" y="1033272"/>
            <a:chExt cx="3310128" cy="310896"/>
          </a:xfrm>
        </p:grpSpPr>
        <p:sp>
          <p:nvSpPr>
            <p:cNvPr id="63" name="Column header"/>
            <p:cNvSpPr/>
            <p:nvPr/>
          </p:nvSpPr>
          <p:spPr>
            <a:xfrm>
              <a:off x="5559552" y="1033272"/>
              <a:ext cx="3310128" cy="310896"/>
            </a:xfrm>
            <a:prstGeom prst="roundRect">
              <a:avLst>
                <a:gd name="adj" fmla="val 14705"/>
              </a:avLst>
            </a:prstGeom>
            <a:solidFill>
              <a:srgbClr val="F1F5FA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4" name="Icon building-2"/>
            <p:cNvSpPr/>
            <p:nvPr/>
          </p:nvSpPr>
          <p:spPr>
            <a:xfrm>
              <a:off x="5669280" y="111099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2000"/>
                  </a:moveTo>
                  <a:lnTo>
                    <a:pt x="14000" y="12000"/>
                  </a:lnTo>
                </a:path>
                <a:path w="24000" h="24000" fill="none">
                  <a:moveTo>
                    <a:pt x="10000" y="8000"/>
                  </a:moveTo>
                  <a:lnTo>
                    <a:pt x="14000" y="8000"/>
                  </a:lnTo>
                </a:path>
                <a:path w="24000" h="24000" fill="none">
                  <a:moveTo>
                    <a:pt x="14000" y="21000"/>
                  </a:moveTo>
                  <a:lnTo>
                    <a:pt x="14000" y="18000"/>
                  </a:lnTo>
                  <a:cubicBezTo>
                    <a:pt x="14000" y="17648"/>
                    <a:pt x="13907" y="17304"/>
                    <a:pt x="13732" y="17000"/>
                  </a:cubicBezTo>
                  <a:cubicBezTo>
                    <a:pt x="13556" y="16695"/>
                    <a:pt x="13304" y="16443"/>
                    <a:pt x="13000" y="16267"/>
                  </a:cubicBezTo>
                  <a:cubicBezTo>
                    <a:pt x="12695" y="16092"/>
                    <a:pt x="12351" y="16000"/>
                    <a:pt x="12000" y="16000"/>
                  </a:cubicBezTo>
                  <a:cubicBezTo>
                    <a:pt x="11648" y="16000"/>
                    <a:pt x="11304" y="16092"/>
                    <a:pt x="11000" y="16267"/>
                  </a:cubicBezTo>
                  <a:cubicBezTo>
                    <a:pt x="10695" y="16443"/>
                    <a:pt x="10443" y="16695"/>
                    <a:pt x="10267" y="17000"/>
                  </a:cubicBezTo>
                  <a:cubicBezTo>
                    <a:pt x="10092" y="17304"/>
                    <a:pt x="10000" y="17648"/>
                    <a:pt x="10000" y="18000"/>
                  </a:cubicBezTo>
                  <a:lnTo>
                    <a:pt x="10000" y="21000"/>
                  </a:lnTo>
                </a:path>
                <a:path w="24000" h="24000" fill="none">
                  <a:moveTo>
                    <a:pt x="6000" y="10000"/>
                  </a:moveTo>
                  <a:lnTo>
                    <a:pt x="4000" y="10000"/>
                  </a:lnTo>
                  <a:cubicBezTo>
                    <a:pt x="3648" y="10000"/>
                    <a:pt x="3304" y="10092"/>
                    <a:pt x="3000" y="10267"/>
                  </a:cubicBezTo>
                  <a:cubicBezTo>
                    <a:pt x="2695" y="10443"/>
                    <a:pt x="2443" y="10695"/>
                    <a:pt x="2267" y="11000"/>
                  </a:cubicBezTo>
                  <a:cubicBezTo>
                    <a:pt x="2092" y="11304"/>
                    <a:pt x="2000" y="11648"/>
                    <a:pt x="2000" y="12000"/>
                  </a:cubicBezTo>
                  <a:lnTo>
                    <a:pt x="2000" y="19000"/>
                  </a:lnTo>
                  <a:cubicBezTo>
                    <a:pt x="2000" y="19351"/>
                    <a:pt x="2092" y="19695"/>
                    <a:pt x="2267" y="20000"/>
                  </a:cubicBezTo>
                  <a:cubicBezTo>
                    <a:pt x="2443" y="20304"/>
                    <a:pt x="2695" y="20556"/>
                    <a:pt x="2999" y="20732"/>
                  </a:cubicBezTo>
                  <a:cubicBezTo>
                    <a:pt x="3304" y="20907"/>
                    <a:pt x="3648" y="21000"/>
                    <a:pt x="4000" y="21000"/>
                  </a:cubicBezTo>
                  <a:lnTo>
                    <a:pt x="20000" y="21000"/>
                  </a:lnTo>
                  <a:cubicBezTo>
                    <a:pt x="20351" y="21000"/>
                    <a:pt x="20695" y="20907"/>
                    <a:pt x="21000" y="20732"/>
                  </a:cubicBezTo>
                  <a:cubicBezTo>
                    <a:pt x="21304" y="20556"/>
                    <a:pt x="21556" y="20304"/>
                    <a:pt x="21732" y="20000"/>
                  </a:cubicBezTo>
                  <a:cubicBezTo>
                    <a:pt x="21907" y="19695"/>
                    <a:pt x="22000" y="19351"/>
                    <a:pt x="22000" y="19000"/>
                  </a:cubicBezTo>
                  <a:lnTo>
                    <a:pt x="22000" y="9000"/>
                  </a:lnTo>
                  <a:cubicBezTo>
                    <a:pt x="22000" y="8648"/>
                    <a:pt x="21907" y="8304"/>
                    <a:pt x="21732" y="8000"/>
                  </a:cubicBezTo>
                  <a:cubicBezTo>
                    <a:pt x="21556" y="7695"/>
                    <a:pt x="21304" y="7443"/>
                    <a:pt x="21000" y="7267"/>
                  </a:cubicBezTo>
                  <a:cubicBezTo>
                    <a:pt x="20695" y="7092"/>
                    <a:pt x="20351" y="7000"/>
                    <a:pt x="20000" y="7000"/>
                  </a:cubicBezTo>
                  <a:lnTo>
                    <a:pt x="18000" y="7000"/>
                  </a:lnTo>
                </a:path>
                <a:path w="24000" h="24000" fill="none">
                  <a:moveTo>
                    <a:pt x="6000" y="21000"/>
                  </a:moveTo>
                  <a:lnTo>
                    <a:pt x="6000" y="5000"/>
                  </a:lnTo>
                  <a:cubicBezTo>
                    <a:pt x="6000" y="4648"/>
                    <a:pt x="6092" y="4304"/>
                    <a:pt x="6267" y="4000"/>
                  </a:cubicBezTo>
                  <a:cubicBezTo>
                    <a:pt x="6443" y="3695"/>
                    <a:pt x="6695" y="3443"/>
                    <a:pt x="6999" y="3267"/>
                  </a:cubicBezTo>
                  <a:cubicBezTo>
                    <a:pt x="7304" y="3092"/>
                    <a:pt x="7648" y="3000"/>
                    <a:pt x="8000" y="3000"/>
                  </a:cubicBezTo>
                  <a:lnTo>
                    <a:pt x="16000" y="3000"/>
                  </a:lnTo>
                  <a:cubicBezTo>
                    <a:pt x="16351" y="3000"/>
                    <a:pt x="16695" y="3092"/>
                    <a:pt x="17000" y="3267"/>
                  </a:cubicBezTo>
                  <a:cubicBezTo>
                    <a:pt x="17304" y="3443"/>
                    <a:pt x="17556" y="3695"/>
                    <a:pt x="17732" y="4000"/>
                  </a:cubicBezTo>
                  <a:cubicBezTo>
                    <a:pt x="17907" y="4304"/>
                    <a:pt x="18000" y="4648"/>
                    <a:pt x="18000" y="5000"/>
                  </a:cubicBezTo>
                  <a:lnTo>
                    <a:pt x="18000" y="21000"/>
                  </a:ln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65" name="Column title"/>
            <p:cNvSpPr txBox="1"/>
            <p:nvPr/>
          </p:nvSpPr>
          <p:spPr>
            <a:xfrm>
              <a:off x="5907024" y="1033272"/>
              <a:ext cx="2852928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Welspun scope</a:t>
              </a:r>
              <a:r>
                <a:rPr lang="en-US" sz="68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   inputs, access and infrastructure</a:t>
              </a:r>
              <a:endParaRPr lang="en-US" sz="680" dirty="0">
                <a:latin typeface="Inter"/>
              </a:endParaRPr>
            </a:p>
          </p:txBody>
        </p:sp>
      </p:grpSp>
      <p:grpSp>
        <p:nvGrpSpPr>
          <p:cNvPr id="66" name="Welspun scope items"/>
          <p:cNvGrpSpPr/>
          <p:nvPr/>
        </p:nvGrpSpPr>
        <p:grpSpPr>
          <a:xfrm>
            <a:off x="5559552" y="1417320"/>
            <a:ext cx="3310128" cy="3063240"/>
            <a:chOff x="5559552" y="1417320"/>
            <a:chExt cx="3310128" cy="3063240"/>
          </a:xfrm>
        </p:grpSpPr>
        <p:sp>
          <p:nvSpPr>
            <p:cNvPr id="67" name="Card"/>
            <p:cNvSpPr/>
            <p:nvPr/>
          </p:nvSpPr>
          <p:spPr>
            <a:xfrm>
              <a:off x="5559552" y="1417320"/>
              <a:ext cx="3310128" cy="3063240"/>
            </a:xfrm>
            <a:prstGeom prst="roundRect">
              <a:avLst>
                <a:gd name="adj" fmla="val 149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8" name="Icon tile"/>
            <p:cNvSpPr/>
            <p:nvPr/>
          </p:nvSpPr>
          <p:spPr>
            <a:xfrm>
              <a:off x="5650992" y="1516786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69" name="Icon server"/>
            <p:cNvSpPr/>
            <p:nvPr/>
          </p:nvSpPr>
          <p:spPr>
            <a:xfrm>
              <a:off x="5692140" y="155793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20000" y="2000"/>
                  </a:lnTo>
                  <a:cubicBezTo>
                    <a:pt x="20351" y="2000"/>
                    <a:pt x="20695" y="2092"/>
                    <a:pt x="21000" y="2267"/>
                  </a:cubicBezTo>
                  <a:cubicBezTo>
                    <a:pt x="21304" y="2443"/>
                    <a:pt x="21556" y="2695"/>
                    <a:pt x="21732" y="3000"/>
                  </a:cubicBezTo>
                  <a:cubicBezTo>
                    <a:pt x="21907" y="3304"/>
                    <a:pt x="22000" y="3648"/>
                    <a:pt x="22000" y="4000"/>
                  </a:cubicBezTo>
                  <a:lnTo>
                    <a:pt x="22000" y="8000"/>
                  </a:lnTo>
                  <a:cubicBezTo>
                    <a:pt x="22000" y="8351"/>
                    <a:pt x="21907" y="8695"/>
                    <a:pt x="21732" y="9000"/>
                  </a:cubicBezTo>
                  <a:cubicBezTo>
                    <a:pt x="21556" y="9304"/>
                    <a:pt x="21304" y="9556"/>
                    <a:pt x="21000" y="9732"/>
                  </a:cubicBezTo>
                  <a:cubicBezTo>
                    <a:pt x="20695" y="9907"/>
                    <a:pt x="20351" y="10000"/>
                    <a:pt x="20000" y="10000"/>
                  </a:cubicBezTo>
                  <a:lnTo>
                    <a:pt x="4000" y="10000"/>
                  </a:lnTo>
                  <a:cubicBezTo>
                    <a:pt x="3648" y="10000"/>
                    <a:pt x="3304" y="9907"/>
                    <a:pt x="3000" y="9732"/>
                  </a:cubicBezTo>
                  <a:cubicBezTo>
                    <a:pt x="2695" y="9556"/>
                    <a:pt x="2443" y="9304"/>
                    <a:pt x="2267" y="9000"/>
                  </a:cubicBezTo>
                  <a:cubicBezTo>
                    <a:pt x="2092" y="8695"/>
                    <a:pt x="2000" y="8351"/>
                    <a:pt x="2000" y="8000"/>
                  </a:cubicBezTo>
                  <a:lnTo>
                    <a:pt x="2000" y="4000"/>
                  </a:lnTo>
                  <a:cubicBezTo>
                    <a:pt x="2000" y="3648"/>
                    <a:pt x="2092" y="3304"/>
                    <a:pt x="2267" y="3000"/>
                  </a:cubicBezTo>
                  <a:cubicBezTo>
                    <a:pt x="2443" y="2695"/>
                    <a:pt x="2695" y="2443"/>
                    <a:pt x="2999" y="2267"/>
                  </a:cubicBezTo>
                  <a:cubicBezTo>
                    <a:pt x="3304" y="2092"/>
                    <a:pt x="3648" y="2000"/>
                    <a:pt x="4000" y="2000"/>
                  </a:cubicBezTo>
                  <a:close/>
                </a:path>
                <a:path w="24000" h="24000" fill="none">
                  <a:moveTo>
                    <a:pt x="4000" y="14000"/>
                  </a:moveTo>
                  <a:lnTo>
                    <a:pt x="20000" y="14000"/>
                  </a:lnTo>
                  <a:cubicBezTo>
                    <a:pt x="20351" y="14000"/>
                    <a:pt x="20695" y="14092"/>
                    <a:pt x="21000" y="14267"/>
                  </a:cubicBezTo>
                  <a:cubicBezTo>
                    <a:pt x="21304" y="14443"/>
                    <a:pt x="21556" y="14695"/>
                    <a:pt x="21732" y="15000"/>
                  </a:cubicBezTo>
                  <a:cubicBezTo>
                    <a:pt x="21907" y="15304"/>
                    <a:pt x="22000" y="15648"/>
                    <a:pt x="22000" y="16000"/>
                  </a:cubicBezTo>
                  <a:lnTo>
                    <a:pt x="22000" y="20000"/>
                  </a:lnTo>
                  <a:cubicBezTo>
                    <a:pt x="22000" y="20351"/>
                    <a:pt x="21907" y="20695"/>
                    <a:pt x="21732" y="21000"/>
                  </a:cubicBezTo>
                  <a:cubicBezTo>
                    <a:pt x="21556" y="21304"/>
                    <a:pt x="21304" y="21556"/>
                    <a:pt x="21000" y="21732"/>
                  </a:cubicBezTo>
                  <a:cubicBezTo>
                    <a:pt x="20695" y="21907"/>
                    <a:pt x="20351" y="22000"/>
                    <a:pt x="20000" y="22000"/>
                  </a:cubicBezTo>
                  <a:lnTo>
                    <a:pt x="4000" y="22000"/>
                  </a:lnTo>
                  <a:cubicBezTo>
                    <a:pt x="3648" y="22000"/>
                    <a:pt x="3304" y="21907"/>
                    <a:pt x="3000" y="21732"/>
                  </a:cubicBezTo>
                  <a:cubicBezTo>
                    <a:pt x="2695" y="21556"/>
                    <a:pt x="2443" y="21304"/>
                    <a:pt x="2267" y="21000"/>
                  </a:cubicBezTo>
                  <a:cubicBezTo>
                    <a:pt x="2092" y="20695"/>
                    <a:pt x="2000" y="20351"/>
                    <a:pt x="2000" y="20000"/>
                  </a:cubicBezTo>
                  <a:lnTo>
                    <a:pt x="2000" y="16000"/>
                  </a:lnTo>
                  <a:cubicBezTo>
                    <a:pt x="2000" y="15648"/>
                    <a:pt x="2092" y="15304"/>
                    <a:pt x="2267" y="15000"/>
                  </a:cubicBezTo>
                  <a:cubicBezTo>
                    <a:pt x="2443" y="14695"/>
                    <a:pt x="2695" y="14443"/>
                    <a:pt x="2999" y="14267"/>
                  </a:cubicBezTo>
                  <a:cubicBezTo>
                    <a:pt x="3304" y="14092"/>
                    <a:pt x="3648" y="14000"/>
                    <a:pt x="4000" y="14000"/>
                  </a:cubicBezTo>
                  <a:close/>
                </a:path>
                <a:path w="24000" h="24000" fill="none">
                  <a:moveTo>
                    <a:pt x="6000" y="6000"/>
                  </a:moveTo>
                  <a:lnTo>
                    <a:pt x="6010" y="6000"/>
                  </a:lnTo>
                </a:path>
                <a:path w="24000" h="24000" fill="none">
                  <a:moveTo>
                    <a:pt x="6000" y="18000"/>
                  </a:moveTo>
                  <a:lnTo>
                    <a:pt x="6010" y="18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70" name="Scope item"/>
            <p:cNvSpPr txBox="1"/>
            <p:nvPr/>
          </p:nvSpPr>
          <p:spPr>
            <a:xfrm>
              <a:off x="5961888" y="1508760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Central server / VM on the Welspun IT network to host the IOsense platform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71" name="Rule"/>
            <p:cNvCxnSpPr/>
            <p:nvPr/>
          </p:nvCxnSpPr>
          <p:spPr>
            <a:xfrm>
              <a:off x="5961888" y="1794828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2" name="Icon tile"/>
            <p:cNvSpPr/>
            <p:nvPr/>
          </p:nvSpPr>
          <p:spPr>
            <a:xfrm>
              <a:off x="5650992" y="1853413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73" name="Icon gauge"/>
            <p:cNvSpPr/>
            <p:nvPr/>
          </p:nvSpPr>
          <p:spPr>
            <a:xfrm>
              <a:off x="5692140" y="1894561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2560" y="17650"/>
                    <a:pt x="2107" y="16137"/>
                    <a:pt x="2016" y="14581"/>
                  </a:cubicBezTo>
                  <a:cubicBezTo>
                    <a:pt x="1926" y="13025"/>
                    <a:pt x="2200" y="11469"/>
                    <a:pt x="2817" y="10039"/>
                  </a:cubicBezTo>
                  <a:cubicBezTo>
                    <a:pt x="3434" y="8608"/>
                    <a:pt x="4378" y="7340"/>
                    <a:pt x="5571" y="6339"/>
                  </a:cubicBezTo>
                  <a:cubicBezTo>
                    <a:pt x="6765" y="5337"/>
                    <a:pt x="8177" y="4628"/>
                    <a:pt x="9693" y="4269"/>
                  </a:cubicBezTo>
                  <a:cubicBezTo>
                    <a:pt x="11210" y="3909"/>
                    <a:pt x="12789" y="3909"/>
                    <a:pt x="14306" y="4269"/>
                  </a:cubicBezTo>
                  <a:cubicBezTo>
                    <a:pt x="15822" y="4628"/>
                    <a:pt x="17234" y="5337"/>
                    <a:pt x="18428" y="6339"/>
                  </a:cubicBezTo>
                  <a:cubicBezTo>
                    <a:pt x="19621" y="7340"/>
                    <a:pt x="20565" y="8608"/>
                    <a:pt x="21182" y="10039"/>
                  </a:cubicBezTo>
                  <a:cubicBezTo>
                    <a:pt x="21799" y="11469"/>
                    <a:pt x="22073" y="13025"/>
                    <a:pt x="21983" y="14581"/>
                  </a:cubicBezTo>
                  <a:cubicBezTo>
                    <a:pt x="21892" y="16137"/>
                    <a:pt x="21439" y="17650"/>
                    <a:pt x="20660" y="19000"/>
                  </a:cubicBez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74" name="Scope item"/>
            <p:cNvSpPr txBox="1"/>
            <p:nvPr/>
          </p:nvSpPr>
          <p:spPr>
            <a:xfrm>
              <a:off x="5961888" y="1845386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Access to the Hydrotester SCADA OPC UA server: endpoint, credentials and pressure tag details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75" name="Rule"/>
            <p:cNvCxnSpPr/>
            <p:nvPr/>
          </p:nvCxnSpPr>
          <p:spPr>
            <a:xfrm>
              <a:off x="5961888" y="2131454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6" name="Icon tile"/>
            <p:cNvSpPr/>
            <p:nvPr/>
          </p:nvSpPr>
          <p:spPr>
            <a:xfrm>
              <a:off x="5650992" y="2182012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77" name="Icon scan-qr-code"/>
            <p:cNvSpPr/>
            <p:nvPr/>
          </p:nvSpPr>
          <p:spPr>
            <a:xfrm>
              <a:off x="5692140" y="2223160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2000"/>
                  </a:moveTo>
                  <a:lnTo>
                    <a:pt x="17000" y="16000"/>
                  </a:lnTo>
                  <a:cubicBezTo>
                    <a:pt x="17000" y="16175"/>
                    <a:pt x="16953" y="16347"/>
                    <a:pt x="16866" y="16500"/>
                  </a:cubicBezTo>
                  <a:cubicBezTo>
                    <a:pt x="16778" y="16652"/>
                    <a:pt x="16652" y="16778"/>
                    <a:pt x="16500" y="16866"/>
                  </a:cubicBezTo>
                  <a:cubicBezTo>
                    <a:pt x="16347" y="16953"/>
                    <a:pt x="16175" y="17000"/>
                    <a:pt x="16000" y="17000"/>
                  </a:cubicBezTo>
                  <a:lnTo>
                    <a:pt x="12000" y="17000"/>
                  </a:lnTo>
                </a:path>
                <a:path w="24000" h="24000" fill="none">
                  <a:moveTo>
                    <a:pt x="17000" y="3000"/>
                  </a:moveTo>
                  <a:lnTo>
                    <a:pt x="19000" y="3000"/>
                  </a:lnTo>
                  <a:cubicBezTo>
                    <a:pt x="19351" y="3000"/>
                    <a:pt x="19695" y="3092"/>
                    <a:pt x="20000" y="3267"/>
                  </a:cubicBezTo>
                  <a:cubicBezTo>
                    <a:pt x="20304" y="3443"/>
                    <a:pt x="20556" y="3695"/>
                    <a:pt x="20732" y="4000"/>
                  </a:cubicBezTo>
                  <a:cubicBezTo>
                    <a:pt x="20907" y="4304"/>
                    <a:pt x="21000" y="4648"/>
                    <a:pt x="21000" y="5000"/>
                  </a:cubicBezTo>
                  <a:lnTo>
                    <a:pt x="21000" y="7000"/>
                  </a:lnTo>
                </a:path>
                <a:path w="24000" h="24000" fill="none">
                  <a:moveTo>
                    <a:pt x="17000" y="8000"/>
                  </a:moveTo>
                  <a:lnTo>
                    <a:pt x="17000" y="7000"/>
                  </a:lnTo>
                </a:path>
                <a:path w="24000" h="24000" fill="none">
                  <a:moveTo>
                    <a:pt x="21000" y="17000"/>
                  </a:moveTo>
                  <a:lnTo>
                    <a:pt x="21000" y="19000"/>
                  </a:lnTo>
                  <a:cubicBezTo>
                    <a:pt x="21000" y="19351"/>
                    <a:pt x="20907" y="19695"/>
                    <a:pt x="20732" y="20000"/>
                  </a:cubicBezTo>
                  <a:cubicBezTo>
                    <a:pt x="20556" y="20304"/>
                    <a:pt x="20304" y="20556"/>
                    <a:pt x="20000" y="20732"/>
                  </a:cubicBezTo>
                  <a:cubicBezTo>
                    <a:pt x="19695" y="20907"/>
                    <a:pt x="19351" y="21000"/>
                    <a:pt x="19000" y="21000"/>
                  </a:cubicBezTo>
                  <a:lnTo>
                    <a:pt x="17000" y="21000"/>
                  </a:lnTo>
                </a:path>
                <a:path w="24000" h="24000" fill="none">
                  <a:moveTo>
                    <a:pt x="3000" y="7000"/>
                  </a:moveTo>
                  <a:lnTo>
                    <a:pt x="3000" y="5000"/>
                  </a:lnTo>
                  <a:cubicBezTo>
                    <a:pt x="3000" y="4648"/>
                    <a:pt x="3092" y="4304"/>
                    <a:pt x="3267" y="4000"/>
                  </a:cubicBezTo>
                  <a:cubicBezTo>
                    <a:pt x="3443" y="3695"/>
                    <a:pt x="3695" y="3443"/>
                    <a:pt x="3999" y="3267"/>
                  </a:cubicBezTo>
                  <a:cubicBezTo>
                    <a:pt x="4304" y="3092"/>
                    <a:pt x="4648" y="3000"/>
                    <a:pt x="5000" y="3000"/>
                  </a:cubicBezTo>
                  <a:lnTo>
                    <a:pt x="7000" y="3000"/>
                  </a:lnTo>
                </a:path>
                <a:path w="24000" h="24000" fill="none">
                  <a:moveTo>
                    <a:pt x="7000" y="17000"/>
                  </a:moveTo>
                  <a:lnTo>
                    <a:pt x="7010" y="17000"/>
                  </a:lnTo>
                </a:path>
                <a:path w="24000" h="24000" fill="none">
                  <a:moveTo>
                    <a:pt x="7000" y="21000"/>
                  </a:moveTo>
                  <a:lnTo>
                    <a:pt x="5000" y="21000"/>
                  </a:lnTo>
                  <a:cubicBezTo>
                    <a:pt x="4648" y="21000"/>
                    <a:pt x="4304" y="20907"/>
                    <a:pt x="4000" y="20732"/>
                  </a:cubicBezTo>
                  <a:cubicBezTo>
                    <a:pt x="3695" y="20556"/>
                    <a:pt x="3443" y="20304"/>
                    <a:pt x="3267" y="20000"/>
                  </a:cubicBezTo>
                  <a:cubicBezTo>
                    <a:pt x="3092" y="19695"/>
                    <a:pt x="3000" y="19351"/>
                    <a:pt x="3000" y="19000"/>
                  </a:cubicBezTo>
                  <a:lnTo>
                    <a:pt x="3000" y="17000"/>
                  </a:lnTo>
                </a:path>
                <a:path w="24000" h="24000" fill="none">
                  <a:moveTo>
                    <a:pt x="8000" y="7000"/>
                  </a:moveTo>
                  <a:lnTo>
                    <a:pt x="11000" y="7000"/>
                  </a:lnTo>
                  <a:cubicBezTo>
                    <a:pt x="11175" y="7000"/>
                    <a:pt x="11347" y="7046"/>
                    <a:pt x="11500" y="7133"/>
                  </a:cubicBezTo>
                  <a:cubicBezTo>
                    <a:pt x="11652" y="7221"/>
                    <a:pt x="11778" y="7347"/>
                    <a:pt x="11866" y="7500"/>
                  </a:cubicBezTo>
                  <a:cubicBezTo>
                    <a:pt x="11953" y="7652"/>
                    <a:pt x="12000" y="7824"/>
                    <a:pt x="12000" y="8000"/>
                  </a:cubicBezTo>
                  <a:lnTo>
                    <a:pt x="12000" y="11000"/>
                  </a:lnTo>
                  <a:cubicBezTo>
                    <a:pt x="12000" y="11175"/>
                    <a:pt x="11953" y="11347"/>
                    <a:pt x="11866" y="11500"/>
                  </a:cubicBezTo>
                  <a:cubicBezTo>
                    <a:pt x="11778" y="11652"/>
                    <a:pt x="11652" y="11778"/>
                    <a:pt x="11500" y="11866"/>
                  </a:cubicBezTo>
                  <a:cubicBezTo>
                    <a:pt x="11347" y="11953"/>
                    <a:pt x="11175" y="12000"/>
                    <a:pt x="11000" y="12000"/>
                  </a:cubicBezTo>
                  <a:lnTo>
                    <a:pt x="8000" y="12000"/>
                  </a:lnTo>
                  <a:cubicBezTo>
                    <a:pt x="7824" y="12000"/>
                    <a:pt x="7652" y="11953"/>
                    <a:pt x="7500" y="11866"/>
                  </a:cubicBezTo>
                  <a:cubicBezTo>
                    <a:pt x="7347" y="11778"/>
                    <a:pt x="7221" y="11652"/>
                    <a:pt x="7133" y="11500"/>
                  </a:cubicBezTo>
                  <a:cubicBezTo>
                    <a:pt x="7046" y="11347"/>
                    <a:pt x="7000" y="11175"/>
                    <a:pt x="7000" y="11000"/>
                  </a:cubicBezTo>
                  <a:lnTo>
                    <a:pt x="7000" y="8000"/>
                  </a:lnTo>
                  <a:cubicBezTo>
                    <a:pt x="7000" y="7824"/>
                    <a:pt x="7046" y="7652"/>
                    <a:pt x="7133" y="7500"/>
                  </a:cubicBezTo>
                  <a:cubicBezTo>
                    <a:pt x="7221" y="7347"/>
                    <a:pt x="7347" y="7221"/>
                    <a:pt x="7500" y="7133"/>
                  </a:cubicBezTo>
                  <a:cubicBezTo>
                    <a:pt x="7652" y="7046"/>
                    <a:pt x="7824" y="7000"/>
                    <a:pt x="8000" y="7000"/>
                  </a:cubicBezTo>
                  <a:close/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78" name="Scope item"/>
            <p:cNvSpPr txBox="1"/>
            <p:nvPr/>
          </p:nvSpPr>
          <p:spPr>
            <a:xfrm>
              <a:off x="5961888" y="2232863"/>
              <a:ext cx="2834640" cy="117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Access to MES scanner (QR) data for pipe numbers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79" name="Rule"/>
            <p:cNvCxnSpPr/>
            <p:nvPr/>
          </p:nvCxnSpPr>
          <p:spPr>
            <a:xfrm>
              <a:off x="5961888" y="2452027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0" name="Icon tile"/>
            <p:cNvSpPr/>
            <p:nvPr/>
          </p:nvSpPr>
          <p:spPr>
            <a:xfrm>
              <a:off x="5650992" y="2510612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81" name="Icon database"/>
            <p:cNvSpPr/>
            <p:nvPr/>
          </p:nvSpPr>
          <p:spPr>
            <a:xfrm>
              <a:off x="5692140" y="2551760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82" name="Scope item"/>
            <p:cNvSpPr txBox="1"/>
            <p:nvPr/>
          </p:nvSpPr>
          <p:spPr>
            <a:xfrm>
              <a:off x="5961888" y="2502586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SAP endpoints to read previous-station pipe numbers and post Hydrotester entries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83" name="Rule"/>
            <p:cNvCxnSpPr/>
            <p:nvPr/>
          </p:nvCxnSpPr>
          <p:spPr>
            <a:xfrm>
              <a:off x="5961888" y="2788653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4" name="Icon tile"/>
            <p:cNvSpPr/>
            <p:nvPr/>
          </p:nvSpPr>
          <p:spPr>
            <a:xfrm>
              <a:off x="5650992" y="2847238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85" name="Icon users-round"/>
            <p:cNvSpPr/>
            <p:nvPr/>
          </p:nvSpPr>
          <p:spPr>
            <a:xfrm>
              <a:off x="5692140" y="288838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000" y="21000"/>
                  </a:moveTo>
                  <a:cubicBezTo>
                    <a:pt x="18000" y="19595"/>
                    <a:pt x="17630" y="18216"/>
                    <a:pt x="16928" y="17000"/>
                  </a:cubicBezTo>
                  <a:cubicBezTo>
                    <a:pt x="16226" y="15783"/>
                    <a:pt x="15216" y="14773"/>
                    <a:pt x="14000" y="14071"/>
                  </a:cubicBezTo>
                  <a:cubicBezTo>
                    <a:pt x="12783" y="13369"/>
                    <a:pt x="11404" y="13000"/>
                    <a:pt x="10000" y="13000"/>
                  </a:cubicBezTo>
                  <a:cubicBezTo>
                    <a:pt x="8595" y="13000"/>
                    <a:pt x="7216" y="13369"/>
                    <a:pt x="6000" y="14071"/>
                  </a:cubicBezTo>
                  <a:cubicBezTo>
                    <a:pt x="4783" y="14773"/>
                    <a:pt x="3773" y="15783"/>
                    <a:pt x="3071" y="16999"/>
                  </a:cubicBezTo>
                  <a:cubicBezTo>
                    <a:pt x="2369" y="18216"/>
                    <a:pt x="2000" y="19595"/>
                    <a:pt x="2000" y="21000"/>
                  </a:cubicBezTo>
                </a:path>
                <a:path w="24000" h="24000" fill="none">
                  <a:moveTo>
                    <a:pt x="15000" y="8000"/>
                  </a:moveTo>
                  <a:cubicBezTo>
                    <a:pt x="15000" y="8877"/>
                    <a:pt x="14768" y="9739"/>
                    <a:pt x="14330" y="10500"/>
                  </a:cubicBezTo>
                  <a:cubicBezTo>
                    <a:pt x="13891" y="11260"/>
                    <a:pt x="13260" y="11891"/>
                    <a:pt x="12500" y="12330"/>
                  </a:cubicBezTo>
                  <a:cubicBezTo>
                    <a:pt x="11739" y="12768"/>
                    <a:pt x="10877" y="13000"/>
                    <a:pt x="10000" y="13000"/>
                  </a:cubicBezTo>
                  <a:cubicBezTo>
                    <a:pt x="9122" y="13000"/>
                    <a:pt x="8260" y="12768"/>
                    <a:pt x="7500" y="12330"/>
                  </a:cubicBezTo>
                  <a:cubicBezTo>
                    <a:pt x="6739" y="11891"/>
                    <a:pt x="6108" y="11260"/>
                    <a:pt x="5669" y="10500"/>
                  </a:cubicBezTo>
                  <a:cubicBezTo>
                    <a:pt x="5231" y="9739"/>
                    <a:pt x="5000" y="8877"/>
                    <a:pt x="5000" y="8000"/>
                  </a:cubicBezTo>
                  <a:cubicBezTo>
                    <a:pt x="5000" y="7122"/>
                    <a:pt x="5231" y="6260"/>
                    <a:pt x="5669" y="5500"/>
                  </a:cubicBezTo>
                  <a:cubicBezTo>
                    <a:pt x="6108" y="4739"/>
                    <a:pt x="6739" y="4108"/>
                    <a:pt x="7499" y="3669"/>
                  </a:cubicBezTo>
                  <a:cubicBezTo>
                    <a:pt x="8260" y="3231"/>
                    <a:pt x="9122" y="3000"/>
                    <a:pt x="9999" y="3000"/>
                  </a:cubicBezTo>
                  <a:cubicBezTo>
                    <a:pt x="10877" y="3000"/>
                    <a:pt x="11739" y="3231"/>
                    <a:pt x="12500" y="3669"/>
                  </a:cubicBezTo>
                  <a:cubicBezTo>
                    <a:pt x="13260" y="4108"/>
                    <a:pt x="13891" y="4739"/>
                    <a:pt x="14330" y="5500"/>
                  </a:cubicBezTo>
                  <a:cubicBezTo>
                    <a:pt x="14768" y="6260"/>
                    <a:pt x="15000" y="7122"/>
                    <a:pt x="15000" y="7999"/>
                  </a:cubicBezTo>
                  <a:close/>
                </a:path>
                <a:path w="24000" h="24000" fill="none">
                  <a:moveTo>
                    <a:pt x="22000" y="20000"/>
                  </a:moveTo>
                  <a:cubicBezTo>
                    <a:pt x="22000" y="16630"/>
                    <a:pt x="20000" y="13500"/>
                    <a:pt x="18000" y="12000"/>
                  </a:cubicBezTo>
                  <a:cubicBezTo>
                    <a:pt x="18657" y="11506"/>
                    <a:pt x="19183" y="10859"/>
                    <a:pt x="19530" y="10114"/>
                  </a:cubicBezTo>
                  <a:cubicBezTo>
                    <a:pt x="19878" y="9369"/>
                    <a:pt x="20036" y="8550"/>
                    <a:pt x="19992" y="7729"/>
                  </a:cubicBezTo>
                  <a:cubicBezTo>
                    <a:pt x="19947" y="6909"/>
                    <a:pt x="19701" y="6112"/>
                    <a:pt x="19275" y="5409"/>
                  </a:cubicBezTo>
                  <a:cubicBezTo>
                    <a:pt x="18849" y="4706"/>
                    <a:pt x="18256" y="4119"/>
                    <a:pt x="17550" y="3699"/>
                  </a:cubicBez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86" name="Scope item"/>
            <p:cNvSpPr txBox="1"/>
            <p:nvPr/>
          </p:nvSpPr>
          <p:spPr>
            <a:xfrm>
              <a:off x="5961888" y="2839212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SAP team support, incl. confirming the retry cadence for missing previous-station entries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87" name="Rule"/>
            <p:cNvCxnSpPr/>
            <p:nvPr/>
          </p:nvCxnSpPr>
          <p:spPr>
            <a:xfrm>
              <a:off x="5961888" y="3125279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8" name="Icon tile"/>
            <p:cNvSpPr/>
            <p:nvPr/>
          </p:nvSpPr>
          <p:spPr>
            <a:xfrm>
              <a:off x="5650992" y="3175838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89" name="Icon folder-up"/>
            <p:cNvSpPr/>
            <p:nvPr/>
          </p:nvSpPr>
          <p:spPr>
            <a:xfrm>
              <a:off x="5692140" y="321698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20000"/>
                  </a:moveTo>
                  <a:cubicBezTo>
                    <a:pt x="20351" y="20000"/>
                    <a:pt x="20695" y="19907"/>
                    <a:pt x="21000" y="19732"/>
                  </a:cubicBezTo>
                  <a:cubicBezTo>
                    <a:pt x="21304" y="19556"/>
                    <a:pt x="21556" y="19304"/>
                    <a:pt x="21732" y="19000"/>
                  </a:cubicBezTo>
                  <a:cubicBezTo>
                    <a:pt x="21907" y="18695"/>
                    <a:pt x="22000" y="18351"/>
                    <a:pt x="22000" y="18000"/>
                  </a:cubicBezTo>
                  <a:lnTo>
                    <a:pt x="22000" y="8000"/>
                  </a:lnTo>
                  <a:cubicBezTo>
                    <a:pt x="22000" y="7648"/>
                    <a:pt x="21907" y="7304"/>
                    <a:pt x="21732" y="7000"/>
                  </a:cubicBezTo>
                  <a:cubicBezTo>
                    <a:pt x="21556" y="6695"/>
                    <a:pt x="21304" y="6443"/>
                    <a:pt x="21000" y="6267"/>
                  </a:cubicBezTo>
                  <a:cubicBezTo>
                    <a:pt x="20695" y="6092"/>
                    <a:pt x="20351" y="6000"/>
                    <a:pt x="20000" y="6000"/>
                  </a:cubicBezTo>
                  <a:lnTo>
                    <a:pt x="12100" y="6000"/>
                  </a:lnTo>
                  <a:cubicBezTo>
                    <a:pt x="11765" y="6003"/>
                    <a:pt x="11435" y="5922"/>
                    <a:pt x="11140" y="5765"/>
                  </a:cubicBezTo>
                  <a:cubicBezTo>
                    <a:pt x="10845" y="5608"/>
                    <a:pt x="10593" y="5379"/>
                    <a:pt x="10410" y="5100"/>
                  </a:cubicBezTo>
                  <a:lnTo>
                    <a:pt x="9600" y="3900"/>
                  </a:lnTo>
                  <a:cubicBezTo>
                    <a:pt x="9417" y="3623"/>
                    <a:pt x="9169" y="3396"/>
                    <a:pt x="8878" y="3239"/>
                  </a:cubicBezTo>
                  <a:cubicBezTo>
                    <a:pt x="8587" y="3082"/>
                    <a:pt x="8261" y="3000"/>
                    <a:pt x="793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8000"/>
                  </a:lnTo>
                  <a:cubicBezTo>
                    <a:pt x="2000" y="18351"/>
                    <a:pt x="2092" y="18695"/>
                    <a:pt x="2267" y="19000"/>
                  </a:cubicBezTo>
                  <a:cubicBezTo>
                    <a:pt x="2443" y="19304"/>
                    <a:pt x="2695" y="19556"/>
                    <a:pt x="2999" y="19732"/>
                  </a:cubicBezTo>
                  <a:cubicBezTo>
                    <a:pt x="3304" y="19907"/>
                    <a:pt x="3648" y="20000"/>
                    <a:pt x="4000" y="20000"/>
                  </a:cubicBezTo>
                  <a:close/>
                </a:path>
                <a:path w="24000" h="24000" fill="none">
                  <a:moveTo>
                    <a:pt x="12000" y="10000"/>
                  </a:moveTo>
                  <a:lnTo>
                    <a:pt x="12000" y="16000"/>
                  </a:lnTo>
                </a:path>
                <a:path w="24000" h="24000" fill="none">
                  <a:moveTo>
                    <a:pt x="9000" y="13000"/>
                  </a:moveTo>
                  <a:lnTo>
                    <a:pt x="12000" y="10000"/>
                  </a:lnTo>
                  <a:lnTo>
                    <a:pt x="15000" y="13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90" name="Scope item"/>
            <p:cNvSpPr txBox="1"/>
            <p:nvPr/>
          </p:nvSpPr>
          <p:spPr>
            <a:xfrm>
              <a:off x="5961888" y="3226689"/>
              <a:ext cx="2834640" cy="117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FTP target and credentials for graph image uploads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91" name="Rule"/>
            <p:cNvCxnSpPr/>
            <p:nvPr/>
          </p:nvCxnSpPr>
          <p:spPr>
            <a:xfrm>
              <a:off x="5961888" y="3445853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92" name="Icon tile"/>
            <p:cNvSpPr/>
            <p:nvPr/>
          </p:nvSpPr>
          <p:spPr>
            <a:xfrm>
              <a:off x="5650992" y="3504438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93" name="Icon network"/>
            <p:cNvSpPr/>
            <p:nvPr/>
          </p:nvSpPr>
          <p:spPr>
            <a:xfrm>
              <a:off x="5692140" y="354558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6000"/>
                  </a:moveTo>
                  <a:lnTo>
                    <a:pt x="21000" y="16000"/>
                  </a:lnTo>
                  <a:cubicBezTo>
                    <a:pt x="21175" y="16000"/>
                    <a:pt x="21347" y="16046"/>
                    <a:pt x="21500" y="16133"/>
                  </a:cubicBezTo>
                  <a:cubicBezTo>
                    <a:pt x="21652" y="16221"/>
                    <a:pt x="21778" y="16347"/>
                    <a:pt x="21866" y="16500"/>
                  </a:cubicBezTo>
                  <a:cubicBezTo>
                    <a:pt x="21953" y="16652"/>
                    <a:pt x="22000" y="16824"/>
                    <a:pt x="22000" y="17000"/>
                  </a:cubicBezTo>
                  <a:lnTo>
                    <a:pt x="22000" y="21000"/>
                  </a:lnTo>
                  <a:cubicBezTo>
                    <a:pt x="22000" y="21175"/>
                    <a:pt x="21953" y="21347"/>
                    <a:pt x="21866" y="21500"/>
                  </a:cubicBezTo>
                  <a:cubicBezTo>
                    <a:pt x="21778" y="21652"/>
                    <a:pt x="21652" y="21778"/>
                    <a:pt x="21500" y="21866"/>
                  </a:cubicBezTo>
                  <a:cubicBezTo>
                    <a:pt x="21347" y="21953"/>
                    <a:pt x="21175" y="22000"/>
                    <a:pt x="21000" y="22000"/>
                  </a:cubicBezTo>
                  <a:lnTo>
                    <a:pt x="17000" y="22000"/>
                  </a:lnTo>
                  <a:cubicBezTo>
                    <a:pt x="16824" y="22000"/>
                    <a:pt x="16652" y="21953"/>
                    <a:pt x="16500" y="21866"/>
                  </a:cubicBezTo>
                  <a:cubicBezTo>
                    <a:pt x="16347" y="21778"/>
                    <a:pt x="16221" y="21652"/>
                    <a:pt x="16133" y="21500"/>
                  </a:cubicBezTo>
                  <a:cubicBezTo>
                    <a:pt x="16046" y="21347"/>
                    <a:pt x="16000" y="21175"/>
                    <a:pt x="16000" y="21000"/>
                  </a:cubicBezTo>
                  <a:lnTo>
                    <a:pt x="16000" y="17000"/>
                  </a:lnTo>
                  <a:cubicBezTo>
                    <a:pt x="16000" y="16824"/>
                    <a:pt x="16046" y="16652"/>
                    <a:pt x="16133" y="16500"/>
                  </a:cubicBezTo>
                  <a:cubicBezTo>
                    <a:pt x="16221" y="16347"/>
                    <a:pt x="16347" y="16221"/>
                    <a:pt x="16500" y="16133"/>
                  </a:cubicBezTo>
                  <a:cubicBezTo>
                    <a:pt x="16652" y="16046"/>
                    <a:pt x="16824" y="16000"/>
                    <a:pt x="17000" y="16000"/>
                  </a:cubicBezTo>
                  <a:close/>
                </a:path>
                <a:path w="24000" h="24000" fill="none">
                  <a:moveTo>
                    <a:pt x="3000" y="16000"/>
                  </a:moveTo>
                  <a:lnTo>
                    <a:pt x="7000" y="16000"/>
                  </a:lnTo>
                  <a:cubicBezTo>
                    <a:pt x="7175" y="16000"/>
                    <a:pt x="7347" y="16046"/>
                    <a:pt x="7500" y="16133"/>
                  </a:cubicBezTo>
                  <a:cubicBezTo>
                    <a:pt x="7652" y="16221"/>
                    <a:pt x="7778" y="16347"/>
                    <a:pt x="7866" y="16500"/>
                  </a:cubicBezTo>
                  <a:cubicBezTo>
                    <a:pt x="7953" y="16652"/>
                    <a:pt x="8000" y="16824"/>
                    <a:pt x="8000" y="17000"/>
                  </a:cubicBezTo>
                  <a:lnTo>
                    <a:pt x="8000" y="21000"/>
                  </a:lnTo>
                  <a:cubicBezTo>
                    <a:pt x="8000" y="21175"/>
                    <a:pt x="7953" y="21347"/>
                    <a:pt x="7866" y="21500"/>
                  </a:cubicBezTo>
                  <a:cubicBezTo>
                    <a:pt x="7778" y="21652"/>
                    <a:pt x="7652" y="21778"/>
                    <a:pt x="7500" y="21866"/>
                  </a:cubicBezTo>
                  <a:cubicBezTo>
                    <a:pt x="7347" y="21953"/>
                    <a:pt x="7175" y="22000"/>
                    <a:pt x="7000" y="22000"/>
                  </a:cubicBezTo>
                  <a:lnTo>
                    <a:pt x="3000" y="22000"/>
                  </a:lnTo>
                  <a:cubicBezTo>
                    <a:pt x="2824" y="22000"/>
                    <a:pt x="2652" y="21953"/>
                    <a:pt x="2500" y="21866"/>
                  </a:cubicBezTo>
                  <a:cubicBezTo>
                    <a:pt x="2347" y="21778"/>
                    <a:pt x="2221" y="21652"/>
                    <a:pt x="2133" y="21500"/>
                  </a:cubicBezTo>
                  <a:cubicBezTo>
                    <a:pt x="2046" y="21347"/>
                    <a:pt x="2000" y="21175"/>
                    <a:pt x="2000" y="21000"/>
                  </a:cubicBezTo>
                  <a:lnTo>
                    <a:pt x="2000" y="17000"/>
                  </a:lnTo>
                  <a:cubicBezTo>
                    <a:pt x="2000" y="16824"/>
                    <a:pt x="2046" y="16652"/>
                    <a:pt x="2133" y="16500"/>
                  </a:cubicBezTo>
                  <a:cubicBezTo>
                    <a:pt x="2221" y="16347"/>
                    <a:pt x="2347" y="16221"/>
                    <a:pt x="2499" y="16133"/>
                  </a:cubicBezTo>
                  <a:cubicBezTo>
                    <a:pt x="2652" y="16046"/>
                    <a:pt x="2824" y="16000"/>
                    <a:pt x="3000" y="16000"/>
                  </a:cubicBezTo>
                  <a:close/>
                </a:path>
                <a:path w="24000" h="24000" fill="none">
                  <a:moveTo>
                    <a:pt x="10000" y="2000"/>
                  </a:moveTo>
                  <a:lnTo>
                    <a:pt x="14000" y="2000"/>
                  </a:lnTo>
                  <a:cubicBezTo>
                    <a:pt x="14175" y="2000"/>
                    <a:pt x="14347" y="2046"/>
                    <a:pt x="14500" y="2133"/>
                  </a:cubicBezTo>
                  <a:cubicBezTo>
                    <a:pt x="14652" y="2221"/>
                    <a:pt x="14778" y="2347"/>
                    <a:pt x="14866" y="2500"/>
                  </a:cubicBezTo>
                  <a:cubicBezTo>
                    <a:pt x="14953" y="2652"/>
                    <a:pt x="15000" y="2824"/>
                    <a:pt x="15000" y="3000"/>
                  </a:cubicBezTo>
                  <a:lnTo>
                    <a:pt x="15000" y="7000"/>
                  </a:lnTo>
                  <a:cubicBezTo>
                    <a:pt x="15000" y="7175"/>
                    <a:pt x="14953" y="7347"/>
                    <a:pt x="14866" y="7500"/>
                  </a:cubicBezTo>
                  <a:cubicBezTo>
                    <a:pt x="14778" y="7652"/>
                    <a:pt x="14652" y="7778"/>
                    <a:pt x="14500" y="7866"/>
                  </a:cubicBezTo>
                  <a:cubicBezTo>
                    <a:pt x="14347" y="7953"/>
                    <a:pt x="14175" y="8000"/>
                    <a:pt x="14000" y="8000"/>
                  </a:cubicBezTo>
                  <a:lnTo>
                    <a:pt x="10000" y="8000"/>
                  </a:lnTo>
                  <a:cubicBezTo>
                    <a:pt x="9824" y="8000"/>
                    <a:pt x="9652" y="7953"/>
                    <a:pt x="9500" y="7866"/>
                  </a:cubicBezTo>
                  <a:cubicBezTo>
                    <a:pt x="9347" y="7778"/>
                    <a:pt x="9221" y="7652"/>
                    <a:pt x="9133" y="7500"/>
                  </a:cubicBezTo>
                  <a:cubicBezTo>
                    <a:pt x="9046" y="7347"/>
                    <a:pt x="9000" y="7175"/>
                    <a:pt x="9000" y="7000"/>
                  </a:cubicBezTo>
                  <a:lnTo>
                    <a:pt x="9000" y="3000"/>
                  </a:lnTo>
                  <a:cubicBezTo>
                    <a:pt x="9000" y="2824"/>
                    <a:pt x="9046" y="2652"/>
                    <a:pt x="9133" y="2500"/>
                  </a:cubicBezTo>
                  <a:cubicBezTo>
                    <a:pt x="9221" y="2347"/>
                    <a:pt x="9347" y="2221"/>
                    <a:pt x="9500" y="2133"/>
                  </a:cubicBezTo>
                  <a:cubicBezTo>
                    <a:pt x="9652" y="2046"/>
                    <a:pt x="9824" y="2000"/>
                    <a:pt x="10000" y="2000"/>
                  </a:cubicBezTo>
                  <a:close/>
                </a:path>
                <a:path w="24000" h="24000" fill="none">
                  <a:moveTo>
                    <a:pt x="5000" y="16000"/>
                  </a:moveTo>
                  <a:lnTo>
                    <a:pt x="5000" y="13000"/>
                  </a:lnTo>
                  <a:cubicBezTo>
                    <a:pt x="5000" y="12824"/>
                    <a:pt x="5046" y="12652"/>
                    <a:pt x="5133" y="12500"/>
                  </a:cubicBezTo>
                  <a:cubicBezTo>
                    <a:pt x="5221" y="12347"/>
                    <a:pt x="5347" y="12221"/>
                    <a:pt x="5500" y="12133"/>
                  </a:cubicBezTo>
                  <a:cubicBezTo>
                    <a:pt x="5652" y="12046"/>
                    <a:pt x="5824" y="12000"/>
                    <a:pt x="6000" y="12000"/>
                  </a:cubicBezTo>
                  <a:lnTo>
                    <a:pt x="18000" y="12000"/>
                  </a:lnTo>
                  <a:cubicBezTo>
                    <a:pt x="18175" y="12000"/>
                    <a:pt x="18347" y="12046"/>
                    <a:pt x="18500" y="12133"/>
                  </a:cubicBezTo>
                  <a:cubicBezTo>
                    <a:pt x="18652" y="12221"/>
                    <a:pt x="18778" y="12347"/>
                    <a:pt x="18866" y="12500"/>
                  </a:cubicBezTo>
                  <a:cubicBezTo>
                    <a:pt x="18953" y="12652"/>
                    <a:pt x="19000" y="12824"/>
                    <a:pt x="19000" y="13000"/>
                  </a:cubicBezTo>
                  <a:lnTo>
                    <a:pt x="19000" y="16000"/>
                  </a:lnTo>
                </a:path>
                <a:path w="24000" h="24000" fill="none">
                  <a:moveTo>
                    <a:pt x="12000" y="12000"/>
                  </a:moveTo>
                  <a:lnTo>
                    <a:pt x="12000" y="8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94" name="Scope item"/>
            <p:cNvSpPr txBox="1"/>
            <p:nvPr/>
          </p:nvSpPr>
          <p:spPr>
            <a:xfrm>
              <a:off x="5961888" y="3496412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Network connectivity: IPC to SCADA, IPC to central server, server to SAP, MES and FTP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95" name="Rule"/>
            <p:cNvCxnSpPr/>
            <p:nvPr/>
          </p:nvCxnSpPr>
          <p:spPr>
            <a:xfrm>
              <a:off x="5961888" y="3782479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96" name="Icon tile"/>
            <p:cNvSpPr/>
            <p:nvPr/>
          </p:nvSpPr>
          <p:spPr>
            <a:xfrm>
              <a:off x="5650992" y="3833038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97" name="Icon clipboard-check"/>
            <p:cNvSpPr/>
            <p:nvPr/>
          </p:nvSpPr>
          <p:spPr>
            <a:xfrm>
              <a:off x="5692140" y="387418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2000"/>
                  </a:moveTo>
                  <a:lnTo>
                    <a:pt x="15000" y="2000"/>
                  </a:lnTo>
                  <a:cubicBezTo>
                    <a:pt x="15175" y="2000"/>
                    <a:pt x="15347" y="2046"/>
                    <a:pt x="15500" y="2133"/>
                  </a:cubicBezTo>
                  <a:cubicBezTo>
                    <a:pt x="15652" y="2221"/>
                    <a:pt x="15778" y="2347"/>
                    <a:pt x="15866" y="2500"/>
                  </a:cubicBezTo>
                  <a:cubicBezTo>
                    <a:pt x="15953" y="2652"/>
                    <a:pt x="16000" y="2824"/>
                    <a:pt x="16000" y="3000"/>
                  </a:cubicBezTo>
                  <a:lnTo>
                    <a:pt x="16000" y="5000"/>
                  </a:lnTo>
                  <a:cubicBezTo>
                    <a:pt x="16000" y="5175"/>
                    <a:pt x="15953" y="5347"/>
                    <a:pt x="15866" y="5500"/>
                  </a:cubicBezTo>
                  <a:cubicBezTo>
                    <a:pt x="15778" y="5652"/>
                    <a:pt x="15652" y="5778"/>
                    <a:pt x="15500" y="5866"/>
                  </a:cubicBezTo>
                  <a:cubicBezTo>
                    <a:pt x="15347" y="5953"/>
                    <a:pt x="15175" y="6000"/>
                    <a:pt x="15000" y="6000"/>
                  </a:cubicBezTo>
                  <a:lnTo>
                    <a:pt x="9000" y="6000"/>
                  </a:lnTo>
                  <a:cubicBezTo>
                    <a:pt x="8824" y="6000"/>
                    <a:pt x="8652" y="5953"/>
                    <a:pt x="8500" y="5866"/>
                  </a:cubicBezTo>
                  <a:cubicBezTo>
                    <a:pt x="8347" y="5778"/>
                    <a:pt x="8221" y="5652"/>
                    <a:pt x="8133" y="5500"/>
                  </a:cubicBezTo>
                  <a:cubicBezTo>
                    <a:pt x="8046" y="5347"/>
                    <a:pt x="8000" y="5175"/>
                    <a:pt x="8000" y="5000"/>
                  </a:cubicBezTo>
                  <a:lnTo>
                    <a:pt x="8000" y="3000"/>
                  </a:lnTo>
                  <a:cubicBezTo>
                    <a:pt x="8000" y="2824"/>
                    <a:pt x="8046" y="2652"/>
                    <a:pt x="8133" y="2500"/>
                  </a:cubicBezTo>
                  <a:cubicBezTo>
                    <a:pt x="8221" y="2347"/>
                    <a:pt x="8347" y="2221"/>
                    <a:pt x="8500" y="2133"/>
                  </a:cubicBezTo>
                  <a:cubicBezTo>
                    <a:pt x="8652" y="2046"/>
                    <a:pt x="8824" y="2000"/>
                    <a:pt x="9000" y="2000"/>
                  </a:cubicBezTo>
                  <a:close/>
                </a:path>
                <a:path w="24000" h="24000" fill="none">
                  <a:moveTo>
                    <a:pt x="16000" y="4000"/>
                  </a:moveTo>
                  <a:lnTo>
                    <a:pt x="18000" y="4000"/>
                  </a:lnTo>
                  <a:cubicBezTo>
                    <a:pt x="18351" y="4000"/>
                    <a:pt x="18695" y="4092"/>
                    <a:pt x="19000" y="4267"/>
                  </a:cubicBezTo>
                  <a:cubicBezTo>
                    <a:pt x="19304" y="4443"/>
                    <a:pt x="19556" y="4695"/>
                    <a:pt x="19732" y="5000"/>
                  </a:cubicBezTo>
                  <a:cubicBezTo>
                    <a:pt x="19907" y="5304"/>
                    <a:pt x="20000" y="5648"/>
                    <a:pt x="20000" y="6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lnTo>
                    <a:pt x="6000" y="22000"/>
                  </a:ln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6000"/>
                  </a:lnTo>
                  <a:cubicBezTo>
                    <a:pt x="4000" y="5648"/>
                    <a:pt x="4092" y="5304"/>
                    <a:pt x="4267" y="5000"/>
                  </a:cubicBezTo>
                  <a:cubicBezTo>
                    <a:pt x="4443" y="4695"/>
                    <a:pt x="4695" y="4443"/>
                    <a:pt x="4999" y="4267"/>
                  </a:cubicBezTo>
                  <a:cubicBezTo>
                    <a:pt x="5304" y="4092"/>
                    <a:pt x="5648" y="4000"/>
                    <a:pt x="6000" y="4000"/>
                  </a:cubicBezTo>
                  <a:lnTo>
                    <a:pt x="8000" y="4000"/>
                  </a:lnTo>
                </a:path>
                <a:path w="24000" h="24000" fill="none">
                  <a:moveTo>
                    <a:pt x="9000" y="14000"/>
                  </a:moveTo>
                  <a:lnTo>
                    <a:pt x="11000" y="16000"/>
                  </a:lnTo>
                  <a:lnTo>
                    <a:pt x="15000" y="12000"/>
                  </a:lnTo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98" name="Scope item"/>
            <p:cNvSpPr txBox="1"/>
            <p:nvPr/>
          </p:nvSpPr>
          <p:spPr>
            <a:xfrm>
              <a:off x="5961888" y="3883889"/>
              <a:ext cx="2834640" cy="117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Operator and SAP team availability for UAT and training</a:t>
              </a:r>
              <a:endParaRPr lang="en-US" sz="760" dirty="0">
                <a:latin typeface="Inter"/>
              </a:endParaRPr>
            </a:p>
          </p:txBody>
        </p:sp>
        <p:cxnSp>
          <p:nvCxnSpPr>
            <p:cNvPr id="99" name="Rule"/>
            <p:cNvCxnSpPr/>
            <p:nvPr/>
          </p:nvCxnSpPr>
          <p:spPr>
            <a:xfrm>
              <a:off x="5961888" y="4103052"/>
              <a:ext cx="2798064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00" name="Icon tile"/>
            <p:cNvSpPr/>
            <p:nvPr/>
          </p:nvSpPr>
          <p:spPr>
            <a:xfrm>
              <a:off x="5650992" y="4161638"/>
              <a:ext cx="219456" cy="219456"/>
            </a:xfrm>
            <a:prstGeom prst="roundRect">
              <a:avLst>
                <a:gd name="adj" fmla="val 16666"/>
              </a:avLst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101" name="Icon plane"/>
            <p:cNvSpPr/>
            <p:nvPr/>
          </p:nvSpPr>
          <p:spPr>
            <a:xfrm>
              <a:off x="5692140" y="420278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800" y="19200"/>
                  </a:moveTo>
                  <a:lnTo>
                    <a:pt x="16000" y="11000"/>
                  </a:lnTo>
                  <a:lnTo>
                    <a:pt x="19500" y="7500"/>
                  </a:lnTo>
                  <a:cubicBezTo>
                    <a:pt x="21000" y="6000"/>
                    <a:pt x="21500" y="4000"/>
                    <a:pt x="21000" y="3000"/>
                  </a:cubicBezTo>
                  <a:cubicBezTo>
                    <a:pt x="20000" y="2500"/>
                    <a:pt x="18000" y="3000"/>
                    <a:pt x="16500" y="4500"/>
                  </a:cubicBezTo>
                  <a:lnTo>
                    <a:pt x="13000" y="8000"/>
                  </a:lnTo>
                  <a:lnTo>
                    <a:pt x="4800" y="6200"/>
                  </a:lnTo>
                  <a:cubicBezTo>
                    <a:pt x="4300" y="6100"/>
                    <a:pt x="3900" y="6300"/>
                    <a:pt x="3699" y="6700"/>
                  </a:cubicBezTo>
                  <a:lnTo>
                    <a:pt x="3400" y="7200"/>
                  </a:lnTo>
                  <a:cubicBezTo>
                    <a:pt x="3199" y="7700"/>
                    <a:pt x="3300" y="8200"/>
                    <a:pt x="3699" y="8500"/>
                  </a:cubicBezTo>
                  <a:lnTo>
                    <a:pt x="9000" y="12000"/>
                  </a:lnTo>
                  <a:lnTo>
                    <a:pt x="7000" y="15000"/>
                  </a:lnTo>
                  <a:lnTo>
                    <a:pt x="4000" y="15000"/>
                  </a:lnTo>
                  <a:lnTo>
                    <a:pt x="3000" y="16000"/>
                  </a:lnTo>
                  <a:lnTo>
                    <a:pt x="6000" y="18000"/>
                  </a:lnTo>
                  <a:lnTo>
                    <a:pt x="8000" y="21000"/>
                  </a:lnTo>
                  <a:lnTo>
                    <a:pt x="9000" y="20000"/>
                  </a:lnTo>
                  <a:lnTo>
                    <a:pt x="9000" y="17000"/>
                  </a:lnTo>
                  <a:lnTo>
                    <a:pt x="12000" y="15000"/>
                  </a:lnTo>
                  <a:lnTo>
                    <a:pt x="15500" y="20300"/>
                  </a:lnTo>
                  <a:cubicBezTo>
                    <a:pt x="15800" y="20700"/>
                    <a:pt x="16300" y="20800"/>
                    <a:pt x="16800" y="20600"/>
                  </a:cubicBezTo>
                  <a:lnTo>
                    <a:pt x="17300" y="20400"/>
                  </a:lnTo>
                  <a:cubicBezTo>
                    <a:pt x="17700" y="20100"/>
                    <a:pt x="17900" y="19700"/>
                    <a:pt x="17800" y="19200"/>
                  </a:cubicBezTo>
                  <a:close/>
                </a:path>
              </a:pathLst>
            </a:custGeom>
            <a:noFill/>
            <a:ln w="11429" cap="rnd">
              <a:solidFill>
                <a:srgbClr val="40566D"/>
              </a:solidFill>
              <a:round/>
            </a:ln>
          </p:spPr>
        </p:sp>
        <p:sp>
          <p:nvSpPr>
            <p:cNvPr id="102" name="Scope item"/>
            <p:cNvSpPr txBox="1"/>
            <p:nvPr/>
          </p:nvSpPr>
          <p:spPr>
            <a:xfrm>
              <a:off x="5961888" y="4153611"/>
              <a:ext cx="2834640" cy="235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27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Travel and accommodation for Faclon engineers during site visits</a:t>
              </a:r>
              <a:endParaRPr lang="en-US" sz="760" dirty="0">
                <a:latin typeface="Inter"/>
              </a:endParaRPr>
            </a:p>
          </p:txBody>
        </p:sp>
      </p:grpSp>
      <p:grpSp>
        <p:nvGrpSpPr>
          <p:cNvPr id="103" name="To be agreed"/>
          <p:cNvGrpSpPr/>
          <p:nvPr/>
        </p:nvGrpSpPr>
        <p:grpSpPr>
          <a:xfrm>
            <a:off x="274320" y="4553712"/>
            <a:ext cx="8595360" cy="237744"/>
            <a:chOff x="274320" y="4553712"/>
            <a:chExt cx="8595360" cy="237744"/>
          </a:xfrm>
        </p:grpSpPr>
        <p:sp>
          <p:nvSpPr>
            <p:cNvPr id="104" name="Strip"/>
            <p:cNvSpPr/>
            <p:nvPr/>
          </p:nvSpPr>
          <p:spPr>
            <a:xfrm>
              <a:off x="274320" y="4553712"/>
              <a:ext cx="8595360" cy="237744"/>
            </a:xfrm>
            <a:prstGeom prst="roundRect">
              <a:avLst>
                <a:gd name="adj" fmla="val 15384"/>
              </a:avLst>
            </a:prstGeom>
            <a:solidFill>
              <a:srgbClr val="E9690C">
                <a:alpha val="7000"/>
              </a:srgbClr>
            </a:solidFill>
            <a:ln>
              <a:noFill/>
            </a:ln>
          </p:spPr>
        </p:sp>
        <p:grpSp>
          <p:nvGrpSpPr>
            <p:cNvPr id="105" name="Chip Responsibility to be agreed"/>
            <p:cNvGrpSpPr/>
            <p:nvPr/>
          </p:nvGrpSpPr>
          <p:grpSpPr>
            <a:xfrm>
              <a:off x="347472" y="4599432"/>
              <a:ext cx="1272678" cy="146304"/>
              <a:chOff x="347472" y="4599432"/>
              <a:chExt cx="1272678" cy="146304"/>
            </a:xfrm>
          </p:grpSpPr>
          <p:sp>
            <p:nvSpPr>
              <p:cNvPr id="106" name="Chip fill"/>
              <p:cNvSpPr/>
              <p:nvPr/>
            </p:nvSpPr>
            <p:spPr>
              <a:xfrm>
                <a:off x="347472" y="4599432"/>
                <a:ext cx="1272678" cy="146304"/>
              </a:xfrm>
              <a:prstGeom prst="roundRect">
                <a:avLst>
                  <a:gd name="adj" fmla="val 18750"/>
                </a:avLst>
              </a:prstGeom>
              <a:solidFill>
                <a:srgbClr val="E9690C"/>
              </a:solidFill>
              <a:ln>
                <a:noFill/>
              </a:ln>
            </p:spPr>
          </p:sp>
          <p:sp>
            <p:nvSpPr>
              <p:cNvPr id="107" name="Icon circle-help"/>
              <p:cNvSpPr/>
              <p:nvPr/>
            </p:nvSpPr>
            <p:spPr>
              <a:xfrm>
                <a:off x="402336" y="4623372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9090" y="9000"/>
                    </a:moveTo>
                    <a:cubicBezTo>
                      <a:pt x="9245" y="8557"/>
                      <a:pt x="9503" y="8156"/>
                      <a:pt x="9842" y="7831"/>
                    </a:cubicBezTo>
                    <a:cubicBezTo>
                      <a:pt x="10180" y="7506"/>
                      <a:pt x="10591" y="7265"/>
                      <a:pt x="11040" y="7127"/>
                    </a:cubicBezTo>
                    <a:cubicBezTo>
                      <a:pt x="11489" y="6989"/>
                      <a:pt x="11964" y="6959"/>
                      <a:pt x="12427" y="7038"/>
                    </a:cubicBezTo>
                    <a:cubicBezTo>
                      <a:pt x="12890" y="7118"/>
                      <a:pt x="13327" y="7305"/>
                      <a:pt x="13705" y="7584"/>
                    </a:cubicBezTo>
                    <a:cubicBezTo>
                      <a:pt x="14082" y="7863"/>
                      <a:pt x="14389" y="8228"/>
                      <a:pt x="14600" y="8647"/>
                    </a:cubicBezTo>
                    <a:cubicBezTo>
                      <a:pt x="14811" y="9067"/>
                      <a:pt x="14920" y="9530"/>
                      <a:pt x="14920" y="10000"/>
                    </a:cubicBezTo>
                    <a:cubicBezTo>
                      <a:pt x="14920" y="12000"/>
                      <a:pt x="11920" y="13000"/>
                      <a:pt x="11920" y="13000"/>
                    </a:cubicBez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108" name="Chip label"/>
              <p:cNvSpPr txBox="1"/>
              <p:nvPr/>
            </p:nvSpPr>
            <p:spPr>
              <a:xfrm>
                <a:off x="532765" y="4599432"/>
                <a:ext cx="1050809" cy="146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Responsibility to be agreed</a:t>
                </a:r>
                <a:endParaRPr lang="en-US" sz="620" dirty="0">
                  <a:latin typeface="Inter SemiBold"/>
                </a:endParaRPr>
              </a:p>
            </p:txBody>
          </p:sp>
        </p:grpSp>
        <p:sp>
          <p:nvSpPr>
            <p:cNvPr id="109" name="Items"/>
            <p:cNvSpPr txBox="1"/>
            <p:nvPr/>
          </p:nvSpPr>
          <p:spPr>
            <a:xfrm>
              <a:off x="1711590" y="4553712"/>
              <a:ext cx="7094082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70"/>
                </a:lnSpc>
                <a:spcBef>
                  <a:spcPts val="0"/>
                </a:spcBef>
                <a:buNone/>
              </a:pPr>
              <a:r>
                <a:rPr lang="en-US" sz="67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Operator terminal at the Hydrotester station   ·   IPC mounting, power and cabling at the station</a:t>
              </a:r>
              <a:endParaRPr lang="en-US" sz="670" dirty="0">
                <a:latin typeface="Inter"/>
              </a:endParaRP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11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12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01  ·  UT STATIONS (IUT &amp; FUT)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Software Deliverables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One application for the IUT and FUT stations, delivered as six modules.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Deliverable · SAP Entry Application  ·  IUT &amp; FUT"/>
          <p:cNvGrpSpPr/>
          <p:nvPr/>
        </p:nvGrpSpPr>
        <p:grpSpPr>
          <a:xfrm>
            <a:off x="274320" y="1033272"/>
            <a:ext cx="8595360" cy="402336"/>
            <a:chOff x="274320" y="1033272"/>
            <a:chExt cx="8595360" cy="402336"/>
          </a:xfrm>
        </p:grpSpPr>
        <p:sp>
          <p:nvSpPr>
            <p:cNvPr id="22" name="Banner"/>
            <p:cNvSpPr/>
            <p:nvPr/>
          </p:nvSpPr>
          <p:spPr>
            <a:xfrm>
              <a:off x="274320" y="1033272"/>
              <a:ext cx="8595360" cy="402336"/>
            </a:xfrm>
            <a:prstGeom prst="roundRect">
              <a:avLst>
                <a:gd name="adj" fmla="val 1363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3" name="Icon tile"/>
            <p:cNvSpPr/>
            <p:nvPr/>
          </p:nvSpPr>
          <p:spPr>
            <a:xfrm>
              <a:off x="365760" y="109728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24" name="Icon app-window"/>
            <p:cNvSpPr/>
            <p:nvPr/>
          </p:nvSpPr>
          <p:spPr>
            <a:xfrm>
              <a:off x="425196" y="115671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0351" y="4000"/>
                    <a:pt x="20695" y="4092"/>
                    <a:pt x="21000" y="4267"/>
                  </a:cubicBezTo>
                  <a:cubicBezTo>
                    <a:pt x="21304" y="4443"/>
                    <a:pt x="21556" y="4695"/>
                    <a:pt x="21732" y="5000"/>
                  </a:cubicBezTo>
                  <a:cubicBezTo>
                    <a:pt x="21907" y="5304"/>
                    <a:pt x="22000" y="5648"/>
                    <a:pt x="22000" y="6000"/>
                  </a:cubicBezTo>
                  <a:lnTo>
                    <a:pt x="22000" y="18000"/>
                  </a:lnTo>
                  <a:cubicBezTo>
                    <a:pt x="22000" y="18351"/>
                    <a:pt x="21907" y="18695"/>
                    <a:pt x="21732" y="19000"/>
                  </a:cubicBezTo>
                  <a:cubicBezTo>
                    <a:pt x="21556" y="19304"/>
                    <a:pt x="21304" y="19556"/>
                    <a:pt x="21000" y="19732"/>
                  </a:cubicBezTo>
                  <a:cubicBezTo>
                    <a:pt x="20695" y="19907"/>
                    <a:pt x="20351" y="20000"/>
                    <a:pt x="20000" y="20000"/>
                  </a:cubicBezTo>
                  <a:lnTo>
                    <a:pt x="4000" y="20000"/>
                  </a:lnTo>
                  <a:cubicBezTo>
                    <a:pt x="3648" y="20000"/>
                    <a:pt x="3304" y="19907"/>
                    <a:pt x="3000" y="19732"/>
                  </a:cubicBezTo>
                  <a:cubicBezTo>
                    <a:pt x="2695" y="19556"/>
                    <a:pt x="2443" y="19304"/>
                    <a:pt x="2267" y="19000"/>
                  </a:cubicBezTo>
                  <a:cubicBezTo>
                    <a:pt x="2092" y="18695"/>
                    <a:pt x="2000" y="18351"/>
                    <a:pt x="2000" y="18000"/>
                  </a:cubicBezTo>
                  <a:lnTo>
                    <a:pt x="2000" y="6000"/>
                  </a:lnTo>
                  <a:cubicBezTo>
                    <a:pt x="2000" y="5648"/>
                    <a:pt x="2092" y="5304"/>
                    <a:pt x="2267" y="5000"/>
                  </a:cubicBezTo>
                  <a:cubicBezTo>
                    <a:pt x="2443" y="4695"/>
                    <a:pt x="2695" y="4443"/>
                    <a:pt x="2999" y="4267"/>
                  </a:cubicBezTo>
                  <a:cubicBezTo>
                    <a:pt x="3304" y="4092"/>
                    <a:pt x="3648" y="4000"/>
                    <a:pt x="4000" y="4000"/>
                  </a:cubicBezTo>
                  <a:close/>
                </a:path>
                <a:path w="24000" h="24000" fill="none">
                  <a:moveTo>
                    <a:pt x="10000" y="4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2000" y="8000"/>
                  </a:moveTo>
                  <a:lnTo>
                    <a:pt x="22000" y="8000"/>
                  </a:lnTo>
                </a:path>
                <a:path w="24000" h="24000" fill="none">
                  <a:moveTo>
                    <a:pt x="6000" y="4000"/>
                  </a:moveTo>
                  <a:lnTo>
                    <a:pt x="6000" y="8000"/>
                  </a:ln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25" name="Deliverable name"/>
            <p:cNvSpPr txBox="1"/>
            <p:nvPr/>
          </p:nvSpPr>
          <p:spPr>
            <a:xfrm>
              <a:off x="731520" y="1033272"/>
              <a:ext cx="804672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1155"/>
                </a:lnSpc>
                <a:spcBef>
                  <a:spcPts val="0"/>
                </a:spcBef>
                <a:buNone/>
              </a:pPr>
              <a:r>
                <a:rPr lang="en-US" sz="10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SAP Entry Application  ·  IUT &amp; FUT</a:t>
              </a:r>
              <a:endParaRPr lang="en-US" sz="1050" dirty="0">
                <a:latin typeface="TASA Orbiter SemiBold"/>
              </a:endParaRPr>
            </a:p>
          </p:txBody>
        </p:sp>
        <p:grpSp>
          <p:nvGrpSpPr>
            <p:cNvPr id="26" name="Chip IOsense platform"/>
            <p:cNvGrpSpPr/>
            <p:nvPr/>
          </p:nvGrpSpPr>
          <p:grpSpPr>
            <a:xfrm>
              <a:off x="7888121" y="1152144"/>
              <a:ext cx="890119" cy="164592"/>
              <a:chOff x="7888121" y="1152144"/>
              <a:chExt cx="890119" cy="164592"/>
            </a:xfrm>
          </p:grpSpPr>
          <p:sp>
            <p:nvSpPr>
              <p:cNvPr id="27" name="Chip fill"/>
              <p:cNvSpPr/>
              <p:nvPr/>
            </p:nvSpPr>
            <p:spPr>
              <a:xfrm>
                <a:off x="7888121" y="1152144"/>
                <a:ext cx="890119" cy="164592"/>
              </a:xfrm>
              <a:prstGeom prst="roundRect">
                <a:avLst>
                  <a:gd name="adj" fmla="val 16666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28" name="Icon layers"/>
              <p:cNvSpPr/>
              <p:nvPr/>
            </p:nvSpPr>
            <p:spPr>
              <a:xfrm>
                <a:off x="7942985" y="1185228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830" y="2180"/>
                    </a:moveTo>
                    <a:cubicBezTo>
                      <a:pt x="12569" y="2061"/>
                      <a:pt x="12286" y="1999"/>
                      <a:pt x="12000" y="1999"/>
                    </a:cubicBezTo>
                    <a:cubicBezTo>
                      <a:pt x="11713" y="1999"/>
                      <a:pt x="11430" y="2061"/>
                      <a:pt x="11170" y="2180"/>
                    </a:cubicBezTo>
                    <a:lnTo>
                      <a:pt x="2600" y="6080"/>
                    </a:lnTo>
                    <a:cubicBezTo>
                      <a:pt x="2458" y="6142"/>
                      <a:pt x="2333" y="6236"/>
                      <a:pt x="2234" y="6355"/>
                    </a:cubicBezTo>
                    <a:cubicBezTo>
                      <a:pt x="2135" y="6474"/>
                      <a:pt x="2065" y="6615"/>
                      <a:pt x="2030" y="6765"/>
                    </a:cubicBezTo>
                    <a:cubicBezTo>
                      <a:pt x="1994" y="6916"/>
                      <a:pt x="1994" y="7073"/>
                      <a:pt x="2030" y="7224"/>
                    </a:cubicBezTo>
                    <a:cubicBezTo>
                      <a:pt x="2065" y="7374"/>
                      <a:pt x="2135" y="7515"/>
                      <a:pt x="2234" y="7634"/>
                    </a:cubicBezTo>
                    <a:cubicBezTo>
                      <a:pt x="2333" y="7753"/>
                      <a:pt x="2458" y="7847"/>
                      <a:pt x="2600" y="7910"/>
                    </a:cubicBezTo>
                    <a:lnTo>
                      <a:pt x="11180" y="11820"/>
                    </a:lnTo>
                    <a:cubicBezTo>
                      <a:pt x="11440" y="11938"/>
                      <a:pt x="11723" y="12000"/>
                      <a:pt x="12010" y="12000"/>
                    </a:cubicBezTo>
                    <a:cubicBezTo>
                      <a:pt x="12296" y="12000"/>
                      <a:pt x="12579" y="11938"/>
                      <a:pt x="12840" y="11820"/>
                    </a:cubicBezTo>
                    <a:lnTo>
                      <a:pt x="21420" y="7920"/>
                    </a:lnTo>
                    <a:cubicBezTo>
                      <a:pt x="21561" y="7857"/>
                      <a:pt x="21686" y="7763"/>
                      <a:pt x="21785" y="7644"/>
                    </a:cubicBezTo>
                    <a:cubicBezTo>
                      <a:pt x="21884" y="7525"/>
                      <a:pt x="21954" y="7384"/>
                      <a:pt x="21989" y="7234"/>
                    </a:cubicBezTo>
                    <a:cubicBezTo>
                      <a:pt x="22025" y="7083"/>
                      <a:pt x="22025" y="6926"/>
                      <a:pt x="21989" y="6775"/>
                    </a:cubicBezTo>
                    <a:cubicBezTo>
                      <a:pt x="21954" y="6625"/>
                      <a:pt x="21884" y="6484"/>
                      <a:pt x="21785" y="6365"/>
                    </a:cubicBezTo>
                    <a:cubicBezTo>
                      <a:pt x="21686" y="6246"/>
                      <a:pt x="21561" y="6152"/>
                      <a:pt x="21420" y="6090"/>
                    </a:cubicBezTo>
                    <a:close/>
                  </a:path>
                  <a:path w="24000" h="24000" fill="none">
                    <a:moveTo>
                      <a:pt x="2000" y="12000"/>
                    </a:moveTo>
                    <a:cubicBezTo>
                      <a:pt x="1999" y="12127"/>
                      <a:pt x="2023" y="12252"/>
                      <a:pt x="2070" y="12371"/>
                    </a:cubicBezTo>
                    <a:cubicBezTo>
                      <a:pt x="2117" y="12489"/>
                      <a:pt x="2186" y="12597"/>
                      <a:pt x="2273" y="12689"/>
                    </a:cubicBezTo>
                    <a:cubicBezTo>
                      <a:pt x="2360" y="12781"/>
                      <a:pt x="2464" y="12856"/>
                      <a:pt x="2580" y="12910"/>
                    </a:cubicBezTo>
                    <a:lnTo>
                      <a:pt x="11180" y="16820"/>
                    </a:lnTo>
                    <a:cubicBezTo>
                      <a:pt x="11439" y="16937"/>
                      <a:pt x="11720" y="16998"/>
                      <a:pt x="12004" y="16998"/>
                    </a:cubicBezTo>
                    <a:cubicBezTo>
                      <a:pt x="12289" y="16998"/>
                      <a:pt x="12570" y="16937"/>
                      <a:pt x="12830" y="16820"/>
                    </a:cubicBezTo>
                    <a:lnTo>
                      <a:pt x="21410" y="12920"/>
                    </a:lnTo>
                    <a:cubicBezTo>
                      <a:pt x="21527" y="12867"/>
                      <a:pt x="21633" y="12792"/>
                      <a:pt x="21722" y="12698"/>
                    </a:cubicBezTo>
                    <a:cubicBezTo>
                      <a:pt x="21811" y="12605"/>
                      <a:pt x="21882" y="12496"/>
                      <a:pt x="21929" y="12376"/>
                    </a:cubicBezTo>
                    <a:cubicBezTo>
                      <a:pt x="21977" y="12256"/>
                      <a:pt x="22001" y="12128"/>
                      <a:pt x="22000" y="12000"/>
                    </a:cubicBezTo>
                  </a:path>
                  <a:path w="24000" h="24000" fill="none">
                    <a:moveTo>
                      <a:pt x="2000" y="17000"/>
                    </a:moveTo>
                    <a:cubicBezTo>
                      <a:pt x="1999" y="17127"/>
                      <a:pt x="2023" y="17252"/>
                      <a:pt x="2070" y="17371"/>
                    </a:cubicBezTo>
                    <a:cubicBezTo>
                      <a:pt x="2117" y="17489"/>
                      <a:pt x="2186" y="17597"/>
                      <a:pt x="2273" y="17689"/>
                    </a:cubicBezTo>
                    <a:cubicBezTo>
                      <a:pt x="2360" y="17781"/>
                      <a:pt x="2464" y="17856"/>
                      <a:pt x="2580" y="17910"/>
                    </a:cubicBezTo>
                    <a:lnTo>
                      <a:pt x="11180" y="21820"/>
                    </a:lnTo>
                    <a:cubicBezTo>
                      <a:pt x="11439" y="21937"/>
                      <a:pt x="11720" y="21998"/>
                      <a:pt x="12004" y="21998"/>
                    </a:cubicBezTo>
                    <a:cubicBezTo>
                      <a:pt x="12289" y="21998"/>
                      <a:pt x="12570" y="21937"/>
                      <a:pt x="12830" y="21820"/>
                    </a:cubicBezTo>
                    <a:lnTo>
                      <a:pt x="21410" y="17920"/>
                    </a:lnTo>
                    <a:cubicBezTo>
                      <a:pt x="21527" y="17867"/>
                      <a:pt x="21633" y="17792"/>
                      <a:pt x="21722" y="17698"/>
                    </a:cubicBezTo>
                    <a:cubicBezTo>
                      <a:pt x="21811" y="17605"/>
                      <a:pt x="21882" y="17496"/>
                      <a:pt x="21929" y="17376"/>
                    </a:cubicBezTo>
                    <a:cubicBezTo>
                      <a:pt x="21977" y="17256"/>
                      <a:pt x="22001" y="17128"/>
                      <a:pt x="22000" y="17000"/>
                    </a:cubicBezTo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29" name="Chip label"/>
              <p:cNvSpPr txBox="1"/>
              <p:nvPr/>
            </p:nvSpPr>
            <p:spPr>
              <a:xfrm>
                <a:off x="8073414" y="1152144"/>
                <a:ext cx="668250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IOsense platform</a:t>
                </a:r>
                <a:endParaRPr lang="en-US" sz="620" dirty="0">
                  <a:latin typeface="Inter SemiBold"/>
                </a:endParaRPr>
              </a:p>
            </p:txBody>
          </p:sp>
        </p:grpSp>
        <p:grpSp>
          <p:nvGrpSpPr>
            <p:cNvPr id="30" name="Chip Central server"/>
            <p:cNvGrpSpPr/>
            <p:nvPr/>
          </p:nvGrpSpPr>
          <p:grpSpPr>
            <a:xfrm>
              <a:off x="7060636" y="1152144"/>
              <a:ext cx="781765" cy="164592"/>
              <a:chOff x="7060636" y="1152144"/>
              <a:chExt cx="781765" cy="164592"/>
            </a:xfrm>
          </p:grpSpPr>
          <p:sp>
            <p:nvSpPr>
              <p:cNvPr id="31" name="Chip fill"/>
              <p:cNvSpPr/>
              <p:nvPr/>
            </p:nvSpPr>
            <p:spPr>
              <a:xfrm>
                <a:off x="7060636" y="1152144"/>
                <a:ext cx="781765" cy="164592"/>
              </a:xfrm>
              <a:prstGeom prst="roundRect">
                <a:avLst>
                  <a:gd name="adj" fmla="val 16666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32" name="Icon server"/>
              <p:cNvSpPr/>
              <p:nvPr/>
            </p:nvSpPr>
            <p:spPr>
              <a:xfrm>
                <a:off x="7115500" y="1185228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4000" y="2000"/>
                    </a:moveTo>
                    <a:lnTo>
                      <a:pt x="20000" y="2000"/>
                    </a:lnTo>
                    <a:cubicBezTo>
                      <a:pt x="20351" y="2000"/>
                      <a:pt x="20695" y="2092"/>
                      <a:pt x="21000" y="2267"/>
                    </a:cubicBezTo>
                    <a:cubicBezTo>
                      <a:pt x="21304" y="2443"/>
                      <a:pt x="21556" y="2695"/>
                      <a:pt x="21732" y="3000"/>
                    </a:cubicBezTo>
                    <a:cubicBezTo>
                      <a:pt x="21907" y="3304"/>
                      <a:pt x="22000" y="3648"/>
                      <a:pt x="22000" y="4000"/>
                    </a:cubicBezTo>
                    <a:lnTo>
                      <a:pt x="22000" y="8000"/>
                    </a:lnTo>
                    <a:cubicBezTo>
                      <a:pt x="22000" y="8351"/>
                      <a:pt x="21907" y="8695"/>
                      <a:pt x="21732" y="9000"/>
                    </a:cubicBezTo>
                    <a:cubicBezTo>
                      <a:pt x="21556" y="9304"/>
                      <a:pt x="21304" y="9556"/>
                      <a:pt x="21000" y="9732"/>
                    </a:cubicBezTo>
                    <a:cubicBezTo>
                      <a:pt x="20695" y="9907"/>
                      <a:pt x="20351" y="10000"/>
                      <a:pt x="20000" y="10000"/>
                    </a:cubicBezTo>
                    <a:lnTo>
                      <a:pt x="4000" y="10000"/>
                    </a:lnTo>
                    <a:cubicBezTo>
                      <a:pt x="3648" y="10000"/>
                      <a:pt x="3304" y="9907"/>
                      <a:pt x="3000" y="9732"/>
                    </a:cubicBezTo>
                    <a:cubicBezTo>
                      <a:pt x="2695" y="9556"/>
                      <a:pt x="2443" y="9304"/>
                      <a:pt x="2267" y="9000"/>
                    </a:cubicBezTo>
                    <a:cubicBezTo>
                      <a:pt x="2092" y="8695"/>
                      <a:pt x="2000" y="8351"/>
                      <a:pt x="2000" y="8000"/>
                    </a:cubicBezTo>
                    <a:lnTo>
                      <a:pt x="2000" y="4000"/>
                    </a:lnTo>
                    <a:cubicBezTo>
                      <a:pt x="2000" y="3648"/>
                      <a:pt x="2092" y="3304"/>
                      <a:pt x="2267" y="3000"/>
                    </a:cubicBezTo>
                    <a:cubicBezTo>
                      <a:pt x="2443" y="2695"/>
                      <a:pt x="2695" y="2443"/>
                      <a:pt x="2999" y="2267"/>
                    </a:cubicBezTo>
                    <a:cubicBezTo>
                      <a:pt x="3304" y="2092"/>
                      <a:pt x="3648" y="2000"/>
                      <a:pt x="4000" y="2000"/>
                    </a:cubicBezTo>
                    <a:close/>
                  </a:path>
                  <a:path w="24000" h="24000" fill="none">
                    <a:moveTo>
                      <a:pt x="4000" y="14000"/>
                    </a:moveTo>
                    <a:lnTo>
                      <a:pt x="20000" y="14000"/>
                    </a:lnTo>
                    <a:cubicBezTo>
                      <a:pt x="20351" y="14000"/>
                      <a:pt x="20695" y="14092"/>
                      <a:pt x="21000" y="14267"/>
                    </a:cubicBezTo>
                    <a:cubicBezTo>
                      <a:pt x="21304" y="14443"/>
                      <a:pt x="21556" y="14695"/>
                      <a:pt x="21732" y="15000"/>
                    </a:cubicBezTo>
                    <a:cubicBezTo>
                      <a:pt x="21907" y="15304"/>
                      <a:pt x="22000" y="15648"/>
                      <a:pt x="22000" y="16000"/>
                    </a:cubicBezTo>
                    <a:lnTo>
                      <a:pt x="22000" y="20000"/>
                    </a:lnTo>
                    <a:cubicBezTo>
                      <a:pt x="22000" y="20351"/>
                      <a:pt x="21907" y="20695"/>
                      <a:pt x="21732" y="21000"/>
                    </a:cubicBezTo>
                    <a:cubicBezTo>
                      <a:pt x="21556" y="21304"/>
                      <a:pt x="21304" y="21556"/>
                      <a:pt x="21000" y="21732"/>
                    </a:cubicBezTo>
                    <a:cubicBezTo>
                      <a:pt x="20695" y="21907"/>
                      <a:pt x="20351" y="22000"/>
                      <a:pt x="20000" y="22000"/>
                    </a:cubicBezTo>
                    <a:lnTo>
                      <a:pt x="4000" y="22000"/>
                    </a:lnTo>
                    <a:cubicBezTo>
                      <a:pt x="3648" y="22000"/>
                      <a:pt x="3304" y="21907"/>
                      <a:pt x="3000" y="21732"/>
                    </a:cubicBezTo>
                    <a:cubicBezTo>
                      <a:pt x="2695" y="21556"/>
                      <a:pt x="2443" y="21304"/>
                      <a:pt x="2267" y="21000"/>
                    </a:cubicBezTo>
                    <a:cubicBezTo>
                      <a:pt x="2092" y="20695"/>
                      <a:pt x="2000" y="20351"/>
                      <a:pt x="2000" y="20000"/>
                    </a:cubicBezTo>
                    <a:lnTo>
                      <a:pt x="2000" y="16000"/>
                    </a:lnTo>
                    <a:cubicBezTo>
                      <a:pt x="2000" y="15648"/>
                      <a:pt x="2092" y="15304"/>
                      <a:pt x="2267" y="15000"/>
                    </a:cubicBezTo>
                    <a:cubicBezTo>
                      <a:pt x="2443" y="14695"/>
                      <a:pt x="2695" y="14443"/>
                      <a:pt x="2999" y="14267"/>
                    </a:cubicBezTo>
                    <a:cubicBezTo>
                      <a:pt x="3304" y="14092"/>
                      <a:pt x="3648" y="14000"/>
                      <a:pt x="4000" y="14000"/>
                    </a:cubicBezTo>
                    <a:close/>
                  </a:path>
                  <a:path w="24000" h="24000" fill="none">
                    <a:moveTo>
                      <a:pt x="6000" y="6000"/>
                    </a:moveTo>
                    <a:lnTo>
                      <a:pt x="6010" y="6000"/>
                    </a:lnTo>
                  </a:path>
                  <a:path w="24000" h="24000" fill="none">
                    <a:moveTo>
                      <a:pt x="6000" y="18000"/>
                    </a:moveTo>
                    <a:lnTo>
                      <a:pt x="6010" y="18000"/>
                    </a:lnTo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33" name="Chip label"/>
              <p:cNvSpPr txBox="1"/>
              <p:nvPr/>
            </p:nvSpPr>
            <p:spPr>
              <a:xfrm>
                <a:off x="7245929" y="1152144"/>
                <a:ext cx="559896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</a:t>
                </a:r>
                <a:endParaRPr lang="en-US" sz="620" dirty="0">
                  <a:latin typeface="Inter SemiBold"/>
                </a:endParaRPr>
              </a:p>
            </p:txBody>
          </p:sp>
        </p:grpSp>
      </p:grpSp>
      <p:grpSp>
        <p:nvGrpSpPr>
          <p:cNvPr id="34" name="Module 01 · PO Configuration"/>
          <p:cNvGrpSpPr/>
          <p:nvPr/>
        </p:nvGrpSpPr>
        <p:grpSpPr>
          <a:xfrm>
            <a:off x="274320" y="1527048"/>
            <a:ext cx="2791968" cy="1147572"/>
            <a:chOff x="274320" y="1527048"/>
            <a:chExt cx="2791968" cy="1147572"/>
          </a:xfrm>
        </p:grpSpPr>
        <p:sp>
          <p:nvSpPr>
            <p:cNvPr id="35" name="Module card"/>
            <p:cNvSpPr/>
            <p:nvPr/>
          </p:nvSpPr>
          <p:spPr>
            <a:xfrm>
              <a:off x="274320" y="1527048"/>
              <a:ext cx="2791968" cy="1147572"/>
            </a:xfrm>
            <a:prstGeom prst="roundRect">
              <a:avLst>
                <a:gd name="adj" fmla="val 398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36" name="Accent"/>
            <p:cNvSpPr/>
            <p:nvPr/>
          </p:nvSpPr>
          <p:spPr>
            <a:xfrm>
              <a:off x="274320" y="16184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37" name="Icon sliders-horizontal"/>
            <p:cNvSpPr/>
            <p:nvPr/>
          </p:nvSpPr>
          <p:spPr>
            <a:xfrm>
              <a:off x="384048" y="16230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5000"/>
                  </a:moveTo>
                  <a:lnTo>
                    <a:pt x="3000" y="5000"/>
                  </a:lnTo>
                </a:path>
                <a:path w="24000" h="24000" fill="none">
                  <a:moveTo>
                    <a:pt x="12000" y="19000"/>
                  </a:moveTo>
                  <a:lnTo>
                    <a:pt x="3000" y="19000"/>
                  </a:lnTo>
                </a:path>
                <a:path w="24000" h="24000" fill="none">
                  <a:moveTo>
                    <a:pt x="14000" y="3000"/>
                  </a:moveTo>
                  <a:lnTo>
                    <a:pt x="14000" y="7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16000" y="21000"/>
                  </a:lnTo>
                </a:path>
                <a:path w="24000" h="24000" fill="none">
                  <a:moveTo>
                    <a:pt x="21000" y="1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21000" y="19000"/>
                  </a:moveTo>
                  <a:lnTo>
                    <a:pt x="16000" y="19000"/>
                  </a:lnTo>
                </a:path>
                <a:path w="24000" h="24000" fill="none">
                  <a:moveTo>
                    <a:pt x="21000" y="5000"/>
                  </a:moveTo>
                  <a:lnTo>
                    <a:pt x="14000" y="5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00" y="14000"/>
                  </a:lnTo>
                </a:path>
                <a:path w="24000" h="24000" fill="none">
                  <a:moveTo>
                    <a:pt x="8000" y="12000"/>
                  </a:moveTo>
                  <a:lnTo>
                    <a:pt x="3000" y="12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38" name="Module name"/>
            <p:cNvSpPr txBox="1"/>
            <p:nvPr/>
          </p:nvSpPr>
          <p:spPr>
            <a:xfrm>
              <a:off x="603504" y="1604772"/>
              <a:ext cx="2060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 Configuration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39" name="Module number"/>
            <p:cNvSpPr txBox="1"/>
            <p:nvPr/>
          </p:nvSpPr>
          <p:spPr>
            <a:xfrm>
              <a:off x="2645664" y="15956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40" name="Bullet"/>
            <p:cNvSpPr/>
            <p:nvPr/>
          </p:nvSpPr>
          <p:spPr>
            <a:xfrm>
              <a:off x="429768" y="189692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41" name="Feature"/>
            <p:cNvSpPr txBox="1"/>
            <p:nvPr/>
          </p:nvSpPr>
          <p:spPr>
            <a:xfrm>
              <a:off x="530352" y="1856232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PO dropdown filled automatically from SAP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42" name="Bullet"/>
            <p:cNvSpPr/>
            <p:nvPr/>
          </p:nvSpPr>
          <p:spPr>
            <a:xfrm>
              <a:off x="429768" y="203865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43" name="Feature"/>
            <p:cNvSpPr txBox="1"/>
            <p:nvPr/>
          </p:nvSpPr>
          <p:spPr>
            <a:xfrm>
              <a:off x="530352" y="1997964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MUT and / or X-Ray prove-up rule set per PO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44" name="Bullet"/>
            <p:cNvSpPr/>
            <p:nvPr/>
          </p:nvSpPr>
          <p:spPr>
            <a:xfrm>
              <a:off x="429768" y="21803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45" name="Feature"/>
            <p:cNvSpPr txBox="1"/>
            <p:nvPr/>
          </p:nvSpPr>
          <p:spPr>
            <a:xfrm>
              <a:off x="530352" y="2139696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Settings reused for every pipe on that PO</a:t>
              </a:r>
              <a:endParaRPr lang="en-US" sz="750" dirty="0">
                <a:latin typeface="Inter"/>
              </a:endParaRPr>
            </a:p>
          </p:txBody>
        </p:sp>
      </p:grpSp>
      <p:grpSp>
        <p:nvGrpSpPr>
          <p:cNvPr id="46" name="Module 02 · Report Capture &amp; Parser"/>
          <p:cNvGrpSpPr/>
          <p:nvPr/>
        </p:nvGrpSpPr>
        <p:grpSpPr>
          <a:xfrm>
            <a:off x="3176016" y="1527048"/>
            <a:ext cx="2791968" cy="1147572"/>
            <a:chOff x="3176016" y="1527048"/>
            <a:chExt cx="2791968" cy="1147572"/>
          </a:xfrm>
        </p:grpSpPr>
        <p:sp>
          <p:nvSpPr>
            <p:cNvPr id="47" name="Module card"/>
            <p:cNvSpPr/>
            <p:nvPr/>
          </p:nvSpPr>
          <p:spPr>
            <a:xfrm>
              <a:off x="3176016" y="1527048"/>
              <a:ext cx="2791968" cy="1147572"/>
            </a:xfrm>
            <a:prstGeom prst="roundRect">
              <a:avLst>
                <a:gd name="adj" fmla="val 398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48" name="Accent"/>
            <p:cNvSpPr/>
            <p:nvPr/>
          </p:nvSpPr>
          <p:spPr>
            <a:xfrm>
              <a:off x="3176016" y="16184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49" name="Icon file-scan"/>
            <p:cNvSpPr/>
            <p:nvPr/>
          </p:nvSpPr>
          <p:spPr>
            <a:xfrm>
              <a:off x="3285744" y="16230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0000"/>
                  </a:moveTo>
                  <a:lnTo>
                    <a:pt x="20000" y="8000"/>
                  </a:lnTo>
                  <a:cubicBezTo>
                    <a:pt x="20000" y="7683"/>
                    <a:pt x="19938" y="7369"/>
                    <a:pt x="19817" y="7077"/>
                  </a:cubicBezTo>
                  <a:cubicBezTo>
                    <a:pt x="19696" y="6785"/>
                    <a:pt x="19518" y="6519"/>
                    <a:pt x="19294" y="6296"/>
                  </a:cubicBezTo>
                  <a:lnTo>
                    <a:pt x="15706" y="2708"/>
                  </a:lnTo>
                  <a:cubicBezTo>
                    <a:pt x="15482" y="2483"/>
                    <a:pt x="15216" y="2304"/>
                    <a:pt x="14923" y="2183"/>
                  </a:cubicBezTo>
                  <a:cubicBezTo>
                    <a:pt x="14631" y="2061"/>
                    <a:pt x="14317" y="1999"/>
                    <a:pt x="14000" y="2000"/>
                  </a:cubicBezTo>
                  <a:lnTo>
                    <a:pt x="6000" y="2000"/>
                  </a:lnTo>
                  <a:cubicBezTo>
                    <a:pt x="5648" y="2000"/>
                    <a:pt x="5304" y="2092"/>
                    <a:pt x="5000" y="2267"/>
                  </a:cubicBezTo>
                  <a:cubicBezTo>
                    <a:pt x="4695" y="2443"/>
                    <a:pt x="4443" y="2695"/>
                    <a:pt x="4267" y="2999"/>
                  </a:cubicBezTo>
                  <a:cubicBezTo>
                    <a:pt x="4092" y="3304"/>
                    <a:pt x="4000" y="3648"/>
                    <a:pt x="4000" y="4000"/>
                  </a:cubicBezTo>
                  <a:lnTo>
                    <a:pt x="4000" y="20000"/>
                  </a:lnTo>
                  <a:cubicBezTo>
                    <a:pt x="4000" y="20351"/>
                    <a:pt x="4092" y="20695"/>
                    <a:pt x="4267" y="21000"/>
                  </a:cubicBezTo>
                  <a:cubicBezTo>
                    <a:pt x="4443" y="21304"/>
                    <a:pt x="4695" y="21556"/>
                    <a:pt x="5000" y="21732"/>
                  </a:cubicBezTo>
                  <a:cubicBezTo>
                    <a:pt x="5304" y="21907"/>
                    <a:pt x="5648" y="22000"/>
                    <a:pt x="6000" y="22000"/>
                  </a:cubicBezTo>
                  <a:lnTo>
                    <a:pt x="10350" y="22000"/>
                  </a:lnTo>
                </a:path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175"/>
                    <a:pt x="14046" y="7347"/>
                    <a:pt x="14133" y="7500"/>
                  </a:cubicBezTo>
                  <a:cubicBezTo>
                    <a:pt x="14221" y="7652"/>
                    <a:pt x="14347" y="7778"/>
                    <a:pt x="14500" y="7866"/>
                  </a:cubicBezTo>
                  <a:cubicBezTo>
                    <a:pt x="14652" y="7953"/>
                    <a:pt x="14824" y="8000"/>
                    <a:pt x="15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6000" y="14000"/>
                  </a:moveTo>
                  <a:cubicBezTo>
                    <a:pt x="15648" y="14000"/>
                    <a:pt x="15304" y="14092"/>
                    <a:pt x="15000" y="14267"/>
                  </a:cubicBezTo>
                  <a:cubicBezTo>
                    <a:pt x="14695" y="14443"/>
                    <a:pt x="14443" y="14695"/>
                    <a:pt x="14267" y="15000"/>
                  </a:cubicBezTo>
                  <a:cubicBezTo>
                    <a:pt x="14092" y="15304"/>
                    <a:pt x="14000" y="15648"/>
                    <a:pt x="14000" y="16000"/>
                  </a:cubicBezTo>
                </a:path>
                <a:path w="24000" h="24000" fill="none">
                  <a:moveTo>
                    <a:pt x="16000" y="22000"/>
                  </a:moveTo>
                  <a:cubicBezTo>
                    <a:pt x="15648" y="22000"/>
                    <a:pt x="15304" y="21907"/>
                    <a:pt x="15000" y="21732"/>
                  </a:cubicBezTo>
                  <a:cubicBezTo>
                    <a:pt x="14695" y="21556"/>
                    <a:pt x="14443" y="21304"/>
                    <a:pt x="14267" y="21000"/>
                  </a:cubicBezTo>
                  <a:cubicBezTo>
                    <a:pt x="14092" y="20695"/>
                    <a:pt x="14000" y="20351"/>
                    <a:pt x="14000" y="20000"/>
                  </a:cubicBezTo>
                </a:path>
                <a:path w="24000" h="24000" fill="none">
                  <a:moveTo>
                    <a:pt x="20000" y="14000"/>
                  </a:moveTo>
                  <a:cubicBezTo>
                    <a:pt x="20351" y="14000"/>
                    <a:pt x="20695" y="14092"/>
                    <a:pt x="21000" y="14267"/>
                  </a:cubicBezTo>
                  <a:cubicBezTo>
                    <a:pt x="21304" y="14443"/>
                    <a:pt x="21556" y="14695"/>
                    <a:pt x="21732" y="15000"/>
                  </a:cubicBezTo>
                  <a:cubicBezTo>
                    <a:pt x="21907" y="15304"/>
                    <a:pt x="22000" y="15648"/>
                    <a:pt x="22000" y="16000"/>
                  </a:cubicBezTo>
                </a:path>
                <a:path w="24000" h="24000" fill="none">
                  <a:moveTo>
                    <a:pt x="20000" y="22000"/>
                  </a:moveTo>
                  <a:cubicBezTo>
                    <a:pt x="20351" y="22000"/>
                    <a:pt x="20695" y="21907"/>
                    <a:pt x="21000" y="21732"/>
                  </a:cubicBezTo>
                  <a:cubicBezTo>
                    <a:pt x="21304" y="21556"/>
                    <a:pt x="21556" y="21304"/>
                    <a:pt x="21732" y="21000"/>
                  </a:cubicBezTo>
                  <a:cubicBezTo>
                    <a:pt x="21907" y="20695"/>
                    <a:pt x="22000" y="20351"/>
                    <a:pt x="22000" y="20000"/>
                  </a:cubicBez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50" name="Module name"/>
            <p:cNvSpPr txBox="1"/>
            <p:nvPr/>
          </p:nvSpPr>
          <p:spPr>
            <a:xfrm>
              <a:off x="3505200" y="1604772"/>
              <a:ext cx="2060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Report Capture &amp; Parser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51" name="Module number"/>
            <p:cNvSpPr txBox="1"/>
            <p:nvPr/>
          </p:nvSpPr>
          <p:spPr>
            <a:xfrm>
              <a:off x="5547360" y="15956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52" name="Bullet"/>
            <p:cNvSpPr/>
            <p:nvPr/>
          </p:nvSpPr>
          <p:spPr>
            <a:xfrm>
              <a:off x="3331464" y="189692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53" name="Feature"/>
            <p:cNvSpPr txBox="1"/>
            <p:nvPr/>
          </p:nvSpPr>
          <p:spPr>
            <a:xfrm>
              <a:off x="3432048" y="1856232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New entry for every pipe tested, incl. retests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54" name="Bullet"/>
            <p:cNvSpPr/>
            <p:nvPr/>
          </p:nvSpPr>
          <p:spPr>
            <a:xfrm>
              <a:off x="3331464" y="203865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55" name="Feature"/>
            <p:cNvSpPr txBox="1"/>
            <p:nvPr/>
          </p:nvSpPr>
          <p:spPr>
            <a:xfrm>
              <a:off x="3432048" y="1997964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PDF test report and JPEG indication image saved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56" name="Bullet"/>
            <p:cNvSpPr/>
            <p:nvPr/>
          </p:nvSpPr>
          <p:spPr>
            <a:xfrm>
              <a:off x="3331464" y="21803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57" name="Feature"/>
            <p:cNvSpPr txBox="1"/>
            <p:nvPr/>
          </p:nvSpPr>
          <p:spPr>
            <a:xfrm>
              <a:off x="3432048" y="2139696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Pipe no, test date, indication name &amp; count parsed</a:t>
              </a:r>
              <a:endParaRPr lang="en-US" sz="750" dirty="0">
                <a:latin typeface="Inter"/>
              </a:endParaRPr>
            </a:p>
          </p:txBody>
        </p:sp>
      </p:grpSp>
      <p:grpSp>
        <p:nvGrpSpPr>
          <p:cNvPr id="58" name="Module 03 · Result &amp; Classification"/>
          <p:cNvGrpSpPr/>
          <p:nvPr/>
        </p:nvGrpSpPr>
        <p:grpSpPr>
          <a:xfrm>
            <a:off x="6077712" y="1527048"/>
            <a:ext cx="2791968" cy="1147572"/>
            <a:chOff x="6077712" y="1527048"/>
            <a:chExt cx="2791968" cy="1147572"/>
          </a:xfrm>
        </p:grpSpPr>
        <p:sp>
          <p:nvSpPr>
            <p:cNvPr id="59" name="Module card"/>
            <p:cNvSpPr/>
            <p:nvPr/>
          </p:nvSpPr>
          <p:spPr>
            <a:xfrm>
              <a:off x="6077712" y="1527048"/>
              <a:ext cx="2791968" cy="1147572"/>
            </a:xfrm>
            <a:prstGeom prst="roundRect">
              <a:avLst>
                <a:gd name="adj" fmla="val 398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0" name="Accent"/>
            <p:cNvSpPr/>
            <p:nvPr/>
          </p:nvSpPr>
          <p:spPr>
            <a:xfrm>
              <a:off x="6077712" y="16184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61" name="Icon git-branch"/>
            <p:cNvSpPr/>
            <p:nvPr/>
          </p:nvSpPr>
          <p:spPr>
            <a:xfrm>
              <a:off x="6187440" y="16230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6000"/>
                  </a:moveTo>
                  <a:cubicBezTo>
                    <a:pt x="13420" y="6000"/>
                    <a:pt x="11868" y="6415"/>
                    <a:pt x="10500" y="7205"/>
                  </a:cubicBezTo>
                  <a:cubicBezTo>
                    <a:pt x="9131" y="7995"/>
                    <a:pt x="7995" y="9131"/>
                    <a:pt x="7205" y="10499"/>
                  </a:cubicBezTo>
                  <a:cubicBezTo>
                    <a:pt x="6415" y="11868"/>
                    <a:pt x="6000" y="13420"/>
                    <a:pt x="6000" y="15000"/>
                  </a:cubicBezTo>
                  <a:lnTo>
                    <a:pt x="6000" y="3000"/>
                  </a:lnTo>
                </a:path>
                <a:path w="24000" h="24000" fill="none">
                  <a:moveTo>
                    <a:pt x="21000" y="6000"/>
                  </a:moveTo>
                  <a:cubicBezTo>
                    <a:pt x="21000" y="6526"/>
                    <a:pt x="20861" y="7043"/>
                    <a:pt x="20598" y="7500"/>
                  </a:cubicBezTo>
                  <a:cubicBezTo>
                    <a:pt x="20334" y="7956"/>
                    <a:pt x="19956" y="8334"/>
                    <a:pt x="19500" y="8598"/>
                  </a:cubicBezTo>
                  <a:cubicBezTo>
                    <a:pt x="19043" y="8861"/>
                    <a:pt x="18526" y="9000"/>
                    <a:pt x="18000" y="9000"/>
                  </a:cubicBezTo>
                  <a:cubicBezTo>
                    <a:pt x="17473" y="9000"/>
                    <a:pt x="16956" y="8861"/>
                    <a:pt x="16500" y="8598"/>
                  </a:cubicBezTo>
                  <a:cubicBezTo>
                    <a:pt x="16043" y="8334"/>
                    <a:pt x="15665" y="7956"/>
                    <a:pt x="15401" y="7500"/>
                  </a:cubicBezTo>
                  <a:cubicBezTo>
                    <a:pt x="15138" y="7043"/>
                    <a:pt x="15000" y="6526"/>
                    <a:pt x="15000" y="6000"/>
                  </a:cubicBezTo>
                  <a:cubicBezTo>
                    <a:pt x="15000" y="5473"/>
                    <a:pt x="15138" y="4956"/>
                    <a:pt x="15401" y="4500"/>
                  </a:cubicBezTo>
                  <a:cubicBezTo>
                    <a:pt x="15665" y="4043"/>
                    <a:pt x="16043" y="3665"/>
                    <a:pt x="16500" y="3401"/>
                  </a:cubicBezTo>
                  <a:cubicBezTo>
                    <a:pt x="16956" y="3138"/>
                    <a:pt x="17473" y="3000"/>
                    <a:pt x="18000" y="3000"/>
                  </a:cubicBezTo>
                  <a:cubicBezTo>
                    <a:pt x="18526" y="3000"/>
                    <a:pt x="19043" y="3138"/>
                    <a:pt x="19500" y="3401"/>
                  </a:cubicBezTo>
                  <a:cubicBezTo>
                    <a:pt x="19956" y="3665"/>
                    <a:pt x="20334" y="4043"/>
                    <a:pt x="20598" y="4500"/>
                  </a:cubicBezTo>
                  <a:cubicBezTo>
                    <a:pt x="20861" y="4956"/>
                    <a:pt x="21000" y="5473"/>
                    <a:pt x="21000" y="5999"/>
                  </a:cubicBezTo>
                  <a:close/>
                </a:path>
                <a:path w="24000" h="24000" fill="none">
                  <a:moveTo>
                    <a:pt x="9000" y="18000"/>
                  </a:moveTo>
                  <a:cubicBezTo>
                    <a:pt x="9000" y="18526"/>
                    <a:pt x="8861" y="19043"/>
                    <a:pt x="8598" y="19500"/>
                  </a:cubicBezTo>
                  <a:cubicBezTo>
                    <a:pt x="8334" y="19956"/>
                    <a:pt x="7956" y="20334"/>
                    <a:pt x="7500" y="20598"/>
                  </a:cubicBezTo>
                  <a:cubicBezTo>
                    <a:pt x="7043" y="20861"/>
                    <a:pt x="6526" y="21000"/>
                    <a:pt x="6000" y="21000"/>
                  </a:cubicBezTo>
                  <a:cubicBezTo>
                    <a:pt x="5473" y="21000"/>
                    <a:pt x="4956" y="20861"/>
                    <a:pt x="4500" y="20598"/>
                  </a:cubicBezTo>
                  <a:cubicBezTo>
                    <a:pt x="4043" y="20334"/>
                    <a:pt x="3665" y="19956"/>
                    <a:pt x="3401" y="19500"/>
                  </a:cubicBezTo>
                  <a:cubicBezTo>
                    <a:pt x="3138" y="19043"/>
                    <a:pt x="3000" y="18526"/>
                    <a:pt x="3000" y="18000"/>
                  </a:cubicBezTo>
                  <a:cubicBezTo>
                    <a:pt x="3000" y="17473"/>
                    <a:pt x="3138" y="16956"/>
                    <a:pt x="3401" y="16500"/>
                  </a:cubicBezTo>
                  <a:cubicBezTo>
                    <a:pt x="3665" y="16043"/>
                    <a:pt x="4043" y="15665"/>
                    <a:pt x="4499" y="15401"/>
                  </a:cubicBezTo>
                  <a:cubicBezTo>
                    <a:pt x="4956" y="15138"/>
                    <a:pt x="5473" y="15000"/>
                    <a:pt x="5999" y="15000"/>
                  </a:cubicBezTo>
                  <a:cubicBezTo>
                    <a:pt x="6526" y="15000"/>
                    <a:pt x="7043" y="15138"/>
                    <a:pt x="7500" y="15401"/>
                  </a:cubicBezTo>
                  <a:cubicBezTo>
                    <a:pt x="7956" y="15665"/>
                    <a:pt x="8334" y="16043"/>
                    <a:pt x="8598" y="16500"/>
                  </a:cubicBezTo>
                  <a:cubicBezTo>
                    <a:pt x="8861" y="16956"/>
                    <a:pt x="9000" y="17473"/>
                    <a:pt x="9000" y="18000"/>
                  </a:cubicBezTo>
                  <a:close/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62" name="Module name"/>
            <p:cNvSpPr txBox="1"/>
            <p:nvPr/>
          </p:nvSpPr>
          <p:spPr>
            <a:xfrm>
              <a:off x="6406896" y="1604772"/>
              <a:ext cx="2060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Result &amp; Classification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63" name="Module number"/>
            <p:cNvSpPr txBox="1"/>
            <p:nvPr/>
          </p:nvSpPr>
          <p:spPr>
            <a:xfrm>
              <a:off x="8449056" y="15956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03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64" name="Bullet"/>
            <p:cNvSpPr/>
            <p:nvPr/>
          </p:nvSpPr>
          <p:spPr>
            <a:xfrm>
              <a:off x="6233160" y="189692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65" name="Feature"/>
            <p:cNvSpPr txBox="1"/>
            <p:nvPr/>
          </p:nvSpPr>
          <p:spPr>
            <a:xfrm>
              <a:off x="6333744" y="1856232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Auto result: MUT Prove-Up, X-Ray Prove-Up or SAT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66" name="Bullet"/>
            <p:cNvSpPr/>
            <p:nvPr/>
          </p:nvSpPr>
          <p:spPr>
            <a:xfrm>
              <a:off x="6233160" y="203865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67" name="Feature"/>
            <p:cNvSpPr txBox="1"/>
            <p:nvPr/>
          </p:nvSpPr>
          <p:spPr>
            <a:xfrm>
              <a:off x="6333744" y="1997964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Regular, calibration (OK / Not OK) or repeatability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68" name="Bullet"/>
            <p:cNvSpPr/>
            <p:nvPr/>
          </p:nvSpPr>
          <p:spPr>
            <a:xfrm>
              <a:off x="6233160" y="21803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69" name="Feature"/>
            <p:cNvSpPr txBox="1"/>
            <p:nvPr/>
          </p:nvSpPr>
          <p:spPr>
            <a:xfrm>
              <a:off x="6333744" y="2139696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Retest suffix (_1, _2, _3) removed from pipe no</a:t>
              </a:r>
              <a:endParaRPr lang="en-US" sz="750" dirty="0">
                <a:latin typeface="Inter"/>
              </a:endParaRPr>
            </a:p>
          </p:txBody>
        </p:sp>
      </p:grpSp>
      <p:grpSp>
        <p:nvGrpSpPr>
          <p:cNvPr id="70" name="Module 04 · Remarks &amp; Review"/>
          <p:cNvGrpSpPr/>
          <p:nvPr/>
        </p:nvGrpSpPr>
        <p:grpSpPr>
          <a:xfrm>
            <a:off x="274320" y="2784348"/>
            <a:ext cx="2791968" cy="1147572"/>
            <a:chOff x="274320" y="2784348"/>
            <a:chExt cx="2791968" cy="1147572"/>
          </a:xfrm>
        </p:grpSpPr>
        <p:sp>
          <p:nvSpPr>
            <p:cNvPr id="71" name="Module card"/>
            <p:cNvSpPr/>
            <p:nvPr/>
          </p:nvSpPr>
          <p:spPr>
            <a:xfrm>
              <a:off x="274320" y="2784348"/>
              <a:ext cx="2791968" cy="1147572"/>
            </a:xfrm>
            <a:prstGeom prst="roundRect">
              <a:avLst>
                <a:gd name="adj" fmla="val 398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72" name="Accent"/>
            <p:cNvSpPr/>
            <p:nvPr/>
          </p:nvSpPr>
          <p:spPr>
            <a:xfrm>
              <a:off x="274320" y="28757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73" name="Icon message-square-text"/>
            <p:cNvSpPr/>
            <p:nvPr/>
          </p:nvSpPr>
          <p:spPr>
            <a:xfrm>
              <a:off x="384048" y="28803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7000"/>
                  </a:moveTo>
                  <a:cubicBezTo>
                    <a:pt x="22000" y="17351"/>
                    <a:pt x="21907" y="17695"/>
                    <a:pt x="21732" y="18000"/>
                  </a:cubicBezTo>
                  <a:cubicBezTo>
                    <a:pt x="21556" y="18304"/>
                    <a:pt x="21304" y="18556"/>
                    <a:pt x="21000" y="18732"/>
                  </a:cubicBezTo>
                  <a:cubicBezTo>
                    <a:pt x="20695" y="18907"/>
                    <a:pt x="20351" y="19000"/>
                    <a:pt x="20000" y="19000"/>
                  </a:cubicBezTo>
                  <a:lnTo>
                    <a:pt x="6828" y="19000"/>
                  </a:lnTo>
                  <a:cubicBezTo>
                    <a:pt x="6565" y="19000"/>
                    <a:pt x="6305" y="19051"/>
                    <a:pt x="6062" y="19152"/>
                  </a:cubicBezTo>
                  <a:cubicBezTo>
                    <a:pt x="5820" y="19252"/>
                    <a:pt x="5599" y="19400"/>
                    <a:pt x="5414" y="19586"/>
                  </a:cubicBezTo>
                  <a:lnTo>
                    <a:pt x="3212" y="21787"/>
                  </a:lnTo>
                  <a:cubicBezTo>
                    <a:pt x="3132" y="21867"/>
                    <a:pt x="3035" y="21926"/>
                    <a:pt x="2929" y="21961"/>
                  </a:cubicBezTo>
                  <a:cubicBezTo>
                    <a:pt x="2822" y="21995"/>
                    <a:pt x="2709" y="22004"/>
                    <a:pt x="2598" y="21987"/>
                  </a:cubicBezTo>
                  <a:cubicBezTo>
                    <a:pt x="2488" y="21969"/>
                    <a:pt x="2383" y="21926"/>
                    <a:pt x="2292" y="21860"/>
                  </a:cubicBezTo>
                  <a:cubicBezTo>
                    <a:pt x="2202" y="21794"/>
                    <a:pt x="2128" y="21708"/>
                    <a:pt x="2077" y="21608"/>
                  </a:cubicBezTo>
                  <a:cubicBezTo>
                    <a:pt x="2026" y="21508"/>
                    <a:pt x="2000" y="21398"/>
                    <a:pt x="2000" y="21286"/>
                  </a:cubicBezTo>
                  <a:lnTo>
                    <a:pt x="2000" y="5000"/>
                  </a:lnTo>
                  <a:cubicBezTo>
                    <a:pt x="2000" y="4648"/>
                    <a:pt x="2092" y="4304"/>
                    <a:pt x="2267" y="4000"/>
                  </a:cubicBezTo>
                  <a:cubicBezTo>
                    <a:pt x="2443" y="3695"/>
                    <a:pt x="2695" y="3443"/>
                    <a:pt x="2999" y="3267"/>
                  </a:cubicBezTo>
                  <a:cubicBezTo>
                    <a:pt x="3304" y="3092"/>
                    <a:pt x="3648" y="3000"/>
                    <a:pt x="4000" y="3000"/>
                  </a:cubicBezTo>
                  <a:lnTo>
                    <a:pt x="20000" y="3000"/>
                  </a:lnTo>
                  <a:cubicBezTo>
                    <a:pt x="20351" y="3000"/>
                    <a:pt x="20695" y="3092"/>
                    <a:pt x="21000" y="3267"/>
                  </a:cubicBezTo>
                  <a:cubicBezTo>
                    <a:pt x="21304" y="3443"/>
                    <a:pt x="21556" y="3695"/>
                    <a:pt x="21732" y="4000"/>
                  </a:cubicBezTo>
                  <a:cubicBezTo>
                    <a:pt x="21907" y="4304"/>
                    <a:pt x="22000" y="4648"/>
                    <a:pt x="22000" y="5000"/>
                  </a:cubicBezTo>
                  <a:close/>
                </a:path>
                <a:path w="24000" h="24000" fill="none">
                  <a:moveTo>
                    <a:pt x="7000" y="11000"/>
                  </a:moveTo>
                  <a:lnTo>
                    <a:pt x="17000" y="11000"/>
                  </a:lnTo>
                </a:path>
                <a:path w="24000" h="24000" fill="none">
                  <a:moveTo>
                    <a:pt x="7000" y="15000"/>
                  </a:moveTo>
                  <a:lnTo>
                    <a:pt x="13000" y="15000"/>
                  </a:lnTo>
                </a:path>
                <a:path w="24000" h="24000" fill="none">
                  <a:moveTo>
                    <a:pt x="7000" y="7000"/>
                  </a:moveTo>
                  <a:lnTo>
                    <a:pt x="15000" y="7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74" name="Module name"/>
            <p:cNvSpPr txBox="1"/>
            <p:nvPr/>
          </p:nvSpPr>
          <p:spPr>
            <a:xfrm>
              <a:off x="603504" y="2862072"/>
              <a:ext cx="2060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Remarks &amp; Review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75" name="Module number"/>
            <p:cNvSpPr txBox="1"/>
            <p:nvPr/>
          </p:nvSpPr>
          <p:spPr>
            <a:xfrm>
              <a:off x="2645664" y="28529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04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76" name="Bullet"/>
            <p:cNvSpPr/>
            <p:nvPr/>
          </p:nvSpPr>
          <p:spPr>
            <a:xfrm>
              <a:off x="429768" y="315422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77" name="Feature"/>
            <p:cNvSpPr txBox="1"/>
            <p:nvPr/>
          </p:nvSpPr>
          <p:spPr>
            <a:xfrm>
              <a:off x="530352" y="3113532"/>
              <a:ext cx="2444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General remarks from the previous station, with append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78" name="Bullet"/>
            <p:cNvSpPr/>
            <p:nvPr/>
          </p:nvSpPr>
          <p:spPr>
            <a:xfrm>
              <a:off x="429768" y="341025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79" name="Feature"/>
            <p:cNvSpPr txBox="1"/>
            <p:nvPr/>
          </p:nvSpPr>
          <p:spPr>
            <a:xfrm>
              <a:off x="530352" y="3369564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Testing remarks for this station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80" name="Bullet"/>
            <p:cNvSpPr/>
            <p:nvPr/>
          </p:nvSpPr>
          <p:spPr>
            <a:xfrm>
              <a:off x="429768" y="35519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81" name="Feature"/>
            <p:cNvSpPr txBox="1"/>
            <p:nvPr/>
          </p:nvSpPr>
          <p:spPr>
            <a:xfrm>
              <a:off x="530352" y="3511296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Preview of all fields and files; checksum input</a:t>
              </a:r>
              <a:endParaRPr lang="en-US" sz="750" dirty="0">
                <a:latin typeface="Inter"/>
              </a:endParaRPr>
            </a:p>
          </p:txBody>
        </p:sp>
      </p:grpSp>
      <p:grpSp>
        <p:nvGrpSpPr>
          <p:cNvPr id="82" name="Module 05 · SAP Upload"/>
          <p:cNvGrpSpPr/>
          <p:nvPr/>
        </p:nvGrpSpPr>
        <p:grpSpPr>
          <a:xfrm>
            <a:off x="3176016" y="2784348"/>
            <a:ext cx="2791968" cy="1147572"/>
            <a:chOff x="3176016" y="2784348"/>
            <a:chExt cx="2791968" cy="1147572"/>
          </a:xfrm>
        </p:grpSpPr>
        <p:sp>
          <p:nvSpPr>
            <p:cNvPr id="83" name="Module card"/>
            <p:cNvSpPr/>
            <p:nvPr/>
          </p:nvSpPr>
          <p:spPr>
            <a:xfrm>
              <a:off x="3176016" y="2784348"/>
              <a:ext cx="2791968" cy="1147572"/>
            </a:xfrm>
            <a:prstGeom prst="roundRect">
              <a:avLst>
                <a:gd name="adj" fmla="val 398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84" name="Accent"/>
            <p:cNvSpPr/>
            <p:nvPr/>
          </p:nvSpPr>
          <p:spPr>
            <a:xfrm>
              <a:off x="3176016" y="28757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85" name="Icon cloud-upload"/>
            <p:cNvSpPr/>
            <p:nvPr/>
          </p:nvSpPr>
          <p:spPr>
            <a:xfrm>
              <a:off x="3285744" y="28803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3000"/>
                  </a:moveTo>
                  <a:lnTo>
                    <a:pt x="12000" y="21000"/>
                  </a:lnTo>
                </a:path>
                <a:path w="24000" h="24000" fill="none">
                  <a:moveTo>
                    <a:pt x="4000" y="14899"/>
                  </a:moveTo>
                  <a:cubicBezTo>
                    <a:pt x="3149" y="14030"/>
                    <a:pt x="2540" y="12955"/>
                    <a:pt x="2231" y="11779"/>
                  </a:cubicBezTo>
                  <a:cubicBezTo>
                    <a:pt x="1923" y="10603"/>
                    <a:pt x="1926" y="9368"/>
                    <a:pt x="2240" y="8193"/>
                  </a:cubicBezTo>
                  <a:cubicBezTo>
                    <a:pt x="2554" y="7019"/>
                    <a:pt x="3168" y="5947"/>
                    <a:pt x="4023" y="5082"/>
                  </a:cubicBezTo>
                  <a:cubicBezTo>
                    <a:pt x="4877" y="4218"/>
                    <a:pt x="5942" y="3590"/>
                    <a:pt x="7112" y="3262"/>
                  </a:cubicBezTo>
                  <a:cubicBezTo>
                    <a:pt x="8282" y="2934"/>
                    <a:pt x="9518" y="2916"/>
                    <a:pt x="10697" y="3211"/>
                  </a:cubicBezTo>
                  <a:cubicBezTo>
                    <a:pt x="11877" y="3505"/>
                    <a:pt x="12959" y="4101"/>
                    <a:pt x="13838" y="4941"/>
                  </a:cubicBezTo>
                  <a:cubicBezTo>
                    <a:pt x="14717" y="5781"/>
                    <a:pt x="15362" y="6835"/>
                    <a:pt x="15710" y="8000"/>
                  </a:cubicBezTo>
                  <a:lnTo>
                    <a:pt x="17500" y="8000"/>
                  </a:lnTo>
                  <a:cubicBezTo>
                    <a:pt x="18269" y="7999"/>
                    <a:pt x="19027" y="8197"/>
                    <a:pt x="19699" y="8573"/>
                  </a:cubicBezTo>
                  <a:cubicBezTo>
                    <a:pt x="20370" y="8949"/>
                    <a:pt x="20935" y="9492"/>
                    <a:pt x="21337" y="10148"/>
                  </a:cubicBezTo>
                  <a:cubicBezTo>
                    <a:pt x="21739" y="10805"/>
                    <a:pt x="21966" y="11554"/>
                    <a:pt x="21997" y="12323"/>
                  </a:cubicBezTo>
                  <a:cubicBezTo>
                    <a:pt x="22027" y="13092"/>
                    <a:pt x="21859" y="13857"/>
                    <a:pt x="21509" y="14543"/>
                  </a:cubicBezTo>
                  <a:cubicBezTo>
                    <a:pt x="21160" y="15229"/>
                    <a:pt x="20640" y="15814"/>
                    <a:pt x="20000" y="16242"/>
                  </a:cubicBezTo>
                </a:path>
                <a:path w="24000" h="24000" fill="none">
                  <a:moveTo>
                    <a:pt x="8000" y="17000"/>
                  </a:moveTo>
                  <a:lnTo>
                    <a:pt x="12000" y="13000"/>
                  </a:lnTo>
                  <a:lnTo>
                    <a:pt x="16000" y="17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86" name="Module name"/>
            <p:cNvSpPr txBox="1"/>
            <p:nvPr/>
          </p:nvSpPr>
          <p:spPr>
            <a:xfrm>
              <a:off x="3505200" y="2862072"/>
              <a:ext cx="2060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Upload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87" name="Module number"/>
            <p:cNvSpPr txBox="1"/>
            <p:nvPr/>
          </p:nvSpPr>
          <p:spPr>
            <a:xfrm>
              <a:off x="5547360" y="28529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05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88" name="Bullet"/>
            <p:cNvSpPr/>
            <p:nvPr/>
          </p:nvSpPr>
          <p:spPr>
            <a:xfrm>
              <a:off x="3331464" y="315422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89" name="Feature"/>
            <p:cNvSpPr txBox="1"/>
            <p:nvPr/>
          </p:nvSpPr>
          <p:spPr>
            <a:xfrm>
              <a:off x="3432048" y="3113532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Regular pipes posted to the normal SAP endpoint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90" name="Bullet"/>
            <p:cNvSpPr/>
            <p:nvPr/>
          </p:nvSpPr>
          <p:spPr>
            <a:xfrm>
              <a:off x="3331464" y="329595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91" name="Feature"/>
            <p:cNvSpPr txBox="1"/>
            <p:nvPr/>
          </p:nvSpPr>
          <p:spPr>
            <a:xfrm>
              <a:off x="3432048" y="3255264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Calibration / repeatability to the separate endpoint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92" name="Bullet"/>
            <p:cNvSpPr/>
            <p:nvPr/>
          </p:nvSpPr>
          <p:spPr>
            <a:xfrm>
              <a:off x="3331464" y="34376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93" name="Feature"/>
            <p:cNvSpPr txBox="1"/>
            <p:nvPr/>
          </p:nvSpPr>
          <p:spPr>
            <a:xfrm>
              <a:off x="3432048" y="3396996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Timestamp rules for shift change; FTP file upload</a:t>
              </a:r>
              <a:endParaRPr lang="en-US" sz="750" dirty="0">
                <a:latin typeface="Inter"/>
              </a:endParaRPr>
            </a:p>
          </p:txBody>
        </p:sp>
      </p:grpSp>
      <p:grpSp>
        <p:nvGrpSpPr>
          <p:cNvPr id="94" name="Module 06 · Reliability &amp; Monitoring"/>
          <p:cNvGrpSpPr/>
          <p:nvPr/>
        </p:nvGrpSpPr>
        <p:grpSpPr>
          <a:xfrm>
            <a:off x="6077712" y="2784348"/>
            <a:ext cx="2791968" cy="1147572"/>
            <a:chOff x="6077712" y="2784348"/>
            <a:chExt cx="2791968" cy="1147572"/>
          </a:xfrm>
        </p:grpSpPr>
        <p:sp>
          <p:nvSpPr>
            <p:cNvPr id="95" name="Module card"/>
            <p:cNvSpPr/>
            <p:nvPr/>
          </p:nvSpPr>
          <p:spPr>
            <a:xfrm>
              <a:off x="6077712" y="2784348"/>
              <a:ext cx="2791968" cy="1147572"/>
            </a:xfrm>
            <a:prstGeom prst="roundRect">
              <a:avLst>
                <a:gd name="adj" fmla="val 398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96" name="Accent"/>
            <p:cNvSpPr/>
            <p:nvPr/>
          </p:nvSpPr>
          <p:spPr>
            <a:xfrm>
              <a:off x="6077712" y="28757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97" name="Icon shield-check"/>
            <p:cNvSpPr/>
            <p:nvPr/>
          </p:nvSpPr>
          <p:spPr>
            <a:xfrm>
              <a:off x="6187440" y="28803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231" y="21986"/>
                    <a:pt x="12118" y="22004"/>
                    <a:pt x="12004" y="22002"/>
                  </a:cubicBezTo>
                  <a:cubicBezTo>
                    <a:pt x="11889" y="22001"/>
                    <a:pt x="11776" y="21979"/>
                    <a:pt x="11670" y="21939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824"/>
                    <a:pt x="4046" y="5652"/>
                    <a:pt x="4133" y="5500"/>
                  </a:cubicBezTo>
                  <a:cubicBezTo>
                    <a:pt x="4221" y="5347"/>
                    <a:pt x="4347" y="5221"/>
                    <a:pt x="4500" y="5133"/>
                  </a:cubicBezTo>
                  <a:cubicBezTo>
                    <a:pt x="4652" y="5046"/>
                    <a:pt x="4824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380" y="2160"/>
                    <a:pt x="11547" y="2075"/>
                    <a:pt x="11726" y="2031"/>
                  </a:cubicBezTo>
                  <a:cubicBezTo>
                    <a:pt x="11906" y="1988"/>
                    <a:pt x="12093" y="1988"/>
                    <a:pt x="12273" y="2031"/>
                  </a:cubicBezTo>
                  <a:cubicBezTo>
                    <a:pt x="12452" y="2075"/>
                    <a:pt x="12619" y="2160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175" y="5000"/>
                    <a:pt x="19347" y="5046"/>
                    <a:pt x="19500" y="5133"/>
                  </a:cubicBezTo>
                  <a:cubicBezTo>
                    <a:pt x="19652" y="5221"/>
                    <a:pt x="19778" y="5347"/>
                    <a:pt x="19866" y="5500"/>
                  </a:cubicBezTo>
                  <a:cubicBezTo>
                    <a:pt x="19953" y="5652"/>
                    <a:pt x="20000" y="5824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98" name="Module name"/>
            <p:cNvSpPr txBox="1"/>
            <p:nvPr/>
          </p:nvSpPr>
          <p:spPr>
            <a:xfrm>
              <a:off x="6406896" y="2862072"/>
              <a:ext cx="2060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Reliability &amp; Monitoring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99" name="Module number"/>
            <p:cNvSpPr txBox="1"/>
            <p:nvPr/>
          </p:nvSpPr>
          <p:spPr>
            <a:xfrm>
              <a:off x="8449056" y="28529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06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100" name="Bullet"/>
            <p:cNvSpPr/>
            <p:nvPr/>
          </p:nvSpPr>
          <p:spPr>
            <a:xfrm>
              <a:off x="6233160" y="315422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01" name="Feature"/>
            <p:cNvSpPr txBox="1"/>
            <p:nvPr/>
          </p:nvSpPr>
          <p:spPr>
            <a:xfrm>
              <a:off x="6333744" y="3113532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Retries on failure; waits for previous-station entry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102" name="Bullet"/>
            <p:cNvSpPr/>
            <p:nvPr/>
          </p:nvSpPr>
          <p:spPr>
            <a:xfrm>
              <a:off x="6233160" y="329595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03" name="Feature"/>
            <p:cNvSpPr txBox="1"/>
            <p:nvPr/>
          </p:nvSpPr>
          <p:spPr>
            <a:xfrm>
              <a:off x="6333744" y="3255264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15-min shift-end highlight; 4-hour calibration alert</a:t>
              </a:r>
              <a:endParaRPr lang="en-US" sz="750" dirty="0">
                <a:latin typeface="Inter"/>
              </a:endParaRPr>
            </a:p>
          </p:txBody>
        </p:sp>
        <p:sp>
          <p:nvSpPr>
            <p:cNvPr id="104" name="Bullet"/>
            <p:cNvSpPr/>
            <p:nvPr/>
          </p:nvSpPr>
          <p:spPr>
            <a:xfrm>
              <a:off x="6233160" y="34376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05" name="Feature"/>
            <p:cNvSpPr txBox="1"/>
            <p:nvPr/>
          </p:nvSpPr>
          <p:spPr>
            <a:xfrm>
              <a:off x="6333744" y="3396996"/>
              <a:ext cx="2444496" cy="114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Edit rules, entry and FTP status, previous-station tab</a:t>
              </a:r>
              <a:endParaRPr lang="en-US" sz="750" dirty="0">
                <a:latin typeface="Inter"/>
              </a:endParaRPr>
            </a:p>
          </p:txBody>
        </p:sp>
      </p:grpSp>
      <p:grpSp>
        <p:nvGrpSpPr>
          <p:cNvPr id="106" name="Services included"/>
          <p:cNvGrpSpPr/>
          <p:nvPr/>
        </p:nvGrpSpPr>
        <p:grpSpPr>
          <a:xfrm>
            <a:off x="274320" y="4023360"/>
            <a:ext cx="8595360" cy="749808"/>
            <a:chOff x="274320" y="4023360"/>
            <a:chExt cx="8595360" cy="749808"/>
          </a:xfrm>
        </p:grpSpPr>
        <p:sp>
          <p:nvSpPr>
            <p:cNvPr id="107" name="Strip"/>
            <p:cNvSpPr/>
            <p:nvPr/>
          </p:nvSpPr>
          <p:spPr>
            <a:xfrm>
              <a:off x="274320" y="4023360"/>
              <a:ext cx="8595360" cy="749808"/>
            </a:xfrm>
            <a:prstGeom prst="roundRect">
              <a:avLst>
                <a:gd name="adj" fmla="val 731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108" name="Icon package-check"/>
            <p:cNvSpPr/>
            <p:nvPr/>
          </p:nvSpPr>
          <p:spPr>
            <a:xfrm>
              <a:off x="402336" y="4151376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18000" y="19000"/>
                  </a:lnTo>
                  <a:lnTo>
                    <a:pt x="22000" y="15000"/>
                  </a:lnTo>
                </a:path>
                <a:path w="24000" h="24000" fill="none">
                  <a:moveTo>
                    <a:pt x="21000" y="11127"/>
                  </a:moveTo>
                  <a:lnTo>
                    <a:pt x="21000" y="8000"/>
                  </a:lnTo>
                  <a:cubicBezTo>
                    <a:pt x="20999" y="7649"/>
                    <a:pt x="20907" y="7304"/>
                    <a:pt x="20731" y="7001"/>
                  </a:cubicBezTo>
                  <a:cubicBezTo>
                    <a:pt x="20556" y="6697"/>
                    <a:pt x="20303" y="6445"/>
                    <a:pt x="20000" y="6270"/>
                  </a:cubicBezTo>
                  <a:lnTo>
                    <a:pt x="13000" y="2269"/>
                  </a:lnTo>
                  <a:cubicBezTo>
                    <a:pt x="12695" y="2094"/>
                    <a:pt x="12351" y="2002"/>
                    <a:pt x="12000" y="2002"/>
                  </a:cubicBezTo>
                  <a:cubicBezTo>
                    <a:pt x="11648" y="2002"/>
                    <a:pt x="11304" y="2094"/>
                    <a:pt x="11000" y="2269"/>
                  </a:cubicBezTo>
                  <a:lnTo>
                    <a:pt x="4000" y="6270"/>
                  </a:lnTo>
                  <a:cubicBezTo>
                    <a:pt x="3696" y="6445"/>
                    <a:pt x="3443" y="6697"/>
                    <a:pt x="3268" y="7001"/>
                  </a:cubicBezTo>
                  <a:cubicBezTo>
                    <a:pt x="3092" y="7304"/>
                    <a:pt x="3000" y="7649"/>
                    <a:pt x="3000" y="8000"/>
                  </a:cubicBezTo>
                  <a:lnTo>
                    <a:pt x="3000" y="16000"/>
                  </a:lnTo>
                  <a:cubicBezTo>
                    <a:pt x="3000" y="16350"/>
                    <a:pt x="3093" y="16694"/>
                    <a:pt x="3268" y="16998"/>
                  </a:cubicBezTo>
                  <a:cubicBezTo>
                    <a:pt x="3444" y="17301"/>
                    <a:pt x="3696" y="17553"/>
                    <a:pt x="4000" y="17729"/>
                  </a:cubicBezTo>
                  <a:lnTo>
                    <a:pt x="11000" y="21729"/>
                  </a:lnTo>
                  <a:cubicBezTo>
                    <a:pt x="11201" y="21845"/>
                    <a:pt x="11422" y="21926"/>
                    <a:pt x="11652" y="21966"/>
                  </a:cubicBezTo>
                  <a:cubicBezTo>
                    <a:pt x="11882" y="22007"/>
                    <a:pt x="12117" y="22007"/>
                    <a:pt x="12347" y="21967"/>
                  </a:cubicBezTo>
                  <a:cubicBezTo>
                    <a:pt x="12576" y="21926"/>
                    <a:pt x="12797" y="21846"/>
                    <a:pt x="13000" y="21730"/>
                  </a:cubicBezTo>
                  <a:lnTo>
                    <a:pt x="14320" y="20977"/>
                  </a:lnTo>
                </a:path>
                <a:path w="24000" h="24000" fill="none">
                  <a:moveTo>
                    <a:pt x="3290" y="7000"/>
                  </a:moveTo>
                  <a:lnTo>
                    <a:pt x="12000" y="12000"/>
                  </a:lnTo>
                  <a:lnTo>
                    <a:pt x="20710" y="7000"/>
                  </a:lnTo>
                </a:path>
                <a:path w="24000" h="24000" fill="none">
                  <a:moveTo>
                    <a:pt x="7500" y="4270"/>
                  </a:moveTo>
                  <a:lnTo>
                    <a:pt x="16497" y="9418"/>
                  </a:lnTo>
                </a:path>
              </a:pathLst>
            </a:custGeom>
            <a:noFill/>
            <a:ln w="14478" cap="rnd">
              <a:solidFill>
                <a:srgbClr val="165FF2"/>
              </a:solidFill>
              <a:round/>
            </a:ln>
          </p:spPr>
        </p:sp>
        <p:sp>
          <p:nvSpPr>
            <p:cNvPr id="109" name="Strip title"/>
            <p:cNvSpPr txBox="1"/>
            <p:nvPr/>
          </p:nvSpPr>
          <p:spPr>
            <a:xfrm>
              <a:off x="402336" y="4389120"/>
              <a:ext cx="96012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92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Services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792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included in scope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10" name="Divider"/>
            <p:cNvCxnSpPr/>
            <p:nvPr/>
          </p:nvCxnSpPr>
          <p:spPr>
            <a:xfrm>
              <a:off x="136245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11" name="Icon tile"/>
            <p:cNvSpPr/>
            <p:nvPr/>
          </p:nvSpPr>
          <p:spPr>
            <a:xfrm>
              <a:off x="143560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12" name="Icon book-open"/>
            <p:cNvSpPr/>
            <p:nvPr/>
          </p:nvSpPr>
          <p:spPr>
            <a:xfrm>
              <a:off x="150876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lnTo>
                    <a:pt x="12000" y="21000"/>
                  </a:lnTo>
                </a:path>
                <a:path w="24000" h="24000" fill="none">
                  <a:moveTo>
                    <a:pt x="20001" y="19000"/>
                  </a:moveTo>
                  <a:cubicBezTo>
                    <a:pt x="20351" y="18999"/>
                    <a:pt x="20696" y="18907"/>
                    <a:pt x="21000" y="18731"/>
                  </a:cubicBezTo>
                  <a:cubicBezTo>
                    <a:pt x="21304" y="18556"/>
                    <a:pt x="21556" y="18303"/>
                    <a:pt x="21732" y="17999"/>
                  </a:cubicBezTo>
                  <a:cubicBezTo>
                    <a:pt x="21907" y="17695"/>
                    <a:pt x="22000" y="17350"/>
                    <a:pt x="22000" y="17000"/>
                  </a:cubicBezTo>
                  <a:lnTo>
                    <a:pt x="22000" y="5000"/>
                  </a:lnTo>
                  <a:cubicBezTo>
                    <a:pt x="22000" y="4649"/>
                    <a:pt x="21907" y="4304"/>
                    <a:pt x="21732" y="4000"/>
                  </a:cubicBezTo>
                  <a:cubicBezTo>
                    <a:pt x="21556" y="3696"/>
                    <a:pt x="21304" y="3443"/>
                    <a:pt x="21000" y="3268"/>
                  </a:cubicBezTo>
                  <a:cubicBezTo>
                    <a:pt x="20696" y="3092"/>
                    <a:pt x="20351" y="3000"/>
                    <a:pt x="20001" y="3000"/>
                  </a:cubicBezTo>
                  <a:lnTo>
                    <a:pt x="16000" y="3002"/>
                  </a:lnTo>
                  <a:cubicBezTo>
                    <a:pt x="15223" y="3001"/>
                    <a:pt x="14458" y="3182"/>
                    <a:pt x="13764" y="3528"/>
                  </a:cubicBezTo>
                  <a:cubicBezTo>
                    <a:pt x="13069" y="3875"/>
                    <a:pt x="12465" y="4379"/>
                    <a:pt x="12000" y="5000"/>
                  </a:cubicBezTo>
                  <a:cubicBezTo>
                    <a:pt x="11534" y="4379"/>
                    <a:pt x="10930" y="3874"/>
                    <a:pt x="10236" y="3527"/>
                  </a:cubicBezTo>
                  <a:cubicBezTo>
                    <a:pt x="9541" y="3180"/>
                    <a:pt x="8776" y="2999"/>
                    <a:pt x="800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7000"/>
                  </a:lnTo>
                  <a:cubicBezTo>
                    <a:pt x="1999" y="17350"/>
                    <a:pt x="2092" y="17695"/>
                    <a:pt x="2267" y="17999"/>
                  </a:cubicBezTo>
                  <a:cubicBezTo>
                    <a:pt x="2443" y="18303"/>
                    <a:pt x="2695" y="18556"/>
                    <a:pt x="2999" y="18731"/>
                  </a:cubicBezTo>
                  <a:cubicBezTo>
                    <a:pt x="3303" y="18907"/>
                    <a:pt x="3648" y="18999"/>
                    <a:pt x="3999" y="19000"/>
                  </a:cubicBezTo>
                  <a:lnTo>
                    <a:pt x="8000" y="19000"/>
                  </a:lnTo>
                  <a:cubicBezTo>
                    <a:pt x="8776" y="19000"/>
                    <a:pt x="9541" y="19180"/>
                    <a:pt x="10236" y="19527"/>
                  </a:cubicBezTo>
                  <a:cubicBezTo>
                    <a:pt x="10930" y="19874"/>
                    <a:pt x="11534" y="20379"/>
                    <a:pt x="12000" y="21000"/>
                  </a:cubicBezTo>
                  <a:cubicBezTo>
                    <a:pt x="12465" y="20379"/>
                    <a:pt x="13069" y="19874"/>
                    <a:pt x="13763" y="19527"/>
                  </a:cubicBezTo>
                  <a:cubicBezTo>
                    <a:pt x="14458" y="19180"/>
                    <a:pt x="15223" y="19000"/>
                    <a:pt x="16000" y="19000"/>
                  </a:cubicBezTo>
                  <a:close/>
                </a:path>
              </a:pathLst>
            </a:custGeom>
            <a:noFill/>
            <a:ln w="14478" cap="rnd">
              <a:solidFill>
                <a:srgbClr val="165FF2"/>
              </a:solidFill>
              <a:round/>
            </a:ln>
          </p:spPr>
        </p:sp>
        <p:sp>
          <p:nvSpPr>
            <p:cNvPr id="113" name="Service"/>
            <p:cNvSpPr txBox="1"/>
            <p:nvPr/>
          </p:nvSpPr>
          <p:spPr>
            <a:xfrm>
              <a:off x="1837944" y="4244873"/>
              <a:ext cx="1337310" cy="3067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 manual / SOP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Documentation for operators and administrators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14" name="Divider"/>
            <p:cNvCxnSpPr/>
            <p:nvPr/>
          </p:nvCxnSpPr>
          <p:spPr>
            <a:xfrm>
              <a:off x="320268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15" name="Icon tile"/>
            <p:cNvSpPr/>
            <p:nvPr/>
          </p:nvSpPr>
          <p:spPr>
            <a:xfrm>
              <a:off x="327583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16" name="Icon graduation-cap"/>
            <p:cNvSpPr/>
            <p:nvPr/>
          </p:nvSpPr>
          <p:spPr>
            <a:xfrm>
              <a:off x="334899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420" y="10922"/>
                  </a:moveTo>
                  <a:cubicBezTo>
                    <a:pt x="21562" y="10858"/>
                    <a:pt x="21688" y="10763"/>
                    <a:pt x="21788" y="10642"/>
                  </a:cubicBezTo>
                  <a:cubicBezTo>
                    <a:pt x="21887" y="10522"/>
                    <a:pt x="21957" y="10380"/>
                    <a:pt x="21991" y="10228"/>
                  </a:cubicBezTo>
                  <a:cubicBezTo>
                    <a:pt x="22026" y="10075"/>
                    <a:pt x="22024" y="9917"/>
                    <a:pt x="21986" y="9766"/>
                  </a:cubicBezTo>
                  <a:cubicBezTo>
                    <a:pt x="21949" y="9614"/>
                    <a:pt x="21876" y="9473"/>
                    <a:pt x="21774" y="9355"/>
                  </a:cubicBezTo>
                  <a:cubicBezTo>
                    <a:pt x="21673" y="9237"/>
                    <a:pt x="21545" y="9144"/>
                    <a:pt x="21401" y="9084"/>
                  </a:cubicBezTo>
                  <a:lnTo>
                    <a:pt x="12830" y="5180"/>
                  </a:lnTo>
                  <a:cubicBezTo>
                    <a:pt x="12569" y="5061"/>
                    <a:pt x="12286" y="4999"/>
                    <a:pt x="12000" y="4999"/>
                  </a:cubicBezTo>
                  <a:cubicBezTo>
                    <a:pt x="11713" y="4999"/>
                    <a:pt x="11430" y="5061"/>
                    <a:pt x="11170" y="5180"/>
                  </a:cubicBezTo>
                  <a:lnTo>
                    <a:pt x="2600" y="9080"/>
                  </a:lnTo>
                  <a:cubicBezTo>
                    <a:pt x="2457" y="9142"/>
                    <a:pt x="2332" y="9236"/>
                    <a:pt x="2232" y="9355"/>
                  </a:cubicBezTo>
                  <a:cubicBezTo>
                    <a:pt x="2133" y="9474"/>
                    <a:pt x="2063" y="9615"/>
                    <a:pt x="2027" y="9766"/>
                  </a:cubicBezTo>
                  <a:cubicBezTo>
                    <a:pt x="1992" y="9917"/>
                    <a:pt x="1992" y="10074"/>
                    <a:pt x="2027" y="10225"/>
                  </a:cubicBezTo>
                  <a:cubicBezTo>
                    <a:pt x="2063" y="10376"/>
                    <a:pt x="2133" y="10517"/>
                    <a:pt x="2232" y="10636"/>
                  </a:cubicBezTo>
                  <a:cubicBezTo>
                    <a:pt x="2332" y="10755"/>
                    <a:pt x="2457" y="10849"/>
                    <a:pt x="2600" y="10912"/>
                  </a:cubicBezTo>
                  <a:lnTo>
                    <a:pt x="11170" y="14820"/>
                  </a:lnTo>
                  <a:cubicBezTo>
                    <a:pt x="11430" y="14938"/>
                    <a:pt x="11713" y="15000"/>
                    <a:pt x="12000" y="15000"/>
                  </a:cubicBezTo>
                  <a:cubicBezTo>
                    <a:pt x="12286" y="15000"/>
                    <a:pt x="12569" y="14938"/>
                    <a:pt x="12830" y="14820"/>
                  </a:cubicBezTo>
                  <a:close/>
                </a:path>
                <a:path w="24000" h="24000" fill="none">
                  <a:moveTo>
                    <a:pt x="22000" y="10000"/>
                  </a:moveTo>
                  <a:lnTo>
                    <a:pt x="22000" y="16000"/>
                  </a:lnTo>
                </a:path>
                <a:path w="24000" h="24000" fill="none">
                  <a:moveTo>
                    <a:pt x="6000" y="12500"/>
                  </a:moveTo>
                  <a:lnTo>
                    <a:pt x="6000" y="16000"/>
                  </a:lnTo>
                  <a:cubicBezTo>
                    <a:pt x="6000" y="16526"/>
                    <a:pt x="6277" y="17043"/>
                    <a:pt x="6803" y="17500"/>
                  </a:cubicBezTo>
                  <a:cubicBezTo>
                    <a:pt x="7330" y="17956"/>
                    <a:pt x="8087" y="18334"/>
                    <a:pt x="9000" y="18598"/>
                  </a:cubicBezTo>
                  <a:cubicBezTo>
                    <a:pt x="9912" y="18861"/>
                    <a:pt x="10946" y="19000"/>
                    <a:pt x="12000" y="19000"/>
                  </a:cubicBezTo>
                  <a:cubicBezTo>
                    <a:pt x="13053" y="19000"/>
                    <a:pt x="14087" y="18861"/>
                    <a:pt x="15000" y="18598"/>
                  </a:cubicBezTo>
                  <a:cubicBezTo>
                    <a:pt x="15912" y="18334"/>
                    <a:pt x="16669" y="17956"/>
                    <a:pt x="17196" y="17500"/>
                  </a:cubicBezTo>
                  <a:cubicBezTo>
                    <a:pt x="17722" y="17043"/>
                    <a:pt x="18000" y="16526"/>
                    <a:pt x="18000" y="16000"/>
                  </a:cubicBezTo>
                  <a:lnTo>
                    <a:pt x="18000" y="12500"/>
                  </a:lnTo>
                </a:path>
              </a:pathLst>
            </a:custGeom>
            <a:noFill/>
            <a:ln w="14478" cap="rnd">
              <a:solidFill>
                <a:srgbClr val="165FF2"/>
              </a:solidFill>
              <a:round/>
            </a:ln>
          </p:spPr>
        </p:sp>
        <p:sp>
          <p:nvSpPr>
            <p:cNvPr id="117" name="Service"/>
            <p:cNvSpPr txBox="1"/>
            <p:nvPr/>
          </p:nvSpPr>
          <p:spPr>
            <a:xfrm>
              <a:off x="3678174" y="4244873"/>
              <a:ext cx="1337310" cy="3067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Operator training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For station operators and supervisors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18" name="Divider"/>
            <p:cNvCxnSpPr/>
            <p:nvPr/>
          </p:nvCxnSpPr>
          <p:spPr>
            <a:xfrm>
              <a:off x="504291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19" name="Icon tile"/>
            <p:cNvSpPr/>
            <p:nvPr/>
          </p:nvSpPr>
          <p:spPr>
            <a:xfrm>
              <a:off x="511606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20" name="Icon clipboard-check"/>
            <p:cNvSpPr/>
            <p:nvPr/>
          </p:nvSpPr>
          <p:spPr>
            <a:xfrm>
              <a:off x="518922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2000"/>
                  </a:moveTo>
                  <a:lnTo>
                    <a:pt x="15000" y="2000"/>
                  </a:lnTo>
                  <a:cubicBezTo>
                    <a:pt x="15175" y="2000"/>
                    <a:pt x="15347" y="2046"/>
                    <a:pt x="15500" y="2133"/>
                  </a:cubicBezTo>
                  <a:cubicBezTo>
                    <a:pt x="15652" y="2221"/>
                    <a:pt x="15778" y="2347"/>
                    <a:pt x="15866" y="2500"/>
                  </a:cubicBezTo>
                  <a:cubicBezTo>
                    <a:pt x="15953" y="2652"/>
                    <a:pt x="16000" y="2824"/>
                    <a:pt x="16000" y="3000"/>
                  </a:cubicBezTo>
                  <a:lnTo>
                    <a:pt x="16000" y="5000"/>
                  </a:lnTo>
                  <a:cubicBezTo>
                    <a:pt x="16000" y="5175"/>
                    <a:pt x="15953" y="5347"/>
                    <a:pt x="15866" y="5500"/>
                  </a:cubicBezTo>
                  <a:cubicBezTo>
                    <a:pt x="15778" y="5652"/>
                    <a:pt x="15652" y="5778"/>
                    <a:pt x="15500" y="5866"/>
                  </a:cubicBezTo>
                  <a:cubicBezTo>
                    <a:pt x="15347" y="5953"/>
                    <a:pt x="15175" y="6000"/>
                    <a:pt x="15000" y="6000"/>
                  </a:cubicBezTo>
                  <a:lnTo>
                    <a:pt x="9000" y="6000"/>
                  </a:lnTo>
                  <a:cubicBezTo>
                    <a:pt x="8824" y="6000"/>
                    <a:pt x="8652" y="5953"/>
                    <a:pt x="8500" y="5866"/>
                  </a:cubicBezTo>
                  <a:cubicBezTo>
                    <a:pt x="8347" y="5778"/>
                    <a:pt x="8221" y="5652"/>
                    <a:pt x="8133" y="5500"/>
                  </a:cubicBezTo>
                  <a:cubicBezTo>
                    <a:pt x="8046" y="5347"/>
                    <a:pt x="8000" y="5175"/>
                    <a:pt x="8000" y="5000"/>
                  </a:cubicBezTo>
                  <a:lnTo>
                    <a:pt x="8000" y="3000"/>
                  </a:lnTo>
                  <a:cubicBezTo>
                    <a:pt x="8000" y="2824"/>
                    <a:pt x="8046" y="2652"/>
                    <a:pt x="8133" y="2500"/>
                  </a:cubicBezTo>
                  <a:cubicBezTo>
                    <a:pt x="8221" y="2347"/>
                    <a:pt x="8347" y="2221"/>
                    <a:pt x="8500" y="2133"/>
                  </a:cubicBezTo>
                  <a:cubicBezTo>
                    <a:pt x="8652" y="2046"/>
                    <a:pt x="8824" y="2000"/>
                    <a:pt x="9000" y="2000"/>
                  </a:cubicBezTo>
                  <a:close/>
                </a:path>
                <a:path w="24000" h="24000" fill="none">
                  <a:moveTo>
                    <a:pt x="16000" y="4000"/>
                  </a:moveTo>
                  <a:lnTo>
                    <a:pt x="18000" y="4000"/>
                  </a:lnTo>
                  <a:cubicBezTo>
                    <a:pt x="18351" y="4000"/>
                    <a:pt x="18695" y="4092"/>
                    <a:pt x="19000" y="4267"/>
                  </a:cubicBezTo>
                  <a:cubicBezTo>
                    <a:pt x="19304" y="4443"/>
                    <a:pt x="19556" y="4695"/>
                    <a:pt x="19732" y="5000"/>
                  </a:cubicBezTo>
                  <a:cubicBezTo>
                    <a:pt x="19907" y="5304"/>
                    <a:pt x="20000" y="5648"/>
                    <a:pt x="20000" y="6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lnTo>
                    <a:pt x="6000" y="22000"/>
                  </a:ln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6000"/>
                  </a:lnTo>
                  <a:cubicBezTo>
                    <a:pt x="4000" y="5648"/>
                    <a:pt x="4092" y="5304"/>
                    <a:pt x="4267" y="5000"/>
                  </a:cubicBezTo>
                  <a:cubicBezTo>
                    <a:pt x="4443" y="4695"/>
                    <a:pt x="4695" y="4443"/>
                    <a:pt x="4999" y="4267"/>
                  </a:cubicBezTo>
                  <a:cubicBezTo>
                    <a:pt x="5304" y="4092"/>
                    <a:pt x="5648" y="4000"/>
                    <a:pt x="6000" y="4000"/>
                  </a:cubicBezTo>
                  <a:lnTo>
                    <a:pt x="8000" y="4000"/>
                  </a:lnTo>
                </a:path>
                <a:path w="24000" h="24000" fill="none">
                  <a:moveTo>
                    <a:pt x="9000" y="14000"/>
                  </a:moveTo>
                  <a:lnTo>
                    <a:pt x="11000" y="16000"/>
                  </a:lnTo>
                  <a:lnTo>
                    <a:pt x="15000" y="12000"/>
                  </a:lnTo>
                </a:path>
              </a:pathLst>
            </a:custGeom>
            <a:noFill/>
            <a:ln w="14478" cap="rnd">
              <a:solidFill>
                <a:srgbClr val="165FF2"/>
              </a:solidFill>
              <a:round/>
            </a:ln>
          </p:spPr>
        </p:sp>
        <p:sp>
          <p:nvSpPr>
            <p:cNvPr id="121" name="Service"/>
            <p:cNvSpPr txBox="1"/>
            <p:nvPr/>
          </p:nvSpPr>
          <p:spPr>
            <a:xfrm>
              <a:off x="5518404" y="4244873"/>
              <a:ext cx="1337310" cy="3067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UAT &amp; go-live support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Through user acceptance testing and go-live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22" name="Divider"/>
            <p:cNvCxnSpPr/>
            <p:nvPr/>
          </p:nvCxnSpPr>
          <p:spPr>
            <a:xfrm>
              <a:off x="688314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23" name="Icon tile"/>
            <p:cNvSpPr/>
            <p:nvPr/>
          </p:nvSpPr>
          <p:spPr>
            <a:xfrm>
              <a:off x="695629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24" name="Icon life-buoy"/>
            <p:cNvSpPr/>
            <p:nvPr/>
          </p:nvSpPr>
          <p:spPr>
            <a:xfrm>
              <a:off x="702945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3755"/>
                    <a:pt x="21537" y="15479"/>
                    <a:pt x="20660" y="17000"/>
                  </a:cubicBezTo>
                  <a:cubicBezTo>
                    <a:pt x="19782" y="18520"/>
                    <a:pt x="18520" y="19782"/>
                    <a:pt x="17000" y="20660"/>
                  </a:cubicBezTo>
                  <a:cubicBezTo>
                    <a:pt x="15479" y="21537"/>
                    <a:pt x="13755" y="22000"/>
                    <a:pt x="12000" y="22000"/>
                  </a:cubicBezTo>
                  <a:cubicBezTo>
                    <a:pt x="10244" y="22000"/>
                    <a:pt x="8520" y="21537"/>
                    <a:pt x="7000" y="20660"/>
                  </a:cubicBezTo>
                  <a:cubicBezTo>
                    <a:pt x="5479" y="19782"/>
                    <a:pt x="4217" y="18520"/>
                    <a:pt x="3339" y="17000"/>
                  </a:cubicBezTo>
                  <a:cubicBezTo>
                    <a:pt x="2462" y="15479"/>
                    <a:pt x="2000" y="13755"/>
                    <a:pt x="2000" y="12000"/>
                  </a:cubicBezTo>
                  <a:cubicBezTo>
                    <a:pt x="1999" y="10244"/>
                    <a:pt x="2462" y="8520"/>
                    <a:pt x="3339" y="7000"/>
                  </a:cubicBezTo>
                  <a:cubicBezTo>
                    <a:pt x="4217" y="5479"/>
                    <a:pt x="5479" y="4217"/>
                    <a:pt x="6999" y="3339"/>
                  </a:cubicBezTo>
                  <a:cubicBezTo>
                    <a:pt x="8520" y="2462"/>
                    <a:pt x="10244" y="2000"/>
                    <a:pt x="11999" y="2000"/>
                  </a:cubicBezTo>
                  <a:cubicBezTo>
                    <a:pt x="13755" y="1999"/>
                    <a:pt x="15479" y="2462"/>
                    <a:pt x="17000" y="3339"/>
                  </a:cubicBezTo>
                  <a:cubicBezTo>
                    <a:pt x="18520" y="4217"/>
                    <a:pt x="19782" y="5479"/>
                    <a:pt x="20660" y="7000"/>
                  </a:cubicBezTo>
                  <a:cubicBezTo>
                    <a:pt x="21537" y="8520"/>
                    <a:pt x="22000" y="10244"/>
                    <a:pt x="22000" y="11999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2702"/>
                    <a:pt x="15815" y="13391"/>
                    <a:pt x="15464" y="14000"/>
                  </a:cubicBezTo>
                  <a:cubicBezTo>
                    <a:pt x="15113" y="14608"/>
                    <a:pt x="14608" y="15113"/>
                    <a:pt x="14000" y="15464"/>
                  </a:cubicBezTo>
                  <a:cubicBezTo>
                    <a:pt x="13391" y="15815"/>
                    <a:pt x="12702" y="16000"/>
                    <a:pt x="12000" y="16000"/>
                  </a:cubicBezTo>
                  <a:cubicBezTo>
                    <a:pt x="11297" y="16000"/>
                    <a:pt x="10608" y="15815"/>
                    <a:pt x="10000" y="15464"/>
                  </a:cubicBezTo>
                  <a:cubicBezTo>
                    <a:pt x="9391" y="15113"/>
                    <a:pt x="8886" y="14608"/>
                    <a:pt x="8535" y="14000"/>
                  </a:cubicBezTo>
                  <a:cubicBezTo>
                    <a:pt x="8184" y="13391"/>
                    <a:pt x="8000" y="12702"/>
                    <a:pt x="8000" y="12000"/>
                  </a:cubicBezTo>
                  <a:cubicBezTo>
                    <a:pt x="8000" y="11297"/>
                    <a:pt x="8184" y="10608"/>
                    <a:pt x="8535" y="10000"/>
                  </a:cubicBezTo>
                  <a:cubicBezTo>
                    <a:pt x="8886" y="9391"/>
                    <a:pt x="9391" y="8886"/>
                    <a:pt x="9999" y="8535"/>
                  </a:cubicBezTo>
                  <a:cubicBezTo>
                    <a:pt x="10608" y="8184"/>
                    <a:pt x="11297" y="8000"/>
                    <a:pt x="12000" y="8000"/>
                  </a:cubicBezTo>
                  <a:cubicBezTo>
                    <a:pt x="12702" y="8000"/>
                    <a:pt x="13391" y="8184"/>
                    <a:pt x="14000" y="8535"/>
                  </a:cubicBezTo>
                  <a:cubicBezTo>
                    <a:pt x="14608" y="8886"/>
                    <a:pt x="15113" y="9391"/>
                    <a:pt x="15464" y="10000"/>
                  </a:cubicBezTo>
                  <a:cubicBezTo>
                    <a:pt x="15815" y="10608"/>
                    <a:pt x="16000" y="11297"/>
                    <a:pt x="16000" y="11999"/>
                  </a:cubicBezTo>
                  <a:close/>
                </a:path>
              </a:pathLst>
            </a:custGeom>
            <a:noFill/>
            <a:ln w="14478" cap="rnd">
              <a:solidFill>
                <a:srgbClr val="165FF2"/>
              </a:solidFill>
              <a:round/>
            </a:ln>
          </p:spPr>
        </p:sp>
        <p:sp>
          <p:nvSpPr>
            <p:cNvPr id="125" name="Service"/>
            <p:cNvSpPr txBox="1"/>
            <p:nvPr/>
          </p:nvSpPr>
          <p:spPr>
            <a:xfrm>
              <a:off x="7358634" y="4209136"/>
              <a:ext cx="1337310" cy="2045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 go-live support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Support after go-live</a:t>
              </a:r>
              <a:endParaRPr lang="en-US" sz="660" dirty="0">
                <a:latin typeface="Inter"/>
              </a:endParaRPr>
            </a:p>
          </p:txBody>
        </p:sp>
        <p:grpSp>
          <p:nvGrpSpPr>
            <p:cNvPr id="126" name="Chip Duration TBC"/>
            <p:cNvGrpSpPr/>
            <p:nvPr/>
          </p:nvGrpSpPr>
          <p:grpSpPr>
            <a:xfrm>
              <a:off x="7358634" y="4441088"/>
              <a:ext cx="680745" cy="137160"/>
              <a:chOff x="7358634" y="4441088"/>
              <a:chExt cx="680745" cy="137160"/>
            </a:xfrm>
          </p:grpSpPr>
          <p:sp>
            <p:nvSpPr>
              <p:cNvPr id="127" name="Chip fill"/>
              <p:cNvSpPr/>
              <p:nvPr/>
            </p:nvSpPr>
            <p:spPr>
              <a:xfrm>
                <a:off x="7358634" y="4441088"/>
                <a:ext cx="68074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28" name="Icon circle-help"/>
              <p:cNvSpPr/>
              <p:nvPr/>
            </p:nvSpPr>
            <p:spPr>
              <a:xfrm>
                <a:off x="7399782" y="4463631"/>
                <a:ext cx="9207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9090" y="9000"/>
                    </a:moveTo>
                    <a:cubicBezTo>
                      <a:pt x="9245" y="8557"/>
                      <a:pt x="9503" y="8156"/>
                      <a:pt x="9842" y="7831"/>
                    </a:cubicBezTo>
                    <a:cubicBezTo>
                      <a:pt x="10180" y="7506"/>
                      <a:pt x="10591" y="7265"/>
                      <a:pt x="11040" y="7127"/>
                    </a:cubicBezTo>
                    <a:cubicBezTo>
                      <a:pt x="11489" y="6989"/>
                      <a:pt x="11964" y="6959"/>
                      <a:pt x="12427" y="7038"/>
                    </a:cubicBezTo>
                    <a:cubicBezTo>
                      <a:pt x="12890" y="7118"/>
                      <a:pt x="13327" y="7305"/>
                      <a:pt x="13705" y="7584"/>
                    </a:cubicBezTo>
                    <a:cubicBezTo>
                      <a:pt x="14082" y="7863"/>
                      <a:pt x="14389" y="8228"/>
                      <a:pt x="14600" y="8647"/>
                    </a:cubicBezTo>
                    <a:cubicBezTo>
                      <a:pt x="14811" y="9067"/>
                      <a:pt x="14920" y="9530"/>
                      <a:pt x="14920" y="10000"/>
                    </a:cubicBezTo>
                    <a:cubicBezTo>
                      <a:pt x="14920" y="12000"/>
                      <a:pt x="11920" y="13000"/>
                      <a:pt x="11920" y="13000"/>
                    </a:cubicBez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8823" cap="rnd">
                <a:solidFill>
                  <a:srgbClr val="C65C10"/>
                </a:solidFill>
                <a:round/>
              </a:ln>
            </p:spPr>
          </p:sp>
          <p:sp>
            <p:nvSpPr>
              <p:cNvPr id="129" name="Chip label"/>
              <p:cNvSpPr txBox="1"/>
              <p:nvPr/>
            </p:nvSpPr>
            <p:spPr>
              <a:xfrm>
                <a:off x="7523861" y="4441088"/>
                <a:ext cx="49265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Duration TBC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30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31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32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02  ·  HYDROTESTER STATION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Software Deliverables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Two applications for the Hydrotester station: a Graph Application on the new IPC and a SAP Entry Application on the central server.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" name="Deliverable · Graph Application"/>
          <p:cNvGrpSpPr/>
          <p:nvPr/>
        </p:nvGrpSpPr>
        <p:grpSpPr>
          <a:xfrm>
            <a:off x="274320" y="1033272"/>
            <a:ext cx="2743200" cy="402336"/>
            <a:chOff x="274320" y="1033272"/>
            <a:chExt cx="2743200" cy="402336"/>
          </a:xfrm>
        </p:grpSpPr>
        <p:sp>
          <p:nvSpPr>
            <p:cNvPr id="22" name="Banner"/>
            <p:cNvSpPr/>
            <p:nvPr/>
          </p:nvSpPr>
          <p:spPr>
            <a:xfrm>
              <a:off x="274320" y="1033272"/>
              <a:ext cx="2743200" cy="402336"/>
            </a:xfrm>
            <a:prstGeom prst="roundRect">
              <a:avLst>
                <a:gd name="adj" fmla="val 1363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23" name="Icon tile"/>
            <p:cNvSpPr/>
            <p:nvPr/>
          </p:nvSpPr>
          <p:spPr>
            <a:xfrm>
              <a:off x="365760" y="109728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24" name="Icon chart-line"/>
            <p:cNvSpPr/>
            <p:nvPr/>
          </p:nvSpPr>
          <p:spPr>
            <a:xfrm>
              <a:off x="425196" y="115671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19351"/>
                    <a:pt x="3092" y="19695"/>
                    <a:pt x="3267" y="20000"/>
                  </a:cubicBezTo>
                  <a:cubicBezTo>
                    <a:pt x="3443" y="20304"/>
                    <a:pt x="3695" y="20556"/>
                    <a:pt x="3999" y="20732"/>
                  </a:cubicBezTo>
                  <a:cubicBezTo>
                    <a:pt x="4304" y="20907"/>
                    <a:pt x="4648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9000" y="9000"/>
                  </a:moveTo>
                  <a:lnTo>
                    <a:pt x="14000" y="14000"/>
                  </a:lnTo>
                  <a:lnTo>
                    <a:pt x="10000" y="10000"/>
                  </a:lnTo>
                  <a:lnTo>
                    <a:pt x="7000" y="13000"/>
                  </a:lnTo>
                </a:path>
              </a:pathLst>
            </a:custGeom>
            <a:noFill/>
            <a:ln w="12954" cap="rnd">
              <a:solidFill>
                <a:srgbClr val="FFFFFF"/>
              </a:solidFill>
              <a:round/>
            </a:ln>
          </p:spPr>
        </p:sp>
        <p:sp>
          <p:nvSpPr>
            <p:cNvPr id="25" name="Deliverable name"/>
            <p:cNvSpPr txBox="1"/>
            <p:nvPr/>
          </p:nvSpPr>
          <p:spPr>
            <a:xfrm>
              <a:off x="731520" y="1033272"/>
              <a:ext cx="2194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1155"/>
                </a:lnSpc>
                <a:spcBef>
                  <a:spcPts val="0"/>
                </a:spcBef>
                <a:buNone/>
              </a:pPr>
              <a:r>
                <a:rPr lang="en-US" sz="10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Graph Application</a:t>
              </a:r>
              <a:endParaRPr lang="en-US" sz="1050" dirty="0">
                <a:latin typeface="TASA Orbiter SemiBold"/>
              </a:endParaRPr>
            </a:p>
          </p:txBody>
        </p:sp>
        <p:grpSp>
          <p:nvGrpSpPr>
            <p:cNvPr id="26" name="Chip Station IPC"/>
            <p:cNvGrpSpPr/>
            <p:nvPr/>
          </p:nvGrpSpPr>
          <p:grpSpPr>
            <a:xfrm>
              <a:off x="2266343" y="1152144"/>
              <a:ext cx="659737" cy="164592"/>
              <a:chOff x="2266343" y="1152144"/>
              <a:chExt cx="659737" cy="164592"/>
            </a:xfrm>
          </p:grpSpPr>
          <p:sp>
            <p:nvSpPr>
              <p:cNvPr id="27" name="Chip fill"/>
              <p:cNvSpPr/>
              <p:nvPr/>
            </p:nvSpPr>
            <p:spPr>
              <a:xfrm>
                <a:off x="2266343" y="1152144"/>
                <a:ext cx="659737" cy="164592"/>
              </a:xfrm>
              <a:prstGeom prst="roundRect">
                <a:avLst>
                  <a:gd name="adj" fmla="val 16666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28" name="Icon cpu"/>
              <p:cNvSpPr/>
              <p:nvPr/>
            </p:nvSpPr>
            <p:spPr>
              <a:xfrm>
                <a:off x="2321207" y="1185228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20000"/>
                    </a:moveTo>
                    <a:lnTo>
                      <a:pt x="12000" y="22000"/>
                    </a:lnTo>
                  </a:path>
                  <a:path w="24000" h="24000" fill="none">
                    <a:moveTo>
                      <a:pt x="12000" y="2000"/>
                    </a:moveTo>
                    <a:lnTo>
                      <a:pt x="12000" y="4000"/>
                    </a:lnTo>
                  </a:path>
                  <a:path w="24000" h="24000" fill="none">
                    <a:moveTo>
                      <a:pt x="17000" y="20000"/>
                    </a:moveTo>
                    <a:lnTo>
                      <a:pt x="17000" y="22000"/>
                    </a:lnTo>
                  </a:path>
                  <a:path w="24000" h="24000" fill="none">
                    <a:moveTo>
                      <a:pt x="17000" y="2000"/>
                    </a:moveTo>
                    <a:lnTo>
                      <a:pt x="17000" y="4000"/>
                    </a:lnTo>
                  </a:path>
                  <a:path w="24000" h="24000" fill="none">
                    <a:moveTo>
                      <a:pt x="2000" y="12000"/>
                    </a:moveTo>
                    <a:lnTo>
                      <a:pt x="4000" y="12000"/>
                    </a:lnTo>
                  </a:path>
                  <a:path w="24000" h="24000" fill="none">
                    <a:moveTo>
                      <a:pt x="2000" y="17000"/>
                    </a:moveTo>
                    <a:lnTo>
                      <a:pt x="4000" y="17000"/>
                    </a:lnTo>
                  </a:path>
                  <a:path w="24000" h="24000" fill="none">
                    <a:moveTo>
                      <a:pt x="2000" y="7000"/>
                    </a:moveTo>
                    <a:lnTo>
                      <a:pt x="4000" y="7000"/>
                    </a:lnTo>
                  </a:path>
                  <a:path w="24000" h="24000" fill="none">
                    <a:moveTo>
                      <a:pt x="20000" y="12000"/>
                    </a:moveTo>
                    <a:lnTo>
                      <a:pt x="22000" y="12000"/>
                    </a:lnTo>
                  </a:path>
                  <a:path w="24000" h="24000" fill="none">
                    <a:moveTo>
                      <a:pt x="20000" y="17000"/>
                    </a:moveTo>
                    <a:lnTo>
                      <a:pt x="22000" y="17000"/>
                    </a:lnTo>
                  </a:path>
                  <a:path w="24000" h="24000" fill="none">
                    <a:moveTo>
                      <a:pt x="20000" y="7000"/>
                    </a:moveTo>
                    <a:lnTo>
                      <a:pt x="22000" y="7000"/>
                    </a:lnTo>
                  </a:path>
                  <a:path w="24000" h="24000" fill="none">
                    <a:moveTo>
                      <a:pt x="7000" y="20000"/>
                    </a:moveTo>
                    <a:lnTo>
                      <a:pt x="7000" y="22000"/>
                    </a:lnTo>
                  </a:path>
                  <a:path w="24000" h="24000" fill="none">
                    <a:moveTo>
                      <a:pt x="7000" y="2000"/>
                    </a:moveTo>
                    <a:lnTo>
                      <a:pt x="7000" y="4000"/>
                    </a:lnTo>
                  </a:path>
                  <a:path w="24000" h="24000" fill="none">
                    <a:moveTo>
                      <a:pt x="6000" y="4000"/>
                    </a:moveTo>
                    <a:lnTo>
                      <a:pt x="18000" y="4000"/>
                    </a:lnTo>
                    <a:cubicBezTo>
                      <a:pt x="18351" y="4000"/>
                      <a:pt x="18695" y="4092"/>
                      <a:pt x="19000" y="4267"/>
                    </a:cubicBezTo>
                    <a:cubicBezTo>
                      <a:pt x="19304" y="4443"/>
                      <a:pt x="19556" y="4695"/>
                      <a:pt x="19732" y="5000"/>
                    </a:cubicBezTo>
                    <a:cubicBezTo>
                      <a:pt x="19907" y="5304"/>
                      <a:pt x="20000" y="5648"/>
                      <a:pt x="20000" y="6000"/>
                    </a:cubicBezTo>
                    <a:lnTo>
                      <a:pt x="20000" y="18000"/>
                    </a:lnTo>
                    <a:cubicBezTo>
                      <a:pt x="20000" y="18351"/>
                      <a:pt x="19907" y="18695"/>
                      <a:pt x="19732" y="19000"/>
                    </a:cubicBezTo>
                    <a:cubicBezTo>
                      <a:pt x="19556" y="19304"/>
                      <a:pt x="19304" y="19556"/>
                      <a:pt x="19000" y="19732"/>
                    </a:cubicBezTo>
                    <a:cubicBezTo>
                      <a:pt x="18695" y="19907"/>
                      <a:pt x="18351" y="20000"/>
                      <a:pt x="18000" y="20000"/>
                    </a:cubicBezTo>
                    <a:lnTo>
                      <a:pt x="6000" y="20000"/>
                    </a:lnTo>
                    <a:cubicBezTo>
                      <a:pt x="5648" y="20000"/>
                      <a:pt x="5304" y="19907"/>
                      <a:pt x="5000" y="19732"/>
                    </a:cubicBezTo>
                    <a:cubicBezTo>
                      <a:pt x="4695" y="19556"/>
                      <a:pt x="4443" y="19304"/>
                      <a:pt x="4267" y="19000"/>
                    </a:cubicBezTo>
                    <a:cubicBezTo>
                      <a:pt x="4092" y="18695"/>
                      <a:pt x="4000" y="18351"/>
                      <a:pt x="4000" y="18000"/>
                    </a:cubicBezTo>
                    <a:lnTo>
                      <a:pt x="4000" y="6000"/>
                    </a:lnTo>
                    <a:cubicBezTo>
                      <a:pt x="4000" y="5648"/>
                      <a:pt x="4092" y="5304"/>
                      <a:pt x="4267" y="5000"/>
                    </a:cubicBezTo>
                    <a:cubicBezTo>
                      <a:pt x="4443" y="4695"/>
                      <a:pt x="4695" y="4443"/>
                      <a:pt x="4999" y="4267"/>
                    </a:cubicBezTo>
                    <a:cubicBezTo>
                      <a:pt x="5304" y="4092"/>
                      <a:pt x="5648" y="4000"/>
                      <a:pt x="6000" y="4000"/>
                    </a:cubicBezTo>
                    <a:close/>
                  </a:path>
                  <a:path w="24000" h="24000" fill="none">
                    <a:moveTo>
                      <a:pt x="9000" y="8000"/>
                    </a:moveTo>
                    <a:lnTo>
                      <a:pt x="15000" y="8000"/>
                    </a:lnTo>
                    <a:cubicBezTo>
                      <a:pt x="15175" y="8000"/>
                      <a:pt x="15347" y="8046"/>
                      <a:pt x="15500" y="8133"/>
                    </a:cubicBezTo>
                    <a:cubicBezTo>
                      <a:pt x="15652" y="8221"/>
                      <a:pt x="15778" y="8347"/>
                      <a:pt x="15866" y="8500"/>
                    </a:cubicBezTo>
                    <a:cubicBezTo>
                      <a:pt x="15953" y="8652"/>
                      <a:pt x="16000" y="8824"/>
                      <a:pt x="16000" y="9000"/>
                    </a:cubicBezTo>
                    <a:lnTo>
                      <a:pt x="16000" y="15000"/>
                    </a:lnTo>
                    <a:cubicBezTo>
                      <a:pt x="16000" y="15175"/>
                      <a:pt x="15953" y="15347"/>
                      <a:pt x="15866" y="15500"/>
                    </a:cubicBezTo>
                    <a:cubicBezTo>
                      <a:pt x="15778" y="15652"/>
                      <a:pt x="15652" y="15778"/>
                      <a:pt x="15500" y="15866"/>
                    </a:cubicBezTo>
                    <a:cubicBezTo>
                      <a:pt x="15347" y="15953"/>
                      <a:pt x="15175" y="16000"/>
                      <a:pt x="15000" y="16000"/>
                    </a:cubicBezTo>
                    <a:lnTo>
                      <a:pt x="9000" y="16000"/>
                    </a:lnTo>
                    <a:cubicBezTo>
                      <a:pt x="8824" y="16000"/>
                      <a:pt x="8652" y="15953"/>
                      <a:pt x="8500" y="15866"/>
                    </a:cubicBezTo>
                    <a:cubicBezTo>
                      <a:pt x="8347" y="15778"/>
                      <a:pt x="8221" y="15652"/>
                      <a:pt x="8133" y="15500"/>
                    </a:cubicBezTo>
                    <a:cubicBezTo>
                      <a:pt x="8046" y="15347"/>
                      <a:pt x="8000" y="15175"/>
                      <a:pt x="8000" y="15000"/>
                    </a:cubicBezTo>
                    <a:lnTo>
                      <a:pt x="8000" y="9000"/>
                    </a:lnTo>
                    <a:cubicBezTo>
                      <a:pt x="8000" y="8824"/>
                      <a:pt x="8046" y="8652"/>
                      <a:pt x="8133" y="8500"/>
                    </a:cubicBezTo>
                    <a:cubicBezTo>
                      <a:pt x="8221" y="8347"/>
                      <a:pt x="8347" y="8221"/>
                      <a:pt x="8500" y="8133"/>
                    </a:cubicBezTo>
                    <a:cubicBezTo>
                      <a:pt x="8652" y="8046"/>
                      <a:pt x="8824" y="8000"/>
                      <a:pt x="9000" y="8000"/>
                    </a:cubicBezTo>
                    <a:close/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29" name="Chip label"/>
              <p:cNvSpPr txBox="1"/>
              <p:nvPr/>
            </p:nvSpPr>
            <p:spPr>
              <a:xfrm>
                <a:off x="2451636" y="1152144"/>
                <a:ext cx="437868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Station IPC</a:t>
                </a:r>
                <a:endParaRPr lang="en-US" sz="620" dirty="0">
                  <a:latin typeface="Inter SemiBold"/>
                </a:endParaRPr>
              </a:p>
            </p:txBody>
          </p:sp>
        </p:grpSp>
      </p:grpSp>
      <p:grpSp>
        <p:nvGrpSpPr>
          <p:cNvPr id="30" name="Deliverable · SAP Entry Application  ·  Hydrotester"/>
          <p:cNvGrpSpPr/>
          <p:nvPr/>
        </p:nvGrpSpPr>
        <p:grpSpPr>
          <a:xfrm>
            <a:off x="3145536" y="1033272"/>
            <a:ext cx="5724144" cy="402336"/>
            <a:chOff x="3145536" y="1033272"/>
            <a:chExt cx="5724144" cy="402336"/>
          </a:xfrm>
        </p:grpSpPr>
        <p:sp>
          <p:nvSpPr>
            <p:cNvPr id="31" name="Banner"/>
            <p:cNvSpPr/>
            <p:nvPr/>
          </p:nvSpPr>
          <p:spPr>
            <a:xfrm>
              <a:off x="3145536" y="1033272"/>
              <a:ext cx="5724144" cy="402336"/>
            </a:xfrm>
            <a:prstGeom prst="roundRect">
              <a:avLst>
                <a:gd name="adj" fmla="val 13636"/>
              </a:avLst>
            </a:prstGeom>
            <a:solidFill>
              <a:srgbClr val="F1F5FA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32" name="Icon tile"/>
            <p:cNvSpPr/>
            <p:nvPr/>
          </p:nvSpPr>
          <p:spPr>
            <a:xfrm>
              <a:off x="3236976" y="1097280"/>
              <a:ext cx="274320" cy="274320"/>
            </a:xfrm>
            <a:prstGeom prst="roundRect">
              <a:avLst>
                <a:gd name="adj" fmla="val 13333"/>
              </a:avLst>
            </a:prstGeom>
            <a:solidFill>
              <a:srgbClr val="0C1927">
                <a:alpha val="14000"/>
              </a:srgbClr>
            </a:solidFill>
            <a:ln>
              <a:noFill/>
            </a:ln>
          </p:spPr>
        </p:sp>
        <p:sp>
          <p:nvSpPr>
            <p:cNvPr id="33" name="Icon app-window"/>
            <p:cNvSpPr/>
            <p:nvPr/>
          </p:nvSpPr>
          <p:spPr>
            <a:xfrm>
              <a:off x="3296412" y="1156716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4000"/>
                  </a:moveTo>
                  <a:lnTo>
                    <a:pt x="20000" y="4000"/>
                  </a:lnTo>
                  <a:cubicBezTo>
                    <a:pt x="20351" y="4000"/>
                    <a:pt x="20695" y="4092"/>
                    <a:pt x="21000" y="4267"/>
                  </a:cubicBezTo>
                  <a:cubicBezTo>
                    <a:pt x="21304" y="4443"/>
                    <a:pt x="21556" y="4695"/>
                    <a:pt x="21732" y="5000"/>
                  </a:cubicBezTo>
                  <a:cubicBezTo>
                    <a:pt x="21907" y="5304"/>
                    <a:pt x="22000" y="5648"/>
                    <a:pt x="22000" y="6000"/>
                  </a:cubicBezTo>
                  <a:lnTo>
                    <a:pt x="22000" y="18000"/>
                  </a:lnTo>
                  <a:cubicBezTo>
                    <a:pt x="22000" y="18351"/>
                    <a:pt x="21907" y="18695"/>
                    <a:pt x="21732" y="19000"/>
                  </a:cubicBezTo>
                  <a:cubicBezTo>
                    <a:pt x="21556" y="19304"/>
                    <a:pt x="21304" y="19556"/>
                    <a:pt x="21000" y="19732"/>
                  </a:cubicBezTo>
                  <a:cubicBezTo>
                    <a:pt x="20695" y="19907"/>
                    <a:pt x="20351" y="20000"/>
                    <a:pt x="20000" y="20000"/>
                  </a:cubicBezTo>
                  <a:lnTo>
                    <a:pt x="4000" y="20000"/>
                  </a:lnTo>
                  <a:cubicBezTo>
                    <a:pt x="3648" y="20000"/>
                    <a:pt x="3304" y="19907"/>
                    <a:pt x="3000" y="19732"/>
                  </a:cubicBezTo>
                  <a:cubicBezTo>
                    <a:pt x="2695" y="19556"/>
                    <a:pt x="2443" y="19304"/>
                    <a:pt x="2267" y="19000"/>
                  </a:cubicBezTo>
                  <a:cubicBezTo>
                    <a:pt x="2092" y="18695"/>
                    <a:pt x="2000" y="18351"/>
                    <a:pt x="2000" y="18000"/>
                  </a:cubicBezTo>
                  <a:lnTo>
                    <a:pt x="2000" y="6000"/>
                  </a:lnTo>
                  <a:cubicBezTo>
                    <a:pt x="2000" y="5648"/>
                    <a:pt x="2092" y="5304"/>
                    <a:pt x="2267" y="5000"/>
                  </a:cubicBezTo>
                  <a:cubicBezTo>
                    <a:pt x="2443" y="4695"/>
                    <a:pt x="2695" y="4443"/>
                    <a:pt x="2999" y="4267"/>
                  </a:cubicBezTo>
                  <a:cubicBezTo>
                    <a:pt x="3304" y="4092"/>
                    <a:pt x="3648" y="4000"/>
                    <a:pt x="4000" y="4000"/>
                  </a:cubicBezTo>
                  <a:close/>
                </a:path>
                <a:path w="24000" h="24000" fill="none">
                  <a:moveTo>
                    <a:pt x="10000" y="4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2000" y="8000"/>
                  </a:moveTo>
                  <a:lnTo>
                    <a:pt x="22000" y="8000"/>
                  </a:lnTo>
                </a:path>
                <a:path w="24000" h="24000" fill="none">
                  <a:moveTo>
                    <a:pt x="6000" y="4000"/>
                  </a:moveTo>
                  <a:lnTo>
                    <a:pt x="6000" y="8000"/>
                  </a:ln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34" name="Deliverable name"/>
            <p:cNvSpPr txBox="1"/>
            <p:nvPr/>
          </p:nvSpPr>
          <p:spPr>
            <a:xfrm>
              <a:off x="3602736" y="1033272"/>
              <a:ext cx="5175504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1155"/>
                </a:lnSpc>
                <a:spcBef>
                  <a:spcPts val="0"/>
                </a:spcBef>
                <a:buNone/>
              </a:pPr>
              <a:r>
                <a:rPr lang="en-US" sz="105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SAP Entry Application  ·  Hydrotester</a:t>
              </a:r>
              <a:endParaRPr lang="en-US" sz="1050" dirty="0">
                <a:latin typeface="TASA Orbiter SemiBold"/>
              </a:endParaRPr>
            </a:p>
          </p:txBody>
        </p:sp>
        <p:grpSp>
          <p:nvGrpSpPr>
            <p:cNvPr id="35" name="Chip IOsense platform"/>
            <p:cNvGrpSpPr/>
            <p:nvPr/>
          </p:nvGrpSpPr>
          <p:grpSpPr>
            <a:xfrm>
              <a:off x="7888121" y="1152144"/>
              <a:ext cx="890119" cy="164592"/>
              <a:chOff x="7888121" y="1152144"/>
              <a:chExt cx="890119" cy="164592"/>
            </a:xfrm>
          </p:grpSpPr>
          <p:sp>
            <p:nvSpPr>
              <p:cNvPr id="36" name="Chip fill"/>
              <p:cNvSpPr/>
              <p:nvPr/>
            </p:nvSpPr>
            <p:spPr>
              <a:xfrm>
                <a:off x="7888121" y="1152144"/>
                <a:ext cx="890119" cy="164592"/>
              </a:xfrm>
              <a:prstGeom prst="roundRect">
                <a:avLst>
                  <a:gd name="adj" fmla="val 16666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37" name="Icon layers"/>
              <p:cNvSpPr/>
              <p:nvPr/>
            </p:nvSpPr>
            <p:spPr>
              <a:xfrm>
                <a:off x="7942985" y="1185228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830" y="2180"/>
                    </a:moveTo>
                    <a:cubicBezTo>
                      <a:pt x="12569" y="2061"/>
                      <a:pt x="12286" y="1999"/>
                      <a:pt x="12000" y="1999"/>
                    </a:cubicBezTo>
                    <a:cubicBezTo>
                      <a:pt x="11713" y="1999"/>
                      <a:pt x="11430" y="2061"/>
                      <a:pt x="11170" y="2180"/>
                    </a:cubicBezTo>
                    <a:lnTo>
                      <a:pt x="2600" y="6080"/>
                    </a:lnTo>
                    <a:cubicBezTo>
                      <a:pt x="2458" y="6142"/>
                      <a:pt x="2333" y="6236"/>
                      <a:pt x="2234" y="6355"/>
                    </a:cubicBezTo>
                    <a:cubicBezTo>
                      <a:pt x="2135" y="6474"/>
                      <a:pt x="2065" y="6615"/>
                      <a:pt x="2030" y="6765"/>
                    </a:cubicBezTo>
                    <a:cubicBezTo>
                      <a:pt x="1994" y="6916"/>
                      <a:pt x="1994" y="7073"/>
                      <a:pt x="2030" y="7224"/>
                    </a:cubicBezTo>
                    <a:cubicBezTo>
                      <a:pt x="2065" y="7374"/>
                      <a:pt x="2135" y="7515"/>
                      <a:pt x="2234" y="7634"/>
                    </a:cubicBezTo>
                    <a:cubicBezTo>
                      <a:pt x="2333" y="7753"/>
                      <a:pt x="2458" y="7847"/>
                      <a:pt x="2600" y="7910"/>
                    </a:cubicBezTo>
                    <a:lnTo>
                      <a:pt x="11180" y="11820"/>
                    </a:lnTo>
                    <a:cubicBezTo>
                      <a:pt x="11440" y="11938"/>
                      <a:pt x="11723" y="12000"/>
                      <a:pt x="12010" y="12000"/>
                    </a:cubicBezTo>
                    <a:cubicBezTo>
                      <a:pt x="12296" y="12000"/>
                      <a:pt x="12579" y="11938"/>
                      <a:pt x="12840" y="11820"/>
                    </a:cubicBezTo>
                    <a:lnTo>
                      <a:pt x="21420" y="7920"/>
                    </a:lnTo>
                    <a:cubicBezTo>
                      <a:pt x="21561" y="7857"/>
                      <a:pt x="21686" y="7763"/>
                      <a:pt x="21785" y="7644"/>
                    </a:cubicBezTo>
                    <a:cubicBezTo>
                      <a:pt x="21884" y="7525"/>
                      <a:pt x="21954" y="7384"/>
                      <a:pt x="21989" y="7234"/>
                    </a:cubicBezTo>
                    <a:cubicBezTo>
                      <a:pt x="22025" y="7083"/>
                      <a:pt x="22025" y="6926"/>
                      <a:pt x="21989" y="6775"/>
                    </a:cubicBezTo>
                    <a:cubicBezTo>
                      <a:pt x="21954" y="6625"/>
                      <a:pt x="21884" y="6484"/>
                      <a:pt x="21785" y="6365"/>
                    </a:cubicBezTo>
                    <a:cubicBezTo>
                      <a:pt x="21686" y="6246"/>
                      <a:pt x="21561" y="6152"/>
                      <a:pt x="21420" y="6090"/>
                    </a:cubicBezTo>
                    <a:close/>
                  </a:path>
                  <a:path w="24000" h="24000" fill="none">
                    <a:moveTo>
                      <a:pt x="2000" y="12000"/>
                    </a:moveTo>
                    <a:cubicBezTo>
                      <a:pt x="1999" y="12127"/>
                      <a:pt x="2023" y="12252"/>
                      <a:pt x="2070" y="12371"/>
                    </a:cubicBezTo>
                    <a:cubicBezTo>
                      <a:pt x="2117" y="12489"/>
                      <a:pt x="2186" y="12597"/>
                      <a:pt x="2273" y="12689"/>
                    </a:cubicBezTo>
                    <a:cubicBezTo>
                      <a:pt x="2360" y="12781"/>
                      <a:pt x="2464" y="12856"/>
                      <a:pt x="2580" y="12910"/>
                    </a:cubicBezTo>
                    <a:lnTo>
                      <a:pt x="11180" y="16820"/>
                    </a:lnTo>
                    <a:cubicBezTo>
                      <a:pt x="11439" y="16937"/>
                      <a:pt x="11720" y="16998"/>
                      <a:pt x="12004" y="16998"/>
                    </a:cubicBezTo>
                    <a:cubicBezTo>
                      <a:pt x="12289" y="16998"/>
                      <a:pt x="12570" y="16937"/>
                      <a:pt x="12830" y="16820"/>
                    </a:cubicBezTo>
                    <a:lnTo>
                      <a:pt x="21410" y="12920"/>
                    </a:lnTo>
                    <a:cubicBezTo>
                      <a:pt x="21527" y="12867"/>
                      <a:pt x="21633" y="12792"/>
                      <a:pt x="21722" y="12698"/>
                    </a:cubicBezTo>
                    <a:cubicBezTo>
                      <a:pt x="21811" y="12605"/>
                      <a:pt x="21882" y="12496"/>
                      <a:pt x="21929" y="12376"/>
                    </a:cubicBezTo>
                    <a:cubicBezTo>
                      <a:pt x="21977" y="12256"/>
                      <a:pt x="22001" y="12128"/>
                      <a:pt x="22000" y="12000"/>
                    </a:cubicBezTo>
                  </a:path>
                  <a:path w="24000" h="24000" fill="none">
                    <a:moveTo>
                      <a:pt x="2000" y="17000"/>
                    </a:moveTo>
                    <a:cubicBezTo>
                      <a:pt x="1999" y="17127"/>
                      <a:pt x="2023" y="17252"/>
                      <a:pt x="2070" y="17371"/>
                    </a:cubicBezTo>
                    <a:cubicBezTo>
                      <a:pt x="2117" y="17489"/>
                      <a:pt x="2186" y="17597"/>
                      <a:pt x="2273" y="17689"/>
                    </a:cubicBezTo>
                    <a:cubicBezTo>
                      <a:pt x="2360" y="17781"/>
                      <a:pt x="2464" y="17856"/>
                      <a:pt x="2580" y="17910"/>
                    </a:cubicBezTo>
                    <a:lnTo>
                      <a:pt x="11180" y="21820"/>
                    </a:lnTo>
                    <a:cubicBezTo>
                      <a:pt x="11439" y="21937"/>
                      <a:pt x="11720" y="21998"/>
                      <a:pt x="12004" y="21998"/>
                    </a:cubicBezTo>
                    <a:cubicBezTo>
                      <a:pt x="12289" y="21998"/>
                      <a:pt x="12570" y="21937"/>
                      <a:pt x="12830" y="21820"/>
                    </a:cubicBezTo>
                    <a:lnTo>
                      <a:pt x="21410" y="17920"/>
                    </a:lnTo>
                    <a:cubicBezTo>
                      <a:pt x="21527" y="17867"/>
                      <a:pt x="21633" y="17792"/>
                      <a:pt x="21722" y="17698"/>
                    </a:cubicBezTo>
                    <a:cubicBezTo>
                      <a:pt x="21811" y="17605"/>
                      <a:pt x="21882" y="17496"/>
                      <a:pt x="21929" y="17376"/>
                    </a:cubicBezTo>
                    <a:cubicBezTo>
                      <a:pt x="21977" y="17256"/>
                      <a:pt x="22001" y="17128"/>
                      <a:pt x="22000" y="17000"/>
                    </a:cubicBezTo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38" name="Chip label"/>
              <p:cNvSpPr txBox="1"/>
              <p:nvPr/>
            </p:nvSpPr>
            <p:spPr>
              <a:xfrm>
                <a:off x="8073414" y="1152144"/>
                <a:ext cx="668250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IOsense platform</a:t>
                </a:r>
                <a:endParaRPr lang="en-US" sz="620" dirty="0">
                  <a:latin typeface="Inter SemiBold"/>
                </a:endParaRPr>
              </a:p>
            </p:txBody>
          </p:sp>
        </p:grpSp>
        <p:grpSp>
          <p:nvGrpSpPr>
            <p:cNvPr id="39" name="Chip Central server"/>
            <p:cNvGrpSpPr/>
            <p:nvPr/>
          </p:nvGrpSpPr>
          <p:grpSpPr>
            <a:xfrm>
              <a:off x="7060636" y="1152144"/>
              <a:ext cx="781765" cy="164592"/>
              <a:chOff x="7060636" y="1152144"/>
              <a:chExt cx="781765" cy="164592"/>
            </a:xfrm>
          </p:grpSpPr>
          <p:sp>
            <p:nvSpPr>
              <p:cNvPr id="40" name="Chip fill"/>
              <p:cNvSpPr/>
              <p:nvPr/>
            </p:nvSpPr>
            <p:spPr>
              <a:xfrm>
                <a:off x="7060636" y="1152144"/>
                <a:ext cx="781765" cy="164592"/>
              </a:xfrm>
              <a:prstGeom prst="roundRect">
                <a:avLst>
                  <a:gd name="adj" fmla="val 16666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41" name="Icon server"/>
              <p:cNvSpPr/>
              <p:nvPr/>
            </p:nvSpPr>
            <p:spPr>
              <a:xfrm>
                <a:off x="7115500" y="1185228"/>
                <a:ext cx="98425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4000" y="2000"/>
                    </a:moveTo>
                    <a:lnTo>
                      <a:pt x="20000" y="2000"/>
                    </a:lnTo>
                    <a:cubicBezTo>
                      <a:pt x="20351" y="2000"/>
                      <a:pt x="20695" y="2092"/>
                      <a:pt x="21000" y="2267"/>
                    </a:cubicBezTo>
                    <a:cubicBezTo>
                      <a:pt x="21304" y="2443"/>
                      <a:pt x="21556" y="2695"/>
                      <a:pt x="21732" y="3000"/>
                    </a:cubicBezTo>
                    <a:cubicBezTo>
                      <a:pt x="21907" y="3304"/>
                      <a:pt x="22000" y="3648"/>
                      <a:pt x="22000" y="4000"/>
                    </a:cubicBezTo>
                    <a:lnTo>
                      <a:pt x="22000" y="8000"/>
                    </a:lnTo>
                    <a:cubicBezTo>
                      <a:pt x="22000" y="8351"/>
                      <a:pt x="21907" y="8695"/>
                      <a:pt x="21732" y="9000"/>
                    </a:cubicBezTo>
                    <a:cubicBezTo>
                      <a:pt x="21556" y="9304"/>
                      <a:pt x="21304" y="9556"/>
                      <a:pt x="21000" y="9732"/>
                    </a:cubicBezTo>
                    <a:cubicBezTo>
                      <a:pt x="20695" y="9907"/>
                      <a:pt x="20351" y="10000"/>
                      <a:pt x="20000" y="10000"/>
                    </a:cubicBezTo>
                    <a:lnTo>
                      <a:pt x="4000" y="10000"/>
                    </a:lnTo>
                    <a:cubicBezTo>
                      <a:pt x="3648" y="10000"/>
                      <a:pt x="3304" y="9907"/>
                      <a:pt x="3000" y="9732"/>
                    </a:cubicBezTo>
                    <a:cubicBezTo>
                      <a:pt x="2695" y="9556"/>
                      <a:pt x="2443" y="9304"/>
                      <a:pt x="2267" y="9000"/>
                    </a:cubicBezTo>
                    <a:cubicBezTo>
                      <a:pt x="2092" y="8695"/>
                      <a:pt x="2000" y="8351"/>
                      <a:pt x="2000" y="8000"/>
                    </a:cubicBezTo>
                    <a:lnTo>
                      <a:pt x="2000" y="4000"/>
                    </a:lnTo>
                    <a:cubicBezTo>
                      <a:pt x="2000" y="3648"/>
                      <a:pt x="2092" y="3304"/>
                      <a:pt x="2267" y="3000"/>
                    </a:cubicBezTo>
                    <a:cubicBezTo>
                      <a:pt x="2443" y="2695"/>
                      <a:pt x="2695" y="2443"/>
                      <a:pt x="2999" y="2267"/>
                    </a:cubicBezTo>
                    <a:cubicBezTo>
                      <a:pt x="3304" y="2092"/>
                      <a:pt x="3648" y="2000"/>
                      <a:pt x="4000" y="2000"/>
                    </a:cubicBezTo>
                    <a:close/>
                  </a:path>
                  <a:path w="24000" h="24000" fill="none">
                    <a:moveTo>
                      <a:pt x="4000" y="14000"/>
                    </a:moveTo>
                    <a:lnTo>
                      <a:pt x="20000" y="14000"/>
                    </a:lnTo>
                    <a:cubicBezTo>
                      <a:pt x="20351" y="14000"/>
                      <a:pt x="20695" y="14092"/>
                      <a:pt x="21000" y="14267"/>
                    </a:cubicBezTo>
                    <a:cubicBezTo>
                      <a:pt x="21304" y="14443"/>
                      <a:pt x="21556" y="14695"/>
                      <a:pt x="21732" y="15000"/>
                    </a:cubicBezTo>
                    <a:cubicBezTo>
                      <a:pt x="21907" y="15304"/>
                      <a:pt x="22000" y="15648"/>
                      <a:pt x="22000" y="16000"/>
                    </a:cubicBezTo>
                    <a:lnTo>
                      <a:pt x="22000" y="20000"/>
                    </a:lnTo>
                    <a:cubicBezTo>
                      <a:pt x="22000" y="20351"/>
                      <a:pt x="21907" y="20695"/>
                      <a:pt x="21732" y="21000"/>
                    </a:cubicBezTo>
                    <a:cubicBezTo>
                      <a:pt x="21556" y="21304"/>
                      <a:pt x="21304" y="21556"/>
                      <a:pt x="21000" y="21732"/>
                    </a:cubicBezTo>
                    <a:cubicBezTo>
                      <a:pt x="20695" y="21907"/>
                      <a:pt x="20351" y="22000"/>
                      <a:pt x="20000" y="22000"/>
                    </a:cubicBezTo>
                    <a:lnTo>
                      <a:pt x="4000" y="22000"/>
                    </a:lnTo>
                    <a:cubicBezTo>
                      <a:pt x="3648" y="22000"/>
                      <a:pt x="3304" y="21907"/>
                      <a:pt x="3000" y="21732"/>
                    </a:cubicBezTo>
                    <a:cubicBezTo>
                      <a:pt x="2695" y="21556"/>
                      <a:pt x="2443" y="21304"/>
                      <a:pt x="2267" y="21000"/>
                    </a:cubicBezTo>
                    <a:cubicBezTo>
                      <a:pt x="2092" y="20695"/>
                      <a:pt x="2000" y="20351"/>
                      <a:pt x="2000" y="20000"/>
                    </a:cubicBezTo>
                    <a:lnTo>
                      <a:pt x="2000" y="16000"/>
                    </a:lnTo>
                    <a:cubicBezTo>
                      <a:pt x="2000" y="15648"/>
                      <a:pt x="2092" y="15304"/>
                      <a:pt x="2267" y="15000"/>
                    </a:cubicBezTo>
                    <a:cubicBezTo>
                      <a:pt x="2443" y="14695"/>
                      <a:pt x="2695" y="14443"/>
                      <a:pt x="2999" y="14267"/>
                    </a:cubicBezTo>
                    <a:cubicBezTo>
                      <a:pt x="3304" y="14092"/>
                      <a:pt x="3648" y="14000"/>
                      <a:pt x="4000" y="14000"/>
                    </a:cubicBezTo>
                    <a:close/>
                  </a:path>
                  <a:path w="24000" h="24000" fill="none">
                    <a:moveTo>
                      <a:pt x="6000" y="6000"/>
                    </a:moveTo>
                    <a:lnTo>
                      <a:pt x="6010" y="6000"/>
                    </a:lnTo>
                  </a:path>
                  <a:path w="24000" h="24000" fill="none">
                    <a:moveTo>
                      <a:pt x="6000" y="18000"/>
                    </a:moveTo>
                    <a:lnTo>
                      <a:pt x="6010" y="18000"/>
                    </a:lnTo>
                  </a:path>
                </a:pathLst>
              </a:custGeom>
              <a:noFill/>
              <a:ln w="9432" cap="rnd">
                <a:solidFill>
                  <a:srgbClr val="FFFFFF"/>
                </a:solidFill>
                <a:round/>
              </a:ln>
            </p:spPr>
          </p:sp>
          <p:sp>
            <p:nvSpPr>
              <p:cNvPr id="42" name="Chip label"/>
              <p:cNvSpPr txBox="1"/>
              <p:nvPr/>
            </p:nvSpPr>
            <p:spPr>
              <a:xfrm>
                <a:off x="7245929" y="1152144"/>
                <a:ext cx="559896" cy="164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620"/>
                  </a:lnSpc>
                  <a:spcBef>
                    <a:spcPts val="0"/>
                  </a:spcBef>
                  <a:buNone/>
                </a:pPr>
                <a:r>
                  <a:rPr lang="en-US" sz="62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Central server</a:t>
                </a:r>
                <a:endParaRPr lang="en-US" sz="620" dirty="0">
                  <a:latin typeface="Inter SemiBold"/>
                </a:endParaRPr>
              </a:p>
            </p:txBody>
          </p:sp>
        </p:grpSp>
      </p:grpSp>
      <p:grpSp>
        <p:nvGrpSpPr>
          <p:cNvPr id="43" name="Module 01 · OPC UA Connector"/>
          <p:cNvGrpSpPr/>
          <p:nvPr/>
        </p:nvGrpSpPr>
        <p:grpSpPr>
          <a:xfrm>
            <a:off x="274320" y="1527048"/>
            <a:ext cx="2743200" cy="740664"/>
            <a:chOff x="274320" y="1527048"/>
            <a:chExt cx="2743200" cy="740664"/>
          </a:xfrm>
        </p:grpSpPr>
        <p:sp>
          <p:nvSpPr>
            <p:cNvPr id="44" name="Module card"/>
            <p:cNvSpPr/>
            <p:nvPr/>
          </p:nvSpPr>
          <p:spPr>
            <a:xfrm>
              <a:off x="274320" y="1527048"/>
              <a:ext cx="2743200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45" name="Accent"/>
            <p:cNvSpPr/>
            <p:nvPr/>
          </p:nvSpPr>
          <p:spPr>
            <a:xfrm>
              <a:off x="274320" y="1618488"/>
              <a:ext cx="32004" cy="237744"/>
            </a:xfrm>
            <a:prstGeom prst="rect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46" name="Icon activity"/>
            <p:cNvSpPr/>
            <p:nvPr/>
          </p:nvSpPr>
          <p:spPr>
            <a:xfrm>
              <a:off x="384048" y="16230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lnTo>
                    <a:pt x="19520" y="12000"/>
                  </a:lnTo>
                  <a:cubicBezTo>
                    <a:pt x="19230" y="11999"/>
                    <a:pt x="18943" y="12061"/>
                    <a:pt x="18680" y="12182"/>
                  </a:cubicBezTo>
                  <a:cubicBezTo>
                    <a:pt x="18416" y="12304"/>
                    <a:pt x="18182" y="12481"/>
                    <a:pt x="17994" y="12701"/>
                  </a:cubicBezTo>
                  <a:cubicBezTo>
                    <a:pt x="17806" y="12922"/>
                    <a:pt x="17668" y="13180"/>
                    <a:pt x="17590" y="13460"/>
                  </a:cubicBezTo>
                  <a:lnTo>
                    <a:pt x="15240" y="21820"/>
                  </a:lnTo>
                  <a:cubicBezTo>
                    <a:pt x="15227" y="21861"/>
                    <a:pt x="15205" y="21898"/>
                    <a:pt x="15174" y="21929"/>
                  </a:cubicBezTo>
                  <a:cubicBezTo>
                    <a:pt x="15143" y="21959"/>
                    <a:pt x="15105" y="21980"/>
                    <a:pt x="15063" y="21991"/>
                  </a:cubicBezTo>
                  <a:cubicBezTo>
                    <a:pt x="15021" y="22002"/>
                    <a:pt x="14978" y="22002"/>
                    <a:pt x="14936" y="21991"/>
                  </a:cubicBezTo>
                  <a:cubicBezTo>
                    <a:pt x="14894" y="21980"/>
                    <a:pt x="14856" y="21959"/>
                    <a:pt x="14825" y="21929"/>
                  </a:cubicBezTo>
                  <a:cubicBezTo>
                    <a:pt x="14794" y="21898"/>
                    <a:pt x="14772" y="21861"/>
                    <a:pt x="14760" y="21820"/>
                  </a:cubicBezTo>
                  <a:lnTo>
                    <a:pt x="9240" y="2180"/>
                  </a:lnTo>
                  <a:cubicBezTo>
                    <a:pt x="9227" y="2138"/>
                    <a:pt x="9205" y="2101"/>
                    <a:pt x="9174" y="2070"/>
                  </a:cubicBezTo>
                  <a:cubicBezTo>
                    <a:pt x="9143" y="2040"/>
                    <a:pt x="9105" y="2019"/>
                    <a:pt x="9063" y="2008"/>
                  </a:cubicBezTo>
                  <a:cubicBezTo>
                    <a:pt x="9021" y="1997"/>
                    <a:pt x="8978" y="1997"/>
                    <a:pt x="8936" y="2008"/>
                  </a:cubicBezTo>
                  <a:cubicBezTo>
                    <a:pt x="8894" y="2019"/>
                    <a:pt x="8856" y="2040"/>
                    <a:pt x="8825" y="2070"/>
                  </a:cubicBezTo>
                  <a:cubicBezTo>
                    <a:pt x="8794" y="2101"/>
                    <a:pt x="8772" y="2138"/>
                    <a:pt x="8760" y="2180"/>
                  </a:cubicBezTo>
                  <a:lnTo>
                    <a:pt x="6410" y="10540"/>
                  </a:lnTo>
                  <a:cubicBezTo>
                    <a:pt x="6332" y="10818"/>
                    <a:pt x="6194" y="11075"/>
                    <a:pt x="6007" y="11295"/>
                  </a:cubicBezTo>
                  <a:cubicBezTo>
                    <a:pt x="5820" y="11515"/>
                    <a:pt x="5587" y="11692"/>
                    <a:pt x="5325" y="11814"/>
                  </a:cubicBezTo>
                  <a:cubicBezTo>
                    <a:pt x="5063" y="11935"/>
                    <a:pt x="4778" y="11999"/>
                    <a:pt x="4490" y="12000"/>
                  </a:cubicBezTo>
                  <a:lnTo>
                    <a:pt x="2000" y="12000"/>
                  </a:ln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47" name="Module name"/>
            <p:cNvSpPr txBox="1"/>
            <p:nvPr/>
          </p:nvSpPr>
          <p:spPr>
            <a:xfrm>
              <a:off x="603504" y="1604772"/>
              <a:ext cx="2011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OPC UA Connector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48" name="Module number"/>
            <p:cNvSpPr txBox="1"/>
            <p:nvPr/>
          </p:nvSpPr>
          <p:spPr>
            <a:xfrm>
              <a:off x="2596896" y="15956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49" name="Bullet"/>
            <p:cNvSpPr/>
            <p:nvPr/>
          </p:nvSpPr>
          <p:spPr>
            <a:xfrm>
              <a:off x="429768" y="1891589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50" name="Feature"/>
            <p:cNvSpPr txBox="1"/>
            <p:nvPr/>
          </p:nvSpPr>
          <p:spPr>
            <a:xfrm>
              <a:off x="530352" y="1856232"/>
              <a:ext cx="2395728" cy="103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6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Reads live pressure from the Hydrotester SCADA</a:t>
              </a:r>
              <a:endParaRPr lang="en-US" sz="680" dirty="0">
                <a:latin typeface="Inter"/>
              </a:endParaRPr>
            </a:p>
          </p:txBody>
        </p:sp>
        <p:sp>
          <p:nvSpPr>
            <p:cNvPr id="51" name="Bullet"/>
            <p:cNvSpPr/>
            <p:nvPr/>
          </p:nvSpPr>
          <p:spPr>
            <a:xfrm>
              <a:off x="429768" y="202265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52" name="Feature"/>
            <p:cNvSpPr txBox="1"/>
            <p:nvPr/>
          </p:nvSpPr>
          <p:spPr>
            <a:xfrm>
              <a:off x="530352" y="1987296"/>
              <a:ext cx="2395728" cy="103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6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Polling frequency increased when a test starts</a:t>
              </a:r>
              <a:endParaRPr lang="en-US" sz="680" dirty="0">
                <a:latin typeface="Inter"/>
              </a:endParaRPr>
            </a:p>
          </p:txBody>
        </p:sp>
      </p:grpSp>
      <p:grpSp>
        <p:nvGrpSpPr>
          <p:cNvPr id="53" name="Module 02 · Graph Capture"/>
          <p:cNvGrpSpPr/>
          <p:nvPr/>
        </p:nvGrpSpPr>
        <p:grpSpPr>
          <a:xfrm>
            <a:off x="274320" y="2359152"/>
            <a:ext cx="2743200" cy="740664"/>
            <a:chOff x="274320" y="2359152"/>
            <a:chExt cx="2743200" cy="740664"/>
          </a:xfrm>
        </p:grpSpPr>
        <p:sp>
          <p:nvSpPr>
            <p:cNvPr id="54" name="Module card"/>
            <p:cNvSpPr/>
            <p:nvPr/>
          </p:nvSpPr>
          <p:spPr>
            <a:xfrm>
              <a:off x="274320" y="2359152"/>
              <a:ext cx="2743200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55" name="Accent"/>
            <p:cNvSpPr/>
            <p:nvPr/>
          </p:nvSpPr>
          <p:spPr>
            <a:xfrm>
              <a:off x="274320" y="2450592"/>
              <a:ext cx="32004" cy="237744"/>
            </a:xfrm>
            <a:prstGeom prst="rect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6" name="Icon chart-line"/>
            <p:cNvSpPr/>
            <p:nvPr/>
          </p:nvSpPr>
          <p:spPr>
            <a:xfrm>
              <a:off x="384048" y="2455164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19351"/>
                    <a:pt x="3092" y="19695"/>
                    <a:pt x="3267" y="20000"/>
                  </a:cubicBezTo>
                  <a:cubicBezTo>
                    <a:pt x="3443" y="20304"/>
                    <a:pt x="3695" y="20556"/>
                    <a:pt x="3999" y="20732"/>
                  </a:cubicBezTo>
                  <a:cubicBezTo>
                    <a:pt x="4304" y="20907"/>
                    <a:pt x="4648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9000" y="9000"/>
                  </a:moveTo>
                  <a:lnTo>
                    <a:pt x="14000" y="14000"/>
                  </a:lnTo>
                  <a:lnTo>
                    <a:pt x="10000" y="10000"/>
                  </a:lnTo>
                  <a:lnTo>
                    <a:pt x="7000" y="13000"/>
                  </a:ln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57" name="Module name"/>
            <p:cNvSpPr txBox="1"/>
            <p:nvPr/>
          </p:nvSpPr>
          <p:spPr>
            <a:xfrm>
              <a:off x="603504" y="2436876"/>
              <a:ext cx="2011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Graph Capture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58" name="Module number"/>
            <p:cNvSpPr txBox="1"/>
            <p:nvPr/>
          </p:nvSpPr>
          <p:spPr>
            <a:xfrm>
              <a:off x="2596896" y="2427732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59" name="Bullet"/>
            <p:cNvSpPr/>
            <p:nvPr/>
          </p:nvSpPr>
          <p:spPr>
            <a:xfrm>
              <a:off x="429768" y="272369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60" name="Feature"/>
            <p:cNvSpPr txBox="1"/>
            <p:nvPr/>
          </p:nvSpPr>
          <p:spPr>
            <a:xfrm>
              <a:off x="530352" y="2688336"/>
              <a:ext cx="2395728" cy="103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6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 graph:</a:t>
              </a:r>
              <a:r>
                <a:rPr lang="en-US" sz="6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lower polling, square wave, hold time</a:t>
              </a:r>
              <a:endParaRPr lang="en-US" sz="680" dirty="0">
                <a:latin typeface="Inter"/>
              </a:endParaRPr>
            </a:p>
          </p:txBody>
        </p:sp>
        <p:sp>
          <p:nvSpPr>
            <p:cNvPr id="61" name="Bullet"/>
            <p:cNvSpPr/>
            <p:nvPr/>
          </p:nvSpPr>
          <p:spPr>
            <a:xfrm>
              <a:off x="429768" y="285475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62" name="Feature"/>
            <p:cNvSpPr txBox="1"/>
            <p:nvPr/>
          </p:nvSpPr>
          <p:spPr>
            <a:xfrm>
              <a:off x="530352" y="2819400"/>
              <a:ext cx="2395728" cy="103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6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Actual graph:</a:t>
              </a:r>
              <a:r>
                <a:rPr lang="en-US" sz="6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higher polling, true rise and fall</a:t>
              </a:r>
              <a:endParaRPr lang="en-US" sz="680" dirty="0">
                <a:latin typeface="Inter"/>
              </a:endParaRPr>
            </a:p>
          </p:txBody>
        </p:sp>
      </p:grpSp>
      <p:grpSp>
        <p:nvGrpSpPr>
          <p:cNvPr id="63" name="Module 03 · Result Publisher"/>
          <p:cNvGrpSpPr/>
          <p:nvPr/>
        </p:nvGrpSpPr>
        <p:grpSpPr>
          <a:xfrm>
            <a:off x="274320" y="3191256"/>
            <a:ext cx="2743200" cy="740664"/>
            <a:chOff x="274320" y="3191256"/>
            <a:chExt cx="2743200" cy="740664"/>
          </a:xfrm>
        </p:grpSpPr>
        <p:sp>
          <p:nvSpPr>
            <p:cNvPr id="64" name="Module card"/>
            <p:cNvSpPr/>
            <p:nvPr/>
          </p:nvSpPr>
          <p:spPr>
            <a:xfrm>
              <a:off x="274320" y="3191256"/>
              <a:ext cx="2743200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5" name="Accent"/>
            <p:cNvSpPr/>
            <p:nvPr/>
          </p:nvSpPr>
          <p:spPr>
            <a:xfrm>
              <a:off x="274320" y="3282696"/>
              <a:ext cx="32004" cy="237744"/>
            </a:xfrm>
            <a:prstGeom prst="rect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66" name="Icon send"/>
            <p:cNvSpPr/>
            <p:nvPr/>
          </p:nvSpPr>
          <p:spPr>
            <a:xfrm>
              <a:off x="384048" y="3287268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566" y="21761"/>
                    <a:pt x="14614" y="21828"/>
                    <a:pt x="14676" y="21881"/>
                  </a:cubicBezTo>
                  <a:cubicBezTo>
                    <a:pt x="14738" y="21933"/>
                    <a:pt x="14812" y="21970"/>
                    <a:pt x="14892" y="21988"/>
                  </a:cubicBezTo>
                  <a:cubicBezTo>
                    <a:pt x="14971" y="22005"/>
                    <a:pt x="15054" y="22003"/>
                    <a:pt x="15132" y="21981"/>
                  </a:cubicBezTo>
                  <a:cubicBezTo>
                    <a:pt x="15211" y="21960"/>
                    <a:pt x="15283" y="21919"/>
                    <a:pt x="15342" y="21864"/>
                  </a:cubicBezTo>
                  <a:cubicBezTo>
                    <a:pt x="15401" y="21808"/>
                    <a:pt x="15446" y="21738"/>
                    <a:pt x="15472" y="21662"/>
                  </a:cubicBezTo>
                  <a:lnTo>
                    <a:pt x="21973" y="2661"/>
                  </a:lnTo>
                  <a:cubicBezTo>
                    <a:pt x="21998" y="2591"/>
                    <a:pt x="22007" y="2515"/>
                    <a:pt x="21999" y="2440"/>
                  </a:cubicBezTo>
                  <a:cubicBezTo>
                    <a:pt x="21991" y="2366"/>
                    <a:pt x="21966" y="2294"/>
                    <a:pt x="21927" y="2230"/>
                  </a:cubicBezTo>
                  <a:cubicBezTo>
                    <a:pt x="21887" y="2166"/>
                    <a:pt x="21833" y="2112"/>
                    <a:pt x="21769" y="2072"/>
                  </a:cubicBezTo>
                  <a:cubicBezTo>
                    <a:pt x="21705" y="2033"/>
                    <a:pt x="21633" y="2008"/>
                    <a:pt x="21559" y="2000"/>
                  </a:cubicBezTo>
                  <a:cubicBezTo>
                    <a:pt x="21484" y="1992"/>
                    <a:pt x="21408" y="2001"/>
                    <a:pt x="21337" y="2026"/>
                  </a:cubicBezTo>
                  <a:lnTo>
                    <a:pt x="2337" y="8527"/>
                  </a:lnTo>
                  <a:cubicBezTo>
                    <a:pt x="2261" y="8553"/>
                    <a:pt x="2191" y="8598"/>
                    <a:pt x="2135" y="8657"/>
                  </a:cubicBezTo>
                  <a:cubicBezTo>
                    <a:pt x="2080" y="8716"/>
                    <a:pt x="2039" y="8788"/>
                    <a:pt x="2018" y="8867"/>
                  </a:cubicBezTo>
                  <a:cubicBezTo>
                    <a:pt x="1996" y="8945"/>
                    <a:pt x="1994" y="9028"/>
                    <a:pt x="2011" y="9107"/>
                  </a:cubicBezTo>
                  <a:cubicBezTo>
                    <a:pt x="2029" y="9187"/>
                    <a:pt x="2066" y="9261"/>
                    <a:pt x="2118" y="9323"/>
                  </a:cubicBezTo>
                  <a:cubicBezTo>
                    <a:pt x="2171" y="9385"/>
                    <a:pt x="2238" y="9433"/>
                    <a:pt x="2313" y="9463"/>
                  </a:cubicBezTo>
                  <a:lnTo>
                    <a:pt x="10243" y="12643"/>
                  </a:lnTo>
                  <a:cubicBezTo>
                    <a:pt x="10494" y="12744"/>
                    <a:pt x="10722" y="12894"/>
                    <a:pt x="10913" y="13085"/>
                  </a:cubicBezTo>
                  <a:cubicBezTo>
                    <a:pt x="11104" y="13275"/>
                    <a:pt x="11255" y="13503"/>
                    <a:pt x="11355" y="13753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12954" cap="rnd">
              <a:solidFill>
                <a:srgbClr val="0C1927"/>
              </a:solidFill>
              <a:round/>
            </a:ln>
          </p:spPr>
        </p:sp>
        <p:sp>
          <p:nvSpPr>
            <p:cNvPr id="67" name="Module name"/>
            <p:cNvSpPr txBox="1"/>
            <p:nvPr/>
          </p:nvSpPr>
          <p:spPr>
            <a:xfrm>
              <a:off x="603504" y="3268980"/>
              <a:ext cx="2011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Result Publisher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68" name="Module number"/>
            <p:cNvSpPr txBox="1"/>
            <p:nvPr/>
          </p:nvSpPr>
          <p:spPr>
            <a:xfrm>
              <a:off x="2596896" y="3259836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03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69" name="Bullet"/>
            <p:cNvSpPr/>
            <p:nvPr/>
          </p:nvSpPr>
          <p:spPr>
            <a:xfrm>
              <a:off x="429768" y="355579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70" name="Feature"/>
            <p:cNvSpPr txBox="1"/>
            <p:nvPr/>
          </p:nvSpPr>
          <p:spPr>
            <a:xfrm>
              <a:off x="530352" y="3520440"/>
              <a:ext cx="2395728" cy="103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6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At test finish: pressure, hold time, date/time</a:t>
              </a:r>
              <a:endParaRPr lang="en-US" sz="680" dirty="0">
                <a:latin typeface="Inter"/>
              </a:endParaRPr>
            </a:p>
          </p:txBody>
        </p:sp>
        <p:sp>
          <p:nvSpPr>
            <p:cNvPr id="71" name="Bullet"/>
            <p:cNvSpPr/>
            <p:nvPr/>
          </p:nvSpPr>
          <p:spPr>
            <a:xfrm>
              <a:off x="429768" y="3686861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72" name="Feature"/>
            <p:cNvSpPr txBox="1"/>
            <p:nvPr/>
          </p:nvSpPr>
          <p:spPr>
            <a:xfrm>
              <a:off x="530352" y="3651504"/>
              <a:ext cx="2395728" cy="103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6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Both graph data files pushed to the central server</a:t>
              </a:r>
              <a:endParaRPr lang="en-US" sz="680" dirty="0">
                <a:latin typeface="Inter"/>
              </a:endParaRPr>
            </a:p>
          </p:txBody>
        </p:sp>
        <p:sp>
          <p:nvSpPr>
            <p:cNvPr id="73" name="Bullet"/>
            <p:cNvSpPr/>
            <p:nvPr/>
          </p:nvSpPr>
          <p:spPr>
            <a:xfrm>
              <a:off x="429768" y="381792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74" name="Feature"/>
            <p:cNvSpPr txBox="1"/>
            <p:nvPr/>
          </p:nvSpPr>
          <p:spPr>
            <a:xfrm>
              <a:off x="530352" y="3782568"/>
              <a:ext cx="2395728" cy="103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16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Buffered on the IPC if the link is down</a:t>
              </a:r>
              <a:endParaRPr lang="en-US" sz="680" dirty="0">
                <a:latin typeface="Inter"/>
              </a:endParaRPr>
            </a:p>
          </p:txBody>
        </p:sp>
      </p:grpSp>
      <p:grpSp>
        <p:nvGrpSpPr>
          <p:cNvPr id="75" name="Module 04 · Entry Creation"/>
          <p:cNvGrpSpPr/>
          <p:nvPr/>
        </p:nvGrpSpPr>
        <p:grpSpPr>
          <a:xfrm>
            <a:off x="3145536" y="1527048"/>
            <a:ext cx="2816352" cy="740664"/>
            <a:chOff x="3145536" y="1527048"/>
            <a:chExt cx="2816352" cy="740664"/>
          </a:xfrm>
        </p:grpSpPr>
        <p:sp>
          <p:nvSpPr>
            <p:cNvPr id="76" name="Module card"/>
            <p:cNvSpPr/>
            <p:nvPr/>
          </p:nvSpPr>
          <p:spPr>
            <a:xfrm>
              <a:off x="3145536" y="1527048"/>
              <a:ext cx="2816352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77" name="Accent"/>
            <p:cNvSpPr/>
            <p:nvPr/>
          </p:nvSpPr>
          <p:spPr>
            <a:xfrm>
              <a:off x="3145536" y="16184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78" name="Icon file-check"/>
            <p:cNvSpPr/>
            <p:nvPr/>
          </p:nvSpPr>
          <p:spPr>
            <a:xfrm>
              <a:off x="3255264" y="16230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4000"/>
                  </a:lnTo>
                  <a:cubicBezTo>
                    <a:pt x="4000" y="3648"/>
                    <a:pt x="4092" y="3304"/>
                    <a:pt x="4267" y="3000"/>
                  </a:cubicBezTo>
                  <a:cubicBezTo>
                    <a:pt x="4443" y="2695"/>
                    <a:pt x="4695" y="2443"/>
                    <a:pt x="4999" y="2267"/>
                  </a:cubicBezTo>
                  <a:cubicBezTo>
                    <a:pt x="5304" y="2092"/>
                    <a:pt x="5648" y="2000"/>
                    <a:pt x="6000" y="2000"/>
                  </a:cubicBezTo>
                  <a:lnTo>
                    <a:pt x="14000" y="2000"/>
                  </a:lnTo>
                  <a:cubicBezTo>
                    <a:pt x="14316" y="1999"/>
                    <a:pt x="14630" y="2061"/>
                    <a:pt x="14922" y="2182"/>
                  </a:cubicBezTo>
                  <a:cubicBezTo>
                    <a:pt x="15214" y="2303"/>
                    <a:pt x="15480" y="2481"/>
                    <a:pt x="15704" y="2706"/>
                  </a:cubicBezTo>
                  <a:lnTo>
                    <a:pt x="19292" y="6294"/>
                  </a:lnTo>
                  <a:cubicBezTo>
                    <a:pt x="19516" y="6517"/>
                    <a:pt x="19695" y="6783"/>
                    <a:pt x="19816" y="7076"/>
                  </a:cubicBezTo>
                  <a:cubicBezTo>
                    <a:pt x="19938" y="7368"/>
                    <a:pt x="20000" y="7682"/>
                    <a:pt x="20000" y="8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7000"/>
                  </a:lnTo>
                  <a:cubicBezTo>
                    <a:pt x="14000" y="7175"/>
                    <a:pt x="14046" y="7347"/>
                    <a:pt x="14133" y="7500"/>
                  </a:cubicBezTo>
                  <a:cubicBezTo>
                    <a:pt x="14221" y="7652"/>
                    <a:pt x="14347" y="7778"/>
                    <a:pt x="14500" y="7866"/>
                  </a:cubicBezTo>
                  <a:cubicBezTo>
                    <a:pt x="14652" y="7953"/>
                    <a:pt x="14824" y="8000"/>
                    <a:pt x="15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9000" y="15000"/>
                  </a:moveTo>
                  <a:lnTo>
                    <a:pt x="11000" y="17000"/>
                  </a:lnTo>
                  <a:lnTo>
                    <a:pt x="15000" y="13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79" name="Module name"/>
            <p:cNvSpPr txBox="1"/>
            <p:nvPr/>
          </p:nvSpPr>
          <p:spPr>
            <a:xfrm>
              <a:off x="3474720" y="1604772"/>
              <a:ext cx="20848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Entry Creation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80" name="Module number"/>
            <p:cNvSpPr txBox="1"/>
            <p:nvPr/>
          </p:nvSpPr>
          <p:spPr>
            <a:xfrm>
              <a:off x="5541264" y="15956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04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81" name="Bullet"/>
            <p:cNvSpPr/>
            <p:nvPr/>
          </p:nvSpPr>
          <p:spPr>
            <a:xfrm>
              <a:off x="3300984" y="188930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82" name="Feature"/>
            <p:cNvSpPr txBox="1"/>
            <p:nvPr/>
          </p:nvSpPr>
          <p:spPr>
            <a:xfrm>
              <a:off x="3401568" y="1856232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New entry from graph data for every test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83" name="Bullet"/>
            <p:cNvSpPr/>
            <p:nvPr/>
          </p:nvSpPr>
          <p:spPr>
            <a:xfrm>
              <a:off x="3300984" y="201579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84" name="Feature"/>
            <p:cNvSpPr txBox="1"/>
            <p:nvPr/>
          </p:nvSpPr>
          <p:spPr>
            <a:xfrm>
              <a:off x="3401568" y="1982724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Held until the operator uploads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85" name="Bullet"/>
            <p:cNvSpPr/>
            <p:nvPr/>
          </p:nvSpPr>
          <p:spPr>
            <a:xfrm>
              <a:off x="3300984" y="21422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86" name="Feature"/>
            <p:cNvSpPr txBox="1"/>
            <p:nvPr/>
          </p:nvSpPr>
          <p:spPr>
            <a:xfrm>
              <a:off x="3401568" y="2109216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After an outage, tests and pipe numbers paired in time order</a:t>
              </a:r>
              <a:endParaRPr lang="en-US" sz="650" dirty="0">
                <a:latin typeface="Inter"/>
              </a:endParaRPr>
            </a:p>
          </p:txBody>
        </p:sp>
      </p:grpSp>
      <p:grpSp>
        <p:nvGrpSpPr>
          <p:cNvPr id="87" name="Module 05 · Pipe Number Capture"/>
          <p:cNvGrpSpPr/>
          <p:nvPr/>
        </p:nvGrpSpPr>
        <p:grpSpPr>
          <a:xfrm>
            <a:off x="6053328" y="1527048"/>
            <a:ext cx="2816352" cy="740664"/>
            <a:chOff x="6053328" y="1527048"/>
            <a:chExt cx="2816352" cy="740664"/>
          </a:xfrm>
        </p:grpSpPr>
        <p:sp>
          <p:nvSpPr>
            <p:cNvPr id="88" name="Module card"/>
            <p:cNvSpPr/>
            <p:nvPr/>
          </p:nvSpPr>
          <p:spPr>
            <a:xfrm>
              <a:off x="6053328" y="1527048"/>
              <a:ext cx="2816352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89" name="Accent"/>
            <p:cNvSpPr/>
            <p:nvPr/>
          </p:nvSpPr>
          <p:spPr>
            <a:xfrm>
              <a:off x="6053328" y="1618488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90" name="Icon scan-qr-code"/>
            <p:cNvSpPr/>
            <p:nvPr/>
          </p:nvSpPr>
          <p:spPr>
            <a:xfrm>
              <a:off x="6163056" y="1623060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2000"/>
                  </a:moveTo>
                  <a:lnTo>
                    <a:pt x="17000" y="16000"/>
                  </a:lnTo>
                  <a:cubicBezTo>
                    <a:pt x="17000" y="16175"/>
                    <a:pt x="16953" y="16347"/>
                    <a:pt x="16866" y="16500"/>
                  </a:cubicBezTo>
                  <a:cubicBezTo>
                    <a:pt x="16778" y="16652"/>
                    <a:pt x="16652" y="16778"/>
                    <a:pt x="16500" y="16866"/>
                  </a:cubicBezTo>
                  <a:cubicBezTo>
                    <a:pt x="16347" y="16953"/>
                    <a:pt x="16175" y="17000"/>
                    <a:pt x="16000" y="17000"/>
                  </a:cubicBezTo>
                  <a:lnTo>
                    <a:pt x="12000" y="17000"/>
                  </a:lnTo>
                </a:path>
                <a:path w="24000" h="24000" fill="none">
                  <a:moveTo>
                    <a:pt x="17000" y="3000"/>
                  </a:moveTo>
                  <a:lnTo>
                    <a:pt x="19000" y="3000"/>
                  </a:lnTo>
                  <a:cubicBezTo>
                    <a:pt x="19351" y="3000"/>
                    <a:pt x="19695" y="3092"/>
                    <a:pt x="20000" y="3267"/>
                  </a:cubicBezTo>
                  <a:cubicBezTo>
                    <a:pt x="20304" y="3443"/>
                    <a:pt x="20556" y="3695"/>
                    <a:pt x="20732" y="4000"/>
                  </a:cubicBezTo>
                  <a:cubicBezTo>
                    <a:pt x="20907" y="4304"/>
                    <a:pt x="21000" y="4648"/>
                    <a:pt x="21000" y="5000"/>
                  </a:cubicBezTo>
                  <a:lnTo>
                    <a:pt x="21000" y="7000"/>
                  </a:lnTo>
                </a:path>
                <a:path w="24000" h="24000" fill="none">
                  <a:moveTo>
                    <a:pt x="17000" y="8000"/>
                  </a:moveTo>
                  <a:lnTo>
                    <a:pt x="17000" y="7000"/>
                  </a:lnTo>
                </a:path>
                <a:path w="24000" h="24000" fill="none">
                  <a:moveTo>
                    <a:pt x="21000" y="17000"/>
                  </a:moveTo>
                  <a:lnTo>
                    <a:pt x="21000" y="19000"/>
                  </a:lnTo>
                  <a:cubicBezTo>
                    <a:pt x="21000" y="19351"/>
                    <a:pt x="20907" y="19695"/>
                    <a:pt x="20732" y="20000"/>
                  </a:cubicBezTo>
                  <a:cubicBezTo>
                    <a:pt x="20556" y="20304"/>
                    <a:pt x="20304" y="20556"/>
                    <a:pt x="20000" y="20732"/>
                  </a:cubicBezTo>
                  <a:cubicBezTo>
                    <a:pt x="19695" y="20907"/>
                    <a:pt x="19351" y="21000"/>
                    <a:pt x="19000" y="21000"/>
                  </a:cubicBezTo>
                  <a:lnTo>
                    <a:pt x="17000" y="21000"/>
                  </a:lnTo>
                </a:path>
                <a:path w="24000" h="24000" fill="none">
                  <a:moveTo>
                    <a:pt x="3000" y="7000"/>
                  </a:moveTo>
                  <a:lnTo>
                    <a:pt x="3000" y="5000"/>
                  </a:lnTo>
                  <a:cubicBezTo>
                    <a:pt x="3000" y="4648"/>
                    <a:pt x="3092" y="4304"/>
                    <a:pt x="3267" y="4000"/>
                  </a:cubicBezTo>
                  <a:cubicBezTo>
                    <a:pt x="3443" y="3695"/>
                    <a:pt x="3695" y="3443"/>
                    <a:pt x="3999" y="3267"/>
                  </a:cubicBezTo>
                  <a:cubicBezTo>
                    <a:pt x="4304" y="3092"/>
                    <a:pt x="4648" y="3000"/>
                    <a:pt x="5000" y="3000"/>
                  </a:cubicBezTo>
                  <a:lnTo>
                    <a:pt x="7000" y="3000"/>
                  </a:lnTo>
                </a:path>
                <a:path w="24000" h="24000" fill="none">
                  <a:moveTo>
                    <a:pt x="7000" y="17000"/>
                  </a:moveTo>
                  <a:lnTo>
                    <a:pt x="7010" y="17000"/>
                  </a:lnTo>
                </a:path>
                <a:path w="24000" h="24000" fill="none">
                  <a:moveTo>
                    <a:pt x="7000" y="21000"/>
                  </a:moveTo>
                  <a:lnTo>
                    <a:pt x="5000" y="21000"/>
                  </a:lnTo>
                  <a:cubicBezTo>
                    <a:pt x="4648" y="21000"/>
                    <a:pt x="4304" y="20907"/>
                    <a:pt x="4000" y="20732"/>
                  </a:cubicBezTo>
                  <a:cubicBezTo>
                    <a:pt x="3695" y="20556"/>
                    <a:pt x="3443" y="20304"/>
                    <a:pt x="3267" y="20000"/>
                  </a:cubicBezTo>
                  <a:cubicBezTo>
                    <a:pt x="3092" y="19695"/>
                    <a:pt x="3000" y="19351"/>
                    <a:pt x="3000" y="19000"/>
                  </a:cubicBezTo>
                  <a:lnTo>
                    <a:pt x="3000" y="17000"/>
                  </a:lnTo>
                </a:path>
                <a:path w="24000" h="24000" fill="none">
                  <a:moveTo>
                    <a:pt x="8000" y="7000"/>
                  </a:moveTo>
                  <a:lnTo>
                    <a:pt x="11000" y="7000"/>
                  </a:lnTo>
                  <a:cubicBezTo>
                    <a:pt x="11175" y="7000"/>
                    <a:pt x="11347" y="7046"/>
                    <a:pt x="11500" y="7133"/>
                  </a:cubicBezTo>
                  <a:cubicBezTo>
                    <a:pt x="11652" y="7221"/>
                    <a:pt x="11778" y="7347"/>
                    <a:pt x="11866" y="7500"/>
                  </a:cubicBezTo>
                  <a:cubicBezTo>
                    <a:pt x="11953" y="7652"/>
                    <a:pt x="12000" y="7824"/>
                    <a:pt x="12000" y="8000"/>
                  </a:cubicBezTo>
                  <a:lnTo>
                    <a:pt x="12000" y="11000"/>
                  </a:lnTo>
                  <a:cubicBezTo>
                    <a:pt x="12000" y="11175"/>
                    <a:pt x="11953" y="11347"/>
                    <a:pt x="11866" y="11500"/>
                  </a:cubicBezTo>
                  <a:cubicBezTo>
                    <a:pt x="11778" y="11652"/>
                    <a:pt x="11652" y="11778"/>
                    <a:pt x="11500" y="11866"/>
                  </a:cubicBezTo>
                  <a:cubicBezTo>
                    <a:pt x="11347" y="11953"/>
                    <a:pt x="11175" y="12000"/>
                    <a:pt x="11000" y="12000"/>
                  </a:cubicBezTo>
                  <a:lnTo>
                    <a:pt x="8000" y="12000"/>
                  </a:lnTo>
                  <a:cubicBezTo>
                    <a:pt x="7824" y="12000"/>
                    <a:pt x="7652" y="11953"/>
                    <a:pt x="7500" y="11866"/>
                  </a:cubicBezTo>
                  <a:cubicBezTo>
                    <a:pt x="7347" y="11778"/>
                    <a:pt x="7221" y="11652"/>
                    <a:pt x="7133" y="11500"/>
                  </a:cubicBezTo>
                  <a:cubicBezTo>
                    <a:pt x="7046" y="11347"/>
                    <a:pt x="7000" y="11175"/>
                    <a:pt x="7000" y="11000"/>
                  </a:cubicBezTo>
                  <a:lnTo>
                    <a:pt x="7000" y="8000"/>
                  </a:lnTo>
                  <a:cubicBezTo>
                    <a:pt x="7000" y="7824"/>
                    <a:pt x="7046" y="7652"/>
                    <a:pt x="7133" y="7500"/>
                  </a:cubicBezTo>
                  <a:cubicBezTo>
                    <a:pt x="7221" y="7347"/>
                    <a:pt x="7347" y="7221"/>
                    <a:pt x="7500" y="7133"/>
                  </a:cubicBezTo>
                  <a:cubicBezTo>
                    <a:pt x="7652" y="7046"/>
                    <a:pt x="7824" y="7000"/>
                    <a:pt x="8000" y="7000"/>
                  </a:cubicBezTo>
                  <a:close/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91" name="Module name"/>
            <p:cNvSpPr txBox="1"/>
            <p:nvPr/>
          </p:nvSpPr>
          <p:spPr>
            <a:xfrm>
              <a:off x="6382512" y="1604772"/>
              <a:ext cx="20848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Pipe Number Capture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92" name="Module number"/>
            <p:cNvSpPr txBox="1"/>
            <p:nvPr/>
          </p:nvSpPr>
          <p:spPr>
            <a:xfrm>
              <a:off x="8449056" y="1595628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05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93" name="Bullet"/>
            <p:cNvSpPr/>
            <p:nvPr/>
          </p:nvSpPr>
          <p:spPr>
            <a:xfrm>
              <a:off x="6208776" y="188930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94" name="Feature"/>
            <p:cNvSpPr txBox="1"/>
            <p:nvPr/>
          </p:nvSpPr>
          <p:spPr>
            <a:xfrm>
              <a:off x="6309360" y="1856232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Before every test:</a:t>
              </a: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 MES scan, previous-station list or manual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95" name="Bullet"/>
            <p:cNvSpPr/>
            <p:nvPr/>
          </p:nvSpPr>
          <p:spPr>
            <a:xfrm>
              <a:off x="6208776" y="201579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96" name="Feature"/>
            <p:cNvSpPr txBox="1"/>
            <p:nvPr/>
          </p:nvSpPr>
          <p:spPr>
            <a:xfrm>
              <a:off x="6309360" y="1982724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Pop-up if a test starts without one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97" name="Bullet"/>
            <p:cNvSpPr/>
            <p:nvPr/>
          </p:nvSpPr>
          <p:spPr>
            <a:xfrm>
              <a:off x="6208776" y="214228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98" name="Feature"/>
            <p:cNvSpPr txBox="1"/>
            <p:nvPr/>
          </p:nvSpPr>
          <p:spPr>
            <a:xfrm>
              <a:off x="6309360" y="2109216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Test discarded if none entered by test end</a:t>
              </a:r>
              <a:endParaRPr lang="en-US" sz="650" dirty="0">
                <a:latin typeface="Inter"/>
              </a:endParaRPr>
            </a:p>
          </p:txBody>
        </p:sp>
      </p:grpSp>
      <p:grpSp>
        <p:nvGrpSpPr>
          <p:cNvPr id="99" name="Module 06 · Graph Image &amp; Correction"/>
          <p:cNvGrpSpPr/>
          <p:nvPr/>
        </p:nvGrpSpPr>
        <p:grpSpPr>
          <a:xfrm>
            <a:off x="3145536" y="2359152"/>
            <a:ext cx="2816352" cy="740664"/>
            <a:chOff x="3145536" y="2359152"/>
            <a:chExt cx="2816352" cy="740664"/>
          </a:xfrm>
        </p:grpSpPr>
        <p:sp>
          <p:nvSpPr>
            <p:cNvPr id="100" name="Module card"/>
            <p:cNvSpPr/>
            <p:nvPr/>
          </p:nvSpPr>
          <p:spPr>
            <a:xfrm>
              <a:off x="3145536" y="2359152"/>
              <a:ext cx="2816352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01" name="Accent"/>
            <p:cNvSpPr/>
            <p:nvPr/>
          </p:nvSpPr>
          <p:spPr>
            <a:xfrm>
              <a:off x="3145536" y="2450592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102" name="Icon text-cursor-input"/>
            <p:cNvSpPr/>
            <p:nvPr/>
          </p:nvSpPr>
          <p:spPr>
            <a:xfrm>
              <a:off x="3255264" y="2455164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0000"/>
                  </a:moveTo>
                  <a:lnTo>
                    <a:pt x="11000" y="20000"/>
                  </a:lnTo>
                  <a:cubicBezTo>
                    <a:pt x="10648" y="20000"/>
                    <a:pt x="10304" y="19907"/>
                    <a:pt x="10000" y="19732"/>
                  </a:cubicBezTo>
                  <a:cubicBezTo>
                    <a:pt x="9695" y="19556"/>
                    <a:pt x="9443" y="19304"/>
                    <a:pt x="9267" y="19000"/>
                  </a:cubicBezTo>
                  <a:cubicBezTo>
                    <a:pt x="9092" y="18695"/>
                    <a:pt x="9000" y="18351"/>
                    <a:pt x="9000" y="18000"/>
                  </a:cubicBezTo>
                  <a:cubicBezTo>
                    <a:pt x="9000" y="18351"/>
                    <a:pt x="8907" y="18695"/>
                    <a:pt x="8732" y="19000"/>
                  </a:cubicBezTo>
                  <a:cubicBezTo>
                    <a:pt x="8556" y="19304"/>
                    <a:pt x="8304" y="19556"/>
                    <a:pt x="8000" y="19732"/>
                  </a:cubicBezTo>
                  <a:cubicBezTo>
                    <a:pt x="7695" y="19907"/>
                    <a:pt x="7351" y="20000"/>
                    <a:pt x="7000" y="20000"/>
                  </a:cubicBezTo>
                  <a:lnTo>
                    <a:pt x="6000" y="20000"/>
                  </a:lnTo>
                </a:path>
                <a:path w="24000" h="24000" fill="none">
                  <a:moveTo>
                    <a:pt x="13000" y="8000"/>
                  </a:moveTo>
                  <a:lnTo>
                    <a:pt x="20000" y="8000"/>
                  </a:lnTo>
                  <a:cubicBezTo>
                    <a:pt x="20351" y="8000"/>
                    <a:pt x="20695" y="8092"/>
                    <a:pt x="21000" y="8267"/>
                  </a:cubicBezTo>
                  <a:cubicBezTo>
                    <a:pt x="21304" y="8443"/>
                    <a:pt x="21556" y="8695"/>
                    <a:pt x="21732" y="9000"/>
                  </a:cubicBezTo>
                  <a:cubicBezTo>
                    <a:pt x="21907" y="9304"/>
                    <a:pt x="22000" y="9648"/>
                    <a:pt x="22000" y="10000"/>
                  </a:cubicBezTo>
                  <a:lnTo>
                    <a:pt x="22000" y="14000"/>
                  </a:lnTo>
                  <a:cubicBezTo>
                    <a:pt x="22000" y="14351"/>
                    <a:pt x="21907" y="14695"/>
                    <a:pt x="21732" y="15000"/>
                  </a:cubicBezTo>
                  <a:cubicBezTo>
                    <a:pt x="21556" y="15304"/>
                    <a:pt x="21304" y="15556"/>
                    <a:pt x="21000" y="15732"/>
                  </a:cubicBezTo>
                  <a:cubicBezTo>
                    <a:pt x="20695" y="15907"/>
                    <a:pt x="20351" y="16000"/>
                    <a:pt x="20000" y="16000"/>
                  </a:cubicBezTo>
                  <a:lnTo>
                    <a:pt x="13000" y="16000"/>
                  </a:lnTo>
                </a:path>
                <a:path w="24000" h="24000" fill="none">
                  <a:moveTo>
                    <a:pt x="5000" y="16000"/>
                  </a:moveTo>
                  <a:lnTo>
                    <a:pt x="4000" y="16000"/>
                  </a:lnTo>
                  <a:cubicBezTo>
                    <a:pt x="3648" y="16000"/>
                    <a:pt x="3304" y="15907"/>
                    <a:pt x="3000" y="15732"/>
                  </a:cubicBezTo>
                  <a:cubicBezTo>
                    <a:pt x="2695" y="15556"/>
                    <a:pt x="2443" y="15304"/>
                    <a:pt x="2267" y="15000"/>
                  </a:cubicBezTo>
                  <a:cubicBezTo>
                    <a:pt x="2092" y="14695"/>
                    <a:pt x="2000" y="14351"/>
                    <a:pt x="2000" y="14000"/>
                  </a:cubicBezTo>
                  <a:lnTo>
                    <a:pt x="2000" y="10000"/>
                  </a:lnTo>
                  <a:cubicBezTo>
                    <a:pt x="2000" y="9648"/>
                    <a:pt x="2092" y="9304"/>
                    <a:pt x="2267" y="9000"/>
                  </a:cubicBezTo>
                  <a:cubicBezTo>
                    <a:pt x="2443" y="8695"/>
                    <a:pt x="2695" y="8443"/>
                    <a:pt x="2999" y="8267"/>
                  </a:cubicBezTo>
                  <a:cubicBezTo>
                    <a:pt x="3304" y="8092"/>
                    <a:pt x="3648" y="8000"/>
                    <a:pt x="4000" y="8000"/>
                  </a:cubicBezTo>
                  <a:lnTo>
                    <a:pt x="5000" y="8000"/>
                  </a:lnTo>
                </a:path>
                <a:path w="24000" h="24000" fill="none">
                  <a:moveTo>
                    <a:pt x="6000" y="4000"/>
                  </a:moveTo>
                  <a:lnTo>
                    <a:pt x="7000" y="4000"/>
                  </a:lnTo>
                  <a:cubicBezTo>
                    <a:pt x="7351" y="4000"/>
                    <a:pt x="7695" y="4092"/>
                    <a:pt x="8000" y="4267"/>
                  </a:cubicBezTo>
                  <a:cubicBezTo>
                    <a:pt x="8304" y="4443"/>
                    <a:pt x="8556" y="4695"/>
                    <a:pt x="8732" y="5000"/>
                  </a:cubicBezTo>
                  <a:cubicBezTo>
                    <a:pt x="8907" y="5304"/>
                    <a:pt x="9000" y="5648"/>
                    <a:pt x="9000" y="6000"/>
                  </a:cubicBezTo>
                  <a:cubicBezTo>
                    <a:pt x="9000" y="5648"/>
                    <a:pt x="9092" y="5304"/>
                    <a:pt x="9267" y="5000"/>
                  </a:cubicBezTo>
                  <a:cubicBezTo>
                    <a:pt x="9443" y="4695"/>
                    <a:pt x="9695" y="4443"/>
                    <a:pt x="10000" y="4267"/>
                  </a:cubicBezTo>
                  <a:cubicBezTo>
                    <a:pt x="10304" y="4092"/>
                    <a:pt x="10648" y="4000"/>
                    <a:pt x="11000" y="4000"/>
                  </a:cubicBezTo>
                  <a:lnTo>
                    <a:pt x="12000" y="4000"/>
                  </a:lnTo>
                </a:path>
                <a:path w="24000" h="24000" fill="none">
                  <a:moveTo>
                    <a:pt x="9000" y="6000"/>
                  </a:moveTo>
                  <a:lnTo>
                    <a:pt x="9000" y="18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103" name="Module name"/>
            <p:cNvSpPr txBox="1"/>
            <p:nvPr/>
          </p:nvSpPr>
          <p:spPr>
            <a:xfrm>
              <a:off x="3474720" y="2436876"/>
              <a:ext cx="20848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Graph Image &amp; Correction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104" name="Module number"/>
            <p:cNvSpPr txBox="1"/>
            <p:nvPr/>
          </p:nvSpPr>
          <p:spPr>
            <a:xfrm>
              <a:off x="5541264" y="2427732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06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105" name="Bullet"/>
            <p:cNvSpPr/>
            <p:nvPr/>
          </p:nvSpPr>
          <p:spPr>
            <a:xfrm>
              <a:off x="3300984" y="272140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06" name="Feature"/>
            <p:cNvSpPr txBox="1"/>
            <p:nvPr/>
          </p:nvSpPr>
          <p:spPr>
            <a:xfrm>
              <a:off x="3401568" y="2688336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Selects and edits the printed text fields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07" name="Bullet"/>
            <p:cNvSpPr/>
            <p:nvPr/>
          </p:nvSpPr>
          <p:spPr>
            <a:xfrm>
              <a:off x="3300984" y="2847899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08" name="Feature"/>
            <p:cNvSpPr txBox="1"/>
            <p:nvPr/>
          </p:nvSpPr>
          <p:spPr>
            <a:xfrm>
              <a:off x="3401568" y="2814828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Corrects pressure / holding time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09" name="Bullet"/>
            <p:cNvSpPr/>
            <p:nvPr/>
          </p:nvSpPr>
          <p:spPr>
            <a:xfrm>
              <a:off x="3300984" y="2974391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10" name="Feature"/>
            <p:cNvSpPr txBox="1"/>
            <p:nvPr/>
          </p:nvSpPr>
          <p:spPr>
            <a:xfrm>
              <a:off x="3401568" y="2941320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Standard graph redrawn; actual kept as captured</a:t>
              </a:r>
              <a:endParaRPr lang="en-US" sz="650" dirty="0">
                <a:latin typeface="Inter"/>
              </a:endParaRPr>
            </a:p>
          </p:txBody>
        </p:sp>
      </p:grpSp>
      <p:grpSp>
        <p:nvGrpSpPr>
          <p:cNvPr id="111" name="Module 07 · SAP Upload"/>
          <p:cNvGrpSpPr/>
          <p:nvPr/>
        </p:nvGrpSpPr>
        <p:grpSpPr>
          <a:xfrm>
            <a:off x="6053328" y="2359152"/>
            <a:ext cx="2816352" cy="740664"/>
            <a:chOff x="6053328" y="2359152"/>
            <a:chExt cx="2816352" cy="740664"/>
          </a:xfrm>
        </p:grpSpPr>
        <p:sp>
          <p:nvSpPr>
            <p:cNvPr id="112" name="Module card"/>
            <p:cNvSpPr/>
            <p:nvPr/>
          </p:nvSpPr>
          <p:spPr>
            <a:xfrm>
              <a:off x="6053328" y="2359152"/>
              <a:ext cx="2816352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13" name="Accent"/>
            <p:cNvSpPr/>
            <p:nvPr/>
          </p:nvSpPr>
          <p:spPr>
            <a:xfrm>
              <a:off x="6053328" y="2450592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114" name="Icon cloud-upload"/>
            <p:cNvSpPr/>
            <p:nvPr/>
          </p:nvSpPr>
          <p:spPr>
            <a:xfrm>
              <a:off x="6163056" y="2455164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3000"/>
                  </a:moveTo>
                  <a:lnTo>
                    <a:pt x="12000" y="21000"/>
                  </a:lnTo>
                </a:path>
                <a:path w="24000" h="24000" fill="none">
                  <a:moveTo>
                    <a:pt x="4000" y="14899"/>
                  </a:moveTo>
                  <a:cubicBezTo>
                    <a:pt x="3149" y="14030"/>
                    <a:pt x="2540" y="12955"/>
                    <a:pt x="2231" y="11779"/>
                  </a:cubicBezTo>
                  <a:cubicBezTo>
                    <a:pt x="1923" y="10603"/>
                    <a:pt x="1926" y="9368"/>
                    <a:pt x="2240" y="8193"/>
                  </a:cubicBezTo>
                  <a:cubicBezTo>
                    <a:pt x="2554" y="7019"/>
                    <a:pt x="3168" y="5947"/>
                    <a:pt x="4023" y="5082"/>
                  </a:cubicBezTo>
                  <a:cubicBezTo>
                    <a:pt x="4877" y="4218"/>
                    <a:pt x="5942" y="3590"/>
                    <a:pt x="7112" y="3262"/>
                  </a:cubicBezTo>
                  <a:cubicBezTo>
                    <a:pt x="8282" y="2934"/>
                    <a:pt x="9518" y="2916"/>
                    <a:pt x="10697" y="3211"/>
                  </a:cubicBezTo>
                  <a:cubicBezTo>
                    <a:pt x="11877" y="3505"/>
                    <a:pt x="12959" y="4101"/>
                    <a:pt x="13838" y="4941"/>
                  </a:cubicBezTo>
                  <a:cubicBezTo>
                    <a:pt x="14717" y="5781"/>
                    <a:pt x="15362" y="6835"/>
                    <a:pt x="15710" y="8000"/>
                  </a:cubicBezTo>
                  <a:lnTo>
                    <a:pt x="17500" y="8000"/>
                  </a:lnTo>
                  <a:cubicBezTo>
                    <a:pt x="18269" y="7999"/>
                    <a:pt x="19027" y="8197"/>
                    <a:pt x="19699" y="8573"/>
                  </a:cubicBezTo>
                  <a:cubicBezTo>
                    <a:pt x="20370" y="8949"/>
                    <a:pt x="20935" y="9492"/>
                    <a:pt x="21337" y="10148"/>
                  </a:cubicBezTo>
                  <a:cubicBezTo>
                    <a:pt x="21739" y="10805"/>
                    <a:pt x="21966" y="11554"/>
                    <a:pt x="21997" y="12323"/>
                  </a:cubicBezTo>
                  <a:cubicBezTo>
                    <a:pt x="22027" y="13092"/>
                    <a:pt x="21859" y="13857"/>
                    <a:pt x="21509" y="14543"/>
                  </a:cubicBezTo>
                  <a:cubicBezTo>
                    <a:pt x="21160" y="15229"/>
                    <a:pt x="20640" y="15814"/>
                    <a:pt x="20000" y="16242"/>
                  </a:cubicBezTo>
                </a:path>
                <a:path w="24000" h="24000" fill="none">
                  <a:moveTo>
                    <a:pt x="8000" y="17000"/>
                  </a:moveTo>
                  <a:lnTo>
                    <a:pt x="12000" y="13000"/>
                  </a:lnTo>
                  <a:lnTo>
                    <a:pt x="16000" y="17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115" name="Module name"/>
            <p:cNvSpPr txBox="1"/>
            <p:nvPr/>
          </p:nvSpPr>
          <p:spPr>
            <a:xfrm>
              <a:off x="6382512" y="2436876"/>
              <a:ext cx="20848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Upload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116" name="Module number"/>
            <p:cNvSpPr txBox="1"/>
            <p:nvPr/>
          </p:nvSpPr>
          <p:spPr>
            <a:xfrm>
              <a:off x="8449056" y="2427732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07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117" name="Bullet"/>
            <p:cNvSpPr/>
            <p:nvPr/>
          </p:nvSpPr>
          <p:spPr>
            <a:xfrm>
              <a:off x="6208776" y="2721407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18" name="Feature"/>
            <p:cNvSpPr txBox="1"/>
            <p:nvPr/>
          </p:nvSpPr>
          <p:spPr>
            <a:xfrm>
              <a:off x="6309360" y="2688336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Remarks and checksum, then Upload to SAP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19" name="Bullet"/>
            <p:cNvSpPr/>
            <p:nvPr/>
          </p:nvSpPr>
          <p:spPr>
            <a:xfrm>
              <a:off x="6208776" y="2847899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20" name="Feature"/>
            <p:cNvSpPr txBox="1"/>
            <p:nvPr/>
          </p:nvSpPr>
          <p:spPr>
            <a:xfrm>
              <a:off x="6309360" y="2814828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Upload time; test time from the file after a shift change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21" name="Bullet"/>
            <p:cNvSpPr/>
            <p:nvPr/>
          </p:nvSpPr>
          <p:spPr>
            <a:xfrm>
              <a:off x="6208776" y="2974391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22" name="Feature"/>
            <p:cNvSpPr txBox="1"/>
            <p:nvPr/>
          </p:nvSpPr>
          <p:spPr>
            <a:xfrm>
              <a:off x="6309360" y="2941320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FTP upload of standard and actual graph images</a:t>
              </a:r>
              <a:endParaRPr lang="en-US" sz="650" dirty="0">
                <a:latin typeface="Inter"/>
              </a:endParaRPr>
            </a:p>
          </p:txBody>
        </p:sp>
      </p:grpSp>
      <p:grpSp>
        <p:nvGrpSpPr>
          <p:cNvPr id="123" name="Module 08 · Reliability &amp; Alerts"/>
          <p:cNvGrpSpPr/>
          <p:nvPr/>
        </p:nvGrpSpPr>
        <p:grpSpPr>
          <a:xfrm>
            <a:off x="3145536" y="3191256"/>
            <a:ext cx="2816352" cy="740664"/>
            <a:chOff x="3145536" y="3191256"/>
            <a:chExt cx="2816352" cy="740664"/>
          </a:xfrm>
        </p:grpSpPr>
        <p:sp>
          <p:nvSpPr>
            <p:cNvPr id="124" name="Module card"/>
            <p:cNvSpPr/>
            <p:nvPr/>
          </p:nvSpPr>
          <p:spPr>
            <a:xfrm>
              <a:off x="3145536" y="3191256"/>
              <a:ext cx="2816352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25" name="Accent"/>
            <p:cNvSpPr/>
            <p:nvPr/>
          </p:nvSpPr>
          <p:spPr>
            <a:xfrm>
              <a:off x="3145536" y="3282696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126" name="Icon shield-check"/>
            <p:cNvSpPr/>
            <p:nvPr/>
          </p:nvSpPr>
          <p:spPr>
            <a:xfrm>
              <a:off x="3255264" y="3287268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231" y="21986"/>
                    <a:pt x="12118" y="22004"/>
                    <a:pt x="12004" y="22002"/>
                  </a:cubicBezTo>
                  <a:cubicBezTo>
                    <a:pt x="11889" y="22001"/>
                    <a:pt x="11776" y="21979"/>
                    <a:pt x="11670" y="21939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824"/>
                    <a:pt x="4046" y="5652"/>
                    <a:pt x="4133" y="5500"/>
                  </a:cubicBezTo>
                  <a:cubicBezTo>
                    <a:pt x="4221" y="5347"/>
                    <a:pt x="4347" y="5221"/>
                    <a:pt x="4500" y="5133"/>
                  </a:cubicBezTo>
                  <a:cubicBezTo>
                    <a:pt x="4652" y="5046"/>
                    <a:pt x="4824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380" y="2160"/>
                    <a:pt x="11547" y="2075"/>
                    <a:pt x="11726" y="2031"/>
                  </a:cubicBezTo>
                  <a:cubicBezTo>
                    <a:pt x="11906" y="1988"/>
                    <a:pt x="12093" y="1988"/>
                    <a:pt x="12273" y="2031"/>
                  </a:cubicBezTo>
                  <a:cubicBezTo>
                    <a:pt x="12452" y="2075"/>
                    <a:pt x="12619" y="2160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175" y="5000"/>
                    <a:pt x="19347" y="5046"/>
                    <a:pt x="19500" y="5133"/>
                  </a:cubicBezTo>
                  <a:cubicBezTo>
                    <a:pt x="19652" y="5221"/>
                    <a:pt x="19778" y="5347"/>
                    <a:pt x="19866" y="5500"/>
                  </a:cubicBezTo>
                  <a:cubicBezTo>
                    <a:pt x="19953" y="5652"/>
                    <a:pt x="20000" y="5824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127" name="Module name"/>
            <p:cNvSpPr txBox="1"/>
            <p:nvPr/>
          </p:nvSpPr>
          <p:spPr>
            <a:xfrm>
              <a:off x="3474720" y="3268980"/>
              <a:ext cx="20848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Reliability &amp; Alerts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128" name="Module number"/>
            <p:cNvSpPr txBox="1"/>
            <p:nvPr/>
          </p:nvSpPr>
          <p:spPr>
            <a:xfrm>
              <a:off x="5541264" y="3259836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08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129" name="Bullet"/>
            <p:cNvSpPr/>
            <p:nvPr/>
          </p:nvSpPr>
          <p:spPr>
            <a:xfrm>
              <a:off x="3300984" y="3553511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30" name="Feature"/>
            <p:cNvSpPr txBox="1"/>
            <p:nvPr/>
          </p:nvSpPr>
          <p:spPr>
            <a:xfrm>
              <a:off x="3401568" y="3520440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Retry every 5 min, up to 3 times, on network / SAP failure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31" name="Bullet"/>
            <p:cNvSpPr/>
            <p:nvPr/>
          </p:nvSpPr>
          <p:spPr>
            <a:xfrm>
              <a:off x="3300984" y="368000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32" name="Feature"/>
            <p:cNvSpPr txBox="1"/>
            <p:nvPr/>
          </p:nvSpPr>
          <p:spPr>
            <a:xfrm>
              <a:off x="3401568" y="3646932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Retry every 5 min while previous-station entry is missing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33" name="Bullet"/>
            <p:cNvSpPr/>
            <p:nvPr/>
          </p:nvSpPr>
          <p:spPr>
            <a:xfrm>
              <a:off x="3300984" y="380649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34" name="Feature"/>
            <p:cNvSpPr txBox="1"/>
            <p:nvPr/>
          </p:nvSpPr>
          <p:spPr>
            <a:xfrm>
              <a:off x="3401568" y="3773424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Pending entries highlighted 15 min before shift end</a:t>
              </a:r>
              <a:endParaRPr lang="en-US" sz="650" dirty="0">
                <a:latin typeface="Inter"/>
              </a:endParaRPr>
            </a:p>
          </p:txBody>
        </p:sp>
      </p:grpSp>
      <p:grpSp>
        <p:nvGrpSpPr>
          <p:cNvPr id="135" name="Module 09 · Entry Management"/>
          <p:cNvGrpSpPr/>
          <p:nvPr/>
        </p:nvGrpSpPr>
        <p:grpSpPr>
          <a:xfrm>
            <a:off x="6053328" y="3191256"/>
            <a:ext cx="2816352" cy="740664"/>
            <a:chOff x="6053328" y="3191256"/>
            <a:chExt cx="2816352" cy="740664"/>
          </a:xfrm>
        </p:grpSpPr>
        <p:sp>
          <p:nvSpPr>
            <p:cNvPr id="136" name="Module card"/>
            <p:cNvSpPr/>
            <p:nvPr/>
          </p:nvSpPr>
          <p:spPr>
            <a:xfrm>
              <a:off x="6053328" y="3191256"/>
              <a:ext cx="2816352" cy="740664"/>
            </a:xfrm>
            <a:prstGeom prst="roundRect">
              <a:avLst>
                <a:gd name="adj" fmla="val 617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37" name="Accent"/>
            <p:cNvSpPr/>
            <p:nvPr/>
          </p:nvSpPr>
          <p:spPr>
            <a:xfrm>
              <a:off x="6053328" y="3282696"/>
              <a:ext cx="32004" cy="23774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138" name="Icon list-checks"/>
            <p:cNvSpPr/>
            <p:nvPr/>
          </p:nvSpPr>
          <p:spPr>
            <a:xfrm>
              <a:off x="6163056" y="3287268"/>
              <a:ext cx="155448" cy="15544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3000" y="5000"/>
                  </a:moveTo>
                  <a:lnTo>
                    <a:pt x="21000" y="5000"/>
                  </a:lnTo>
                </a:path>
                <a:path w="24000" h="24000" fill="none">
                  <a:moveTo>
                    <a:pt x="13000" y="12000"/>
                  </a:moveTo>
                  <a:lnTo>
                    <a:pt x="21000" y="12000"/>
                  </a:lnTo>
                </a:path>
                <a:path w="24000" h="24000" fill="none">
                  <a:moveTo>
                    <a:pt x="13000" y="19000"/>
                  </a:moveTo>
                  <a:lnTo>
                    <a:pt x="21000" y="19000"/>
                  </a:lnTo>
                </a:path>
                <a:path w="24000" h="24000" fill="none">
                  <a:moveTo>
                    <a:pt x="3000" y="17000"/>
                  </a:moveTo>
                  <a:lnTo>
                    <a:pt x="5000" y="19000"/>
                  </a:lnTo>
                  <a:lnTo>
                    <a:pt x="9000" y="15000"/>
                  </a:lnTo>
                </a:path>
                <a:path w="24000" h="24000" fill="none">
                  <a:moveTo>
                    <a:pt x="3000" y="7000"/>
                  </a:moveTo>
                  <a:lnTo>
                    <a:pt x="5000" y="9000"/>
                  </a:lnTo>
                  <a:lnTo>
                    <a:pt x="9000" y="5000"/>
                  </a:lnTo>
                </a:path>
              </a:pathLst>
            </a:custGeom>
            <a:noFill/>
            <a:ln w="12954" cap="rnd">
              <a:solidFill>
                <a:srgbClr val="165FF2"/>
              </a:solidFill>
              <a:round/>
            </a:ln>
          </p:spPr>
        </p:sp>
        <p:sp>
          <p:nvSpPr>
            <p:cNvPr id="139" name="Module name"/>
            <p:cNvSpPr txBox="1"/>
            <p:nvPr/>
          </p:nvSpPr>
          <p:spPr>
            <a:xfrm>
              <a:off x="6382512" y="3268980"/>
              <a:ext cx="20848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8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Entry Management</a:t>
              </a:r>
              <a:endParaRPr lang="en-US" sz="780" dirty="0">
                <a:latin typeface="Inter SemiBold"/>
              </a:endParaRPr>
            </a:p>
          </p:txBody>
        </p:sp>
        <p:sp>
          <p:nvSpPr>
            <p:cNvPr id="140" name="Module number"/>
            <p:cNvSpPr txBox="1"/>
            <p:nvPr/>
          </p:nvSpPr>
          <p:spPr>
            <a:xfrm>
              <a:off x="8449056" y="3259836"/>
              <a:ext cx="3291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100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09</a:t>
              </a:r>
              <a:endParaRPr lang="en-US" sz="1000" dirty="0">
                <a:latin typeface="TASA Orbiter SemiBold"/>
              </a:endParaRPr>
            </a:p>
          </p:txBody>
        </p:sp>
        <p:sp>
          <p:nvSpPr>
            <p:cNvPr id="141" name="Bullet"/>
            <p:cNvSpPr/>
            <p:nvPr/>
          </p:nvSpPr>
          <p:spPr>
            <a:xfrm>
              <a:off x="6208776" y="3553511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42" name="Feature"/>
            <p:cNvSpPr txBox="1"/>
            <p:nvPr/>
          </p:nvSpPr>
          <p:spPr>
            <a:xfrm>
              <a:off x="6309360" y="3520440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Edit uploaded entries (pressure &amp; hold time locked)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43" name="Bullet"/>
            <p:cNvSpPr/>
            <p:nvPr/>
          </p:nvSpPr>
          <p:spPr>
            <a:xfrm>
              <a:off x="6208776" y="3680003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44" name="Feature"/>
            <p:cNvSpPr txBox="1"/>
            <p:nvPr/>
          </p:nvSpPr>
          <p:spPr>
            <a:xfrm>
              <a:off x="6309360" y="3646932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Entry status and FTP upload status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45" name="Bullet"/>
            <p:cNvSpPr/>
            <p:nvPr/>
          </p:nvSpPr>
          <p:spPr>
            <a:xfrm>
              <a:off x="6208776" y="3806495"/>
              <a:ext cx="32918" cy="32918"/>
            </a:xfrm>
            <a:prstGeom prst="ellipse">
              <a:avLst/>
            </a:prstGeom>
            <a:solidFill>
              <a:srgbClr val="90A5BB"/>
            </a:solidFill>
            <a:ln>
              <a:noFill/>
            </a:ln>
          </p:spPr>
        </p:sp>
        <p:sp>
          <p:nvSpPr>
            <p:cNvPr id="146" name="Feature"/>
            <p:cNvSpPr txBox="1"/>
            <p:nvPr/>
          </p:nvSpPr>
          <p:spPr>
            <a:xfrm>
              <a:off x="6309360" y="3773424"/>
              <a:ext cx="246888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Previous-station tab with pipe numbers and remarks</a:t>
              </a:r>
              <a:endParaRPr lang="en-US" sz="650" dirty="0">
                <a:latin typeface="Inter"/>
              </a:endParaRPr>
            </a:p>
          </p:txBody>
        </p:sp>
      </p:grpSp>
      <p:grpSp>
        <p:nvGrpSpPr>
          <p:cNvPr id="147" name="Services included"/>
          <p:cNvGrpSpPr/>
          <p:nvPr/>
        </p:nvGrpSpPr>
        <p:grpSpPr>
          <a:xfrm>
            <a:off x="274320" y="4023360"/>
            <a:ext cx="8595360" cy="749808"/>
            <a:chOff x="274320" y="4023360"/>
            <a:chExt cx="8595360" cy="749808"/>
          </a:xfrm>
        </p:grpSpPr>
        <p:sp>
          <p:nvSpPr>
            <p:cNvPr id="148" name="Strip"/>
            <p:cNvSpPr/>
            <p:nvPr/>
          </p:nvSpPr>
          <p:spPr>
            <a:xfrm>
              <a:off x="274320" y="4023360"/>
              <a:ext cx="8595360" cy="749808"/>
            </a:xfrm>
            <a:prstGeom prst="roundRect">
              <a:avLst>
                <a:gd name="adj" fmla="val 731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149" name="Icon package-check"/>
            <p:cNvSpPr/>
            <p:nvPr/>
          </p:nvSpPr>
          <p:spPr>
            <a:xfrm>
              <a:off x="402336" y="4151376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18000" y="19000"/>
                  </a:lnTo>
                  <a:lnTo>
                    <a:pt x="22000" y="15000"/>
                  </a:lnTo>
                </a:path>
                <a:path w="24000" h="24000" fill="none">
                  <a:moveTo>
                    <a:pt x="21000" y="11127"/>
                  </a:moveTo>
                  <a:lnTo>
                    <a:pt x="21000" y="8000"/>
                  </a:lnTo>
                  <a:cubicBezTo>
                    <a:pt x="20999" y="7649"/>
                    <a:pt x="20907" y="7304"/>
                    <a:pt x="20731" y="7001"/>
                  </a:cubicBezTo>
                  <a:cubicBezTo>
                    <a:pt x="20556" y="6697"/>
                    <a:pt x="20303" y="6445"/>
                    <a:pt x="20000" y="6270"/>
                  </a:cubicBezTo>
                  <a:lnTo>
                    <a:pt x="13000" y="2269"/>
                  </a:lnTo>
                  <a:cubicBezTo>
                    <a:pt x="12695" y="2094"/>
                    <a:pt x="12351" y="2002"/>
                    <a:pt x="12000" y="2002"/>
                  </a:cubicBezTo>
                  <a:cubicBezTo>
                    <a:pt x="11648" y="2002"/>
                    <a:pt x="11304" y="2094"/>
                    <a:pt x="11000" y="2269"/>
                  </a:cubicBezTo>
                  <a:lnTo>
                    <a:pt x="4000" y="6270"/>
                  </a:lnTo>
                  <a:cubicBezTo>
                    <a:pt x="3696" y="6445"/>
                    <a:pt x="3443" y="6697"/>
                    <a:pt x="3268" y="7001"/>
                  </a:cubicBezTo>
                  <a:cubicBezTo>
                    <a:pt x="3092" y="7304"/>
                    <a:pt x="3000" y="7649"/>
                    <a:pt x="3000" y="8000"/>
                  </a:cubicBezTo>
                  <a:lnTo>
                    <a:pt x="3000" y="16000"/>
                  </a:lnTo>
                  <a:cubicBezTo>
                    <a:pt x="3000" y="16350"/>
                    <a:pt x="3093" y="16694"/>
                    <a:pt x="3268" y="16998"/>
                  </a:cubicBezTo>
                  <a:cubicBezTo>
                    <a:pt x="3444" y="17301"/>
                    <a:pt x="3696" y="17553"/>
                    <a:pt x="4000" y="17729"/>
                  </a:cubicBezTo>
                  <a:lnTo>
                    <a:pt x="11000" y="21729"/>
                  </a:lnTo>
                  <a:cubicBezTo>
                    <a:pt x="11201" y="21845"/>
                    <a:pt x="11422" y="21926"/>
                    <a:pt x="11652" y="21966"/>
                  </a:cubicBezTo>
                  <a:cubicBezTo>
                    <a:pt x="11882" y="22007"/>
                    <a:pt x="12117" y="22007"/>
                    <a:pt x="12347" y="21967"/>
                  </a:cubicBezTo>
                  <a:cubicBezTo>
                    <a:pt x="12576" y="21926"/>
                    <a:pt x="12797" y="21846"/>
                    <a:pt x="13000" y="21730"/>
                  </a:cubicBezTo>
                  <a:lnTo>
                    <a:pt x="14320" y="20977"/>
                  </a:lnTo>
                </a:path>
                <a:path w="24000" h="24000" fill="none">
                  <a:moveTo>
                    <a:pt x="3290" y="7000"/>
                  </a:moveTo>
                  <a:lnTo>
                    <a:pt x="12000" y="12000"/>
                  </a:lnTo>
                  <a:lnTo>
                    <a:pt x="20710" y="7000"/>
                  </a:lnTo>
                </a:path>
                <a:path w="24000" h="24000" fill="none">
                  <a:moveTo>
                    <a:pt x="7500" y="4270"/>
                  </a:moveTo>
                  <a:lnTo>
                    <a:pt x="16497" y="9418"/>
                  </a:lnTo>
                </a:path>
              </a:pathLst>
            </a:custGeom>
            <a:noFill/>
            <a:ln w="14478" cap="rnd">
              <a:solidFill>
                <a:srgbClr val="0C1927"/>
              </a:solidFill>
              <a:round/>
            </a:ln>
          </p:spPr>
        </p:sp>
        <p:sp>
          <p:nvSpPr>
            <p:cNvPr id="150" name="Strip title"/>
            <p:cNvSpPr txBox="1"/>
            <p:nvPr/>
          </p:nvSpPr>
          <p:spPr>
            <a:xfrm>
              <a:off x="402336" y="4389120"/>
              <a:ext cx="96012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92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Services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792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included in scope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51" name="Divider"/>
            <p:cNvCxnSpPr/>
            <p:nvPr/>
          </p:nvCxnSpPr>
          <p:spPr>
            <a:xfrm>
              <a:off x="136245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52" name="Icon tile"/>
            <p:cNvSpPr/>
            <p:nvPr/>
          </p:nvSpPr>
          <p:spPr>
            <a:xfrm>
              <a:off x="143560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53" name="Icon book-open"/>
            <p:cNvSpPr/>
            <p:nvPr/>
          </p:nvSpPr>
          <p:spPr>
            <a:xfrm>
              <a:off x="150876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lnTo>
                    <a:pt x="12000" y="21000"/>
                  </a:lnTo>
                </a:path>
                <a:path w="24000" h="24000" fill="none">
                  <a:moveTo>
                    <a:pt x="20001" y="19000"/>
                  </a:moveTo>
                  <a:cubicBezTo>
                    <a:pt x="20351" y="18999"/>
                    <a:pt x="20696" y="18907"/>
                    <a:pt x="21000" y="18731"/>
                  </a:cubicBezTo>
                  <a:cubicBezTo>
                    <a:pt x="21304" y="18556"/>
                    <a:pt x="21556" y="18303"/>
                    <a:pt x="21732" y="17999"/>
                  </a:cubicBezTo>
                  <a:cubicBezTo>
                    <a:pt x="21907" y="17695"/>
                    <a:pt x="22000" y="17350"/>
                    <a:pt x="22000" y="17000"/>
                  </a:cubicBezTo>
                  <a:lnTo>
                    <a:pt x="22000" y="5000"/>
                  </a:lnTo>
                  <a:cubicBezTo>
                    <a:pt x="22000" y="4649"/>
                    <a:pt x="21907" y="4304"/>
                    <a:pt x="21732" y="4000"/>
                  </a:cubicBezTo>
                  <a:cubicBezTo>
                    <a:pt x="21556" y="3696"/>
                    <a:pt x="21304" y="3443"/>
                    <a:pt x="21000" y="3268"/>
                  </a:cubicBezTo>
                  <a:cubicBezTo>
                    <a:pt x="20696" y="3092"/>
                    <a:pt x="20351" y="3000"/>
                    <a:pt x="20001" y="3000"/>
                  </a:cubicBezTo>
                  <a:lnTo>
                    <a:pt x="16000" y="3002"/>
                  </a:lnTo>
                  <a:cubicBezTo>
                    <a:pt x="15223" y="3001"/>
                    <a:pt x="14458" y="3182"/>
                    <a:pt x="13764" y="3528"/>
                  </a:cubicBezTo>
                  <a:cubicBezTo>
                    <a:pt x="13069" y="3875"/>
                    <a:pt x="12465" y="4379"/>
                    <a:pt x="12000" y="5000"/>
                  </a:cubicBezTo>
                  <a:cubicBezTo>
                    <a:pt x="11534" y="4379"/>
                    <a:pt x="10930" y="3874"/>
                    <a:pt x="10236" y="3527"/>
                  </a:cubicBezTo>
                  <a:cubicBezTo>
                    <a:pt x="9541" y="3180"/>
                    <a:pt x="8776" y="2999"/>
                    <a:pt x="8000" y="3000"/>
                  </a:cubicBezTo>
                  <a:lnTo>
                    <a:pt x="4000" y="3000"/>
                  </a:lnTo>
                  <a:cubicBezTo>
                    <a:pt x="3648" y="3000"/>
                    <a:pt x="3304" y="3092"/>
                    <a:pt x="3000" y="3267"/>
                  </a:cubicBezTo>
                  <a:cubicBezTo>
                    <a:pt x="2695" y="3443"/>
                    <a:pt x="2443" y="3695"/>
                    <a:pt x="2267" y="3999"/>
                  </a:cubicBezTo>
                  <a:cubicBezTo>
                    <a:pt x="2092" y="4304"/>
                    <a:pt x="2000" y="4648"/>
                    <a:pt x="2000" y="5000"/>
                  </a:cubicBezTo>
                  <a:lnTo>
                    <a:pt x="2000" y="17000"/>
                  </a:lnTo>
                  <a:cubicBezTo>
                    <a:pt x="1999" y="17350"/>
                    <a:pt x="2092" y="17695"/>
                    <a:pt x="2267" y="17999"/>
                  </a:cubicBezTo>
                  <a:cubicBezTo>
                    <a:pt x="2443" y="18303"/>
                    <a:pt x="2695" y="18556"/>
                    <a:pt x="2999" y="18731"/>
                  </a:cubicBezTo>
                  <a:cubicBezTo>
                    <a:pt x="3303" y="18907"/>
                    <a:pt x="3648" y="18999"/>
                    <a:pt x="3999" y="19000"/>
                  </a:cubicBezTo>
                  <a:lnTo>
                    <a:pt x="8000" y="19000"/>
                  </a:lnTo>
                  <a:cubicBezTo>
                    <a:pt x="8776" y="19000"/>
                    <a:pt x="9541" y="19180"/>
                    <a:pt x="10236" y="19527"/>
                  </a:cubicBezTo>
                  <a:cubicBezTo>
                    <a:pt x="10930" y="19874"/>
                    <a:pt x="11534" y="20379"/>
                    <a:pt x="12000" y="21000"/>
                  </a:cubicBezTo>
                  <a:cubicBezTo>
                    <a:pt x="12465" y="20379"/>
                    <a:pt x="13069" y="19874"/>
                    <a:pt x="13763" y="19527"/>
                  </a:cubicBezTo>
                  <a:cubicBezTo>
                    <a:pt x="14458" y="19180"/>
                    <a:pt x="15223" y="19000"/>
                    <a:pt x="16000" y="19000"/>
                  </a:cubicBezTo>
                  <a:close/>
                </a:path>
              </a:pathLst>
            </a:custGeom>
            <a:noFill/>
            <a:ln w="14478" cap="rnd">
              <a:solidFill>
                <a:srgbClr val="0C1927"/>
              </a:solidFill>
              <a:round/>
            </a:ln>
          </p:spPr>
        </p:sp>
        <p:sp>
          <p:nvSpPr>
            <p:cNvPr id="154" name="Service"/>
            <p:cNvSpPr txBox="1"/>
            <p:nvPr/>
          </p:nvSpPr>
          <p:spPr>
            <a:xfrm>
              <a:off x="1837944" y="4244873"/>
              <a:ext cx="1337310" cy="3067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 manual / SOP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Documentation for operators and administrators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55" name="Divider"/>
            <p:cNvCxnSpPr/>
            <p:nvPr/>
          </p:nvCxnSpPr>
          <p:spPr>
            <a:xfrm>
              <a:off x="320268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56" name="Icon tile"/>
            <p:cNvSpPr/>
            <p:nvPr/>
          </p:nvSpPr>
          <p:spPr>
            <a:xfrm>
              <a:off x="327583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57" name="Icon graduation-cap"/>
            <p:cNvSpPr/>
            <p:nvPr/>
          </p:nvSpPr>
          <p:spPr>
            <a:xfrm>
              <a:off x="334899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420" y="10922"/>
                  </a:moveTo>
                  <a:cubicBezTo>
                    <a:pt x="21562" y="10858"/>
                    <a:pt x="21688" y="10763"/>
                    <a:pt x="21788" y="10642"/>
                  </a:cubicBezTo>
                  <a:cubicBezTo>
                    <a:pt x="21887" y="10522"/>
                    <a:pt x="21957" y="10380"/>
                    <a:pt x="21991" y="10228"/>
                  </a:cubicBezTo>
                  <a:cubicBezTo>
                    <a:pt x="22026" y="10075"/>
                    <a:pt x="22024" y="9917"/>
                    <a:pt x="21986" y="9766"/>
                  </a:cubicBezTo>
                  <a:cubicBezTo>
                    <a:pt x="21949" y="9614"/>
                    <a:pt x="21876" y="9473"/>
                    <a:pt x="21774" y="9355"/>
                  </a:cubicBezTo>
                  <a:cubicBezTo>
                    <a:pt x="21673" y="9237"/>
                    <a:pt x="21545" y="9144"/>
                    <a:pt x="21401" y="9084"/>
                  </a:cubicBezTo>
                  <a:lnTo>
                    <a:pt x="12830" y="5180"/>
                  </a:lnTo>
                  <a:cubicBezTo>
                    <a:pt x="12569" y="5061"/>
                    <a:pt x="12286" y="4999"/>
                    <a:pt x="12000" y="4999"/>
                  </a:cubicBezTo>
                  <a:cubicBezTo>
                    <a:pt x="11713" y="4999"/>
                    <a:pt x="11430" y="5061"/>
                    <a:pt x="11170" y="5180"/>
                  </a:cubicBezTo>
                  <a:lnTo>
                    <a:pt x="2600" y="9080"/>
                  </a:lnTo>
                  <a:cubicBezTo>
                    <a:pt x="2457" y="9142"/>
                    <a:pt x="2332" y="9236"/>
                    <a:pt x="2232" y="9355"/>
                  </a:cubicBezTo>
                  <a:cubicBezTo>
                    <a:pt x="2133" y="9474"/>
                    <a:pt x="2063" y="9615"/>
                    <a:pt x="2027" y="9766"/>
                  </a:cubicBezTo>
                  <a:cubicBezTo>
                    <a:pt x="1992" y="9917"/>
                    <a:pt x="1992" y="10074"/>
                    <a:pt x="2027" y="10225"/>
                  </a:cubicBezTo>
                  <a:cubicBezTo>
                    <a:pt x="2063" y="10376"/>
                    <a:pt x="2133" y="10517"/>
                    <a:pt x="2232" y="10636"/>
                  </a:cubicBezTo>
                  <a:cubicBezTo>
                    <a:pt x="2332" y="10755"/>
                    <a:pt x="2457" y="10849"/>
                    <a:pt x="2600" y="10912"/>
                  </a:cubicBezTo>
                  <a:lnTo>
                    <a:pt x="11170" y="14820"/>
                  </a:lnTo>
                  <a:cubicBezTo>
                    <a:pt x="11430" y="14938"/>
                    <a:pt x="11713" y="15000"/>
                    <a:pt x="12000" y="15000"/>
                  </a:cubicBezTo>
                  <a:cubicBezTo>
                    <a:pt x="12286" y="15000"/>
                    <a:pt x="12569" y="14938"/>
                    <a:pt x="12830" y="14820"/>
                  </a:cubicBezTo>
                  <a:close/>
                </a:path>
                <a:path w="24000" h="24000" fill="none">
                  <a:moveTo>
                    <a:pt x="22000" y="10000"/>
                  </a:moveTo>
                  <a:lnTo>
                    <a:pt x="22000" y="16000"/>
                  </a:lnTo>
                </a:path>
                <a:path w="24000" h="24000" fill="none">
                  <a:moveTo>
                    <a:pt x="6000" y="12500"/>
                  </a:moveTo>
                  <a:lnTo>
                    <a:pt x="6000" y="16000"/>
                  </a:lnTo>
                  <a:cubicBezTo>
                    <a:pt x="6000" y="16526"/>
                    <a:pt x="6277" y="17043"/>
                    <a:pt x="6803" y="17500"/>
                  </a:cubicBezTo>
                  <a:cubicBezTo>
                    <a:pt x="7330" y="17956"/>
                    <a:pt x="8087" y="18334"/>
                    <a:pt x="9000" y="18598"/>
                  </a:cubicBezTo>
                  <a:cubicBezTo>
                    <a:pt x="9912" y="18861"/>
                    <a:pt x="10946" y="19000"/>
                    <a:pt x="12000" y="19000"/>
                  </a:cubicBezTo>
                  <a:cubicBezTo>
                    <a:pt x="13053" y="19000"/>
                    <a:pt x="14087" y="18861"/>
                    <a:pt x="15000" y="18598"/>
                  </a:cubicBezTo>
                  <a:cubicBezTo>
                    <a:pt x="15912" y="18334"/>
                    <a:pt x="16669" y="17956"/>
                    <a:pt x="17196" y="17500"/>
                  </a:cubicBezTo>
                  <a:cubicBezTo>
                    <a:pt x="17722" y="17043"/>
                    <a:pt x="18000" y="16526"/>
                    <a:pt x="18000" y="16000"/>
                  </a:cubicBezTo>
                  <a:lnTo>
                    <a:pt x="18000" y="12500"/>
                  </a:lnTo>
                </a:path>
              </a:pathLst>
            </a:custGeom>
            <a:noFill/>
            <a:ln w="14478" cap="rnd">
              <a:solidFill>
                <a:srgbClr val="0C1927"/>
              </a:solidFill>
              <a:round/>
            </a:ln>
          </p:spPr>
        </p:sp>
        <p:sp>
          <p:nvSpPr>
            <p:cNvPr id="158" name="Service"/>
            <p:cNvSpPr txBox="1"/>
            <p:nvPr/>
          </p:nvSpPr>
          <p:spPr>
            <a:xfrm>
              <a:off x="3678174" y="4244873"/>
              <a:ext cx="1337310" cy="3067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Operator training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For station operators and supervisors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59" name="Divider"/>
            <p:cNvCxnSpPr/>
            <p:nvPr/>
          </p:nvCxnSpPr>
          <p:spPr>
            <a:xfrm>
              <a:off x="504291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60" name="Icon tile"/>
            <p:cNvSpPr/>
            <p:nvPr/>
          </p:nvSpPr>
          <p:spPr>
            <a:xfrm>
              <a:off x="511606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61" name="Icon clipboard-check"/>
            <p:cNvSpPr/>
            <p:nvPr/>
          </p:nvSpPr>
          <p:spPr>
            <a:xfrm>
              <a:off x="518922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2000"/>
                  </a:moveTo>
                  <a:lnTo>
                    <a:pt x="15000" y="2000"/>
                  </a:lnTo>
                  <a:cubicBezTo>
                    <a:pt x="15175" y="2000"/>
                    <a:pt x="15347" y="2046"/>
                    <a:pt x="15500" y="2133"/>
                  </a:cubicBezTo>
                  <a:cubicBezTo>
                    <a:pt x="15652" y="2221"/>
                    <a:pt x="15778" y="2347"/>
                    <a:pt x="15866" y="2500"/>
                  </a:cubicBezTo>
                  <a:cubicBezTo>
                    <a:pt x="15953" y="2652"/>
                    <a:pt x="16000" y="2824"/>
                    <a:pt x="16000" y="3000"/>
                  </a:cubicBezTo>
                  <a:lnTo>
                    <a:pt x="16000" y="5000"/>
                  </a:lnTo>
                  <a:cubicBezTo>
                    <a:pt x="16000" y="5175"/>
                    <a:pt x="15953" y="5347"/>
                    <a:pt x="15866" y="5500"/>
                  </a:cubicBezTo>
                  <a:cubicBezTo>
                    <a:pt x="15778" y="5652"/>
                    <a:pt x="15652" y="5778"/>
                    <a:pt x="15500" y="5866"/>
                  </a:cubicBezTo>
                  <a:cubicBezTo>
                    <a:pt x="15347" y="5953"/>
                    <a:pt x="15175" y="6000"/>
                    <a:pt x="15000" y="6000"/>
                  </a:cubicBezTo>
                  <a:lnTo>
                    <a:pt x="9000" y="6000"/>
                  </a:lnTo>
                  <a:cubicBezTo>
                    <a:pt x="8824" y="6000"/>
                    <a:pt x="8652" y="5953"/>
                    <a:pt x="8500" y="5866"/>
                  </a:cubicBezTo>
                  <a:cubicBezTo>
                    <a:pt x="8347" y="5778"/>
                    <a:pt x="8221" y="5652"/>
                    <a:pt x="8133" y="5500"/>
                  </a:cubicBezTo>
                  <a:cubicBezTo>
                    <a:pt x="8046" y="5347"/>
                    <a:pt x="8000" y="5175"/>
                    <a:pt x="8000" y="5000"/>
                  </a:cubicBezTo>
                  <a:lnTo>
                    <a:pt x="8000" y="3000"/>
                  </a:lnTo>
                  <a:cubicBezTo>
                    <a:pt x="8000" y="2824"/>
                    <a:pt x="8046" y="2652"/>
                    <a:pt x="8133" y="2500"/>
                  </a:cubicBezTo>
                  <a:cubicBezTo>
                    <a:pt x="8221" y="2347"/>
                    <a:pt x="8347" y="2221"/>
                    <a:pt x="8500" y="2133"/>
                  </a:cubicBezTo>
                  <a:cubicBezTo>
                    <a:pt x="8652" y="2046"/>
                    <a:pt x="8824" y="2000"/>
                    <a:pt x="9000" y="2000"/>
                  </a:cubicBezTo>
                  <a:close/>
                </a:path>
                <a:path w="24000" h="24000" fill="none">
                  <a:moveTo>
                    <a:pt x="16000" y="4000"/>
                  </a:moveTo>
                  <a:lnTo>
                    <a:pt x="18000" y="4000"/>
                  </a:lnTo>
                  <a:cubicBezTo>
                    <a:pt x="18351" y="4000"/>
                    <a:pt x="18695" y="4092"/>
                    <a:pt x="19000" y="4267"/>
                  </a:cubicBezTo>
                  <a:cubicBezTo>
                    <a:pt x="19304" y="4443"/>
                    <a:pt x="19556" y="4695"/>
                    <a:pt x="19732" y="5000"/>
                  </a:cubicBezTo>
                  <a:cubicBezTo>
                    <a:pt x="19907" y="5304"/>
                    <a:pt x="20000" y="5648"/>
                    <a:pt x="20000" y="6000"/>
                  </a:cubicBezTo>
                  <a:lnTo>
                    <a:pt x="20000" y="20000"/>
                  </a:lnTo>
                  <a:cubicBezTo>
                    <a:pt x="20000" y="20351"/>
                    <a:pt x="19907" y="20695"/>
                    <a:pt x="19732" y="21000"/>
                  </a:cubicBezTo>
                  <a:cubicBezTo>
                    <a:pt x="19556" y="21304"/>
                    <a:pt x="19304" y="21556"/>
                    <a:pt x="19000" y="21732"/>
                  </a:cubicBezTo>
                  <a:cubicBezTo>
                    <a:pt x="18695" y="21907"/>
                    <a:pt x="18351" y="22000"/>
                    <a:pt x="18000" y="22000"/>
                  </a:cubicBezTo>
                  <a:lnTo>
                    <a:pt x="6000" y="22000"/>
                  </a:lnTo>
                  <a:cubicBezTo>
                    <a:pt x="5648" y="22000"/>
                    <a:pt x="5304" y="21907"/>
                    <a:pt x="5000" y="21732"/>
                  </a:cubicBezTo>
                  <a:cubicBezTo>
                    <a:pt x="4695" y="21556"/>
                    <a:pt x="4443" y="21304"/>
                    <a:pt x="4267" y="21000"/>
                  </a:cubicBezTo>
                  <a:cubicBezTo>
                    <a:pt x="4092" y="20695"/>
                    <a:pt x="4000" y="20351"/>
                    <a:pt x="4000" y="20000"/>
                  </a:cubicBezTo>
                  <a:lnTo>
                    <a:pt x="4000" y="6000"/>
                  </a:lnTo>
                  <a:cubicBezTo>
                    <a:pt x="4000" y="5648"/>
                    <a:pt x="4092" y="5304"/>
                    <a:pt x="4267" y="5000"/>
                  </a:cubicBezTo>
                  <a:cubicBezTo>
                    <a:pt x="4443" y="4695"/>
                    <a:pt x="4695" y="4443"/>
                    <a:pt x="4999" y="4267"/>
                  </a:cubicBezTo>
                  <a:cubicBezTo>
                    <a:pt x="5304" y="4092"/>
                    <a:pt x="5648" y="4000"/>
                    <a:pt x="6000" y="4000"/>
                  </a:cubicBezTo>
                  <a:lnTo>
                    <a:pt x="8000" y="4000"/>
                  </a:lnTo>
                </a:path>
                <a:path w="24000" h="24000" fill="none">
                  <a:moveTo>
                    <a:pt x="9000" y="14000"/>
                  </a:moveTo>
                  <a:lnTo>
                    <a:pt x="11000" y="16000"/>
                  </a:lnTo>
                  <a:lnTo>
                    <a:pt x="15000" y="12000"/>
                  </a:lnTo>
                </a:path>
              </a:pathLst>
            </a:custGeom>
            <a:noFill/>
            <a:ln w="14478" cap="rnd">
              <a:solidFill>
                <a:srgbClr val="0C1927"/>
              </a:solidFill>
              <a:round/>
            </a:ln>
          </p:spPr>
        </p:sp>
        <p:sp>
          <p:nvSpPr>
            <p:cNvPr id="162" name="Service"/>
            <p:cNvSpPr txBox="1"/>
            <p:nvPr/>
          </p:nvSpPr>
          <p:spPr>
            <a:xfrm>
              <a:off x="5518404" y="4244873"/>
              <a:ext cx="1337310" cy="3067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UAT &amp; go-live support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Through user acceptance testing and go-live</a:t>
              </a:r>
              <a:endParaRPr lang="en-US" sz="660" dirty="0">
                <a:latin typeface="Inter"/>
              </a:endParaRPr>
            </a:p>
          </p:txBody>
        </p:sp>
        <p:cxnSp>
          <p:nvCxnSpPr>
            <p:cNvPr id="163" name="Divider"/>
            <p:cNvCxnSpPr/>
            <p:nvPr/>
          </p:nvCxnSpPr>
          <p:spPr>
            <a:xfrm>
              <a:off x="6883146" y="4133088"/>
              <a:ext cx="0" cy="530352"/>
            </a:xfrm>
            <a:prstGeom prst="straightConnector1">
              <a:avLst/>
            </a:prstGeom>
            <a:noFill/>
            <a:ln w="9525">
              <a:solidFill>
                <a:srgbClr val="E3EAF3"/>
              </a:solidFill>
              <a:round/>
            </a:ln>
          </p:spPr>
        </p:cxnSp>
        <p:sp>
          <p:nvSpPr>
            <p:cNvPr id="164" name="Icon tile"/>
            <p:cNvSpPr/>
            <p:nvPr/>
          </p:nvSpPr>
          <p:spPr>
            <a:xfrm>
              <a:off x="6956298" y="4233672"/>
              <a:ext cx="329184" cy="329184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165" name="Icon life-buoy"/>
            <p:cNvSpPr/>
            <p:nvPr/>
          </p:nvSpPr>
          <p:spPr>
            <a:xfrm>
              <a:off x="7029450" y="430682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3755"/>
                    <a:pt x="21537" y="15479"/>
                    <a:pt x="20660" y="17000"/>
                  </a:cubicBezTo>
                  <a:cubicBezTo>
                    <a:pt x="19782" y="18520"/>
                    <a:pt x="18520" y="19782"/>
                    <a:pt x="17000" y="20660"/>
                  </a:cubicBezTo>
                  <a:cubicBezTo>
                    <a:pt x="15479" y="21537"/>
                    <a:pt x="13755" y="22000"/>
                    <a:pt x="12000" y="22000"/>
                  </a:cubicBezTo>
                  <a:cubicBezTo>
                    <a:pt x="10244" y="22000"/>
                    <a:pt x="8520" y="21537"/>
                    <a:pt x="7000" y="20660"/>
                  </a:cubicBezTo>
                  <a:cubicBezTo>
                    <a:pt x="5479" y="19782"/>
                    <a:pt x="4217" y="18520"/>
                    <a:pt x="3339" y="17000"/>
                  </a:cubicBezTo>
                  <a:cubicBezTo>
                    <a:pt x="2462" y="15479"/>
                    <a:pt x="2000" y="13755"/>
                    <a:pt x="2000" y="12000"/>
                  </a:cubicBezTo>
                  <a:cubicBezTo>
                    <a:pt x="1999" y="10244"/>
                    <a:pt x="2462" y="8520"/>
                    <a:pt x="3339" y="7000"/>
                  </a:cubicBezTo>
                  <a:cubicBezTo>
                    <a:pt x="4217" y="5479"/>
                    <a:pt x="5479" y="4217"/>
                    <a:pt x="6999" y="3339"/>
                  </a:cubicBezTo>
                  <a:cubicBezTo>
                    <a:pt x="8520" y="2462"/>
                    <a:pt x="10244" y="2000"/>
                    <a:pt x="11999" y="2000"/>
                  </a:cubicBezTo>
                  <a:cubicBezTo>
                    <a:pt x="13755" y="1999"/>
                    <a:pt x="15479" y="2462"/>
                    <a:pt x="17000" y="3339"/>
                  </a:cubicBezTo>
                  <a:cubicBezTo>
                    <a:pt x="18520" y="4217"/>
                    <a:pt x="19782" y="5479"/>
                    <a:pt x="20660" y="7000"/>
                  </a:cubicBezTo>
                  <a:cubicBezTo>
                    <a:pt x="21537" y="8520"/>
                    <a:pt x="22000" y="10244"/>
                    <a:pt x="22000" y="11999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2702"/>
                    <a:pt x="15815" y="13391"/>
                    <a:pt x="15464" y="14000"/>
                  </a:cubicBezTo>
                  <a:cubicBezTo>
                    <a:pt x="15113" y="14608"/>
                    <a:pt x="14608" y="15113"/>
                    <a:pt x="14000" y="15464"/>
                  </a:cubicBezTo>
                  <a:cubicBezTo>
                    <a:pt x="13391" y="15815"/>
                    <a:pt x="12702" y="16000"/>
                    <a:pt x="12000" y="16000"/>
                  </a:cubicBezTo>
                  <a:cubicBezTo>
                    <a:pt x="11297" y="16000"/>
                    <a:pt x="10608" y="15815"/>
                    <a:pt x="10000" y="15464"/>
                  </a:cubicBezTo>
                  <a:cubicBezTo>
                    <a:pt x="9391" y="15113"/>
                    <a:pt x="8886" y="14608"/>
                    <a:pt x="8535" y="14000"/>
                  </a:cubicBezTo>
                  <a:cubicBezTo>
                    <a:pt x="8184" y="13391"/>
                    <a:pt x="8000" y="12702"/>
                    <a:pt x="8000" y="12000"/>
                  </a:cubicBezTo>
                  <a:cubicBezTo>
                    <a:pt x="8000" y="11297"/>
                    <a:pt x="8184" y="10608"/>
                    <a:pt x="8535" y="10000"/>
                  </a:cubicBezTo>
                  <a:cubicBezTo>
                    <a:pt x="8886" y="9391"/>
                    <a:pt x="9391" y="8886"/>
                    <a:pt x="9999" y="8535"/>
                  </a:cubicBezTo>
                  <a:cubicBezTo>
                    <a:pt x="10608" y="8184"/>
                    <a:pt x="11297" y="8000"/>
                    <a:pt x="12000" y="8000"/>
                  </a:cubicBezTo>
                  <a:cubicBezTo>
                    <a:pt x="12702" y="8000"/>
                    <a:pt x="13391" y="8184"/>
                    <a:pt x="14000" y="8535"/>
                  </a:cubicBezTo>
                  <a:cubicBezTo>
                    <a:pt x="14608" y="8886"/>
                    <a:pt x="15113" y="9391"/>
                    <a:pt x="15464" y="10000"/>
                  </a:cubicBezTo>
                  <a:cubicBezTo>
                    <a:pt x="15815" y="10608"/>
                    <a:pt x="16000" y="11297"/>
                    <a:pt x="16000" y="11999"/>
                  </a:cubicBezTo>
                  <a:close/>
                </a:path>
              </a:pathLst>
            </a:custGeom>
            <a:noFill/>
            <a:ln w="14478" cap="rnd">
              <a:solidFill>
                <a:srgbClr val="0C1927"/>
              </a:solidFill>
              <a:round/>
            </a:ln>
          </p:spPr>
        </p:sp>
        <p:sp>
          <p:nvSpPr>
            <p:cNvPr id="166" name="Service"/>
            <p:cNvSpPr txBox="1"/>
            <p:nvPr/>
          </p:nvSpPr>
          <p:spPr>
            <a:xfrm>
              <a:off x="7358634" y="4209136"/>
              <a:ext cx="1337310" cy="2045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 go-live support</a:t>
              </a:r>
              <a:endParaRPr lang="en-US" sz="660" dirty="0">
                <a:latin typeface="Inter"/>
              </a:endParaRPr>
            </a:p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Support after go-live</a:t>
              </a:r>
              <a:endParaRPr lang="en-US" sz="660" dirty="0">
                <a:latin typeface="Inter"/>
              </a:endParaRPr>
            </a:p>
          </p:txBody>
        </p:sp>
        <p:grpSp>
          <p:nvGrpSpPr>
            <p:cNvPr id="167" name="Chip Duration TBC"/>
            <p:cNvGrpSpPr/>
            <p:nvPr/>
          </p:nvGrpSpPr>
          <p:grpSpPr>
            <a:xfrm>
              <a:off x="7358634" y="4441088"/>
              <a:ext cx="680745" cy="137160"/>
              <a:chOff x="7358634" y="4441088"/>
              <a:chExt cx="680745" cy="137160"/>
            </a:xfrm>
          </p:grpSpPr>
          <p:sp>
            <p:nvSpPr>
              <p:cNvPr id="168" name="Chip fill"/>
              <p:cNvSpPr/>
              <p:nvPr/>
            </p:nvSpPr>
            <p:spPr>
              <a:xfrm>
                <a:off x="7358634" y="4441088"/>
                <a:ext cx="68074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</p:sp>
          <p:sp>
            <p:nvSpPr>
              <p:cNvPr id="169" name="Icon circle-help"/>
              <p:cNvSpPr/>
              <p:nvPr/>
            </p:nvSpPr>
            <p:spPr>
              <a:xfrm>
                <a:off x="7399782" y="4463631"/>
                <a:ext cx="9207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3755"/>
                      <a:pt x="21537" y="15479"/>
                      <a:pt x="20660" y="17000"/>
                    </a:cubicBezTo>
                    <a:cubicBezTo>
                      <a:pt x="19782" y="18520"/>
                      <a:pt x="18520" y="19782"/>
                      <a:pt x="17000" y="20660"/>
                    </a:cubicBezTo>
                    <a:cubicBezTo>
                      <a:pt x="15479" y="21537"/>
                      <a:pt x="13755" y="22000"/>
                      <a:pt x="12000" y="22000"/>
                    </a:cubicBezTo>
                    <a:cubicBezTo>
                      <a:pt x="10244" y="22000"/>
                      <a:pt x="8520" y="21537"/>
                      <a:pt x="7000" y="20660"/>
                    </a:cubicBezTo>
                    <a:cubicBezTo>
                      <a:pt x="5479" y="19782"/>
                      <a:pt x="4217" y="18520"/>
                      <a:pt x="3339" y="17000"/>
                    </a:cubicBezTo>
                    <a:cubicBezTo>
                      <a:pt x="2462" y="15479"/>
                      <a:pt x="2000" y="13755"/>
                      <a:pt x="2000" y="12000"/>
                    </a:cubicBezTo>
                    <a:cubicBezTo>
                      <a:pt x="1999" y="10244"/>
                      <a:pt x="2462" y="8520"/>
                      <a:pt x="3339" y="7000"/>
                    </a:cubicBezTo>
                    <a:cubicBezTo>
                      <a:pt x="4217" y="5479"/>
                      <a:pt x="5479" y="4217"/>
                      <a:pt x="6999" y="3339"/>
                    </a:cubicBezTo>
                    <a:cubicBezTo>
                      <a:pt x="8520" y="2462"/>
                      <a:pt x="10244" y="2000"/>
                      <a:pt x="11999" y="2000"/>
                    </a:cubicBezTo>
                    <a:cubicBezTo>
                      <a:pt x="13755" y="1999"/>
                      <a:pt x="15479" y="2462"/>
                      <a:pt x="17000" y="3339"/>
                    </a:cubicBezTo>
                    <a:cubicBezTo>
                      <a:pt x="18520" y="4217"/>
                      <a:pt x="19782" y="5479"/>
                      <a:pt x="20660" y="7000"/>
                    </a:cubicBezTo>
                    <a:cubicBezTo>
                      <a:pt x="21537" y="8520"/>
                      <a:pt x="22000" y="10244"/>
                      <a:pt x="22000" y="11999"/>
                    </a:cubicBezTo>
                    <a:close/>
                  </a:path>
                  <a:path w="24000" h="24000" fill="none">
                    <a:moveTo>
                      <a:pt x="9090" y="9000"/>
                    </a:moveTo>
                    <a:cubicBezTo>
                      <a:pt x="9245" y="8557"/>
                      <a:pt x="9503" y="8156"/>
                      <a:pt x="9842" y="7831"/>
                    </a:cubicBezTo>
                    <a:cubicBezTo>
                      <a:pt x="10180" y="7506"/>
                      <a:pt x="10591" y="7265"/>
                      <a:pt x="11040" y="7127"/>
                    </a:cubicBezTo>
                    <a:cubicBezTo>
                      <a:pt x="11489" y="6989"/>
                      <a:pt x="11964" y="6959"/>
                      <a:pt x="12427" y="7038"/>
                    </a:cubicBezTo>
                    <a:cubicBezTo>
                      <a:pt x="12890" y="7118"/>
                      <a:pt x="13327" y="7305"/>
                      <a:pt x="13705" y="7584"/>
                    </a:cubicBezTo>
                    <a:cubicBezTo>
                      <a:pt x="14082" y="7863"/>
                      <a:pt x="14389" y="8228"/>
                      <a:pt x="14600" y="8647"/>
                    </a:cubicBezTo>
                    <a:cubicBezTo>
                      <a:pt x="14811" y="9067"/>
                      <a:pt x="14920" y="9530"/>
                      <a:pt x="14920" y="10000"/>
                    </a:cubicBezTo>
                    <a:cubicBezTo>
                      <a:pt x="14920" y="12000"/>
                      <a:pt x="11920" y="13000"/>
                      <a:pt x="11920" y="13000"/>
                    </a:cubicBez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8823" cap="rnd">
                <a:solidFill>
                  <a:srgbClr val="C65C10"/>
                </a:solidFill>
                <a:round/>
              </a:ln>
            </p:spPr>
          </p:sp>
          <p:sp>
            <p:nvSpPr>
              <p:cNvPr id="170" name="Chip label"/>
              <p:cNvSpPr txBox="1"/>
              <p:nvPr/>
            </p:nvSpPr>
            <p:spPr>
              <a:xfrm>
                <a:off x="7523861" y="4441088"/>
                <a:ext cx="49265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Duration TBC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71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72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73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PROJECTS  ·  PLAN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Implementation Milestones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The sequence each project follows from kick-off to go-live; the week-by-week plan follows on the next slide.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" name="Project 01 track"/>
          <p:cNvGrpSpPr/>
          <p:nvPr/>
        </p:nvGrpSpPr>
        <p:grpSpPr>
          <a:xfrm>
            <a:off x="274320" y="1060704"/>
            <a:ext cx="8595360" cy="1792224"/>
            <a:chOff x="274320" y="1060704"/>
            <a:chExt cx="8595360" cy="1792224"/>
          </a:xfrm>
        </p:grpSpPr>
        <p:sp>
          <p:nvSpPr>
            <p:cNvPr id="20" name="Track"/>
            <p:cNvSpPr/>
            <p:nvPr/>
          </p:nvSpPr>
          <p:spPr>
            <a:xfrm>
              <a:off x="274320" y="1060704"/>
              <a:ext cx="8595360" cy="1792224"/>
            </a:xfrm>
            <a:prstGeom prst="roundRect">
              <a:avLst>
                <a:gd name="adj" fmla="val 3571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21" name="Identity"/>
            <p:cNvSpPr/>
            <p:nvPr/>
          </p:nvSpPr>
          <p:spPr>
            <a:xfrm>
              <a:off x="274320" y="1060704"/>
              <a:ext cx="1481328" cy="1792224"/>
            </a:xfrm>
            <a:prstGeom prst="roundRect">
              <a:avLst>
                <a:gd name="adj" fmla="val 4320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2" name="Identity edge"/>
            <p:cNvSpPr/>
            <p:nvPr/>
          </p:nvSpPr>
          <p:spPr>
            <a:xfrm>
              <a:off x="1645920" y="1060704"/>
              <a:ext cx="109728" cy="1792224"/>
            </a:xfrm>
            <a:prstGeom prst="rect">
              <a:avLst/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3" name="Project number"/>
            <p:cNvSpPr txBox="1"/>
            <p:nvPr/>
          </p:nvSpPr>
          <p:spPr>
            <a:xfrm>
              <a:off x="402336" y="1188720"/>
              <a:ext cx="9144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buNone/>
              </a:pPr>
              <a:r>
                <a:rPr lang="en-US" sz="2200" b="0" i="0" spc="0" dirty="0">
                  <a:solidFill>
                    <a:srgbClr val="B8D0FD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2200" dirty="0">
                <a:latin typeface="TASA Orbiter SemiBold"/>
              </a:endParaRPr>
            </a:p>
          </p:txBody>
        </p:sp>
        <p:sp>
          <p:nvSpPr>
            <p:cNvPr id="24" name="Project name"/>
            <p:cNvSpPr txBox="1"/>
            <p:nvPr/>
          </p:nvSpPr>
          <p:spPr>
            <a:xfrm>
              <a:off x="402336" y="1627632"/>
              <a:ext cx="1243584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2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UT Stations</a:t>
              </a:r>
              <a:endParaRPr lang="en-US" sz="1250" dirty="0">
                <a:latin typeface="TASA Orbiter SemiBold"/>
              </a:endParaRPr>
            </a:p>
          </p:txBody>
        </p:sp>
        <p:sp>
          <p:nvSpPr>
            <p:cNvPr id="25" name="Applications"/>
            <p:cNvSpPr txBox="1"/>
            <p:nvPr/>
          </p:nvSpPr>
          <p:spPr>
            <a:xfrm>
              <a:off x="402336" y="1865376"/>
              <a:ext cx="12618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3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DCE8FE"/>
                  </a:solidFill>
                  <a:latin typeface="Inter"/>
                  <a:ea typeface="Inter"/>
                  <a:cs typeface="Inter"/>
                  <a:sym typeface="Inter"/>
                </a:rPr>
                <a:t>SAP Entry Application</a:t>
              </a:r>
              <a:endParaRPr lang="en-US" sz="680" dirty="0">
                <a:latin typeface="Inter"/>
              </a:endParaRPr>
            </a:p>
          </p:txBody>
        </p:sp>
        <p:sp>
          <p:nvSpPr>
            <p:cNvPr id="26" name="Icon scan-line"/>
            <p:cNvSpPr/>
            <p:nvPr/>
          </p:nvSpPr>
          <p:spPr>
            <a:xfrm>
              <a:off x="1389888" y="1225296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7000"/>
                  </a:moveTo>
                  <a:lnTo>
                    <a:pt x="3000" y="5000"/>
                  </a:lnTo>
                  <a:cubicBezTo>
                    <a:pt x="3000" y="4648"/>
                    <a:pt x="3092" y="4304"/>
                    <a:pt x="3267" y="4000"/>
                  </a:cubicBezTo>
                  <a:cubicBezTo>
                    <a:pt x="3443" y="3695"/>
                    <a:pt x="3695" y="3443"/>
                    <a:pt x="3999" y="3267"/>
                  </a:cubicBezTo>
                  <a:cubicBezTo>
                    <a:pt x="4304" y="3092"/>
                    <a:pt x="4648" y="3000"/>
                    <a:pt x="5000" y="3000"/>
                  </a:cubicBezTo>
                  <a:lnTo>
                    <a:pt x="7000" y="3000"/>
                  </a:lnTo>
                </a:path>
                <a:path w="24000" h="24000" fill="none">
                  <a:moveTo>
                    <a:pt x="17000" y="3000"/>
                  </a:moveTo>
                  <a:lnTo>
                    <a:pt x="19000" y="3000"/>
                  </a:lnTo>
                  <a:cubicBezTo>
                    <a:pt x="19351" y="3000"/>
                    <a:pt x="19695" y="3092"/>
                    <a:pt x="20000" y="3267"/>
                  </a:cubicBezTo>
                  <a:cubicBezTo>
                    <a:pt x="20304" y="3443"/>
                    <a:pt x="20556" y="3695"/>
                    <a:pt x="20732" y="4000"/>
                  </a:cubicBezTo>
                  <a:cubicBezTo>
                    <a:pt x="20907" y="4304"/>
                    <a:pt x="21000" y="4648"/>
                    <a:pt x="21000" y="5000"/>
                  </a:cubicBezTo>
                  <a:lnTo>
                    <a:pt x="21000" y="7000"/>
                  </a:lnTo>
                </a:path>
                <a:path w="24000" h="24000" fill="none">
                  <a:moveTo>
                    <a:pt x="21000" y="17000"/>
                  </a:moveTo>
                  <a:lnTo>
                    <a:pt x="21000" y="19000"/>
                  </a:lnTo>
                  <a:cubicBezTo>
                    <a:pt x="21000" y="19351"/>
                    <a:pt x="20907" y="19695"/>
                    <a:pt x="20732" y="20000"/>
                  </a:cubicBezTo>
                  <a:cubicBezTo>
                    <a:pt x="20556" y="20304"/>
                    <a:pt x="20304" y="20556"/>
                    <a:pt x="20000" y="20732"/>
                  </a:cubicBezTo>
                  <a:cubicBezTo>
                    <a:pt x="19695" y="20907"/>
                    <a:pt x="19351" y="21000"/>
                    <a:pt x="19000" y="21000"/>
                  </a:cubicBezTo>
                  <a:lnTo>
                    <a:pt x="17000" y="21000"/>
                  </a:lnTo>
                </a:path>
                <a:path w="24000" h="24000" fill="none">
                  <a:moveTo>
                    <a:pt x="7000" y="21000"/>
                  </a:moveTo>
                  <a:lnTo>
                    <a:pt x="5000" y="21000"/>
                  </a:lnTo>
                  <a:cubicBezTo>
                    <a:pt x="4648" y="21000"/>
                    <a:pt x="4304" y="20907"/>
                    <a:pt x="4000" y="20732"/>
                  </a:cubicBezTo>
                  <a:cubicBezTo>
                    <a:pt x="3695" y="20556"/>
                    <a:pt x="3443" y="20304"/>
                    <a:pt x="3267" y="20000"/>
                  </a:cubicBezTo>
                  <a:cubicBezTo>
                    <a:pt x="3092" y="19695"/>
                    <a:pt x="3000" y="19351"/>
                    <a:pt x="3000" y="19000"/>
                  </a:cubicBezTo>
                  <a:lnTo>
                    <a:pt x="3000" y="17000"/>
                  </a:lnTo>
                </a:path>
                <a:path w="24000" h="24000" fill="none">
                  <a:moveTo>
                    <a:pt x="7000" y="12000"/>
                  </a:moveTo>
                  <a:lnTo>
                    <a:pt x="17000" y="12000"/>
                  </a:lnTo>
                </a:path>
              </a:pathLst>
            </a:custGeom>
            <a:noFill/>
            <a:ln w="17830" cap="rnd">
              <a:solidFill>
                <a:srgbClr val="FFFFFF"/>
              </a:solidFill>
              <a:round/>
            </a:ln>
          </p:spPr>
        </p:sp>
        <p:cxnSp>
          <p:nvCxnSpPr>
            <p:cNvPr id="27" name="Timeline"/>
            <p:cNvCxnSpPr/>
            <p:nvPr/>
          </p:nvCxnSpPr>
          <p:spPr>
            <a:xfrm>
              <a:off x="2620670" y="1517904"/>
              <a:ext cx="5457139" cy="0"/>
            </a:xfrm>
            <a:prstGeom prst="straightConnector1">
              <a:avLst/>
            </a:prstGeom>
            <a:noFill/>
            <a:ln w="25400">
              <a:solidFill>
                <a:srgbClr val="165FF2"/>
              </a:solidFill>
              <a:round/>
            </a:ln>
          </p:spPr>
        </p:cxnSp>
        <p:grpSp>
          <p:nvGrpSpPr>
            <p:cNvPr id="28" name="M1 · Kick-off &amp; requirement sign-off"/>
            <p:cNvGrpSpPr/>
            <p:nvPr/>
          </p:nvGrpSpPr>
          <p:grpSpPr>
            <a:xfrm>
              <a:off x="2011680" y="1335024"/>
              <a:ext cx="1217981" cy="1444752"/>
              <a:chOff x="2011680" y="1335024"/>
              <a:chExt cx="1217981" cy="1444752"/>
            </a:xfrm>
          </p:grpSpPr>
          <p:sp>
            <p:nvSpPr>
              <p:cNvPr id="29" name="Milestone node"/>
              <p:cNvSpPr/>
              <p:nvPr/>
            </p:nvSpPr>
            <p:spPr>
              <a:xfrm>
                <a:off x="2437790" y="1335024"/>
                <a:ext cx="365760" cy="365760"/>
              </a:xfrm>
              <a:prstGeom prst="ellipse">
                <a:avLst/>
              </a:prstGeom>
              <a:solidFill>
                <a:srgbClr val="165FF2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30" name="Icon flag"/>
              <p:cNvSpPr/>
              <p:nvPr/>
            </p:nvSpPr>
            <p:spPr>
              <a:xfrm>
                <a:off x="2529230" y="1426464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4000" y="22000"/>
                    </a:moveTo>
                    <a:lnTo>
                      <a:pt x="4000" y="4000"/>
                    </a:lnTo>
                    <a:cubicBezTo>
                      <a:pt x="4000" y="3844"/>
                      <a:pt x="4036" y="3691"/>
                      <a:pt x="4105" y="3552"/>
                    </a:cubicBezTo>
                    <a:cubicBezTo>
                      <a:pt x="4174" y="3413"/>
                      <a:pt x="4275" y="3293"/>
                      <a:pt x="4400" y="3200"/>
                    </a:cubicBezTo>
                    <a:cubicBezTo>
                      <a:pt x="4915" y="2813"/>
                      <a:pt x="5490" y="2511"/>
                      <a:pt x="6102" y="2307"/>
                    </a:cubicBezTo>
                    <a:cubicBezTo>
                      <a:pt x="6714" y="2103"/>
                      <a:pt x="7355" y="2000"/>
                      <a:pt x="8000" y="2000"/>
                    </a:cubicBezTo>
                    <a:cubicBezTo>
                      <a:pt x="11000" y="2000"/>
                      <a:pt x="13000" y="4000"/>
                      <a:pt x="15333" y="4000"/>
                    </a:cubicBezTo>
                    <a:cubicBezTo>
                      <a:pt x="16666" y="4000"/>
                      <a:pt x="17688" y="3733"/>
                      <a:pt x="18400" y="3200"/>
                    </a:cubicBezTo>
                    <a:cubicBezTo>
                      <a:pt x="18518" y="3111"/>
                      <a:pt x="18655" y="3049"/>
                      <a:pt x="18800" y="3020"/>
                    </a:cubicBezTo>
                    <a:cubicBezTo>
                      <a:pt x="18945" y="2990"/>
                      <a:pt x="19095" y="2993"/>
                      <a:pt x="19239" y="3029"/>
                    </a:cubicBezTo>
                    <a:cubicBezTo>
                      <a:pt x="19383" y="3064"/>
                      <a:pt x="19517" y="3131"/>
                      <a:pt x="19632" y="3225"/>
                    </a:cubicBezTo>
                    <a:cubicBezTo>
                      <a:pt x="19747" y="3319"/>
                      <a:pt x="19840" y="3437"/>
                      <a:pt x="19903" y="3571"/>
                    </a:cubicBezTo>
                    <a:cubicBezTo>
                      <a:pt x="19967" y="3705"/>
                      <a:pt x="20000" y="3851"/>
                      <a:pt x="20000" y="4000"/>
                    </a:cubicBezTo>
                    <a:lnTo>
                      <a:pt x="20000" y="14000"/>
                    </a:lnTo>
                    <a:cubicBezTo>
                      <a:pt x="20000" y="14155"/>
                      <a:pt x="19963" y="14308"/>
                      <a:pt x="19894" y="14447"/>
                    </a:cubicBezTo>
                    <a:cubicBezTo>
                      <a:pt x="19825" y="14586"/>
                      <a:pt x="19724" y="14706"/>
                      <a:pt x="19600" y="14800"/>
                    </a:cubicBezTo>
                    <a:cubicBezTo>
                      <a:pt x="19084" y="15186"/>
                      <a:pt x="18509" y="15488"/>
                      <a:pt x="17897" y="15692"/>
                    </a:cubicBezTo>
                    <a:cubicBezTo>
                      <a:pt x="17285" y="15896"/>
                      <a:pt x="16644" y="16000"/>
                      <a:pt x="16000" y="16000"/>
                    </a:cubicBezTo>
                    <a:cubicBezTo>
                      <a:pt x="13000" y="16000"/>
                      <a:pt x="11000" y="14000"/>
                      <a:pt x="8000" y="14000"/>
                    </a:cubicBezTo>
                    <a:cubicBezTo>
                      <a:pt x="7268" y="14000"/>
                      <a:pt x="6542" y="14133"/>
                      <a:pt x="5859" y="14395"/>
                    </a:cubicBezTo>
                    <a:cubicBezTo>
                      <a:pt x="5175" y="14656"/>
                      <a:pt x="4545" y="15040"/>
                      <a:pt x="4000" y="15528"/>
                    </a:cubicBez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31" name="Milestone label"/>
              <p:cNvSpPr txBox="1"/>
              <p:nvPr/>
            </p:nvSpPr>
            <p:spPr>
              <a:xfrm>
                <a:off x="2011680" y="1792224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165FF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1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32" name="Milestone title"/>
              <p:cNvSpPr txBox="1"/>
              <p:nvPr/>
            </p:nvSpPr>
            <p:spPr>
              <a:xfrm>
                <a:off x="2011680" y="1947672"/>
                <a:ext cx="1217981" cy="233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Kick-off &amp; requirement sign-off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33" name="Milestone description"/>
              <p:cNvSpPr txBox="1"/>
              <p:nvPr/>
            </p:nvSpPr>
            <p:spPr>
              <a:xfrm>
                <a:off x="2011680" y="2227072"/>
                <a:ext cx="1217981" cy="552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Scope, SAP data points and business rules signed off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34" name="M2 · Development"/>
            <p:cNvGrpSpPr/>
            <p:nvPr/>
          </p:nvGrpSpPr>
          <p:grpSpPr>
            <a:xfrm>
              <a:off x="3375965" y="1335024"/>
              <a:ext cx="1217981" cy="1444752"/>
              <a:chOff x="3375965" y="1335024"/>
              <a:chExt cx="1217981" cy="1444752"/>
            </a:xfrm>
          </p:grpSpPr>
          <p:sp>
            <p:nvSpPr>
              <p:cNvPr id="35" name="Milestone node"/>
              <p:cNvSpPr/>
              <p:nvPr/>
            </p:nvSpPr>
            <p:spPr>
              <a:xfrm>
                <a:off x="3802075" y="1335024"/>
                <a:ext cx="365760" cy="365760"/>
              </a:xfrm>
              <a:prstGeom prst="ellipse">
                <a:avLst/>
              </a:prstGeom>
              <a:solidFill>
                <a:srgbClr val="165FF2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36" name="Icon code-xml"/>
              <p:cNvSpPr/>
              <p:nvPr/>
            </p:nvSpPr>
            <p:spPr>
              <a:xfrm>
                <a:off x="3893515" y="1426464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8000" y="16000"/>
                    </a:moveTo>
                    <a:lnTo>
                      <a:pt x="22000" y="12000"/>
                    </a:lnTo>
                    <a:lnTo>
                      <a:pt x="18000" y="8000"/>
                    </a:lnTo>
                  </a:path>
                  <a:path w="24000" h="24000" fill="none">
                    <a:moveTo>
                      <a:pt x="6000" y="8000"/>
                    </a:moveTo>
                    <a:lnTo>
                      <a:pt x="2000" y="12000"/>
                    </a:lnTo>
                    <a:lnTo>
                      <a:pt x="6000" y="16000"/>
                    </a:lnTo>
                  </a:path>
                  <a:path w="24000" h="24000" fill="none">
                    <a:moveTo>
                      <a:pt x="14500" y="4000"/>
                    </a:moveTo>
                    <a:lnTo>
                      <a:pt x="9500" y="20000"/>
                    </a:ln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37" name="Milestone label"/>
              <p:cNvSpPr txBox="1"/>
              <p:nvPr/>
            </p:nvSpPr>
            <p:spPr>
              <a:xfrm>
                <a:off x="3375965" y="1792224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165FF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2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38" name="Milestone title"/>
              <p:cNvSpPr txBox="1"/>
              <p:nvPr/>
            </p:nvSpPr>
            <p:spPr>
              <a:xfrm>
                <a:off x="3375965" y="1947672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Development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39" name="Milestone description"/>
              <p:cNvSpPr txBox="1"/>
              <p:nvPr/>
            </p:nvSpPr>
            <p:spPr>
              <a:xfrm>
                <a:off x="3375965" y="2110232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PO configuration, report parser, result logic, upload and alerts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40" name="M3 · Integration"/>
            <p:cNvGrpSpPr/>
            <p:nvPr/>
          </p:nvGrpSpPr>
          <p:grpSpPr>
            <a:xfrm>
              <a:off x="4740250" y="1335024"/>
              <a:ext cx="1217981" cy="1444752"/>
              <a:chOff x="4740250" y="1335024"/>
              <a:chExt cx="1217981" cy="1444752"/>
            </a:xfrm>
          </p:grpSpPr>
          <p:sp>
            <p:nvSpPr>
              <p:cNvPr id="41" name="Milestone node"/>
              <p:cNvSpPr/>
              <p:nvPr/>
            </p:nvSpPr>
            <p:spPr>
              <a:xfrm>
                <a:off x="5166360" y="1335024"/>
                <a:ext cx="365760" cy="365760"/>
              </a:xfrm>
              <a:prstGeom prst="ellipse">
                <a:avLst/>
              </a:prstGeom>
              <a:solidFill>
                <a:srgbClr val="165FF2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42" name="Icon plug-zap"/>
              <p:cNvSpPr/>
              <p:nvPr/>
            </p:nvSpPr>
            <p:spPr>
              <a:xfrm>
                <a:off x="5257800" y="1426464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300" y="20300"/>
                    </a:moveTo>
                    <a:cubicBezTo>
                      <a:pt x="6522" y="20523"/>
                      <a:pt x="6787" y="20701"/>
                      <a:pt x="7079" y="20822"/>
                    </a:cubicBezTo>
                    <a:cubicBezTo>
                      <a:pt x="7371" y="20943"/>
                      <a:pt x="7684" y="21005"/>
                      <a:pt x="8000" y="21005"/>
                    </a:cubicBezTo>
                    <a:cubicBezTo>
                      <a:pt x="8315" y="21005"/>
                      <a:pt x="8628" y="20943"/>
                      <a:pt x="8920" y="20822"/>
                    </a:cubicBezTo>
                    <a:cubicBezTo>
                      <a:pt x="9212" y="20701"/>
                      <a:pt x="9477" y="20523"/>
                      <a:pt x="9700" y="20300"/>
                    </a:cubicBezTo>
                    <a:lnTo>
                      <a:pt x="12000" y="18000"/>
                    </a:lnTo>
                    <a:lnTo>
                      <a:pt x="6000" y="12000"/>
                    </a:lnTo>
                    <a:lnTo>
                      <a:pt x="3700" y="14300"/>
                    </a:lnTo>
                    <a:cubicBezTo>
                      <a:pt x="3476" y="14522"/>
                      <a:pt x="3298" y="14787"/>
                      <a:pt x="3177" y="15079"/>
                    </a:cubicBezTo>
                    <a:cubicBezTo>
                      <a:pt x="3056" y="15371"/>
                      <a:pt x="2994" y="15684"/>
                      <a:pt x="2994" y="15999"/>
                    </a:cubicBezTo>
                    <a:cubicBezTo>
                      <a:pt x="2994" y="16315"/>
                      <a:pt x="3056" y="16628"/>
                      <a:pt x="3177" y="16920"/>
                    </a:cubicBezTo>
                    <a:cubicBezTo>
                      <a:pt x="3298" y="17212"/>
                      <a:pt x="3476" y="17477"/>
                      <a:pt x="3700" y="17700"/>
                    </a:cubicBezTo>
                    <a:close/>
                  </a:path>
                  <a:path w="24000" h="24000" fill="none">
                    <a:moveTo>
                      <a:pt x="2000" y="22000"/>
                    </a:moveTo>
                    <a:lnTo>
                      <a:pt x="5000" y="19000"/>
                    </a:lnTo>
                  </a:path>
                  <a:path w="24000" h="24000" fill="none">
                    <a:moveTo>
                      <a:pt x="7500" y="13500"/>
                    </a:moveTo>
                    <a:lnTo>
                      <a:pt x="10000" y="11000"/>
                    </a:lnTo>
                  </a:path>
                  <a:path w="24000" h="24000" fill="none">
                    <a:moveTo>
                      <a:pt x="10500" y="16500"/>
                    </a:moveTo>
                    <a:lnTo>
                      <a:pt x="13000" y="14000"/>
                    </a:lnTo>
                  </a:path>
                  <a:path w="24000" h="24000" fill="none">
                    <a:moveTo>
                      <a:pt x="18000" y="3000"/>
                    </a:moveTo>
                    <a:lnTo>
                      <a:pt x="14000" y="7000"/>
                    </a:lnTo>
                    <a:lnTo>
                      <a:pt x="20000" y="7000"/>
                    </a:lnTo>
                    <a:lnTo>
                      <a:pt x="16000" y="11000"/>
                    </a:ln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43" name="Milestone label"/>
              <p:cNvSpPr txBox="1"/>
              <p:nvPr/>
            </p:nvSpPr>
            <p:spPr>
              <a:xfrm>
                <a:off x="4740250" y="1792224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165FF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3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44" name="Milestone title"/>
              <p:cNvSpPr txBox="1"/>
              <p:nvPr/>
            </p:nvSpPr>
            <p:spPr>
              <a:xfrm>
                <a:off x="4740250" y="1947672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Integration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45" name="Milestone description"/>
              <p:cNvSpPr txBox="1"/>
              <p:nvPr/>
            </p:nvSpPr>
            <p:spPr>
              <a:xfrm>
                <a:off x="4740250" y="2110232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SAP read and post endpoints, FTP upload, deployment on the central server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46" name="M4 · UAT"/>
            <p:cNvGrpSpPr/>
            <p:nvPr/>
          </p:nvGrpSpPr>
          <p:grpSpPr>
            <a:xfrm>
              <a:off x="6104534" y="1335024"/>
              <a:ext cx="1217981" cy="1444752"/>
              <a:chOff x="6104534" y="1335024"/>
              <a:chExt cx="1217981" cy="1444752"/>
            </a:xfrm>
          </p:grpSpPr>
          <p:sp>
            <p:nvSpPr>
              <p:cNvPr id="47" name="Milestone node"/>
              <p:cNvSpPr/>
              <p:nvPr/>
            </p:nvSpPr>
            <p:spPr>
              <a:xfrm>
                <a:off x="6530645" y="1335024"/>
                <a:ext cx="365760" cy="365760"/>
              </a:xfrm>
              <a:prstGeom prst="ellipse">
                <a:avLst/>
              </a:prstGeom>
              <a:solidFill>
                <a:srgbClr val="165FF2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48" name="Icon clipboard-check"/>
              <p:cNvSpPr/>
              <p:nvPr/>
            </p:nvSpPr>
            <p:spPr>
              <a:xfrm>
                <a:off x="6622085" y="1426464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2000"/>
                    </a:moveTo>
                    <a:lnTo>
                      <a:pt x="15000" y="2000"/>
                    </a:lnTo>
                    <a:cubicBezTo>
                      <a:pt x="15175" y="2000"/>
                      <a:pt x="15347" y="2046"/>
                      <a:pt x="15500" y="2133"/>
                    </a:cubicBezTo>
                    <a:cubicBezTo>
                      <a:pt x="15652" y="2221"/>
                      <a:pt x="15778" y="2347"/>
                      <a:pt x="15866" y="2500"/>
                    </a:cubicBezTo>
                    <a:cubicBezTo>
                      <a:pt x="15953" y="2652"/>
                      <a:pt x="16000" y="2824"/>
                      <a:pt x="16000" y="3000"/>
                    </a:cubicBezTo>
                    <a:lnTo>
                      <a:pt x="16000" y="5000"/>
                    </a:lnTo>
                    <a:cubicBezTo>
                      <a:pt x="16000" y="5175"/>
                      <a:pt x="15953" y="5347"/>
                      <a:pt x="15866" y="5500"/>
                    </a:cubicBezTo>
                    <a:cubicBezTo>
                      <a:pt x="15778" y="5652"/>
                      <a:pt x="15652" y="5778"/>
                      <a:pt x="15500" y="5866"/>
                    </a:cubicBezTo>
                    <a:cubicBezTo>
                      <a:pt x="15347" y="5953"/>
                      <a:pt x="15175" y="6000"/>
                      <a:pt x="15000" y="6000"/>
                    </a:cubicBezTo>
                    <a:lnTo>
                      <a:pt x="9000" y="6000"/>
                    </a:lnTo>
                    <a:cubicBezTo>
                      <a:pt x="8824" y="6000"/>
                      <a:pt x="8652" y="5953"/>
                      <a:pt x="8500" y="5866"/>
                    </a:cubicBezTo>
                    <a:cubicBezTo>
                      <a:pt x="8347" y="5778"/>
                      <a:pt x="8221" y="5652"/>
                      <a:pt x="8133" y="5500"/>
                    </a:cubicBezTo>
                    <a:cubicBezTo>
                      <a:pt x="8046" y="5347"/>
                      <a:pt x="8000" y="5175"/>
                      <a:pt x="8000" y="5000"/>
                    </a:cubicBezTo>
                    <a:lnTo>
                      <a:pt x="8000" y="3000"/>
                    </a:lnTo>
                    <a:cubicBezTo>
                      <a:pt x="8000" y="2824"/>
                      <a:pt x="8046" y="2652"/>
                      <a:pt x="8133" y="2500"/>
                    </a:cubicBezTo>
                    <a:cubicBezTo>
                      <a:pt x="8221" y="2347"/>
                      <a:pt x="8347" y="2221"/>
                      <a:pt x="8500" y="2133"/>
                    </a:cubicBezTo>
                    <a:cubicBezTo>
                      <a:pt x="8652" y="2046"/>
                      <a:pt x="8824" y="2000"/>
                      <a:pt x="9000" y="2000"/>
                    </a:cubicBezTo>
                    <a:close/>
                  </a:path>
                  <a:path w="24000" h="24000" fill="none">
                    <a:moveTo>
                      <a:pt x="16000" y="4000"/>
                    </a:moveTo>
                    <a:lnTo>
                      <a:pt x="18000" y="4000"/>
                    </a:lnTo>
                    <a:cubicBezTo>
                      <a:pt x="18351" y="4000"/>
                      <a:pt x="18695" y="4092"/>
                      <a:pt x="19000" y="4267"/>
                    </a:cubicBezTo>
                    <a:cubicBezTo>
                      <a:pt x="19304" y="4443"/>
                      <a:pt x="19556" y="4695"/>
                      <a:pt x="19732" y="5000"/>
                    </a:cubicBezTo>
                    <a:cubicBezTo>
                      <a:pt x="19907" y="5304"/>
                      <a:pt x="20000" y="5648"/>
                      <a:pt x="20000" y="6000"/>
                    </a:cubicBezTo>
                    <a:lnTo>
                      <a:pt x="20000" y="20000"/>
                    </a:lnTo>
                    <a:cubicBezTo>
                      <a:pt x="20000" y="20351"/>
                      <a:pt x="19907" y="20695"/>
                      <a:pt x="19732" y="21000"/>
                    </a:cubicBezTo>
                    <a:cubicBezTo>
                      <a:pt x="19556" y="21304"/>
                      <a:pt x="19304" y="21556"/>
                      <a:pt x="19000" y="21732"/>
                    </a:cubicBezTo>
                    <a:cubicBezTo>
                      <a:pt x="18695" y="21907"/>
                      <a:pt x="18351" y="22000"/>
                      <a:pt x="18000" y="22000"/>
                    </a:cubicBezTo>
                    <a:lnTo>
                      <a:pt x="6000" y="22000"/>
                    </a:lnTo>
                    <a:cubicBezTo>
                      <a:pt x="5648" y="22000"/>
                      <a:pt x="5304" y="21907"/>
                      <a:pt x="5000" y="21732"/>
                    </a:cubicBezTo>
                    <a:cubicBezTo>
                      <a:pt x="4695" y="21556"/>
                      <a:pt x="4443" y="21304"/>
                      <a:pt x="4267" y="21000"/>
                    </a:cubicBezTo>
                    <a:cubicBezTo>
                      <a:pt x="4092" y="20695"/>
                      <a:pt x="4000" y="20351"/>
                      <a:pt x="4000" y="20000"/>
                    </a:cubicBezTo>
                    <a:lnTo>
                      <a:pt x="4000" y="6000"/>
                    </a:lnTo>
                    <a:cubicBezTo>
                      <a:pt x="4000" y="5648"/>
                      <a:pt x="4092" y="5304"/>
                      <a:pt x="4267" y="5000"/>
                    </a:cubicBezTo>
                    <a:cubicBezTo>
                      <a:pt x="4443" y="4695"/>
                      <a:pt x="4695" y="4443"/>
                      <a:pt x="4999" y="4267"/>
                    </a:cubicBezTo>
                    <a:cubicBezTo>
                      <a:pt x="5304" y="4092"/>
                      <a:pt x="5648" y="4000"/>
                      <a:pt x="6000" y="4000"/>
                    </a:cubicBezTo>
                    <a:lnTo>
                      <a:pt x="8000" y="4000"/>
                    </a:lnTo>
                  </a:path>
                  <a:path w="24000" h="24000" fill="none">
                    <a:moveTo>
                      <a:pt x="9000" y="14000"/>
                    </a:moveTo>
                    <a:lnTo>
                      <a:pt x="11000" y="16000"/>
                    </a:lnTo>
                    <a:lnTo>
                      <a:pt x="15000" y="12000"/>
                    </a:ln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49" name="Milestone label"/>
              <p:cNvSpPr txBox="1"/>
              <p:nvPr/>
            </p:nvSpPr>
            <p:spPr>
              <a:xfrm>
                <a:off x="6104534" y="1792224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165FF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4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50" name="Milestone title"/>
              <p:cNvSpPr txBox="1"/>
              <p:nvPr/>
            </p:nvSpPr>
            <p:spPr>
              <a:xfrm>
                <a:off x="6104534" y="1947672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UAT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51" name="Milestone description"/>
              <p:cNvSpPr txBox="1"/>
              <p:nvPr/>
            </p:nvSpPr>
            <p:spPr>
              <a:xfrm>
                <a:off x="6104534" y="2110232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End-to-end testing with operators at the IUT and FUT stations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52" name="M5 · Go-live &amp; handover"/>
            <p:cNvGrpSpPr/>
            <p:nvPr/>
          </p:nvGrpSpPr>
          <p:grpSpPr>
            <a:xfrm>
              <a:off x="7468819" y="1335024"/>
              <a:ext cx="1217981" cy="1444752"/>
              <a:chOff x="7468819" y="1335024"/>
              <a:chExt cx="1217981" cy="1444752"/>
            </a:xfrm>
          </p:grpSpPr>
          <p:sp>
            <p:nvSpPr>
              <p:cNvPr id="53" name="Milestone node"/>
              <p:cNvSpPr/>
              <p:nvPr/>
            </p:nvSpPr>
            <p:spPr>
              <a:xfrm>
                <a:off x="7894930" y="1335024"/>
                <a:ext cx="365760" cy="365760"/>
              </a:xfrm>
              <a:prstGeom prst="ellipse">
                <a:avLst/>
              </a:prstGeom>
              <a:solidFill>
                <a:srgbClr val="165FF2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54" name="Icon rocket"/>
              <p:cNvSpPr/>
              <p:nvPr/>
            </p:nvSpPr>
            <p:spPr>
              <a:xfrm>
                <a:off x="7986370" y="1426464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15000"/>
                    </a:moveTo>
                    <a:lnTo>
                      <a:pt x="12000" y="20000"/>
                    </a:lnTo>
                    <a:cubicBezTo>
                      <a:pt x="12000" y="20000"/>
                      <a:pt x="15030" y="19450"/>
                      <a:pt x="16000" y="18000"/>
                    </a:cubicBezTo>
                    <a:cubicBezTo>
                      <a:pt x="17080" y="16379"/>
                      <a:pt x="16000" y="13000"/>
                      <a:pt x="16000" y="13000"/>
                    </a:cubicBezTo>
                  </a:path>
                  <a:path w="24000" h="24000" fill="none">
                    <a:moveTo>
                      <a:pt x="4500" y="16500"/>
                    </a:moveTo>
                    <a:cubicBezTo>
                      <a:pt x="3000" y="17760"/>
                      <a:pt x="2500" y="21500"/>
                      <a:pt x="2500" y="21500"/>
                    </a:cubicBezTo>
                    <a:cubicBezTo>
                      <a:pt x="2500" y="21500"/>
                      <a:pt x="6240" y="21000"/>
                      <a:pt x="7500" y="19500"/>
                    </a:cubicBezTo>
                    <a:cubicBezTo>
                      <a:pt x="8210" y="18660"/>
                      <a:pt x="8200" y="17370"/>
                      <a:pt x="7410" y="16590"/>
                    </a:cubicBezTo>
                    <a:cubicBezTo>
                      <a:pt x="7152" y="16344"/>
                      <a:pt x="6838" y="16165"/>
                      <a:pt x="6496" y="16068"/>
                    </a:cubicBezTo>
                    <a:cubicBezTo>
                      <a:pt x="6153" y="15972"/>
                      <a:pt x="5792" y="15960"/>
                      <a:pt x="5444" y="16036"/>
                    </a:cubicBezTo>
                    <a:cubicBezTo>
                      <a:pt x="5096" y="16111"/>
                      <a:pt x="4772" y="16270"/>
                      <a:pt x="4500" y="16500"/>
                    </a:cubicBezTo>
                  </a:path>
                  <a:path w="24000" h="24000" fill="none">
                    <a:moveTo>
                      <a:pt x="9000" y="12000"/>
                    </a:moveTo>
                    <a:cubicBezTo>
                      <a:pt x="9532" y="10619"/>
                      <a:pt x="10202" y="9296"/>
                      <a:pt x="11000" y="8050"/>
                    </a:cubicBezTo>
                    <a:cubicBezTo>
                      <a:pt x="12165" y="6187"/>
                      <a:pt x="13787" y="4652"/>
                      <a:pt x="15713" y="3594"/>
                    </a:cubicBezTo>
                    <a:cubicBezTo>
                      <a:pt x="17638" y="2535"/>
                      <a:pt x="19802" y="1986"/>
                      <a:pt x="22000" y="2000"/>
                    </a:cubicBezTo>
                    <a:cubicBezTo>
                      <a:pt x="22000" y="4720"/>
                      <a:pt x="21220" y="9500"/>
                      <a:pt x="16000" y="13000"/>
                    </a:cubicBezTo>
                    <a:cubicBezTo>
                      <a:pt x="14736" y="13798"/>
                      <a:pt x="13396" y="14468"/>
                      <a:pt x="12000" y="15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4000" y="12000"/>
                    </a:lnTo>
                    <a:cubicBezTo>
                      <a:pt x="4000" y="12000"/>
                      <a:pt x="4550" y="8970"/>
                      <a:pt x="6000" y="8000"/>
                    </a:cubicBezTo>
                    <a:cubicBezTo>
                      <a:pt x="7620" y="6920"/>
                      <a:pt x="11000" y="8050"/>
                      <a:pt x="11000" y="8050"/>
                    </a:cubicBez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55" name="Milestone label"/>
              <p:cNvSpPr txBox="1"/>
              <p:nvPr/>
            </p:nvSpPr>
            <p:spPr>
              <a:xfrm>
                <a:off x="7468819" y="1792224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165FF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5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56" name="Milestone title"/>
              <p:cNvSpPr txBox="1"/>
              <p:nvPr/>
            </p:nvSpPr>
            <p:spPr>
              <a:xfrm>
                <a:off x="7468819" y="1947672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Go-live &amp; handover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57" name="Milestone description"/>
              <p:cNvSpPr txBox="1"/>
              <p:nvPr/>
            </p:nvSpPr>
            <p:spPr>
              <a:xfrm>
                <a:off x="7468819" y="2110232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Go-live, user manual / SOP and operator training; post go-live support begins</a:t>
                </a:r>
                <a:endParaRPr lang="en-US" sz="680" dirty="0">
                  <a:latin typeface="Inter"/>
                </a:endParaRPr>
              </a:p>
            </p:txBody>
          </p:sp>
        </p:grpSp>
      </p:grpSp>
      <p:grpSp>
        <p:nvGrpSpPr>
          <p:cNvPr id="58" name="Project 02 track"/>
          <p:cNvGrpSpPr/>
          <p:nvPr/>
        </p:nvGrpSpPr>
        <p:grpSpPr>
          <a:xfrm>
            <a:off x="274320" y="2962656"/>
            <a:ext cx="8595360" cy="1792224"/>
            <a:chOff x="274320" y="2962656"/>
            <a:chExt cx="8595360" cy="1792224"/>
          </a:xfrm>
        </p:grpSpPr>
        <p:sp>
          <p:nvSpPr>
            <p:cNvPr id="59" name="Track"/>
            <p:cNvSpPr/>
            <p:nvPr/>
          </p:nvSpPr>
          <p:spPr>
            <a:xfrm>
              <a:off x="274320" y="2962656"/>
              <a:ext cx="8595360" cy="1792224"/>
            </a:xfrm>
            <a:prstGeom prst="roundRect">
              <a:avLst>
                <a:gd name="adj" fmla="val 3571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60" name="Identity"/>
            <p:cNvSpPr/>
            <p:nvPr/>
          </p:nvSpPr>
          <p:spPr>
            <a:xfrm>
              <a:off x="274320" y="2962656"/>
              <a:ext cx="1481328" cy="1792224"/>
            </a:xfrm>
            <a:prstGeom prst="roundRect">
              <a:avLst>
                <a:gd name="adj" fmla="val 4320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61" name="Identity edge"/>
            <p:cNvSpPr/>
            <p:nvPr/>
          </p:nvSpPr>
          <p:spPr>
            <a:xfrm>
              <a:off x="1645920" y="2962656"/>
              <a:ext cx="109728" cy="1792224"/>
            </a:xfrm>
            <a:prstGeom prst="rect">
              <a:avLst/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62" name="Project number"/>
            <p:cNvSpPr txBox="1"/>
            <p:nvPr/>
          </p:nvSpPr>
          <p:spPr>
            <a:xfrm>
              <a:off x="402336" y="3090672"/>
              <a:ext cx="9144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buNone/>
              </a:pPr>
              <a:r>
                <a:rPr lang="en-US" sz="2200" b="0" i="0" spc="0" dirty="0">
                  <a:solidFill>
                    <a:srgbClr val="90A5BB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2200" dirty="0">
                <a:latin typeface="TASA Orbiter SemiBold"/>
              </a:endParaRPr>
            </a:p>
          </p:txBody>
        </p:sp>
        <p:sp>
          <p:nvSpPr>
            <p:cNvPr id="63" name="Project name"/>
            <p:cNvSpPr txBox="1"/>
            <p:nvPr/>
          </p:nvSpPr>
          <p:spPr>
            <a:xfrm>
              <a:off x="402336" y="3529584"/>
              <a:ext cx="1243584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2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Hydrotester</a:t>
              </a:r>
              <a:endParaRPr lang="en-US" sz="1250" dirty="0">
                <a:latin typeface="TASA Orbiter SemiBold"/>
              </a:endParaRPr>
            </a:p>
          </p:txBody>
        </p:sp>
        <p:sp>
          <p:nvSpPr>
            <p:cNvPr id="64" name="Applications"/>
            <p:cNvSpPr txBox="1"/>
            <p:nvPr/>
          </p:nvSpPr>
          <p:spPr>
            <a:xfrm>
              <a:off x="402336" y="3767328"/>
              <a:ext cx="12618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30"/>
                </a:lnSpc>
                <a:spcBef>
                  <a:spcPts val="0"/>
                </a:spcBef>
                <a:buNone/>
              </a:pPr>
              <a:r>
                <a:rPr lang="en-US" sz="680" b="0" i="0" spc="0" dirty="0">
                  <a:solidFill>
                    <a:srgbClr val="CBD5E2"/>
                  </a:solidFill>
                  <a:latin typeface="Inter"/>
                  <a:ea typeface="Inter"/>
                  <a:cs typeface="Inter"/>
                  <a:sym typeface="Inter"/>
                </a:rPr>
                <a:t>Graph Application + SAP Entry Application</a:t>
              </a:r>
              <a:endParaRPr lang="en-US" sz="680" dirty="0">
                <a:latin typeface="Inter"/>
              </a:endParaRPr>
            </a:p>
          </p:txBody>
        </p:sp>
        <p:sp>
          <p:nvSpPr>
            <p:cNvPr id="65" name="Icon gauge"/>
            <p:cNvSpPr/>
            <p:nvPr/>
          </p:nvSpPr>
          <p:spPr>
            <a:xfrm>
              <a:off x="1389888" y="3127248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2560" y="17650"/>
                    <a:pt x="2107" y="16137"/>
                    <a:pt x="2016" y="14581"/>
                  </a:cubicBezTo>
                  <a:cubicBezTo>
                    <a:pt x="1926" y="13025"/>
                    <a:pt x="2200" y="11469"/>
                    <a:pt x="2817" y="10039"/>
                  </a:cubicBezTo>
                  <a:cubicBezTo>
                    <a:pt x="3434" y="8608"/>
                    <a:pt x="4378" y="7340"/>
                    <a:pt x="5571" y="6339"/>
                  </a:cubicBezTo>
                  <a:cubicBezTo>
                    <a:pt x="6765" y="5337"/>
                    <a:pt x="8177" y="4628"/>
                    <a:pt x="9693" y="4269"/>
                  </a:cubicBezTo>
                  <a:cubicBezTo>
                    <a:pt x="11210" y="3909"/>
                    <a:pt x="12789" y="3909"/>
                    <a:pt x="14306" y="4269"/>
                  </a:cubicBezTo>
                  <a:cubicBezTo>
                    <a:pt x="15822" y="4628"/>
                    <a:pt x="17234" y="5337"/>
                    <a:pt x="18428" y="6339"/>
                  </a:cubicBezTo>
                  <a:cubicBezTo>
                    <a:pt x="19621" y="7340"/>
                    <a:pt x="20565" y="8608"/>
                    <a:pt x="21182" y="10039"/>
                  </a:cubicBezTo>
                  <a:cubicBezTo>
                    <a:pt x="21799" y="11469"/>
                    <a:pt x="22073" y="13025"/>
                    <a:pt x="21983" y="14581"/>
                  </a:cubicBezTo>
                  <a:cubicBezTo>
                    <a:pt x="21892" y="16137"/>
                    <a:pt x="21439" y="17650"/>
                    <a:pt x="20660" y="19000"/>
                  </a:cubicBezTo>
                </a:path>
              </a:pathLst>
            </a:custGeom>
            <a:noFill/>
            <a:ln w="17830" cap="rnd">
              <a:solidFill>
                <a:srgbClr val="FFFFFF"/>
              </a:solidFill>
              <a:round/>
            </a:ln>
          </p:spPr>
        </p:sp>
        <p:cxnSp>
          <p:nvCxnSpPr>
            <p:cNvPr id="66" name="Timeline"/>
            <p:cNvCxnSpPr/>
            <p:nvPr/>
          </p:nvCxnSpPr>
          <p:spPr>
            <a:xfrm>
              <a:off x="2620670" y="3419856"/>
              <a:ext cx="5457139" cy="0"/>
            </a:xfrm>
            <a:prstGeom prst="straightConnector1">
              <a:avLst/>
            </a:prstGeom>
            <a:noFill/>
            <a:ln w="25400">
              <a:solidFill>
                <a:srgbClr val="40566D"/>
              </a:solidFill>
              <a:round/>
            </a:ln>
          </p:spPr>
        </p:cxnSp>
        <p:grpSp>
          <p:nvGrpSpPr>
            <p:cNvPr id="67" name="M1 · Kick-off &amp; requirement sign-off"/>
            <p:cNvGrpSpPr/>
            <p:nvPr/>
          </p:nvGrpSpPr>
          <p:grpSpPr>
            <a:xfrm>
              <a:off x="2011680" y="3236976"/>
              <a:ext cx="1217981" cy="1444752"/>
              <a:chOff x="2011680" y="3236976"/>
              <a:chExt cx="1217981" cy="1444752"/>
            </a:xfrm>
          </p:grpSpPr>
          <p:sp>
            <p:nvSpPr>
              <p:cNvPr id="68" name="Milestone node"/>
              <p:cNvSpPr/>
              <p:nvPr/>
            </p:nvSpPr>
            <p:spPr>
              <a:xfrm>
                <a:off x="2437790" y="3236976"/>
                <a:ext cx="365760" cy="365760"/>
              </a:xfrm>
              <a:prstGeom prst="ellipse">
                <a:avLst/>
              </a:prstGeom>
              <a:solidFill>
                <a:srgbClr val="0C1927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69" name="Icon flag"/>
              <p:cNvSpPr/>
              <p:nvPr/>
            </p:nvSpPr>
            <p:spPr>
              <a:xfrm>
                <a:off x="2529230" y="3328416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4000" y="22000"/>
                    </a:moveTo>
                    <a:lnTo>
                      <a:pt x="4000" y="4000"/>
                    </a:lnTo>
                    <a:cubicBezTo>
                      <a:pt x="4000" y="3844"/>
                      <a:pt x="4036" y="3691"/>
                      <a:pt x="4105" y="3552"/>
                    </a:cubicBezTo>
                    <a:cubicBezTo>
                      <a:pt x="4174" y="3413"/>
                      <a:pt x="4275" y="3293"/>
                      <a:pt x="4400" y="3200"/>
                    </a:cubicBezTo>
                    <a:cubicBezTo>
                      <a:pt x="4915" y="2813"/>
                      <a:pt x="5490" y="2511"/>
                      <a:pt x="6102" y="2307"/>
                    </a:cubicBezTo>
                    <a:cubicBezTo>
                      <a:pt x="6714" y="2103"/>
                      <a:pt x="7355" y="2000"/>
                      <a:pt x="8000" y="2000"/>
                    </a:cubicBezTo>
                    <a:cubicBezTo>
                      <a:pt x="11000" y="2000"/>
                      <a:pt x="13000" y="4000"/>
                      <a:pt x="15333" y="4000"/>
                    </a:cubicBezTo>
                    <a:cubicBezTo>
                      <a:pt x="16666" y="4000"/>
                      <a:pt x="17688" y="3733"/>
                      <a:pt x="18400" y="3200"/>
                    </a:cubicBezTo>
                    <a:cubicBezTo>
                      <a:pt x="18518" y="3111"/>
                      <a:pt x="18655" y="3049"/>
                      <a:pt x="18800" y="3020"/>
                    </a:cubicBezTo>
                    <a:cubicBezTo>
                      <a:pt x="18945" y="2990"/>
                      <a:pt x="19095" y="2993"/>
                      <a:pt x="19239" y="3029"/>
                    </a:cubicBezTo>
                    <a:cubicBezTo>
                      <a:pt x="19383" y="3064"/>
                      <a:pt x="19517" y="3131"/>
                      <a:pt x="19632" y="3225"/>
                    </a:cubicBezTo>
                    <a:cubicBezTo>
                      <a:pt x="19747" y="3319"/>
                      <a:pt x="19840" y="3437"/>
                      <a:pt x="19903" y="3571"/>
                    </a:cubicBezTo>
                    <a:cubicBezTo>
                      <a:pt x="19967" y="3705"/>
                      <a:pt x="20000" y="3851"/>
                      <a:pt x="20000" y="4000"/>
                    </a:cubicBezTo>
                    <a:lnTo>
                      <a:pt x="20000" y="14000"/>
                    </a:lnTo>
                    <a:cubicBezTo>
                      <a:pt x="20000" y="14155"/>
                      <a:pt x="19963" y="14308"/>
                      <a:pt x="19894" y="14447"/>
                    </a:cubicBezTo>
                    <a:cubicBezTo>
                      <a:pt x="19825" y="14586"/>
                      <a:pt x="19724" y="14706"/>
                      <a:pt x="19600" y="14800"/>
                    </a:cubicBezTo>
                    <a:cubicBezTo>
                      <a:pt x="19084" y="15186"/>
                      <a:pt x="18509" y="15488"/>
                      <a:pt x="17897" y="15692"/>
                    </a:cubicBezTo>
                    <a:cubicBezTo>
                      <a:pt x="17285" y="15896"/>
                      <a:pt x="16644" y="16000"/>
                      <a:pt x="16000" y="16000"/>
                    </a:cubicBezTo>
                    <a:cubicBezTo>
                      <a:pt x="13000" y="16000"/>
                      <a:pt x="11000" y="14000"/>
                      <a:pt x="8000" y="14000"/>
                    </a:cubicBezTo>
                    <a:cubicBezTo>
                      <a:pt x="7268" y="14000"/>
                      <a:pt x="6542" y="14133"/>
                      <a:pt x="5859" y="14395"/>
                    </a:cubicBezTo>
                    <a:cubicBezTo>
                      <a:pt x="5175" y="14656"/>
                      <a:pt x="4545" y="15040"/>
                      <a:pt x="4000" y="15528"/>
                    </a:cubicBez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70" name="Milestone label"/>
              <p:cNvSpPr txBox="1"/>
              <p:nvPr/>
            </p:nvSpPr>
            <p:spPr>
              <a:xfrm>
                <a:off x="2011680" y="3694176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6C849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1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71" name="Milestone title"/>
              <p:cNvSpPr txBox="1"/>
              <p:nvPr/>
            </p:nvSpPr>
            <p:spPr>
              <a:xfrm>
                <a:off x="2011680" y="3849624"/>
                <a:ext cx="1217981" cy="233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Kick-off &amp; requirement sign-off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72" name="Milestone description"/>
              <p:cNvSpPr txBox="1"/>
              <p:nvPr/>
            </p:nvSpPr>
            <p:spPr>
              <a:xfrm>
                <a:off x="2011680" y="4129024"/>
                <a:ext cx="1217981" cy="552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Scope, SAP data points and graph text fields signed off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73" name="M2 · Development"/>
            <p:cNvGrpSpPr/>
            <p:nvPr/>
          </p:nvGrpSpPr>
          <p:grpSpPr>
            <a:xfrm>
              <a:off x="3375965" y="3236976"/>
              <a:ext cx="1217981" cy="1444752"/>
              <a:chOff x="3375965" y="3236976"/>
              <a:chExt cx="1217981" cy="1444752"/>
            </a:xfrm>
          </p:grpSpPr>
          <p:sp>
            <p:nvSpPr>
              <p:cNvPr id="74" name="Milestone node"/>
              <p:cNvSpPr/>
              <p:nvPr/>
            </p:nvSpPr>
            <p:spPr>
              <a:xfrm>
                <a:off x="3802075" y="3236976"/>
                <a:ext cx="365760" cy="365760"/>
              </a:xfrm>
              <a:prstGeom prst="ellipse">
                <a:avLst/>
              </a:prstGeom>
              <a:solidFill>
                <a:srgbClr val="0C1927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75" name="Icon code-xml"/>
              <p:cNvSpPr/>
              <p:nvPr/>
            </p:nvSpPr>
            <p:spPr>
              <a:xfrm>
                <a:off x="3893515" y="3328416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8000" y="16000"/>
                    </a:moveTo>
                    <a:lnTo>
                      <a:pt x="22000" y="12000"/>
                    </a:lnTo>
                    <a:lnTo>
                      <a:pt x="18000" y="8000"/>
                    </a:lnTo>
                  </a:path>
                  <a:path w="24000" h="24000" fill="none">
                    <a:moveTo>
                      <a:pt x="6000" y="8000"/>
                    </a:moveTo>
                    <a:lnTo>
                      <a:pt x="2000" y="12000"/>
                    </a:lnTo>
                    <a:lnTo>
                      <a:pt x="6000" y="16000"/>
                    </a:lnTo>
                  </a:path>
                  <a:path w="24000" h="24000" fill="none">
                    <a:moveTo>
                      <a:pt x="14500" y="4000"/>
                    </a:moveTo>
                    <a:lnTo>
                      <a:pt x="9500" y="20000"/>
                    </a:ln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76" name="Milestone label"/>
              <p:cNvSpPr txBox="1"/>
              <p:nvPr/>
            </p:nvSpPr>
            <p:spPr>
              <a:xfrm>
                <a:off x="3375965" y="3694176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6C849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2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77" name="Milestone title"/>
              <p:cNvSpPr txBox="1"/>
              <p:nvPr/>
            </p:nvSpPr>
            <p:spPr>
              <a:xfrm>
                <a:off x="3375965" y="3849624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Development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78" name="Milestone description"/>
              <p:cNvSpPr txBox="1"/>
              <p:nvPr/>
            </p:nvSpPr>
            <p:spPr>
              <a:xfrm>
                <a:off x="3375965" y="4012184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Graph Application and SAP Entry Application for the Hydrotester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79" name="M3 · Integration"/>
            <p:cNvGrpSpPr/>
            <p:nvPr/>
          </p:nvGrpSpPr>
          <p:grpSpPr>
            <a:xfrm>
              <a:off x="4740250" y="3236976"/>
              <a:ext cx="1217981" cy="1444752"/>
              <a:chOff x="4740250" y="3236976"/>
              <a:chExt cx="1217981" cy="1444752"/>
            </a:xfrm>
          </p:grpSpPr>
          <p:sp>
            <p:nvSpPr>
              <p:cNvPr id="80" name="Milestone node"/>
              <p:cNvSpPr/>
              <p:nvPr/>
            </p:nvSpPr>
            <p:spPr>
              <a:xfrm>
                <a:off x="5166360" y="3236976"/>
                <a:ext cx="365760" cy="365760"/>
              </a:xfrm>
              <a:prstGeom prst="ellipse">
                <a:avLst/>
              </a:prstGeom>
              <a:solidFill>
                <a:srgbClr val="0C1927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81" name="Icon plug-zap"/>
              <p:cNvSpPr/>
              <p:nvPr/>
            </p:nvSpPr>
            <p:spPr>
              <a:xfrm>
                <a:off x="5257800" y="3328416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300" y="20300"/>
                    </a:moveTo>
                    <a:cubicBezTo>
                      <a:pt x="6522" y="20523"/>
                      <a:pt x="6787" y="20701"/>
                      <a:pt x="7079" y="20822"/>
                    </a:cubicBezTo>
                    <a:cubicBezTo>
                      <a:pt x="7371" y="20943"/>
                      <a:pt x="7684" y="21005"/>
                      <a:pt x="8000" y="21005"/>
                    </a:cubicBezTo>
                    <a:cubicBezTo>
                      <a:pt x="8315" y="21005"/>
                      <a:pt x="8628" y="20943"/>
                      <a:pt x="8920" y="20822"/>
                    </a:cubicBezTo>
                    <a:cubicBezTo>
                      <a:pt x="9212" y="20701"/>
                      <a:pt x="9477" y="20523"/>
                      <a:pt x="9700" y="20300"/>
                    </a:cubicBezTo>
                    <a:lnTo>
                      <a:pt x="12000" y="18000"/>
                    </a:lnTo>
                    <a:lnTo>
                      <a:pt x="6000" y="12000"/>
                    </a:lnTo>
                    <a:lnTo>
                      <a:pt x="3700" y="14300"/>
                    </a:lnTo>
                    <a:cubicBezTo>
                      <a:pt x="3476" y="14522"/>
                      <a:pt x="3298" y="14787"/>
                      <a:pt x="3177" y="15079"/>
                    </a:cubicBezTo>
                    <a:cubicBezTo>
                      <a:pt x="3056" y="15371"/>
                      <a:pt x="2994" y="15684"/>
                      <a:pt x="2994" y="15999"/>
                    </a:cubicBezTo>
                    <a:cubicBezTo>
                      <a:pt x="2994" y="16315"/>
                      <a:pt x="3056" y="16628"/>
                      <a:pt x="3177" y="16920"/>
                    </a:cubicBezTo>
                    <a:cubicBezTo>
                      <a:pt x="3298" y="17212"/>
                      <a:pt x="3476" y="17477"/>
                      <a:pt x="3700" y="17700"/>
                    </a:cubicBezTo>
                    <a:close/>
                  </a:path>
                  <a:path w="24000" h="24000" fill="none">
                    <a:moveTo>
                      <a:pt x="2000" y="22000"/>
                    </a:moveTo>
                    <a:lnTo>
                      <a:pt x="5000" y="19000"/>
                    </a:lnTo>
                  </a:path>
                  <a:path w="24000" h="24000" fill="none">
                    <a:moveTo>
                      <a:pt x="7500" y="13500"/>
                    </a:moveTo>
                    <a:lnTo>
                      <a:pt x="10000" y="11000"/>
                    </a:lnTo>
                  </a:path>
                  <a:path w="24000" h="24000" fill="none">
                    <a:moveTo>
                      <a:pt x="10500" y="16500"/>
                    </a:moveTo>
                    <a:lnTo>
                      <a:pt x="13000" y="14000"/>
                    </a:lnTo>
                  </a:path>
                  <a:path w="24000" h="24000" fill="none">
                    <a:moveTo>
                      <a:pt x="18000" y="3000"/>
                    </a:moveTo>
                    <a:lnTo>
                      <a:pt x="14000" y="7000"/>
                    </a:lnTo>
                    <a:lnTo>
                      <a:pt x="20000" y="7000"/>
                    </a:lnTo>
                    <a:lnTo>
                      <a:pt x="16000" y="11000"/>
                    </a:ln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82" name="Milestone label"/>
              <p:cNvSpPr txBox="1"/>
              <p:nvPr/>
            </p:nvSpPr>
            <p:spPr>
              <a:xfrm>
                <a:off x="4740250" y="3694176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6C849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3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83" name="Milestone title"/>
              <p:cNvSpPr txBox="1"/>
              <p:nvPr/>
            </p:nvSpPr>
            <p:spPr>
              <a:xfrm>
                <a:off x="4740250" y="3849624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Integration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84" name="Milestone description"/>
              <p:cNvSpPr txBox="1"/>
              <p:nvPr/>
            </p:nvSpPr>
            <p:spPr>
              <a:xfrm>
                <a:off x="4740250" y="4012184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IPC set-up at the station, OPC UA link to SCADA, MES data, SAP and FTP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85" name="M4 · UAT"/>
            <p:cNvGrpSpPr/>
            <p:nvPr/>
          </p:nvGrpSpPr>
          <p:grpSpPr>
            <a:xfrm>
              <a:off x="6104534" y="3236976"/>
              <a:ext cx="1217981" cy="1444752"/>
              <a:chOff x="6104534" y="3236976"/>
              <a:chExt cx="1217981" cy="1444752"/>
            </a:xfrm>
          </p:grpSpPr>
          <p:sp>
            <p:nvSpPr>
              <p:cNvPr id="86" name="Milestone node"/>
              <p:cNvSpPr/>
              <p:nvPr/>
            </p:nvSpPr>
            <p:spPr>
              <a:xfrm>
                <a:off x="6530645" y="3236976"/>
                <a:ext cx="365760" cy="365760"/>
              </a:xfrm>
              <a:prstGeom prst="ellipse">
                <a:avLst/>
              </a:prstGeom>
              <a:solidFill>
                <a:srgbClr val="0C1927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87" name="Icon clipboard-check"/>
              <p:cNvSpPr/>
              <p:nvPr/>
            </p:nvSpPr>
            <p:spPr>
              <a:xfrm>
                <a:off x="6622085" y="3328416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2000"/>
                    </a:moveTo>
                    <a:lnTo>
                      <a:pt x="15000" y="2000"/>
                    </a:lnTo>
                    <a:cubicBezTo>
                      <a:pt x="15175" y="2000"/>
                      <a:pt x="15347" y="2046"/>
                      <a:pt x="15500" y="2133"/>
                    </a:cubicBezTo>
                    <a:cubicBezTo>
                      <a:pt x="15652" y="2221"/>
                      <a:pt x="15778" y="2347"/>
                      <a:pt x="15866" y="2500"/>
                    </a:cubicBezTo>
                    <a:cubicBezTo>
                      <a:pt x="15953" y="2652"/>
                      <a:pt x="16000" y="2824"/>
                      <a:pt x="16000" y="3000"/>
                    </a:cubicBezTo>
                    <a:lnTo>
                      <a:pt x="16000" y="5000"/>
                    </a:lnTo>
                    <a:cubicBezTo>
                      <a:pt x="16000" y="5175"/>
                      <a:pt x="15953" y="5347"/>
                      <a:pt x="15866" y="5500"/>
                    </a:cubicBezTo>
                    <a:cubicBezTo>
                      <a:pt x="15778" y="5652"/>
                      <a:pt x="15652" y="5778"/>
                      <a:pt x="15500" y="5866"/>
                    </a:cubicBezTo>
                    <a:cubicBezTo>
                      <a:pt x="15347" y="5953"/>
                      <a:pt x="15175" y="6000"/>
                      <a:pt x="15000" y="6000"/>
                    </a:cubicBezTo>
                    <a:lnTo>
                      <a:pt x="9000" y="6000"/>
                    </a:lnTo>
                    <a:cubicBezTo>
                      <a:pt x="8824" y="6000"/>
                      <a:pt x="8652" y="5953"/>
                      <a:pt x="8500" y="5866"/>
                    </a:cubicBezTo>
                    <a:cubicBezTo>
                      <a:pt x="8347" y="5778"/>
                      <a:pt x="8221" y="5652"/>
                      <a:pt x="8133" y="5500"/>
                    </a:cubicBezTo>
                    <a:cubicBezTo>
                      <a:pt x="8046" y="5347"/>
                      <a:pt x="8000" y="5175"/>
                      <a:pt x="8000" y="5000"/>
                    </a:cubicBezTo>
                    <a:lnTo>
                      <a:pt x="8000" y="3000"/>
                    </a:lnTo>
                    <a:cubicBezTo>
                      <a:pt x="8000" y="2824"/>
                      <a:pt x="8046" y="2652"/>
                      <a:pt x="8133" y="2500"/>
                    </a:cubicBezTo>
                    <a:cubicBezTo>
                      <a:pt x="8221" y="2347"/>
                      <a:pt x="8347" y="2221"/>
                      <a:pt x="8500" y="2133"/>
                    </a:cubicBezTo>
                    <a:cubicBezTo>
                      <a:pt x="8652" y="2046"/>
                      <a:pt x="8824" y="2000"/>
                      <a:pt x="9000" y="2000"/>
                    </a:cubicBezTo>
                    <a:close/>
                  </a:path>
                  <a:path w="24000" h="24000" fill="none">
                    <a:moveTo>
                      <a:pt x="16000" y="4000"/>
                    </a:moveTo>
                    <a:lnTo>
                      <a:pt x="18000" y="4000"/>
                    </a:lnTo>
                    <a:cubicBezTo>
                      <a:pt x="18351" y="4000"/>
                      <a:pt x="18695" y="4092"/>
                      <a:pt x="19000" y="4267"/>
                    </a:cubicBezTo>
                    <a:cubicBezTo>
                      <a:pt x="19304" y="4443"/>
                      <a:pt x="19556" y="4695"/>
                      <a:pt x="19732" y="5000"/>
                    </a:cubicBezTo>
                    <a:cubicBezTo>
                      <a:pt x="19907" y="5304"/>
                      <a:pt x="20000" y="5648"/>
                      <a:pt x="20000" y="6000"/>
                    </a:cubicBezTo>
                    <a:lnTo>
                      <a:pt x="20000" y="20000"/>
                    </a:lnTo>
                    <a:cubicBezTo>
                      <a:pt x="20000" y="20351"/>
                      <a:pt x="19907" y="20695"/>
                      <a:pt x="19732" y="21000"/>
                    </a:cubicBezTo>
                    <a:cubicBezTo>
                      <a:pt x="19556" y="21304"/>
                      <a:pt x="19304" y="21556"/>
                      <a:pt x="19000" y="21732"/>
                    </a:cubicBezTo>
                    <a:cubicBezTo>
                      <a:pt x="18695" y="21907"/>
                      <a:pt x="18351" y="22000"/>
                      <a:pt x="18000" y="22000"/>
                    </a:cubicBezTo>
                    <a:lnTo>
                      <a:pt x="6000" y="22000"/>
                    </a:lnTo>
                    <a:cubicBezTo>
                      <a:pt x="5648" y="22000"/>
                      <a:pt x="5304" y="21907"/>
                      <a:pt x="5000" y="21732"/>
                    </a:cubicBezTo>
                    <a:cubicBezTo>
                      <a:pt x="4695" y="21556"/>
                      <a:pt x="4443" y="21304"/>
                      <a:pt x="4267" y="21000"/>
                    </a:cubicBezTo>
                    <a:cubicBezTo>
                      <a:pt x="4092" y="20695"/>
                      <a:pt x="4000" y="20351"/>
                      <a:pt x="4000" y="20000"/>
                    </a:cubicBezTo>
                    <a:lnTo>
                      <a:pt x="4000" y="6000"/>
                    </a:lnTo>
                    <a:cubicBezTo>
                      <a:pt x="4000" y="5648"/>
                      <a:pt x="4092" y="5304"/>
                      <a:pt x="4267" y="5000"/>
                    </a:cubicBezTo>
                    <a:cubicBezTo>
                      <a:pt x="4443" y="4695"/>
                      <a:pt x="4695" y="4443"/>
                      <a:pt x="4999" y="4267"/>
                    </a:cubicBezTo>
                    <a:cubicBezTo>
                      <a:pt x="5304" y="4092"/>
                      <a:pt x="5648" y="4000"/>
                      <a:pt x="6000" y="4000"/>
                    </a:cubicBezTo>
                    <a:lnTo>
                      <a:pt x="8000" y="4000"/>
                    </a:lnTo>
                  </a:path>
                  <a:path w="24000" h="24000" fill="none">
                    <a:moveTo>
                      <a:pt x="9000" y="14000"/>
                    </a:moveTo>
                    <a:lnTo>
                      <a:pt x="11000" y="16000"/>
                    </a:lnTo>
                    <a:lnTo>
                      <a:pt x="15000" y="12000"/>
                    </a:ln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88" name="Milestone label"/>
              <p:cNvSpPr txBox="1"/>
              <p:nvPr/>
            </p:nvSpPr>
            <p:spPr>
              <a:xfrm>
                <a:off x="6104534" y="3694176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6C849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4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89" name="Milestone title"/>
              <p:cNvSpPr txBox="1"/>
              <p:nvPr/>
            </p:nvSpPr>
            <p:spPr>
              <a:xfrm>
                <a:off x="6104534" y="3849624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UAT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90" name="Milestone description"/>
              <p:cNvSpPr txBox="1"/>
              <p:nvPr/>
            </p:nvSpPr>
            <p:spPr>
              <a:xfrm>
                <a:off x="6104534" y="4012184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End-to-end testing with operators at the Hydrotester station</a:t>
                </a:r>
                <a:endParaRPr lang="en-US" sz="680" dirty="0">
                  <a:latin typeface="Inter"/>
                </a:endParaRPr>
              </a:p>
            </p:txBody>
          </p:sp>
        </p:grpSp>
        <p:grpSp>
          <p:nvGrpSpPr>
            <p:cNvPr id="91" name="M5 · Go-live &amp; handover"/>
            <p:cNvGrpSpPr/>
            <p:nvPr/>
          </p:nvGrpSpPr>
          <p:grpSpPr>
            <a:xfrm>
              <a:off x="7468819" y="3236976"/>
              <a:ext cx="1217981" cy="1444752"/>
              <a:chOff x="7468819" y="3236976"/>
              <a:chExt cx="1217981" cy="1444752"/>
            </a:xfrm>
          </p:grpSpPr>
          <p:sp>
            <p:nvSpPr>
              <p:cNvPr id="92" name="Milestone node"/>
              <p:cNvSpPr/>
              <p:nvPr/>
            </p:nvSpPr>
            <p:spPr>
              <a:xfrm>
                <a:off x="7894930" y="3236976"/>
                <a:ext cx="365760" cy="365760"/>
              </a:xfrm>
              <a:prstGeom prst="ellipse">
                <a:avLst/>
              </a:prstGeom>
              <a:solidFill>
                <a:srgbClr val="0C1927"/>
              </a:solidFill>
              <a:ln w="25400">
                <a:solidFill>
                  <a:srgbClr val="FFFFFF"/>
                </a:solidFill>
                <a:round/>
              </a:ln>
            </p:spPr>
          </p:sp>
          <p:sp>
            <p:nvSpPr>
              <p:cNvPr id="93" name="Icon rocket"/>
              <p:cNvSpPr/>
              <p:nvPr/>
            </p:nvSpPr>
            <p:spPr>
              <a:xfrm>
                <a:off x="7986370" y="3328416"/>
                <a:ext cx="1828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15000"/>
                    </a:moveTo>
                    <a:lnTo>
                      <a:pt x="12000" y="20000"/>
                    </a:lnTo>
                    <a:cubicBezTo>
                      <a:pt x="12000" y="20000"/>
                      <a:pt x="15030" y="19450"/>
                      <a:pt x="16000" y="18000"/>
                    </a:cubicBezTo>
                    <a:cubicBezTo>
                      <a:pt x="17080" y="16379"/>
                      <a:pt x="16000" y="13000"/>
                      <a:pt x="16000" y="13000"/>
                    </a:cubicBezTo>
                  </a:path>
                  <a:path w="24000" h="24000" fill="none">
                    <a:moveTo>
                      <a:pt x="4500" y="16500"/>
                    </a:moveTo>
                    <a:cubicBezTo>
                      <a:pt x="3000" y="17760"/>
                      <a:pt x="2500" y="21500"/>
                      <a:pt x="2500" y="21500"/>
                    </a:cubicBezTo>
                    <a:cubicBezTo>
                      <a:pt x="2500" y="21500"/>
                      <a:pt x="6240" y="21000"/>
                      <a:pt x="7500" y="19500"/>
                    </a:cubicBezTo>
                    <a:cubicBezTo>
                      <a:pt x="8210" y="18660"/>
                      <a:pt x="8200" y="17370"/>
                      <a:pt x="7410" y="16590"/>
                    </a:cubicBezTo>
                    <a:cubicBezTo>
                      <a:pt x="7152" y="16344"/>
                      <a:pt x="6838" y="16165"/>
                      <a:pt x="6496" y="16068"/>
                    </a:cubicBezTo>
                    <a:cubicBezTo>
                      <a:pt x="6153" y="15972"/>
                      <a:pt x="5792" y="15960"/>
                      <a:pt x="5444" y="16036"/>
                    </a:cubicBezTo>
                    <a:cubicBezTo>
                      <a:pt x="5096" y="16111"/>
                      <a:pt x="4772" y="16270"/>
                      <a:pt x="4500" y="16500"/>
                    </a:cubicBezTo>
                  </a:path>
                  <a:path w="24000" h="24000" fill="none">
                    <a:moveTo>
                      <a:pt x="9000" y="12000"/>
                    </a:moveTo>
                    <a:cubicBezTo>
                      <a:pt x="9532" y="10619"/>
                      <a:pt x="10202" y="9296"/>
                      <a:pt x="11000" y="8050"/>
                    </a:cubicBezTo>
                    <a:cubicBezTo>
                      <a:pt x="12165" y="6187"/>
                      <a:pt x="13787" y="4652"/>
                      <a:pt x="15713" y="3594"/>
                    </a:cubicBezTo>
                    <a:cubicBezTo>
                      <a:pt x="17638" y="2535"/>
                      <a:pt x="19802" y="1986"/>
                      <a:pt x="22000" y="2000"/>
                    </a:cubicBezTo>
                    <a:cubicBezTo>
                      <a:pt x="22000" y="4720"/>
                      <a:pt x="21220" y="9500"/>
                      <a:pt x="16000" y="13000"/>
                    </a:cubicBezTo>
                    <a:cubicBezTo>
                      <a:pt x="14736" y="13798"/>
                      <a:pt x="13396" y="14468"/>
                      <a:pt x="12000" y="15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4000" y="12000"/>
                    </a:lnTo>
                    <a:cubicBezTo>
                      <a:pt x="4000" y="12000"/>
                      <a:pt x="4550" y="8970"/>
                      <a:pt x="6000" y="8000"/>
                    </a:cubicBezTo>
                    <a:cubicBezTo>
                      <a:pt x="7620" y="6920"/>
                      <a:pt x="11000" y="8050"/>
                      <a:pt x="11000" y="8050"/>
                    </a:cubicBezTo>
                  </a:path>
                </a:pathLst>
              </a:custGeom>
              <a:noFill/>
              <a:ln w="15240" cap="rnd">
                <a:solidFill>
                  <a:srgbClr val="FFFFFF"/>
                </a:solidFill>
                <a:round/>
              </a:ln>
            </p:spPr>
          </p:sp>
          <p:sp>
            <p:nvSpPr>
              <p:cNvPr id="94" name="Milestone label"/>
              <p:cNvSpPr txBox="1"/>
              <p:nvPr/>
            </p:nvSpPr>
            <p:spPr>
              <a:xfrm>
                <a:off x="7468819" y="3694176"/>
                <a:ext cx="1217981" cy="128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600"/>
                  </a:lnSpc>
                  <a:spcBef>
                    <a:spcPts val="0"/>
                  </a:spcBef>
                  <a:buNone/>
                </a:pPr>
                <a:r>
                  <a:rPr lang="en-US" sz="600" b="0" i="0" cap="all" spc="72" dirty="0">
                    <a:solidFill>
                      <a:srgbClr val="6C849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MILESTONE 5</a:t>
                </a:r>
                <a:endParaRPr lang="en-US" sz="600" dirty="0">
                  <a:latin typeface="Inter SemiBold"/>
                </a:endParaRPr>
              </a:p>
            </p:txBody>
          </p:sp>
          <p:sp>
            <p:nvSpPr>
              <p:cNvPr id="95" name="Milestone title"/>
              <p:cNvSpPr txBox="1"/>
              <p:nvPr/>
            </p:nvSpPr>
            <p:spPr>
              <a:xfrm>
                <a:off x="7468819" y="3849624"/>
                <a:ext cx="1217981" cy="116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920"/>
                  </a:lnSpc>
                  <a:spcBef>
                    <a:spcPts val="0"/>
                  </a:spcBef>
                  <a:buNone/>
                </a:pPr>
                <a:r>
                  <a:rPr lang="en-US" sz="8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Go-live &amp; handover</a:t>
                </a:r>
                <a:endParaRPr lang="en-US" sz="800" dirty="0">
                  <a:latin typeface="Inter SemiBold"/>
                </a:endParaRPr>
              </a:p>
            </p:txBody>
          </p:sp>
          <p:sp>
            <p:nvSpPr>
              <p:cNvPr id="96" name="Milestone description"/>
              <p:cNvSpPr txBox="1"/>
              <p:nvPr/>
            </p:nvSpPr>
            <p:spPr>
              <a:xfrm>
                <a:off x="7468819" y="4012184"/>
                <a:ext cx="1217981" cy="669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850"/>
                  </a:lnSpc>
                  <a:spcBef>
                    <a:spcPts val="0"/>
                  </a:spcBef>
                  <a:buNone/>
                </a:pPr>
                <a:r>
                  <a:rPr lang="en-US" sz="680" b="0" i="0" spc="0" dirty="0">
                    <a:solidFill>
                      <a:srgbClr val="40566D"/>
                    </a:solidFill>
                    <a:latin typeface="Inter"/>
                    <a:ea typeface="Inter"/>
                    <a:cs typeface="Inter"/>
                    <a:sym typeface="Inter"/>
                  </a:rPr>
                  <a:t>Go-live, user manual / SOP and operator training; post go-live support begins</a:t>
                </a:r>
                <a:endParaRPr lang="en-US" sz="680" dirty="0">
                  <a:latin typeface="Inter"/>
                </a:endParaRPr>
              </a:p>
            </p:txBody>
          </p:sp>
        </p:grpSp>
      </p:grpSp>
      <p:grpSp>
        <p:nvGrpSpPr>
          <p:cNvPr id="97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98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99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PROJECTS  ·  PLAN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Project Delivery Schedule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Indicative plan from kick-off. Hardware supply runs alongside development; SAP integration, UAT and training follow the SAP endpoints being available.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" name="Phase summary"/>
          <p:cNvGrpSpPr/>
          <p:nvPr/>
        </p:nvGrpSpPr>
        <p:grpSpPr>
          <a:xfrm>
            <a:off x="274320" y="1024128"/>
            <a:ext cx="8595360" cy="694944"/>
            <a:chOff x="274320" y="1024128"/>
            <a:chExt cx="8595360" cy="694944"/>
          </a:xfrm>
        </p:grpSpPr>
        <p:sp>
          <p:nvSpPr>
            <p:cNvPr id="20" name="Header row"/>
            <p:cNvSpPr/>
            <p:nvPr/>
          </p:nvSpPr>
          <p:spPr>
            <a:xfrm>
              <a:off x="274320" y="1024128"/>
              <a:ext cx="8595360" cy="329184"/>
            </a:xfrm>
            <a:prstGeom prst="roundRect">
              <a:avLst>
                <a:gd name="adj" fmla="val 11111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1" name="Objective header"/>
            <p:cNvSpPr txBox="1"/>
            <p:nvPr/>
          </p:nvSpPr>
          <p:spPr>
            <a:xfrm>
              <a:off x="310896" y="1024128"/>
              <a:ext cx="978408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Objective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2" name="Application Design &amp; Project Kickoff header"/>
            <p:cNvSpPr txBox="1"/>
            <p:nvPr/>
          </p:nvSpPr>
          <p:spPr>
            <a:xfrm>
              <a:off x="1362456" y="1024128"/>
              <a:ext cx="86737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Application Design &amp; Project Kickoff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3" name="Supply of Hardware header"/>
            <p:cNvSpPr txBox="1"/>
            <p:nvPr/>
          </p:nvSpPr>
          <p:spPr>
            <a:xfrm>
              <a:off x="2302982" y="1024128"/>
              <a:ext cx="86737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Supply of Hardware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4" name="Application Development header"/>
            <p:cNvSpPr txBox="1"/>
            <p:nvPr/>
          </p:nvSpPr>
          <p:spPr>
            <a:xfrm>
              <a:off x="3243507" y="1024128"/>
              <a:ext cx="86737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Application Development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5" name="SAP Integration header"/>
            <p:cNvSpPr txBox="1"/>
            <p:nvPr/>
          </p:nvSpPr>
          <p:spPr>
            <a:xfrm>
              <a:off x="4184033" y="1024128"/>
              <a:ext cx="86737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Integration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6" name="Installation &amp; Commissioning header"/>
            <p:cNvSpPr txBox="1"/>
            <p:nvPr/>
          </p:nvSpPr>
          <p:spPr>
            <a:xfrm>
              <a:off x="5124559" y="1024128"/>
              <a:ext cx="86737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Installation &amp; Commissioning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7" name="UAT &amp; Training header"/>
            <p:cNvSpPr txBox="1"/>
            <p:nvPr/>
          </p:nvSpPr>
          <p:spPr>
            <a:xfrm>
              <a:off x="6065085" y="1024128"/>
              <a:ext cx="86737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UAT &amp; Training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8" name="Handover &amp; Hypercare header"/>
            <p:cNvSpPr txBox="1"/>
            <p:nvPr/>
          </p:nvSpPr>
          <p:spPr>
            <a:xfrm>
              <a:off x="7005610" y="1024128"/>
              <a:ext cx="86737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Handover &amp; Hypercare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29" name="Total delivery time header"/>
            <p:cNvSpPr txBox="1"/>
            <p:nvPr/>
          </p:nvSpPr>
          <p:spPr>
            <a:xfrm>
              <a:off x="7946136" y="1024128"/>
              <a:ext cx="886968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28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delivery time</a:t>
              </a:r>
              <a:endParaRPr lang="en-US" sz="650" dirty="0">
                <a:latin typeface="Inter SemiBold"/>
              </a:endParaRPr>
            </a:p>
          </p:txBody>
        </p:sp>
        <p:sp>
          <p:nvSpPr>
            <p:cNvPr id="30" name="Objective cell"/>
            <p:cNvSpPr/>
            <p:nvPr/>
          </p:nvSpPr>
          <p:spPr>
            <a:xfrm>
              <a:off x="274320" y="1353312"/>
              <a:ext cx="1051560" cy="365760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31" name="Objective"/>
            <p:cNvSpPr txBox="1"/>
            <p:nvPr/>
          </p:nvSpPr>
          <p:spPr>
            <a:xfrm>
              <a:off x="320040" y="1353312"/>
              <a:ext cx="9601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Integration</a:t>
              </a:r>
              <a:endParaRPr lang="en-US" sz="640" dirty="0">
                <a:latin typeface="Inter"/>
              </a:endParaRPr>
            </a:p>
            <a:p>
              <a:pPr algn="ctr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IUT · FUT · Hydrotester</a:t>
              </a:r>
              <a:endParaRPr lang="en-US" sz="640" dirty="0">
                <a:latin typeface="Inter"/>
              </a:endParaRPr>
            </a:p>
          </p:txBody>
        </p:sp>
        <p:sp>
          <p:nvSpPr>
            <p:cNvPr id="32" name="Application Design &amp; Project Kickoff duration cell"/>
            <p:cNvSpPr/>
            <p:nvPr/>
          </p:nvSpPr>
          <p:spPr>
            <a:xfrm>
              <a:off x="1325880" y="1353312"/>
              <a:ext cx="940526" cy="365760"/>
            </a:xfrm>
            <a:prstGeom prst="rect">
              <a:avLst/>
            </a:prstGeom>
            <a:solidFill>
              <a:srgbClr val="F4F8FF"/>
            </a:solidFill>
            <a:ln>
              <a:noFill/>
            </a:ln>
          </p:spPr>
        </p:sp>
        <p:sp>
          <p:nvSpPr>
            <p:cNvPr id="33" name="Application Design &amp; Project Kickoff duration"/>
            <p:cNvSpPr txBox="1"/>
            <p:nvPr/>
          </p:nvSpPr>
          <p:spPr>
            <a:xfrm>
              <a:off x="1325880" y="1353312"/>
              <a:ext cx="940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0E3F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 weeks</a:t>
              </a:r>
              <a:endParaRPr lang="en-US" sz="800" dirty="0">
                <a:latin typeface="Inter SemiBold"/>
              </a:endParaRPr>
            </a:p>
          </p:txBody>
        </p:sp>
        <p:sp>
          <p:nvSpPr>
            <p:cNvPr id="34" name="Supply of Hardware duration cell"/>
            <p:cNvSpPr/>
            <p:nvPr/>
          </p:nvSpPr>
          <p:spPr>
            <a:xfrm>
              <a:off x="2266406" y="1353312"/>
              <a:ext cx="940526" cy="365760"/>
            </a:xfrm>
            <a:prstGeom prst="rect">
              <a:avLst/>
            </a:prstGeom>
            <a:solidFill>
              <a:srgbClr val="F4F8FF"/>
            </a:solidFill>
            <a:ln>
              <a:noFill/>
            </a:ln>
          </p:spPr>
        </p:sp>
        <p:sp>
          <p:nvSpPr>
            <p:cNvPr id="35" name="Supply of Hardware duration"/>
            <p:cNvSpPr txBox="1"/>
            <p:nvPr/>
          </p:nvSpPr>
          <p:spPr>
            <a:xfrm>
              <a:off x="2266406" y="1353312"/>
              <a:ext cx="940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0E3F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4–6 weeks</a:t>
              </a:r>
              <a:endParaRPr lang="en-US" sz="800" dirty="0">
                <a:latin typeface="Inter SemiBold"/>
              </a:endParaRPr>
            </a:p>
          </p:txBody>
        </p:sp>
        <p:sp>
          <p:nvSpPr>
            <p:cNvPr id="36" name="Application Development duration cell"/>
            <p:cNvSpPr/>
            <p:nvPr/>
          </p:nvSpPr>
          <p:spPr>
            <a:xfrm>
              <a:off x="3206931" y="1353312"/>
              <a:ext cx="940526" cy="365760"/>
            </a:xfrm>
            <a:prstGeom prst="rect">
              <a:avLst/>
            </a:prstGeom>
            <a:solidFill>
              <a:srgbClr val="F4F8FF"/>
            </a:solidFill>
            <a:ln>
              <a:noFill/>
            </a:ln>
          </p:spPr>
        </p:sp>
        <p:sp>
          <p:nvSpPr>
            <p:cNvPr id="37" name="Application Development duration"/>
            <p:cNvSpPr txBox="1"/>
            <p:nvPr/>
          </p:nvSpPr>
          <p:spPr>
            <a:xfrm>
              <a:off x="3206931" y="1353312"/>
              <a:ext cx="940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0E3F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 weeks</a:t>
              </a:r>
              <a:endParaRPr lang="en-US" sz="800" dirty="0">
                <a:latin typeface="Inter SemiBold"/>
              </a:endParaRPr>
            </a:p>
          </p:txBody>
        </p:sp>
        <p:sp>
          <p:nvSpPr>
            <p:cNvPr id="38" name="SAP Integration duration cell"/>
            <p:cNvSpPr/>
            <p:nvPr/>
          </p:nvSpPr>
          <p:spPr>
            <a:xfrm>
              <a:off x="4147457" y="1353312"/>
              <a:ext cx="940526" cy="365760"/>
            </a:xfrm>
            <a:prstGeom prst="rect">
              <a:avLst/>
            </a:prstGeom>
            <a:solidFill>
              <a:srgbClr val="FFF3EB"/>
            </a:solidFill>
            <a:ln>
              <a:noFill/>
            </a:ln>
          </p:spPr>
        </p:sp>
        <p:sp>
          <p:nvSpPr>
            <p:cNvPr id="39" name="SAP Integration duration"/>
            <p:cNvSpPr txBox="1"/>
            <p:nvPr/>
          </p:nvSpPr>
          <p:spPr>
            <a:xfrm>
              <a:off x="4147457" y="1353312"/>
              <a:ext cx="940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 weeks</a:t>
              </a:r>
              <a:endParaRPr lang="en-US" sz="800" dirty="0">
                <a:latin typeface="Inter SemiBold"/>
              </a:endParaRPr>
            </a:p>
          </p:txBody>
        </p:sp>
        <p:sp>
          <p:nvSpPr>
            <p:cNvPr id="40" name="Installation &amp; Commissioning duration cell"/>
            <p:cNvSpPr/>
            <p:nvPr/>
          </p:nvSpPr>
          <p:spPr>
            <a:xfrm>
              <a:off x="5087983" y="1353312"/>
              <a:ext cx="940526" cy="365760"/>
            </a:xfrm>
            <a:prstGeom prst="rect">
              <a:avLst/>
            </a:prstGeom>
            <a:solidFill>
              <a:srgbClr val="FFF3EB"/>
            </a:solidFill>
            <a:ln>
              <a:noFill/>
            </a:ln>
          </p:spPr>
        </p:sp>
        <p:sp>
          <p:nvSpPr>
            <p:cNvPr id="41" name="Installation &amp; Commissioning duration"/>
            <p:cNvSpPr txBox="1"/>
            <p:nvPr/>
          </p:nvSpPr>
          <p:spPr>
            <a:xfrm>
              <a:off x="5087983" y="1353312"/>
              <a:ext cx="940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3–4 weeks</a:t>
              </a:r>
              <a:endParaRPr lang="en-US" sz="800" dirty="0">
                <a:latin typeface="Inter SemiBold"/>
              </a:endParaRPr>
            </a:p>
          </p:txBody>
        </p:sp>
        <p:sp>
          <p:nvSpPr>
            <p:cNvPr id="42" name="UAT &amp; Training duration cell"/>
            <p:cNvSpPr/>
            <p:nvPr/>
          </p:nvSpPr>
          <p:spPr>
            <a:xfrm>
              <a:off x="6028509" y="1353312"/>
              <a:ext cx="940526" cy="365760"/>
            </a:xfrm>
            <a:prstGeom prst="rect">
              <a:avLst/>
            </a:prstGeom>
            <a:solidFill>
              <a:srgbClr val="EBFAF3"/>
            </a:solidFill>
            <a:ln>
              <a:noFill/>
            </a:ln>
          </p:spPr>
        </p:sp>
        <p:sp>
          <p:nvSpPr>
            <p:cNvPr id="43" name="UAT &amp; Training duration"/>
            <p:cNvSpPr txBox="1"/>
            <p:nvPr/>
          </p:nvSpPr>
          <p:spPr>
            <a:xfrm>
              <a:off x="6028509" y="1353312"/>
              <a:ext cx="940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2–3 weeks</a:t>
              </a:r>
              <a:endParaRPr lang="en-US" sz="800" dirty="0">
                <a:latin typeface="Inter SemiBold"/>
              </a:endParaRPr>
            </a:p>
          </p:txBody>
        </p:sp>
        <p:sp>
          <p:nvSpPr>
            <p:cNvPr id="44" name="Handover &amp; Hypercare duration cell"/>
            <p:cNvSpPr/>
            <p:nvPr/>
          </p:nvSpPr>
          <p:spPr>
            <a:xfrm>
              <a:off x="6969034" y="1353312"/>
              <a:ext cx="940526" cy="365760"/>
            </a:xfrm>
            <a:prstGeom prst="rect">
              <a:avLst/>
            </a:prstGeom>
            <a:solidFill>
              <a:srgbClr val="EBFAF3"/>
            </a:solidFill>
            <a:ln>
              <a:noFill/>
            </a:ln>
          </p:spPr>
        </p:sp>
        <p:sp>
          <p:nvSpPr>
            <p:cNvPr id="45" name="Handover &amp; Hypercare duration"/>
            <p:cNvSpPr txBox="1"/>
            <p:nvPr/>
          </p:nvSpPr>
          <p:spPr>
            <a:xfrm>
              <a:off x="6969034" y="1353312"/>
              <a:ext cx="940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 weeks</a:t>
              </a:r>
              <a:endParaRPr lang="en-US" sz="800" dirty="0">
                <a:latin typeface="Inter SemiBold"/>
              </a:endParaRPr>
            </a:p>
          </p:txBody>
        </p:sp>
        <p:sp>
          <p:nvSpPr>
            <p:cNvPr id="46" name="Total cell"/>
            <p:cNvSpPr/>
            <p:nvPr/>
          </p:nvSpPr>
          <p:spPr>
            <a:xfrm>
              <a:off x="7909560" y="1353312"/>
              <a:ext cx="960120" cy="365760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</p:spPr>
        </p:sp>
        <p:sp>
          <p:nvSpPr>
            <p:cNvPr id="47" name="Total delivery time"/>
            <p:cNvSpPr txBox="1"/>
            <p:nvPr/>
          </p:nvSpPr>
          <p:spPr>
            <a:xfrm>
              <a:off x="7909560" y="1353312"/>
              <a:ext cx="9601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800"/>
                </a:lnSpc>
                <a:spcBef>
                  <a:spcPts val="0"/>
                </a:spcBef>
                <a:buNone/>
              </a:pPr>
              <a:r>
                <a:rPr lang="en-US" sz="8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18–20 weeks</a:t>
              </a:r>
              <a:endParaRPr lang="en-US" sz="800" dirty="0">
                <a:latin typeface="Inter SemiBold"/>
              </a:endParaRPr>
            </a:p>
          </p:txBody>
        </p:sp>
        <p:cxnSp>
          <p:nvCxnSpPr>
            <p:cNvPr id="48" name="Table base"/>
            <p:cNvCxnSpPr/>
            <p:nvPr/>
          </p:nvCxnSpPr>
          <p:spPr>
            <a:xfrm>
              <a:off x="274320" y="1719072"/>
              <a:ext cx="8595360" cy="0"/>
            </a:xfrm>
            <a:prstGeom prst="straightConnector1">
              <a:avLst/>
            </a:prstGeom>
            <a:noFill/>
            <a:ln w="9525">
              <a:solidFill>
                <a:srgbClr val="CBD5E2"/>
              </a:solidFill>
              <a:round/>
            </a:ln>
          </p:spPr>
        </p:cxnSp>
      </p:grpSp>
      <p:grpSp>
        <p:nvGrpSpPr>
          <p:cNvPr id="49" name="Phase groups"/>
          <p:cNvGrpSpPr/>
          <p:nvPr/>
        </p:nvGrpSpPr>
        <p:grpSpPr>
          <a:xfrm>
            <a:off x="1106424" y="1792224"/>
            <a:ext cx="7022592" cy="356616"/>
            <a:chOff x="1106424" y="1792224"/>
            <a:chExt cx="7022592" cy="356616"/>
          </a:xfrm>
        </p:grpSpPr>
        <p:sp>
          <p:nvSpPr>
            <p:cNvPr id="50" name="Project Onboarding Phase bracket"/>
            <p:cNvSpPr/>
            <p:nvPr/>
          </p:nvSpPr>
          <p:spPr>
            <a:xfrm>
              <a:off x="1380744" y="1792224"/>
              <a:ext cx="2711849" cy="45720"/>
            </a:xfrm>
            <a:custGeom>
              <a:avLst/>
              <a:gdLst/>
              <a:ahLst/>
              <a:cxnLst/>
              <a:rect l="l" t="t" r="r" b="b"/>
              <a:pathLst>
                <a:path w="2711849" h="45720" fill="none">
                  <a:moveTo>
                    <a:pt x="0" y="45720"/>
                  </a:moveTo>
                  <a:lnTo>
                    <a:pt x="0" y="0"/>
                  </a:lnTo>
                  <a:lnTo>
                    <a:pt x="2711849" y="0"/>
                  </a:lnTo>
                  <a:lnTo>
                    <a:pt x="2711849" y="45720"/>
                  </a:lnTo>
                </a:path>
              </a:pathLst>
            </a:custGeom>
            <a:noFill/>
            <a:ln w="9525">
              <a:solidFill>
                <a:srgbClr val="0E3FAA"/>
              </a:solidFill>
              <a:miter lim="800000"/>
            </a:ln>
          </p:spPr>
        </p:sp>
        <p:cxnSp>
          <p:nvCxnSpPr>
            <p:cNvPr id="51" name="Stem"/>
            <p:cNvCxnSpPr/>
            <p:nvPr/>
          </p:nvCxnSpPr>
          <p:spPr>
            <a:xfrm>
              <a:off x="2736669" y="1792224"/>
              <a:ext cx="0" cy="64008"/>
            </a:xfrm>
            <a:prstGeom prst="straightConnector1">
              <a:avLst/>
            </a:prstGeom>
            <a:noFill/>
            <a:ln w="9525">
              <a:solidFill>
                <a:srgbClr val="0E3FAA"/>
              </a:solidFill>
              <a:round/>
            </a:ln>
          </p:spPr>
        </p:cxnSp>
        <p:sp>
          <p:nvSpPr>
            <p:cNvPr id="52" name="Project Onboarding Phase label"/>
            <p:cNvSpPr txBox="1"/>
            <p:nvPr/>
          </p:nvSpPr>
          <p:spPr>
            <a:xfrm>
              <a:off x="1106424" y="1874520"/>
              <a:ext cx="32604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Onboarding Phase</a:t>
              </a:r>
              <a:endParaRPr lang="en-US" sz="630" dirty="0">
                <a:latin typeface="Inter"/>
              </a:endParaRPr>
            </a:p>
            <a:p>
              <a:pPr algn="ctr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0E3FAA"/>
                  </a:solidFill>
                  <a:latin typeface="Inter"/>
                  <a:ea typeface="Inter"/>
                  <a:cs typeface="Inter"/>
                  <a:sym typeface="Inter"/>
                </a:rPr>
                <a:t>Design, hardware and application build</a:t>
              </a:r>
              <a:endParaRPr lang="en-US" sz="630" dirty="0">
                <a:latin typeface="Inter"/>
              </a:endParaRPr>
            </a:p>
          </p:txBody>
        </p:sp>
        <p:sp>
          <p:nvSpPr>
            <p:cNvPr id="53" name="Implementation Phase bracket"/>
            <p:cNvSpPr/>
            <p:nvPr/>
          </p:nvSpPr>
          <p:spPr>
            <a:xfrm>
              <a:off x="4202321" y="1792224"/>
              <a:ext cx="1771323" cy="45720"/>
            </a:xfrm>
            <a:custGeom>
              <a:avLst/>
              <a:gdLst/>
              <a:ahLst/>
              <a:cxnLst/>
              <a:rect l="l" t="t" r="r" b="b"/>
              <a:pathLst>
                <a:path w="1771323" h="45720" fill="none">
                  <a:moveTo>
                    <a:pt x="0" y="45720"/>
                  </a:moveTo>
                  <a:lnTo>
                    <a:pt x="0" y="0"/>
                  </a:lnTo>
                  <a:lnTo>
                    <a:pt x="1771323" y="0"/>
                  </a:lnTo>
                  <a:lnTo>
                    <a:pt x="1771323" y="45720"/>
                  </a:lnTo>
                </a:path>
              </a:pathLst>
            </a:custGeom>
            <a:noFill/>
            <a:ln w="9525">
              <a:solidFill>
                <a:srgbClr val="C65C10"/>
              </a:solidFill>
              <a:miter lim="800000"/>
            </a:ln>
          </p:spPr>
        </p:sp>
        <p:cxnSp>
          <p:nvCxnSpPr>
            <p:cNvPr id="54" name="Stem"/>
            <p:cNvCxnSpPr/>
            <p:nvPr/>
          </p:nvCxnSpPr>
          <p:spPr>
            <a:xfrm>
              <a:off x="5087983" y="1792224"/>
              <a:ext cx="0" cy="64008"/>
            </a:xfrm>
            <a:prstGeom prst="straightConnector1">
              <a:avLst/>
            </a:prstGeom>
            <a:noFill/>
            <a:ln w="9525">
              <a:solidFill>
                <a:srgbClr val="C65C10"/>
              </a:solidFill>
              <a:round/>
            </a:ln>
          </p:spPr>
        </p:cxnSp>
        <p:sp>
          <p:nvSpPr>
            <p:cNvPr id="55" name="Implementation Phase label"/>
            <p:cNvSpPr txBox="1"/>
            <p:nvPr/>
          </p:nvSpPr>
          <p:spPr>
            <a:xfrm>
              <a:off x="3928001" y="1874520"/>
              <a:ext cx="23199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Implementation Phase</a:t>
              </a:r>
              <a:endParaRPr lang="en-US" sz="630" dirty="0">
                <a:latin typeface="Inter"/>
              </a:endParaRPr>
            </a:p>
            <a:p>
              <a:pPr algn="ctr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C65C10"/>
                  </a:solidFill>
                  <a:latin typeface="Inter"/>
                  <a:ea typeface="Inter"/>
                  <a:cs typeface="Inter"/>
                  <a:sym typeface="Inter"/>
                </a:rPr>
                <a:t>SAP integration and station commissioning</a:t>
              </a:r>
              <a:endParaRPr lang="en-US" sz="630" dirty="0">
                <a:latin typeface="Inter"/>
              </a:endParaRPr>
            </a:p>
          </p:txBody>
        </p:sp>
        <p:sp>
          <p:nvSpPr>
            <p:cNvPr id="56" name="Go-live Phase bracket"/>
            <p:cNvSpPr/>
            <p:nvPr/>
          </p:nvSpPr>
          <p:spPr>
            <a:xfrm>
              <a:off x="6083373" y="1792224"/>
              <a:ext cx="1771323" cy="45720"/>
            </a:xfrm>
            <a:custGeom>
              <a:avLst/>
              <a:gdLst/>
              <a:ahLst/>
              <a:cxnLst/>
              <a:rect l="l" t="t" r="r" b="b"/>
              <a:pathLst>
                <a:path w="1771323" h="45720" fill="none">
                  <a:moveTo>
                    <a:pt x="0" y="45720"/>
                  </a:moveTo>
                  <a:lnTo>
                    <a:pt x="0" y="0"/>
                  </a:lnTo>
                  <a:lnTo>
                    <a:pt x="1771323" y="0"/>
                  </a:lnTo>
                  <a:lnTo>
                    <a:pt x="1771323" y="45720"/>
                  </a:lnTo>
                </a:path>
              </a:pathLst>
            </a:custGeom>
            <a:noFill/>
            <a:ln w="9525">
              <a:solidFill>
                <a:srgbClr val="008743"/>
              </a:solidFill>
              <a:miter lim="800000"/>
            </a:ln>
          </p:spPr>
        </p:sp>
        <p:cxnSp>
          <p:nvCxnSpPr>
            <p:cNvPr id="57" name="Stem"/>
            <p:cNvCxnSpPr/>
            <p:nvPr/>
          </p:nvCxnSpPr>
          <p:spPr>
            <a:xfrm>
              <a:off x="6969034" y="1792224"/>
              <a:ext cx="0" cy="64008"/>
            </a:xfrm>
            <a:prstGeom prst="straightConnector1">
              <a:avLst/>
            </a:prstGeom>
            <a:noFill/>
            <a:ln w="9525">
              <a:solidFill>
                <a:srgbClr val="008743"/>
              </a:solidFill>
              <a:round/>
            </a:ln>
          </p:spPr>
        </p:cxnSp>
        <p:sp>
          <p:nvSpPr>
            <p:cNvPr id="58" name="Go-live Phase label"/>
            <p:cNvSpPr txBox="1"/>
            <p:nvPr/>
          </p:nvSpPr>
          <p:spPr>
            <a:xfrm>
              <a:off x="5809053" y="1874520"/>
              <a:ext cx="23199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Go-live Phase</a:t>
              </a:r>
              <a:endParaRPr lang="en-US" sz="630" dirty="0">
                <a:latin typeface="Inter"/>
              </a:endParaRPr>
            </a:p>
            <a:p>
              <a:pPr algn="ctr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008743"/>
                  </a:solidFill>
                  <a:latin typeface="Inter"/>
                  <a:ea typeface="Inter"/>
                  <a:cs typeface="Inter"/>
                  <a:sym typeface="Inter"/>
                </a:rPr>
                <a:t>Training, handover and hypercare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59" name="Week ruler"/>
          <p:cNvGrpSpPr/>
          <p:nvPr/>
        </p:nvGrpSpPr>
        <p:grpSpPr>
          <a:xfrm>
            <a:off x="274320" y="2176272"/>
            <a:ext cx="8595360" cy="164592"/>
            <a:chOff x="274320" y="2176272"/>
            <a:chExt cx="8595360" cy="164592"/>
          </a:xfrm>
        </p:grpSpPr>
        <p:sp>
          <p:nvSpPr>
            <p:cNvPr id="60" name="Ruler label"/>
            <p:cNvSpPr txBox="1"/>
            <p:nvPr/>
          </p:nvSpPr>
          <p:spPr>
            <a:xfrm>
              <a:off x="274320" y="2176272"/>
              <a:ext cx="1261872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620"/>
                </a:lnSpc>
                <a:spcBef>
                  <a:spcPts val="0"/>
                </a:spcBef>
                <a:buNone/>
              </a:pPr>
              <a:r>
                <a:rPr lang="en-US" sz="620" b="0" i="0" cap="all" spc="74" dirty="0">
                  <a:solidFill>
                    <a:srgbClr val="6C849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WEEK</a:t>
              </a:r>
              <a:endParaRPr lang="en-US" sz="620" dirty="0">
                <a:latin typeface="Inter SemiBold"/>
              </a:endParaRPr>
            </a:p>
          </p:txBody>
        </p:sp>
        <p:sp>
          <p:nvSpPr>
            <p:cNvPr id="61" name="Week cell"/>
            <p:cNvSpPr/>
            <p:nvPr/>
          </p:nvSpPr>
          <p:spPr>
            <a:xfrm>
              <a:off x="1627632" y="2176272"/>
              <a:ext cx="724205" cy="16459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62" name="Week number"/>
            <p:cNvSpPr txBox="1"/>
            <p:nvPr/>
          </p:nvSpPr>
          <p:spPr>
            <a:xfrm>
              <a:off x="1627632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1–2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63" name="Week cell"/>
            <p:cNvSpPr/>
            <p:nvPr/>
          </p:nvSpPr>
          <p:spPr>
            <a:xfrm>
              <a:off x="2351837" y="2176272"/>
              <a:ext cx="724205" cy="1645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64" name="Week number"/>
            <p:cNvSpPr txBox="1"/>
            <p:nvPr/>
          </p:nvSpPr>
          <p:spPr>
            <a:xfrm>
              <a:off x="2351837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3–4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65" name="Week cell"/>
            <p:cNvSpPr/>
            <p:nvPr/>
          </p:nvSpPr>
          <p:spPr>
            <a:xfrm>
              <a:off x="3076042" y="2176272"/>
              <a:ext cx="724205" cy="16459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66" name="Week number"/>
            <p:cNvSpPr txBox="1"/>
            <p:nvPr/>
          </p:nvSpPr>
          <p:spPr>
            <a:xfrm>
              <a:off x="3076042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5–6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67" name="Week cell"/>
            <p:cNvSpPr/>
            <p:nvPr/>
          </p:nvSpPr>
          <p:spPr>
            <a:xfrm>
              <a:off x="3800246" y="2176272"/>
              <a:ext cx="724205" cy="1645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68" name="Week number"/>
            <p:cNvSpPr txBox="1"/>
            <p:nvPr/>
          </p:nvSpPr>
          <p:spPr>
            <a:xfrm>
              <a:off x="3800246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7–8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69" name="Week cell"/>
            <p:cNvSpPr/>
            <p:nvPr/>
          </p:nvSpPr>
          <p:spPr>
            <a:xfrm>
              <a:off x="4524451" y="2176272"/>
              <a:ext cx="724205" cy="16459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70" name="Week number"/>
            <p:cNvSpPr txBox="1"/>
            <p:nvPr/>
          </p:nvSpPr>
          <p:spPr>
            <a:xfrm>
              <a:off x="4524451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9–10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71" name="Week cell"/>
            <p:cNvSpPr/>
            <p:nvPr/>
          </p:nvSpPr>
          <p:spPr>
            <a:xfrm>
              <a:off x="5248656" y="2176272"/>
              <a:ext cx="724205" cy="1645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72" name="Week number"/>
            <p:cNvSpPr txBox="1"/>
            <p:nvPr/>
          </p:nvSpPr>
          <p:spPr>
            <a:xfrm>
              <a:off x="5248656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11–12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73" name="Week cell"/>
            <p:cNvSpPr/>
            <p:nvPr/>
          </p:nvSpPr>
          <p:spPr>
            <a:xfrm>
              <a:off x="5972861" y="2176272"/>
              <a:ext cx="724205" cy="16459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74" name="Week number"/>
            <p:cNvSpPr txBox="1"/>
            <p:nvPr/>
          </p:nvSpPr>
          <p:spPr>
            <a:xfrm>
              <a:off x="5972861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13–14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75" name="Week cell"/>
            <p:cNvSpPr/>
            <p:nvPr/>
          </p:nvSpPr>
          <p:spPr>
            <a:xfrm>
              <a:off x="6697066" y="2176272"/>
              <a:ext cx="724205" cy="1645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76" name="Week number"/>
            <p:cNvSpPr txBox="1"/>
            <p:nvPr/>
          </p:nvSpPr>
          <p:spPr>
            <a:xfrm>
              <a:off x="6697066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15–16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77" name="Week cell"/>
            <p:cNvSpPr/>
            <p:nvPr/>
          </p:nvSpPr>
          <p:spPr>
            <a:xfrm>
              <a:off x="7421270" y="2176272"/>
              <a:ext cx="724205" cy="16459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78" name="Week number"/>
            <p:cNvSpPr txBox="1"/>
            <p:nvPr/>
          </p:nvSpPr>
          <p:spPr>
            <a:xfrm>
              <a:off x="7421270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17–18</a:t>
              </a:r>
              <a:endParaRPr lang="en-US" sz="580" dirty="0">
                <a:latin typeface="Inter Medium"/>
              </a:endParaRPr>
            </a:p>
          </p:txBody>
        </p:sp>
        <p:sp>
          <p:nvSpPr>
            <p:cNvPr id="79" name="Week cell"/>
            <p:cNvSpPr/>
            <p:nvPr/>
          </p:nvSpPr>
          <p:spPr>
            <a:xfrm>
              <a:off x="8145475" y="2176272"/>
              <a:ext cx="724205" cy="1645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</p:sp>
        <p:sp>
          <p:nvSpPr>
            <p:cNvPr id="80" name="Week number"/>
            <p:cNvSpPr txBox="1"/>
            <p:nvPr/>
          </p:nvSpPr>
          <p:spPr>
            <a:xfrm>
              <a:off x="8145475" y="2176272"/>
              <a:ext cx="72420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6C849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19–20</a:t>
              </a:r>
              <a:endParaRPr lang="en-US" sz="580" dirty="0">
                <a:latin typeface="Inter Medium"/>
              </a:endParaRPr>
            </a:p>
          </p:txBody>
        </p:sp>
      </p:grpSp>
      <p:grpSp>
        <p:nvGrpSpPr>
          <p:cNvPr id="81" name="Track · Application Design &amp; Project Kickoff"/>
          <p:cNvGrpSpPr/>
          <p:nvPr/>
        </p:nvGrpSpPr>
        <p:grpSpPr>
          <a:xfrm>
            <a:off x="274320" y="2395728"/>
            <a:ext cx="8595360" cy="299139"/>
            <a:chOff x="274320" y="2395728"/>
            <a:chExt cx="8595360" cy="299139"/>
          </a:xfrm>
        </p:grpSpPr>
        <p:sp>
          <p:nvSpPr>
            <p:cNvPr id="82" name="Phase label box"/>
            <p:cNvSpPr/>
            <p:nvPr/>
          </p:nvSpPr>
          <p:spPr>
            <a:xfrm>
              <a:off x="274320" y="2395728"/>
              <a:ext cx="1261872" cy="299139"/>
            </a:xfrm>
            <a:prstGeom prst="roundRect">
              <a:avLst>
                <a:gd name="adj" fmla="val 1222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83" name="Phase name"/>
            <p:cNvSpPr txBox="1"/>
            <p:nvPr/>
          </p:nvSpPr>
          <p:spPr>
            <a:xfrm>
              <a:off x="329184" y="2395728"/>
              <a:ext cx="1152144" cy="2991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36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Application Design &amp; Project Kickoff</a:t>
              </a:r>
              <a:endParaRPr lang="en-US" sz="640" dirty="0">
                <a:latin typeface="Inter SemiBold"/>
              </a:endParaRPr>
            </a:p>
          </p:txBody>
        </p:sp>
        <p:sp>
          <p:nvSpPr>
            <p:cNvPr id="84" name="Track"/>
            <p:cNvSpPr/>
            <p:nvPr/>
          </p:nvSpPr>
          <p:spPr>
            <a:xfrm>
              <a:off x="1627632" y="2395728"/>
              <a:ext cx="7242048" cy="299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prstDash val="sysDash"/>
              <a:round/>
            </a:ln>
          </p:spPr>
        </p:sp>
        <p:sp>
          <p:nvSpPr>
            <p:cNvPr id="85" name="Application Design &amp; Project Kickoff bar"/>
            <p:cNvSpPr/>
            <p:nvPr/>
          </p:nvSpPr>
          <p:spPr>
            <a:xfrm>
              <a:off x="1627632" y="2449286"/>
              <a:ext cx="724205" cy="192024"/>
            </a:xfrm>
            <a:prstGeom prst="roundRect">
              <a:avLst>
                <a:gd name="adj" fmla="val 16666"/>
              </a:avLst>
            </a:prstGeom>
            <a:solidFill>
              <a:srgbClr val="DCE8FE"/>
            </a:solidFill>
            <a:ln>
              <a:noFill/>
            </a:ln>
          </p:spPr>
        </p:sp>
        <p:sp>
          <p:nvSpPr>
            <p:cNvPr id="86" name="Bar note"/>
            <p:cNvSpPr txBox="1"/>
            <p:nvPr/>
          </p:nvSpPr>
          <p:spPr>
            <a:xfrm>
              <a:off x="1673352" y="2449286"/>
              <a:ext cx="632765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88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0E3FA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Requirements sign-off</a:t>
              </a:r>
              <a:endParaRPr lang="en-US" sz="560" dirty="0">
                <a:latin typeface="Inter Medium"/>
              </a:endParaRPr>
            </a:p>
          </p:txBody>
        </p:sp>
      </p:grpSp>
      <p:grpSp>
        <p:nvGrpSpPr>
          <p:cNvPr id="87" name="Track · Supply of Hardware"/>
          <p:cNvGrpSpPr/>
          <p:nvPr/>
        </p:nvGrpSpPr>
        <p:grpSpPr>
          <a:xfrm>
            <a:off x="274320" y="2717727"/>
            <a:ext cx="8595360" cy="299139"/>
            <a:chOff x="274320" y="2717727"/>
            <a:chExt cx="8595360" cy="299139"/>
          </a:xfrm>
        </p:grpSpPr>
        <p:sp>
          <p:nvSpPr>
            <p:cNvPr id="88" name="Phase label box"/>
            <p:cNvSpPr/>
            <p:nvPr/>
          </p:nvSpPr>
          <p:spPr>
            <a:xfrm>
              <a:off x="274320" y="2717727"/>
              <a:ext cx="1261872" cy="299139"/>
            </a:xfrm>
            <a:prstGeom prst="roundRect">
              <a:avLst>
                <a:gd name="adj" fmla="val 1222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89" name="Phase name"/>
            <p:cNvSpPr txBox="1"/>
            <p:nvPr/>
          </p:nvSpPr>
          <p:spPr>
            <a:xfrm>
              <a:off x="329184" y="2717727"/>
              <a:ext cx="1152144" cy="2991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36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Supply of Hardware</a:t>
              </a:r>
              <a:endParaRPr lang="en-US" sz="640" dirty="0">
                <a:latin typeface="Inter SemiBold"/>
              </a:endParaRPr>
            </a:p>
          </p:txBody>
        </p:sp>
        <p:sp>
          <p:nvSpPr>
            <p:cNvPr id="90" name="Track"/>
            <p:cNvSpPr/>
            <p:nvPr/>
          </p:nvSpPr>
          <p:spPr>
            <a:xfrm>
              <a:off x="1627632" y="2717727"/>
              <a:ext cx="7242048" cy="299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prstDash val="sysDash"/>
              <a:round/>
            </a:ln>
          </p:spPr>
        </p:sp>
        <p:sp>
          <p:nvSpPr>
            <p:cNvPr id="91" name="Supply of Hardware bar"/>
            <p:cNvSpPr/>
            <p:nvPr/>
          </p:nvSpPr>
          <p:spPr>
            <a:xfrm>
              <a:off x="2351837" y="2771285"/>
              <a:ext cx="2172614" cy="192024"/>
            </a:xfrm>
            <a:prstGeom prst="roundRect">
              <a:avLst>
                <a:gd name="adj" fmla="val 16666"/>
              </a:avLst>
            </a:prstGeom>
            <a:solidFill>
              <a:srgbClr val="DCE8FE"/>
            </a:solidFill>
            <a:ln>
              <a:noFill/>
            </a:ln>
          </p:spPr>
        </p:sp>
        <p:sp>
          <p:nvSpPr>
            <p:cNvPr id="92" name="Bar note"/>
            <p:cNvSpPr txBox="1"/>
            <p:nvPr/>
          </p:nvSpPr>
          <p:spPr>
            <a:xfrm>
              <a:off x="2397557" y="2771285"/>
              <a:ext cx="208117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88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0E3FA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IPC for the Hydrotester station</a:t>
              </a:r>
              <a:endParaRPr lang="en-US" sz="560" dirty="0">
                <a:latin typeface="Inter Medium"/>
              </a:endParaRPr>
            </a:p>
          </p:txBody>
        </p:sp>
      </p:grpSp>
      <p:grpSp>
        <p:nvGrpSpPr>
          <p:cNvPr id="93" name="Track · Application Development"/>
          <p:cNvGrpSpPr/>
          <p:nvPr/>
        </p:nvGrpSpPr>
        <p:grpSpPr>
          <a:xfrm>
            <a:off x="274320" y="3039727"/>
            <a:ext cx="8595360" cy="299139"/>
            <a:chOff x="274320" y="3039727"/>
            <a:chExt cx="8595360" cy="299139"/>
          </a:xfrm>
        </p:grpSpPr>
        <p:sp>
          <p:nvSpPr>
            <p:cNvPr id="94" name="Phase label box"/>
            <p:cNvSpPr/>
            <p:nvPr/>
          </p:nvSpPr>
          <p:spPr>
            <a:xfrm>
              <a:off x="274320" y="3039727"/>
              <a:ext cx="1261872" cy="299139"/>
            </a:xfrm>
            <a:prstGeom prst="roundRect">
              <a:avLst>
                <a:gd name="adj" fmla="val 1222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95" name="Phase name"/>
            <p:cNvSpPr txBox="1"/>
            <p:nvPr/>
          </p:nvSpPr>
          <p:spPr>
            <a:xfrm>
              <a:off x="329184" y="3039727"/>
              <a:ext cx="1152144" cy="2991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36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Application Development</a:t>
              </a:r>
              <a:endParaRPr lang="en-US" sz="640" dirty="0">
                <a:latin typeface="Inter SemiBold"/>
              </a:endParaRPr>
            </a:p>
          </p:txBody>
        </p:sp>
        <p:sp>
          <p:nvSpPr>
            <p:cNvPr id="96" name="Track"/>
            <p:cNvSpPr/>
            <p:nvPr/>
          </p:nvSpPr>
          <p:spPr>
            <a:xfrm>
              <a:off x="1627632" y="3039727"/>
              <a:ext cx="7242048" cy="299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prstDash val="sysDash"/>
              <a:round/>
            </a:ln>
          </p:spPr>
        </p:sp>
        <p:sp>
          <p:nvSpPr>
            <p:cNvPr id="97" name="Application Development bar"/>
            <p:cNvSpPr/>
            <p:nvPr/>
          </p:nvSpPr>
          <p:spPr>
            <a:xfrm>
              <a:off x="2351837" y="3093285"/>
              <a:ext cx="2172614" cy="192024"/>
            </a:xfrm>
            <a:prstGeom prst="roundRect">
              <a:avLst>
                <a:gd name="adj" fmla="val 16666"/>
              </a:avLst>
            </a:prstGeom>
            <a:solidFill>
              <a:srgbClr val="DCE8FE"/>
            </a:solidFill>
            <a:ln>
              <a:noFill/>
            </a:ln>
          </p:spPr>
        </p:sp>
        <p:sp>
          <p:nvSpPr>
            <p:cNvPr id="98" name="Bar note"/>
            <p:cNvSpPr txBox="1"/>
            <p:nvPr/>
          </p:nvSpPr>
          <p:spPr>
            <a:xfrm>
              <a:off x="2397557" y="3093285"/>
              <a:ext cx="208117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88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0E3FA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SAP Entry App  ·  Graph App  ·  Report Parser</a:t>
              </a:r>
              <a:endParaRPr lang="en-US" sz="560" dirty="0">
                <a:latin typeface="Inter Medium"/>
              </a:endParaRPr>
            </a:p>
          </p:txBody>
        </p:sp>
      </p:grpSp>
      <p:grpSp>
        <p:nvGrpSpPr>
          <p:cNvPr id="99" name="Track · SAP Integration"/>
          <p:cNvGrpSpPr/>
          <p:nvPr/>
        </p:nvGrpSpPr>
        <p:grpSpPr>
          <a:xfrm>
            <a:off x="274320" y="3361726"/>
            <a:ext cx="8595360" cy="299139"/>
            <a:chOff x="274320" y="3361726"/>
            <a:chExt cx="8595360" cy="299139"/>
          </a:xfrm>
        </p:grpSpPr>
        <p:sp>
          <p:nvSpPr>
            <p:cNvPr id="100" name="Phase label box"/>
            <p:cNvSpPr/>
            <p:nvPr/>
          </p:nvSpPr>
          <p:spPr>
            <a:xfrm>
              <a:off x="274320" y="3361726"/>
              <a:ext cx="1261872" cy="299139"/>
            </a:xfrm>
            <a:prstGeom prst="roundRect">
              <a:avLst>
                <a:gd name="adj" fmla="val 1222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101" name="Phase name"/>
            <p:cNvSpPr txBox="1"/>
            <p:nvPr/>
          </p:nvSpPr>
          <p:spPr>
            <a:xfrm>
              <a:off x="329184" y="3361726"/>
              <a:ext cx="1152144" cy="2991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36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Integration</a:t>
              </a:r>
              <a:endParaRPr lang="en-US" sz="640" dirty="0">
                <a:latin typeface="Inter SemiBold"/>
              </a:endParaRPr>
            </a:p>
          </p:txBody>
        </p:sp>
        <p:sp>
          <p:nvSpPr>
            <p:cNvPr id="102" name="Track"/>
            <p:cNvSpPr/>
            <p:nvPr/>
          </p:nvSpPr>
          <p:spPr>
            <a:xfrm>
              <a:off x="1627632" y="3361726"/>
              <a:ext cx="7242048" cy="299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prstDash val="sysDash"/>
              <a:round/>
            </a:ln>
          </p:spPr>
        </p:sp>
        <p:sp>
          <p:nvSpPr>
            <p:cNvPr id="103" name="SAP Integration bar"/>
            <p:cNvSpPr/>
            <p:nvPr/>
          </p:nvSpPr>
          <p:spPr>
            <a:xfrm>
              <a:off x="4524451" y="3415284"/>
              <a:ext cx="1086307" cy="192024"/>
            </a:xfrm>
            <a:prstGeom prst="roundRect">
              <a:avLst>
                <a:gd name="adj" fmla="val 16666"/>
              </a:avLst>
            </a:prstGeom>
            <a:solidFill>
              <a:srgbClr val="FFE1CC"/>
            </a:solidFill>
            <a:ln>
              <a:noFill/>
            </a:ln>
          </p:spPr>
        </p:sp>
        <p:sp>
          <p:nvSpPr>
            <p:cNvPr id="104" name="Bar note"/>
            <p:cNvSpPr txBox="1"/>
            <p:nvPr/>
          </p:nvSpPr>
          <p:spPr>
            <a:xfrm>
              <a:off x="4570171" y="3415284"/>
              <a:ext cx="994867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88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C65C1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SAP endpoints needed</a:t>
              </a:r>
              <a:endParaRPr lang="en-US" sz="560" dirty="0">
                <a:latin typeface="Inter Medium"/>
              </a:endParaRPr>
            </a:p>
          </p:txBody>
        </p:sp>
      </p:grpSp>
      <p:grpSp>
        <p:nvGrpSpPr>
          <p:cNvPr id="105" name="Track · Installation &amp; Commissioning"/>
          <p:cNvGrpSpPr/>
          <p:nvPr/>
        </p:nvGrpSpPr>
        <p:grpSpPr>
          <a:xfrm>
            <a:off x="274320" y="3683726"/>
            <a:ext cx="8595360" cy="299139"/>
            <a:chOff x="274320" y="3683726"/>
            <a:chExt cx="8595360" cy="299139"/>
          </a:xfrm>
        </p:grpSpPr>
        <p:sp>
          <p:nvSpPr>
            <p:cNvPr id="106" name="Phase label box"/>
            <p:cNvSpPr/>
            <p:nvPr/>
          </p:nvSpPr>
          <p:spPr>
            <a:xfrm>
              <a:off x="274320" y="3683726"/>
              <a:ext cx="1261872" cy="299139"/>
            </a:xfrm>
            <a:prstGeom prst="roundRect">
              <a:avLst>
                <a:gd name="adj" fmla="val 1222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107" name="Phase name"/>
            <p:cNvSpPr txBox="1"/>
            <p:nvPr/>
          </p:nvSpPr>
          <p:spPr>
            <a:xfrm>
              <a:off x="329184" y="3683726"/>
              <a:ext cx="1152144" cy="2991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36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Installation &amp; Commissioning</a:t>
              </a:r>
              <a:endParaRPr lang="en-US" sz="640" dirty="0">
                <a:latin typeface="Inter SemiBold"/>
              </a:endParaRPr>
            </a:p>
          </p:txBody>
        </p:sp>
        <p:sp>
          <p:nvSpPr>
            <p:cNvPr id="108" name="Track"/>
            <p:cNvSpPr/>
            <p:nvPr/>
          </p:nvSpPr>
          <p:spPr>
            <a:xfrm>
              <a:off x="1627632" y="3683726"/>
              <a:ext cx="7242048" cy="299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prstDash val="sysDash"/>
              <a:round/>
            </a:ln>
          </p:spPr>
        </p:sp>
        <p:sp>
          <p:nvSpPr>
            <p:cNvPr id="109" name="Installation &amp; Commissioning bar"/>
            <p:cNvSpPr/>
            <p:nvPr/>
          </p:nvSpPr>
          <p:spPr>
            <a:xfrm>
              <a:off x="5610758" y="3737283"/>
              <a:ext cx="1448410" cy="192024"/>
            </a:xfrm>
            <a:prstGeom prst="roundRect">
              <a:avLst>
                <a:gd name="adj" fmla="val 16666"/>
              </a:avLst>
            </a:prstGeom>
            <a:solidFill>
              <a:srgbClr val="FFE1CC"/>
            </a:solidFill>
            <a:ln>
              <a:noFill/>
            </a:ln>
          </p:spPr>
        </p:sp>
        <p:sp>
          <p:nvSpPr>
            <p:cNvPr id="110" name="Bar note"/>
            <p:cNvSpPr txBox="1"/>
            <p:nvPr/>
          </p:nvSpPr>
          <p:spPr>
            <a:xfrm>
              <a:off x="5656478" y="3737283"/>
              <a:ext cx="135697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88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C65C1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IUT  ·  FUT  ·  Hydrotester</a:t>
              </a:r>
              <a:endParaRPr lang="en-US" sz="560" dirty="0">
                <a:latin typeface="Inter Medium"/>
              </a:endParaRPr>
            </a:p>
          </p:txBody>
        </p:sp>
      </p:grpSp>
      <p:grpSp>
        <p:nvGrpSpPr>
          <p:cNvPr id="111" name="Track · UAT &amp; Training"/>
          <p:cNvGrpSpPr/>
          <p:nvPr/>
        </p:nvGrpSpPr>
        <p:grpSpPr>
          <a:xfrm>
            <a:off x="274320" y="4005725"/>
            <a:ext cx="8595360" cy="299139"/>
            <a:chOff x="274320" y="4005725"/>
            <a:chExt cx="8595360" cy="299139"/>
          </a:xfrm>
        </p:grpSpPr>
        <p:sp>
          <p:nvSpPr>
            <p:cNvPr id="112" name="Phase label box"/>
            <p:cNvSpPr/>
            <p:nvPr/>
          </p:nvSpPr>
          <p:spPr>
            <a:xfrm>
              <a:off x="274320" y="4005725"/>
              <a:ext cx="1261872" cy="299139"/>
            </a:xfrm>
            <a:prstGeom prst="roundRect">
              <a:avLst>
                <a:gd name="adj" fmla="val 1222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113" name="Phase name"/>
            <p:cNvSpPr txBox="1"/>
            <p:nvPr/>
          </p:nvSpPr>
          <p:spPr>
            <a:xfrm>
              <a:off x="329184" y="4005725"/>
              <a:ext cx="1152144" cy="2991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36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UAT &amp; Training</a:t>
              </a:r>
              <a:endParaRPr lang="en-US" sz="640" dirty="0">
                <a:latin typeface="Inter SemiBold"/>
              </a:endParaRPr>
            </a:p>
          </p:txBody>
        </p:sp>
        <p:sp>
          <p:nvSpPr>
            <p:cNvPr id="114" name="Track"/>
            <p:cNvSpPr/>
            <p:nvPr/>
          </p:nvSpPr>
          <p:spPr>
            <a:xfrm>
              <a:off x="1627632" y="4005725"/>
              <a:ext cx="7242048" cy="299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prstDash val="sysDash"/>
              <a:round/>
            </a:ln>
          </p:spPr>
        </p:sp>
        <p:sp>
          <p:nvSpPr>
            <p:cNvPr id="115" name="UAT &amp; Training bar"/>
            <p:cNvSpPr/>
            <p:nvPr/>
          </p:nvSpPr>
          <p:spPr>
            <a:xfrm>
              <a:off x="7059168" y="4059283"/>
              <a:ext cx="1086307" cy="192024"/>
            </a:xfrm>
            <a:prstGeom prst="roundRect">
              <a:avLst>
                <a:gd name="adj" fmla="val 16666"/>
              </a:avLst>
            </a:prstGeom>
            <a:solidFill>
              <a:srgbClr val="DAF5E8"/>
            </a:solidFill>
            <a:ln>
              <a:noFill/>
            </a:ln>
          </p:spPr>
        </p:sp>
        <p:sp>
          <p:nvSpPr>
            <p:cNvPr id="116" name="Bar note"/>
            <p:cNvSpPr txBox="1"/>
            <p:nvPr/>
          </p:nvSpPr>
          <p:spPr>
            <a:xfrm>
              <a:off x="7104888" y="4059283"/>
              <a:ext cx="994867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88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00874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UAT, then operator training</a:t>
              </a:r>
              <a:endParaRPr lang="en-US" sz="560" dirty="0">
                <a:latin typeface="Inter Medium"/>
              </a:endParaRPr>
            </a:p>
          </p:txBody>
        </p:sp>
      </p:grpSp>
      <p:grpSp>
        <p:nvGrpSpPr>
          <p:cNvPr id="117" name="Track · Handover &amp; Hypercare"/>
          <p:cNvGrpSpPr/>
          <p:nvPr/>
        </p:nvGrpSpPr>
        <p:grpSpPr>
          <a:xfrm>
            <a:off x="274320" y="4327725"/>
            <a:ext cx="8595360" cy="299139"/>
            <a:chOff x="274320" y="4327725"/>
            <a:chExt cx="8595360" cy="299139"/>
          </a:xfrm>
        </p:grpSpPr>
        <p:sp>
          <p:nvSpPr>
            <p:cNvPr id="118" name="Phase label box"/>
            <p:cNvSpPr/>
            <p:nvPr/>
          </p:nvSpPr>
          <p:spPr>
            <a:xfrm>
              <a:off x="274320" y="4327725"/>
              <a:ext cx="1261872" cy="299139"/>
            </a:xfrm>
            <a:prstGeom prst="roundRect">
              <a:avLst>
                <a:gd name="adj" fmla="val 12227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</p:sp>
        <p:sp>
          <p:nvSpPr>
            <p:cNvPr id="119" name="Phase name"/>
            <p:cNvSpPr txBox="1"/>
            <p:nvPr/>
          </p:nvSpPr>
          <p:spPr>
            <a:xfrm>
              <a:off x="329184" y="4327725"/>
              <a:ext cx="1152144" cy="2991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36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Handover &amp; Hypercare</a:t>
              </a:r>
              <a:endParaRPr lang="en-US" sz="640" dirty="0">
                <a:latin typeface="Inter SemiBold"/>
              </a:endParaRPr>
            </a:p>
          </p:txBody>
        </p:sp>
        <p:sp>
          <p:nvSpPr>
            <p:cNvPr id="120" name="Track"/>
            <p:cNvSpPr/>
            <p:nvPr/>
          </p:nvSpPr>
          <p:spPr>
            <a:xfrm>
              <a:off x="1627632" y="4327725"/>
              <a:ext cx="7242048" cy="299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2"/>
              </a:solidFill>
              <a:prstDash val="sysDash"/>
              <a:round/>
            </a:ln>
          </p:spPr>
        </p:sp>
        <p:sp>
          <p:nvSpPr>
            <p:cNvPr id="121" name="Handover &amp; Hypercare bar"/>
            <p:cNvSpPr/>
            <p:nvPr/>
          </p:nvSpPr>
          <p:spPr>
            <a:xfrm>
              <a:off x="8145475" y="4381282"/>
              <a:ext cx="724205" cy="192024"/>
            </a:xfrm>
            <a:prstGeom prst="roundRect">
              <a:avLst>
                <a:gd name="adj" fmla="val 16666"/>
              </a:avLst>
            </a:prstGeom>
            <a:solidFill>
              <a:srgbClr val="DAF5E8"/>
            </a:solidFill>
            <a:ln>
              <a:noFill/>
            </a:ln>
          </p:spPr>
        </p:sp>
        <p:sp>
          <p:nvSpPr>
            <p:cNvPr id="122" name="Bar note"/>
            <p:cNvSpPr txBox="1"/>
            <p:nvPr/>
          </p:nvSpPr>
          <p:spPr>
            <a:xfrm>
              <a:off x="8191195" y="4381282"/>
              <a:ext cx="632765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88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00874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Post go-live support begins</a:t>
              </a:r>
              <a:endParaRPr lang="en-US" sz="560" dirty="0">
                <a:latin typeface="Inter Medium"/>
              </a:endParaRPr>
            </a:p>
          </p:txBody>
        </p:sp>
      </p:grpSp>
      <p:grpSp>
        <p:nvGrpSpPr>
          <p:cNvPr id="123" name="Basis note"/>
          <p:cNvGrpSpPr/>
          <p:nvPr/>
        </p:nvGrpSpPr>
        <p:grpSpPr>
          <a:xfrm>
            <a:off x="274320" y="4663440"/>
            <a:ext cx="8595360" cy="182880"/>
            <a:chOff x="274320" y="4663440"/>
            <a:chExt cx="8595360" cy="182880"/>
          </a:xfrm>
        </p:grpSpPr>
        <p:sp>
          <p:nvSpPr>
            <p:cNvPr id="124" name="Note strip"/>
            <p:cNvSpPr/>
            <p:nvPr/>
          </p:nvSpPr>
          <p:spPr>
            <a:xfrm>
              <a:off x="274320" y="4663440"/>
              <a:ext cx="8595360" cy="182880"/>
            </a:xfrm>
            <a:prstGeom prst="roundRect">
              <a:avLst>
                <a:gd name="adj" fmla="val 15000"/>
              </a:avLst>
            </a:prstGeom>
            <a:solidFill>
              <a:srgbClr val="F8FAFC"/>
            </a:solidFill>
            <a:ln w="6350">
              <a:solidFill>
                <a:srgbClr val="E3EAF3"/>
              </a:solidFill>
              <a:round/>
            </a:ln>
          </p:spPr>
        </p:sp>
        <p:sp>
          <p:nvSpPr>
            <p:cNvPr id="125" name="Basis text"/>
            <p:cNvSpPr txBox="1"/>
            <p:nvPr/>
          </p:nvSpPr>
          <p:spPr>
            <a:xfrm>
              <a:off x="365760" y="4663440"/>
              <a:ext cx="8412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590"/>
                </a:lnSpc>
                <a:spcBef>
                  <a:spcPts val="0"/>
                </a:spcBef>
                <a:buNone/>
              </a:pPr>
              <a:r>
                <a:rPr lang="en-US" sz="59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Basis:</a:t>
              </a:r>
              <a:r>
                <a:rPr lang="en-US" sz="59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 123.7 mandays  ·  6-day week  ·  roles working in parallel.  Application development and SAP integration follow the effort estimate; hardware lead time, commissioning, UAT and hypercare are indicative and to be confirmed.</a:t>
              </a:r>
              <a:endParaRPr lang="en-US" sz="590" dirty="0">
                <a:latin typeface="Inter"/>
              </a:endParaRPr>
            </a:p>
          </p:txBody>
        </p:sp>
      </p:grpSp>
      <p:grpSp>
        <p:nvGrpSpPr>
          <p:cNvPr id="126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27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28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01  ·  UT STATIONS (IUT &amp; FUT)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Commercials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Commercial summary for the UT stations project (IUT &amp; FUT).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21" name="Commercial table"/>
          <p:cNvGraphicFramePr>
            <a:graphicFrameLocks noGrp="1"/>
          </p:cNvGraphicFramePr>
          <p:nvPr/>
        </p:nvGraphicFramePr>
        <p:xfrm>
          <a:off x="274320" y="1060704"/>
          <a:ext cx="8595360" cy="2505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1480"/>
                <a:gridCol w="2240280"/>
                <a:gridCol w="3886200"/>
                <a:gridCol w="96012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#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LINE ITEM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DESCRIPTION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TYPE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AMOUNT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01</a:t>
                      </a:r>
                      <a:endParaRPr lang="en-US" sz="900" dirty="0">
                        <a:solidFill>
                          <a:srgbClr val="165FF2"/>
                        </a:solidFill>
                        <a:latin typeface="TASA Orbi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Software development &amp; implementation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SAP Entry Application for the IUT &amp; FUT stations: development, SAP integration and deployment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2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One-time</a:t>
                      </a:r>
                      <a:endParaRPr lang="en-US" sz="72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endParaRPr lang="en-US" sz="900" dirty="0">
                        <a:solidFill>
                          <a:srgbClr val="0C1927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4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02</a:t>
                      </a:r>
                      <a:endParaRPr lang="en-US" sz="900" dirty="0">
                        <a:solidFill>
                          <a:srgbClr val="165FF2"/>
                        </a:solidFill>
                        <a:latin typeface="TASA Orbi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IOsense platform licence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Platform licence for the central server deployment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2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</a:t>
                      </a:r>
                      <a:endParaRPr lang="en-US" sz="72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endParaRPr lang="en-US" sz="900" dirty="0">
                        <a:solidFill>
                          <a:srgbClr val="0C1927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4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03</a:t>
                      </a:r>
                      <a:endParaRPr lang="en-US" sz="900" dirty="0">
                        <a:solidFill>
                          <a:srgbClr val="165FF2"/>
                        </a:solidFill>
                        <a:latin typeface="TASA Orbi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 support / AMC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Annual maintenance and support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2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</a:t>
                      </a:r>
                      <a:endParaRPr lang="en-US" sz="72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endParaRPr lang="en-US" sz="900" dirty="0">
                        <a:solidFill>
                          <a:srgbClr val="0C1927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4F8FF"/>
                    </a:solidFill>
                  </a:tcPr>
                </a:tc>
              </a:tr>
            </a:tbl>
          </a:graphicData>
        </a:graphic>
      </p:graphicFrame>
      <p:grpSp>
        <p:nvGrpSpPr>
          <p:cNvPr id="22" name="One-time total"/>
          <p:cNvGrpSpPr/>
          <p:nvPr/>
        </p:nvGrpSpPr>
        <p:grpSpPr>
          <a:xfrm>
            <a:off x="274320" y="3767328"/>
            <a:ext cx="4224528" cy="1005840"/>
            <a:chOff x="274320" y="3767328"/>
            <a:chExt cx="4224528" cy="1005840"/>
          </a:xfrm>
        </p:grpSpPr>
        <p:sp>
          <p:nvSpPr>
            <p:cNvPr id="23" name="Summary tile"/>
            <p:cNvSpPr/>
            <p:nvPr/>
          </p:nvSpPr>
          <p:spPr>
            <a:xfrm>
              <a:off x="274320" y="3767328"/>
              <a:ext cx="4224528" cy="1005840"/>
            </a:xfrm>
            <a:prstGeom prst="roundRect">
              <a:avLst>
                <a:gd name="adj" fmla="val 6363"/>
              </a:avLst>
            </a:prstGeom>
            <a:solidFill>
              <a:srgbClr val="165FF2"/>
            </a:solidFill>
            <a:ln>
              <a:noFill/>
            </a:ln>
          </p:spPr>
        </p:sp>
        <p:sp>
          <p:nvSpPr>
            <p:cNvPr id="24" name="Icon wallet"/>
            <p:cNvSpPr/>
            <p:nvPr/>
          </p:nvSpPr>
          <p:spPr>
            <a:xfrm>
              <a:off x="438912" y="393192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7000"/>
                  </a:moveTo>
                  <a:lnTo>
                    <a:pt x="19000" y="4000"/>
                  </a:lnTo>
                  <a:cubicBezTo>
                    <a:pt x="19000" y="3824"/>
                    <a:pt x="18953" y="3652"/>
                    <a:pt x="18866" y="3500"/>
                  </a:cubicBezTo>
                  <a:cubicBezTo>
                    <a:pt x="18778" y="3347"/>
                    <a:pt x="18652" y="3221"/>
                    <a:pt x="18500" y="3133"/>
                  </a:cubicBezTo>
                  <a:cubicBezTo>
                    <a:pt x="18347" y="3046"/>
                    <a:pt x="18175" y="3000"/>
                    <a:pt x="18000" y="3000"/>
                  </a:cubicBezTo>
                  <a:lnTo>
                    <a:pt x="5000" y="3000"/>
                  </a:lnTo>
                  <a:cubicBezTo>
                    <a:pt x="4648" y="3000"/>
                    <a:pt x="4304" y="3092"/>
                    <a:pt x="4000" y="3267"/>
                  </a:cubicBezTo>
                  <a:cubicBezTo>
                    <a:pt x="3695" y="3443"/>
                    <a:pt x="3443" y="3695"/>
                    <a:pt x="3267" y="3999"/>
                  </a:cubicBezTo>
                  <a:cubicBezTo>
                    <a:pt x="3092" y="4304"/>
                    <a:pt x="3000" y="4648"/>
                    <a:pt x="3000" y="4999"/>
                  </a:cubicBezTo>
                  <a:cubicBezTo>
                    <a:pt x="3000" y="5351"/>
                    <a:pt x="3092" y="5695"/>
                    <a:pt x="3267" y="5999"/>
                  </a:cubicBezTo>
                  <a:cubicBezTo>
                    <a:pt x="3443" y="6304"/>
                    <a:pt x="3695" y="6556"/>
                    <a:pt x="3999" y="6732"/>
                  </a:cubicBezTo>
                  <a:cubicBezTo>
                    <a:pt x="4304" y="6907"/>
                    <a:pt x="4648" y="7000"/>
                    <a:pt x="5000" y="7000"/>
                  </a:cubicBezTo>
                  <a:lnTo>
                    <a:pt x="20000" y="7000"/>
                  </a:lnTo>
                  <a:cubicBezTo>
                    <a:pt x="20175" y="7000"/>
                    <a:pt x="20347" y="7046"/>
                    <a:pt x="20500" y="7133"/>
                  </a:cubicBezTo>
                  <a:cubicBezTo>
                    <a:pt x="20652" y="7221"/>
                    <a:pt x="20778" y="7347"/>
                    <a:pt x="20866" y="7500"/>
                  </a:cubicBezTo>
                  <a:cubicBezTo>
                    <a:pt x="20953" y="7652"/>
                    <a:pt x="21000" y="7824"/>
                    <a:pt x="21000" y="8000"/>
                  </a:cubicBezTo>
                  <a:lnTo>
                    <a:pt x="21000" y="12000"/>
                  </a:lnTo>
                  <a:lnTo>
                    <a:pt x="18000" y="12000"/>
                  </a:lnTo>
                  <a:cubicBezTo>
                    <a:pt x="17648" y="12000"/>
                    <a:pt x="17304" y="12092"/>
                    <a:pt x="17000" y="12267"/>
                  </a:cubicBezTo>
                  <a:cubicBezTo>
                    <a:pt x="16695" y="12443"/>
                    <a:pt x="16443" y="12695"/>
                    <a:pt x="16267" y="13000"/>
                  </a:cubicBezTo>
                  <a:cubicBezTo>
                    <a:pt x="16092" y="13304"/>
                    <a:pt x="16000" y="13648"/>
                    <a:pt x="16000" y="13999"/>
                  </a:cubicBezTo>
                  <a:cubicBezTo>
                    <a:pt x="16000" y="14351"/>
                    <a:pt x="16092" y="14695"/>
                    <a:pt x="16267" y="14999"/>
                  </a:cubicBezTo>
                  <a:cubicBezTo>
                    <a:pt x="16443" y="15304"/>
                    <a:pt x="16695" y="15556"/>
                    <a:pt x="17000" y="15732"/>
                  </a:cubicBezTo>
                  <a:cubicBezTo>
                    <a:pt x="17304" y="15907"/>
                    <a:pt x="17648" y="16000"/>
                    <a:pt x="18000" y="16000"/>
                  </a:cubicBezTo>
                  <a:lnTo>
                    <a:pt x="21000" y="16000"/>
                  </a:lnTo>
                  <a:cubicBezTo>
                    <a:pt x="21175" y="16000"/>
                    <a:pt x="21347" y="15953"/>
                    <a:pt x="21500" y="15866"/>
                  </a:cubicBezTo>
                  <a:cubicBezTo>
                    <a:pt x="21652" y="15778"/>
                    <a:pt x="21778" y="15652"/>
                    <a:pt x="21866" y="15500"/>
                  </a:cubicBezTo>
                  <a:cubicBezTo>
                    <a:pt x="21953" y="15347"/>
                    <a:pt x="22000" y="15175"/>
                    <a:pt x="22000" y="15000"/>
                  </a:cubicBezTo>
                  <a:lnTo>
                    <a:pt x="22000" y="13000"/>
                  </a:lnTo>
                  <a:cubicBezTo>
                    <a:pt x="22000" y="12824"/>
                    <a:pt x="21953" y="12652"/>
                    <a:pt x="21866" y="12500"/>
                  </a:cubicBezTo>
                  <a:cubicBezTo>
                    <a:pt x="21778" y="12347"/>
                    <a:pt x="21652" y="12221"/>
                    <a:pt x="21500" y="12133"/>
                  </a:cubicBezTo>
                  <a:cubicBezTo>
                    <a:pt x="21347" y="12046"/>
                    <a:pt x="21175" y="12000"/>
                    <a:pt x="21000" y="12000"/>
                  </a:cubicBezTo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351"/>
                    <a:pt x="3092" y="19695"/>
                    <a:pt x="3267" y="20000"/>
                  </a:cubicBezTo>
                  <a:cubicBezTo>
                    <a:pt x="3443" y="20304"/>
                    <a:pt x="3695" y="20556"/>
                    <a:pt x="3999" y="20732"/>
                  </a:cubicBezTo>
                  <a:cubicBezTo>
                    <a:pt x="4304" y="20907"/>
                    <a:pt x="4648" y="21000"/>
                    <a:pt x="5000" y="21000"/>
                  </a:cubicBezTo>
                  <a:lnTo>
                    <a:pt x="20000" y="21000"/>
                  </a:lnTo>
                  <a:cubicBezTo>
                    <a:pt x="20175" y="21000"/>
                    <a:pt x="20347" y="20953"/>
                    <a:pt x="20500" y="20866"/>
                  </a:cubicBezTo>
                  <a:cubicBezTo>
                    <a:pt x="20652" y="20778"/>
                    <a:pt x="20778" y="20652"/>
                    <a:pt x="20866" y="20500"/>
                  </a:cubicBezTo>
                  <a:cubicBezTo>
                    <a:pt x="20953" y="20347"/>
                    <a:pt x="21000" y="20175"/>
                    <a:pt x="21000" y="20000"/>
                  </a:cubicBezTo>
                  <a:lnTo>
                    <a:pt x="21000" y="16000"/>
                  </a:lnTo>
                </a:path>
              </a:pathLst>
            </a:custGeom>
            <a:noFill/>
            <a:ln w="17373" cap="rnd">
              <a:solidFill>
                <a:srgbClr val="FFFFFF"/>
              </a:solidFill>
              <a:round/>
            </a:ln>
          </p:spPr>
        </p:sp>
        <p:sp>
          <p:nvSpPr>
            <p:cNvPr id="25" name="Summary label"/>
            <p:cNvSpPr txBox="1"/>
            <p:nvPr/>
          </p:nvSpPr>
          <p:spPr>
            <a:xfrm>
              <a:off x="749808" y="390448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90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One-time total</a:t>
              </a:r>
              <a:endParaRPr lang="en-US" sz="900" dirty="0">
                <a:latin typeface="Inter SemiBold"/>
              </a:endParaRPr>
            </a:p>
          </p:txBody>
        </p:sp>
        <p:sp>
          <p:nvSpPr>
            <p:cNvPr id="26" name="Summary items"/>
            <p:cNvSpPr txBox="1"/>
            <p:nvPr/>
          </p:nvSpPr>
          <p:spPr>
            <a:xfrm>
              <a:off x="438912" y="4261104"/>
              <a:ext cx="2468880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36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DCE8FE"/>
                  </a:solidFill>
                  <a:latin typeface="Inter"/>
                  <a:ea typeface="Inter"/>
                  <a:cs typeface="Inter"/>
                  <a:sym typeface="Inter"/>
                </a:rPr>
                <a:t>Software development &amp; implementation</a:t>
              </a:r>
              <a:endParaRPr lang="en-US" sz="720" dirty="0">
                <a:latin typeface="Inter"/>
              </a:endParaRPr>
            </a:p>
          </p:txBody>
        </p:sp>
        <p:sp>
          <p:nvSpPr>
            <p:cNvPr id="27" name="Summary amount (editable)"/>
            <p:cNvSpPr/>
            <p:nvPr/>
          </p:nvSpPr>
          <p:spPr>
            <a:xfrm>
              <a:off x="2852928" y="4059936"/>
              <a:ext cx="1463040" cy="420624"/>
            </a:xfrm>
            <a:prstGeom prst="roundRect">
              <a:avLst>
                <a:gd name="adj" fmla="val 8695"/>
              </a:avLst>
            </a:prstGeom>
            <a:noFill/>
            <a:ln w="9525">
              <a:solidFill>
                <a:srgbClr val="5A8DF7"/>
              </a:solidFill>
              <a:prstDash val="dash"/>
              <a:round/>
            </a:ln>
          </p:spPr>
          <p:txBody>
            <a:bodyPr wrap="square" lIns="73152" tIns="0" rIns="91440" bIns="0" anchor="ctr" rtlCol="0">
              <a:noAutofit/>
            </a:bodyPr>
            <a:lstStyle/>
            <a:p>
              <a:pPr algn="r">
                <a:lnSpc>
                  <a:spcPts val="2000"/>
                </a:lnSpc>
                <a:spcBef>
                  <a:spcPts val="0"/>
                </a:spcBef>
                <a:buNone/>
              </a:pPr>
              <a:endParaRPr lang="en-US" sz="1600" dirty="0">
                <a:latin typeface="TASA Orbiter SemiBold"/>
              </a:endParaRPr>
            </a:p>
          </p:txBody>
        </p:sp>
      </p:grpSp>
      <p:grpSp>
        <p:nvGrpSpPr>
          <p:cNvPr id="28" name="Annual recurring total"/>
          <p:cNvGrpSpPr/>
          <p:nvPr/>
        </p:nvGrpSpPr>
        <p:grpSpPr>
          <a:xfrm>
            <a:off x="4645152" y="3767328"/>
            <a:ext cx="4224528" cy="1005840"/>
            <a:chOff x="4645152" y="3767328"/>
            <a:chExt cx="4224528" cy="1005840"/>
          </a:xfrm>
        </p:grpSpPr>
        <p:sp>
          <p:nvSpPr>
            <p:cNvPr id="29" name="Summary tile"/>
            <p:cNvSpPr/>
            <p:nvPr/>
          </p:nvSpPr>
          <p:spPr>
            <a:xfrm>
              <a:off x="4645152" y="3767328"/>
              <a:ext cx="4224528" cy="1005840"/>
            </a:xfrm>
            <a:prstGeom prst="roundRect">
              <a:avLst>
                <a:gd name="adj" fmla="val 636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30" name="Icon refresh-cw"/>
            <p:cNvSpPr/>
            <p:nvPr/>
          </p:nvSpPr>
          <p:spPr>
            <a:xfrm>
              <a:off x="4809744" y="393192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2000"/>
                  </a:moveTo>
                  <a:cubicBezTo>
                    <a:pt x="3000" y="10420"/>
                    <a:pt x="3415" y="8868"/>
                    <a:pt x="4205" y="7500"/>
                  </a:cubicBezTo>
                  <a:cubicBezTo>
                    <a:pt x="4995" y="6131"/>
                    <a:pt x="6131" y="4995"/>
                    <a:pt x="7499" y="4205"/>
                  </a:cubicBezTo>
                  <a:cubicBezTo>
                    <a:pt x="8868" y="3415"/>
                    <a:pt x="10420" y="3000"/>
                    <a:pt x="12000" y="3000"/>
                  </a:cubicBezTo>
                  <a:cubicBezTo>
                    <a:pt x="13246" y="3004"/>
                    <a:pt x="14480" y="3248"/>
                    <a:pt x="15635" y="3717"/>
                  </a:cubicBezTo>
                  <a:cubicBezTo>
                    <a:pt x="16789" y="4187"/>
                    <a:pt x="17843" y="4873"/>
                    <a:pt x="18740" y="5740"/>
                  </a:cubicBezTo>
                  <a:lnTo>
                    <a:pt x="21000" y="8000"/>
                  </a:lnTo>
                </a:path>
                <a:path w="24000" h="24000" fill="none">
                  <a:moveTo>
                    <a:pt x="21000" y="3000"/>
                  </a:moveTo>
                  <a:lnTo>
                    <a:pt x="21000" y="8000"/>
                  </a:lnTo>
                  <a:lnTo>
                    <a:pt x="16000" y="8000"/>
                  </a:lnTo>
                </a:path>
                <a:path w="24000" h="24000" fill="none">
                  <a:moveTo>
                    <a:pt x="21000" y="12000"/>
                  </a:moveTo>
                  <a:cubicBezTo>
                    <a:pt x="21000" y="13579"/>
                    <a:pt x="20584" y="15131"/>
                    <a:pt x="19794" y="16500"/>
                  </a:cubicBezTo>
                  <a:cubicBezTo>
                    <a:pt x="19004" y="17868"/>
                    <a:pt x="17868" y="19004"/>
                    <a:pt x="16500" y="19794"/>
                  </a:cubicBezTo>
                  <a:cubicBezTo>
                    <a:pt x="15131" y="20584"/>
                    <a:pt x="13579" y="21000"/>
                    <a:pt x="12000" y="21000"/>
                  </a:cubicBezTo>
                  <a:cubicBezTo>
                    <a:pt x="10753" y="20995"/>
                    <a:pt x="9519" y="20751"/>
                    <a:pt x="8364" y="20282"/>
                  </a:cubicBezTo>
                  <a:cubicBezTo>
                    <a:pt x="7210" y="19812"/>
                    <a:pt x="6156" y="19126"/>
                    <a:pt x="5260" y="18259"/>
                  </a:cubicBezTo>
                  <a:lnTo>
                    <a:pt x="3000" y="16000"/>
                  </a:lnTo>
                </a:path>
                <a:path w="24000" h="24000" fill="none">
                  <a:moveTo>
                    <a:pt x="8000" y="16000"/>
                  </a:moveTo>
                  <a:lnTo>
                    <a:pt x="3000" y="16000"/>
                  </a:lnTo>
                  <a:lnTo>
                    <a:pt x="3000" y="21000"/>
                  </a:lnTo>
                </a:path>
              </a:pathLst>
            </a:custGeom>
            <a:noFill/>
            <a:ln w="17373" cap="rnd">
              <a:solidFill>
                <a:srgbClr val="0C1927"/>
              </a:solidFill>
              <a:round/>
            </a:ln>
          </p:spPr>
        </p:sp>
        <p:sp>
          <p:nvSpPr>
            <p:cNvPr id="31" name="Summary label"/>
            <p:cNvSpPr txBox="1"/>
            <p:nvPr/>
          </p:nvSpPr>
          <p:spPr>
            <a:xfrm>
              <a:off x="5120640" y="390448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9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Annual recurring total</a:t>
              </a:r>
              <a:endParaRPr lang="en-US" sz="900" dirty="0">
                <a:latin typeface="Inter SemiBold"/>
              </a:endParaRPr>
            </a:p>
          </p:txBody>
        </p:sp>
        <p:sp>
          <p:nvSpPr>
            <p:cNvPr id="32" name="Summary items"/>
            <p:cNvSpPr txBox="1"/>
            <p:nvPr/>
          </p:nvSpPr>
          <p:spPr>
            <a:xfrm>
              <a:off x="4809744" y="4261104"/>
              <a:ext cx="2468880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36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IOsense platform licence + Annual support / AMC</a:t>
              </a:r>
              <a:endParaRPr lang="en-US" sz="720" dirty="0">
                <a:latin typeface="Inter"/>
              </a:endParaRPr>
            </a:p>
          </p:txBody>
        </p:sp>
        <p:sp>
          <p:nvSpPr>
            <p:cNvPr id="33" name="Summary amount (editable)"/>
            <p:cNvSpPr/>
            <p:nvPr/>
          </p:nvSpPr>
          <p:spPr>
            <a:xfrm>
              <a:off x="7223760" y="4059936"/>
              <a:ext cx="1463040" cy="420624"/>
            </a:xfrm>
            <a:prstGeom prst="roundRect">
              <a:avLst>
                <a:gd name="adj" fmla="val 8695"/>
              </a:avLst>
            </a:prstGeom>
            <a:noFill/>
            <a:ln w="9525">
              <a:solidFill>
                <a:srgbClr val="CBD5E2"/>
              </a:solidFill>
              <a:prstDash val="dash"/>
              <a:round/>
            </a:ln>
          </p:spPr>
          <p:txBody>
            <a:bodyPr wrap="square" lIns="73152" tIns="0" rIns="91440" bIns="0" anchor="ctr" rtlCol="0">
              <a:noAutofit/>
            </a:bodyPr>
            <a:lstStyle/>
            <a:p>
              <a:pPr algn="r">
                <a:lnSpc>
                  <a:spcPts val="2000"/>
                </a:lnSpc>
                <a:spcBef>
                  <a:spcPts val="0"/>
                </a:spcBef>
                <a:buNone/>
              </a:pPr>
              <a:endParaRPr lang="en-US" sz="1600" dirty="0">
                <a:latin typeface="TASA Orbiter SemiBold"/>
              </a:endParaRP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35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36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Project badge"/>
            <p:cNvSpPr/>
            <p:nvPr/>
          </p:nvSpPr>
          <p:spPr>
            <a:xfrm>
              <a:off x="274320" y="228600"/>
              <a:ext cx="192024" cy="192024"/>
            </a:xfrm>
            <a:prstGeom prst="roundRect">
              <a:avLst>
                <a:gd name="adj" fmla="val 16666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5" name="Project number"/>
            <p:cNvSpPr txBox="1"/>
            <p:nvPr/>
          </p:nvSpPr>
          <p:spPr>
            <a:xfrm>
              <a:off x="274320" y="22860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" name="Project label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02  ·  HYDROTESTER STATION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7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Commercials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Commercial summary for the Hydrotester project.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9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0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21" name="Commercial table"/>
          <p:cNvGraphicFramePr>
            <a:graphicFrameLocks noGrp="1"/>
          </p:cNvGraphicFramePr>
          <p:nvPr/>
        </p:nvGraphicFramePr>
        <p:xfrm>
          <a:off x="274320" y="1060704"/>
          <a:ext cx="8595360" cy="2505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1480"/>
                <a:gridCol w="2240280"/>
                <a:gridCol w="3886200"/>
                <a:gridCol w="96012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#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LINE ITEM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DESCRIPTION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TYPE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8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AMOUNT</a:t>
                      </a:r>
                      <a:endParaRPr lang="en-US" sz="68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566D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40566D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01</a:t>
                      </a:r>
                      <a:endParaRPr lang="en-US" sz="900" dirty="0">
                        <a:solidFill>
                          <a:srgbClr val="40566D"/>
                        </a:solidFill>
                        <a:latin typeface="TASA Orbi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Software development &amp; implementation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Graph Application and SAP Entry Application for the Hydrotester: development, OPC UA and SAP integration, deployment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2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One-time</a:t>
                      </a:r>
                      <a:endParaRPr lang="en-US" sz="72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endParaRPr lang="en-US" sz="900" dirty="0">
                        <a:solidFill>
                          <a:srgbClr val="0C1927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4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40566D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02</a:t>
                      </a:r>
                      <a:endParaRPr lang="en-US" sz="900" dirty="0">
                        <a:solidFill>
                          <a:srgbClr val="40566D"/>
                        </a:solidFill>
                        <a:latin typeface="TASA Orbi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IPC / Panel PC hardware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New IPC / Panel PC for the Hydrotester station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2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One-time</a:t>
                      </a:r>
                      <a:endParaRPr lang="en-US" sz="72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endParaRPr lang="en-US" sz="900" dirty="0">
                        <a:solidFill>
                          <a:srgbClr val="0C1927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4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40566D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03</a:t>
                      </a:r>
                      <a:endParaRPr lang="en-US" sz="900" dirty="0">
                        <a:solidFill>
                          <a:srgbClr val="40566D"/>
                        </a:solidFill>
                        <a:latin typeface="TASA Orbi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IOsense platform licence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Platform licence for the central server deployment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2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</a:t>
                      </a:r>
                      <a:endParaRPr lang="en-US" sz="72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endParaRPr lang="en-US" sz="900" dirty="0">
                        <a:solidFill>
                          <a:srgbClr val="0C1927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4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40566D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04</a:t>
                      </a:r>
                      <a:endParaRPr lang="en-US" sz="900" dirty="0">
                        <a:solidFill>
                          <a:srgbClr val="40566D"/>
                        </a:solidFill>
                        <a:latin typeface="TASA Orbi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 support / AMC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7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80" b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Annual maintenance and support</a:t>
                      </a:r>
                      <a:endParaRPr lang="en-US" sz="780" dirty="0">
                        <a:solidFill>
                          <a:srgbClr val="243547"/>
                        </a:solidFill>
                        <a:latin typeface="Inter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20" b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</a:t>
                      </a:r>
                      <a:endParaRPr lang="en-US" sz="720" dirty="0">
                        <a:solidFill>
                          <a:srgbClr val="40566D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spcBef>
                          <a:spcPts val="0"/>
                        </a:spcBef>
                        <a:buNone/>
                      </a:pPr>
                      <a:endParaRPr lang="en-US" sz="900" dirty="0">
                        <a:solidFill>
                          <a:srgbClr val="0C1927"/>
                        </a:solidFill>
                        <a:latin typeface="Inter SemiBold"/>
                      </a:endParaRPr>
                    </a:p>
                  </a:txBody>
                  <a:tcPr marL="64008" marR="6400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AF3"/>
                      </a:solidFill>
                    </a:lnB>
                    <a:solidFill>
                      <a:srgbClr val="F4F8FF"/>
                    </a:solidFill>
                  </a:tcPr>
                </a:tc>
              </a:tr>
            </a:tbl>
          </a:graphicData>
        </a:graphic>
      </p:graphicFrame>
      <p:grpSp>
        <p:nvGrpSpPr>
          <p:cNvPr id="22" name="One-time total"/>
          <p:cNvGrpSpPr/>
          <p:nvPr/>
        </p:nvGrpSpPr>
        <p:grpSpPr>
          <a:xfrm>
            <a:off x="274320" y="3767328"/>
            <a:ext cx="4224528" cy="1005840"/>
            <a:chOff x="274320" y="3767328"/>
            <a:chExt cx="4224528" cy="1005840"/>
          </a:xfrm>
        </p:grpSpPr>
        <p:sp>
          <p:nvSpPr>
            <p:cNvPr id="23" name="Summary tile"/>
            <p:cNvSpPr/>
            <p:nvPr/>
          </p:nvSpPr>
          <p:spPr>
            <a:xfrm>
              <a:off x="274320" y="3767328"/>
              <a:ext cx="4224528" cy="1005840"/>
            </a:xfrm>
            <a:prstGeom prst="roundRect">
              <a:avLst>
                <a:gd name="adj" fmla="val 6363"/>
              </a:avLst>
            </a:prstGeom>
            <a:solidFill>
              <a:srgbClr val="0C1927"/>
            </a:solidFill>
            <a:ln>
              <a:noFill/>
            </a:ln>
          </p:spPr>
        </p:sp>
        <p:sp>
          <p:nvSpPr>
            <p:cNvPr id="24" name="Icon wallet"/>
            <p:cNvSpPr/>
            <p:nvPr/>
          </p:nvSpPr>
          <p:spPr>
            <a:xfrm>
              <a:off x="438912" y="393192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7000"/>
                  </a:moveTo>
                  <a:lnTo>
                    <a:pt x="19000" y="4000"/>
                  </a:lnTo>
                  <a:cubicBezTo>
                    <a:pt x="19000" y="3824"/>
                    <a:pt x="18953" y="3652"/>
                    <a:pt x="18866" y="3500"/>
                  </a:cubicBezTo>
                  <a:cubicBezTo>
                    <a:pt x="18778" y="3347"/>
                    <a:pt x="18652" y="3221"/>
                    <a:pt x="18500" y="3133"/>
                  </a:cubicBezTo>
                  <a:cubicBezTo>
                    <a:pt x="18347" y="3046"/>
                    <a:pt x="18175" y="3000"/>
                    <a:pt x="18000" y="3000"/>
                  </a:cubicBezTo>
                  <a:lnTo>
                    <a:pt x="5000" y="3000"/>
                  </a:lnTo>
                  <a:cubicBezTo>
                    <a:pt x="4648" y="3000"/>
                    <a:pt x="4304" y="3092"/>
                    <a:pt x="4000" y="3267"/>
                  </a:cubicBezTo>
                  <a:cubicBezTo>
                    <a:pt x="3695" y="3443"/>
                    <a:pt x="3443" y="3695"/>
                    <a:pt x="3267" y="3999"/>
                  </a:cubicBezTo>
                  <a:cubicBezTo>
                    <a:pt x="3092" y="4304"/>
                    <a:pt x="3000" y="4648"/>
                    <a:pt x="3000" y="4999"/>
                  </a:cubicBezTo>
                  <a:cubicBezTo>
                    <a:pt x="3000" y="5351"/>
                    <a:pt x="3092" y="5695"/>
                    <a:pt x="3267" y="5999"/>
                  </a:cubicBezTo>
                  <a:cubicBezTo>
                    <a:pt x="3443" y="6304"/>
                    <a:pt x="3695" y="6556"/>
                    <a:pt x="3999" y="6732"/>
                  </a:cubicBezTo>
                  <a:cubicBezTo>
                    <a:pt x="4304" y="6907"/>
                    <a:pt x="4648" y="7000"/>
                    <a:pt x="5000" y="7000"/>
                  </a:cubicBezTo>
                  <a:lnTo>
                    <a:pt x="20000" y="7000"/>
                  </a:lnTo>
                  <a:cubicBezTo>
                    <a:pt x="20175" y="7000"/>
                    <a:pt x="20347" y="7046"/>
                    <a:pt x="20500" y="7133"/>
                  </a:cubicBezTo>
                  <a:cubicBezTo>
                    <a:pt x="20652" y="7221"/>
                    <a:pt x="20778" y="7347"/>
                    <a:pt x="20866" y="7500"/>
                  </a:cubicBezTo>
                  <a:cubicBezTo>
                    <a:pt x="20953" y="7652"/>
                    <a:pt x="21000" y="7824"/>
                    <a:pt x="21000" y="8000"/>
                  </a:cubicBezTo>
                  <a:lnTo>
                    <a:pt x="21000" y="12000"/>
                  </a:lnTo>
                  <a:lnTo>
                    <a:pt x="18000" y="12000"/>
                  </a:lnTo>
                  <a:cubicBezTo>
                    <a:pt x="17648" y="12000"/>
                    <a:pt x="17304" y="12092"/>
                    <a:pt x="17000" y="12267"/>
                  </a:cubicBezTo>
                  <a:cubicBezTo>
                    <a:pt x="16695" y="12443"/>
                    <a:pt x="16443" y="12695"/>
                    <a:pt x="16267" y="13000"/>
                  </a:cubicBezTo>
                  <a:cubicBezTo>
                    <a:pt x="16092" y="13304"/>
                    <a:pt x="16000" y="13648"/>
                    <a:pt x="16000" y="13999"/>
                  </a:cubicBezTo>
                  <a:cubicBezTo>
                    <a:pt x="16000" y="14351"/>
                    <a:pt x="16092" y="14695"/>
                    <a:pt x="16267" y="14999"/>
                  </a:cubicBezTo>
                  <a:cubicBezTo>
                    <a:pt x="16443" y="15304"/>
                    <a:pt x="16695" y="15556"/>
                    <a:pt x="17000" y="15732"/>
                  </a:cubicBezTo>
                  <a:cubicBezTo>
                    <a:pt x="17304" y="15907"/>
                    <a:pt x="17648" y="16000"/>
                    <a:pt x="18000" y="16000"/>
                  </a:cubicBezTo>
                  <a:lnTo>
                    <a:pt x="21000" y="16000"/>
                  </a:lnTo>
                  <a:cubicBezTo>
                    <a:pt x="21175" y="16000"/>
                    <a:pt x="21347" y="15953"/>
                    <a:pt x="21500" y="15866"/>
                  </a:cubicBezTo>
                  <a:cubicBezTo>
                    <a:pt x="21652" y="15778"/>
                    <a:pt x="21778" y="15652"/>
                    <a:pt x="21866" y="15500"/>
                  </a:cubicBezTo>
                  <a:cubicBezTo>
                    <a:pt x="21953" y="15347"/>
                    <a:pt x="22000" y="15175"/>
                    <a:pt x="22000" y="15000"/>
                  </a:cubicBezTo>
                  <a:lnTo>
                    <a:pt x="22000" y="13000"/>
                  </a:lnTo>
                  <a:cubicBezTo>
                    <a:pt x="22000" y="12824"/>
                    <a:pt x="21953" y="12652"/>
                    <a:pt x="21866" y="12500"/>
                  </a:cubicBezTo>
                  <a:cubicBezTo>
                    <a:pt x="21778" y="12347"/>
                    <a:pt x="21652" y="12221"/>
                    <a:pt x="21500" y="12133"/>
                  </a:cubicBezTo>
                  <a:cubicBezTo>
                    <a:pt x="21347" y="12046"/>
                    <a:pt x="21175" y="12000"/>
                    <a:pt x="21000" y="12000"/>
                  </a:cubicBezTo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351"/>
                    <a:pt x="3092" y="19695"/>
                    <a:pt x="3267" y="20000"/>
                  </a:cubicBezTo>
                  <a:cubicBezTo>
                    <a:pt x="3443" y="20304"/>
                    <a:pt x="3695" y="20556"/>
                    <a:pt x="3999" y="20732"/>
                  </a:cubicBezTo>
                  <a:cubicBezTo>
                    <a:pt x="4304" y="20907"/>
                    <a:pt x="4648" y="21000"/>
                    <a:pt x="5000" y="21000"/>
                  </a:cubicBezTo>
                  <a:lnTo>
                    <a:pt x="20000" y="21000"/>
                  </a:lnTo>
                  <a:cubicBezTo>
                    <a:pt x="20175" y="21000"/>
                    <a:pt x="20347" y="20953"/>
                    <a:pt x="20500" y="20866"/>
                  </a:cubicBezTo>
                  <a:cubicBezTo>
                    <a:pt x="20652" y="20778"/>
                    <a:pt x="20778" y="20652"/>
                    <a:pt x="20866" y="20500"/>
                  </a:cubicBezTo>
                  <a:cubicBezTo>
                    <a:pt x="20953" y="20347"/>
                    <a:pt x="21000" y="20175"/>
                    <a:pt x="21000" y="20000"/>
                  </a:cubicBezTo>
                  <a:lnTo>
                    <a:pt x="21000" y="16000"/>
                  </a:lnTo>
                </a:path>
              </a:pathLst>
            </a:custGeom>
            <a:noFill/>
            <a:ln w="17373" cap="rnd">
              <a:solidFill>
                <a:srgbClr val="FFFFFF"/>
              </a:solidFill>
              <a:round/>
            </a:ln>
          </p:spPr>
        </p:sp>
        <p:sp>
          <p:nvSpPr>
            <p:cNvPr id="25" name="Summary label"/>
            <p:cNvSpPr txBox="1"/>
            <p:nvPr/>
          </p:nvSpPr>
          <p:spPr>
            <a:xfrm>
              <a:off x="749808" y="390448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90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One-time total</a:t>
              </a:r>
              <a:endParaRPr lang="en-US" sz="900" dirty="0">
                <a:latin typeface="Inter SemiBold"/>
              </a:endParaRPr>
            </a:p>
          </p:txBody>
        </p:sp>
        <p:sp>
          <p:nvSpPr>
            <p:cNvPr id="26" name="Summary items"/>
            <p:cNvSpPr txBox="1"/>
            <p:nvPr/>
          </p:nvSpPr>
          <p:spPr>
            <a:xfrm>
              <a:off x="438912" y="4261104"/>
              <a:ext cx="2468880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36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CBD5E2"/>
                  </a:solidFill>
                  <a:latin typeface="Inter"/>
                  <a:ea typeface="Inter"/>
                  <a:cs typeface="Inter"/>
                  <a:sym typeface="Inter"/>
                </a:rPr>
                <a:t>Software development &amp; implementation + IPC / Panel PC hardware</a:t>
              </a:r>
              <a:endParaRPr lang="en-US" sz="720" dirty="0">
                <a:latin typeface="Inter"/>
              </a:endParaRPr>
            </a:p>
          </p:txBody>
        </p:sp>
        <p:sp>
          <p:nvSpPr>
            <p:cNvPr id="27" name="Summary amount (editable)"/>
            <p:cNvSpPr/>
            <p:nvPr/>
          </p:nvSpPr>
          <p:spPr>
            <a:xfrm>
              <a:off x="2852928" y="4059936"/>
              <a:ext cx="1463040" cy="420624"/>
            </a:xfrm>
            <a:prstGeom prst="roundRect">
              <a:avLst>
                <a:gd name="adj" fmla="val 8695"/>
              </a:avLst>
            </a:prstGeom>
            <a:noFill/>
            <a:ln w="9525">
              <a:solidFill>
                <a:srgbClr val="40566D"/>
              </a:solidFill>
              <a:prstDash val="dash"/>
              <a:round/>
            </a:ln>
          </p:spPr>
          <p:txBody>
            <a:bodyPr wrap="square" lIns="73152" tIns="0" rIns="91440" bIns="0" anchor="ctr" rtlCol="0">
              <a:noAutofit/>
            </a:bodyPr>
            <a:lstStyle/>
            <a:p>
              <a:pPr algn="r">
                <a:lnSpc>
                  <a:spcPts val="2000"/>
                </a:lnSpc>
                <a:spcBef>
                  <a:spcPts val="0"/>
                </a:spcBef>
                <a:buNone/>
              </a:pPr>
              <a:endParaRPr lang="en-US" sz="1600" dirty="0">
                <a:latin typeface="TASA Orbiter SemiBold"/>
              </a:endParaRPr>
            </a:p>
          </p:txBody>
        </p:sp>
      </p:grpSp>
      <p:grpSp>
        <p:nvGrpSpPr>
          <p:cNvPr id="28" name="Annual recurring total"/>
          <p:cNvGrpSpPr/>
          <p:nvPr/>
        </p:nvGrpSpPr>
        <p:grpSpPr>
          <a:xfrm>
            <a:off x="4645152" y="3767328"/>
            <a:ext cx="4224528" cy="1005840"/>
            <a:chOff x="4645152" y="3767328"/>
            <a:chExt cx="4224528" cy="1005840"/>
          </a:xfrm>
        </p:grpSpPr>
        <p:sp>
          <p:nvSpPr>
            <p:cNvPr id="29" name="Summary tile"/>
            <p:cNvSpPr/>
            <p:nvPr/>
          </p:nvSpPr>
          <p:spPr>
            <a:xfrm>
              <a:off x="4645152" y="3767328"/>
              <a:ext cx="4224528" cy="1005840"/>
            </a:xfrm>
            <a:prstGeom prst="roundRect">
              <a:avLst>
                <a:gd name="adj" fmla="val 636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30" name="Icon refresh-cw"/>
            <p:cNvSpPr/>
            <p:nvPr/>
          </p:nvSpPr>
          <p:spPr>
            <a:xfrm>
              <a:off x="4809744" y="3931920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2000"/>
                  </a:moveTo>
                  <a:cubicBezTo>
                    <a:pt x="3000" y="10420"/>
                    <a:pt x="3415" y="8868"/>
                    <a:pt x="4205" y="7500"/>
                  </a:cubicBezTo>
                  <a:cubicBezTo>
                    <a:pt x="4995" y="6131"/>
                    <a:pt x="6131" y="4995"/>
                    <a:pt x="7499" y="4205"/>
                  </a:cubicBezTo>
                  <a:cubicBezTo>
                    <a:pt x="8868" y="3415"/>
                    <a:pt x="10420" y="3000"/>
                    <a:pt x="12000" y="3000"/>
                  </a:cubicBezTo>
                  <a:cubicBezTo>
                    <a:pt x="13246" y="3004"/>
                    <a:pt x="14480" y="3248"/>
                    <a:pt x="15635" y="3717"/>
                  </a:cubicBezTo>
                  <a:cubicBezTo>
                    <a:pt x="16789" y="4187"/>
                    <a:pt x="17843" y="4873"/>
                    <a:pt x="18740" y="5740"/>
                  </a:cubicBezTo>
                  <a:lnTo>
                    <a:pt x="21000" y="8000"/>
                  </a:lnTo>
                </a:path>
                <a:path w="24000" h="24000" fill="none">
                  <a:moveTo>
                    <a:pt x="21000" y="3000"/>
                  </a:moveTo>
                  <a:lnTo>
                    <a:pt x="21000" y="8000"/>
                  </a:lnTo>
                  <a:lnTo>
                    <a:pt x="16000" y="8000"/>
                  </a:lnTo>
                </a:path>
                <a:path w="24000" h="24000" fill="none">
                  <a:moveTo>
                    <a:pt x="21000" y="12000"/>
                  </a:moveTo>
                  <a:cubicBezTo>
                    <a:pt x="21000" y="13579"/>
                    <a:pt x="20584" y="15131"/>
                    <a:pt x="19794" y="16500"/>
                  </a:cubicBezTo>
                  <a:cubicBezTo>
                    <a:pt x="19004" y="17868"/>
                    <a:pt x="17868" y="19004"/>
                    <a:pt x="16500" y="19794"/>
                  </a:cubicBezTo>
                  <a:cubicBezTo>
                    <a:pt x="15131" y="20584"/>
                    <a:pt x="13579" y="21000"/>
                    <a:pt x="12000" y="21000"/>
                  </a:cubicBezTo>
                  <a:cubicBezTo>
                    <a:pt x="10753" y="20995"/>
                    <a:pt x="9519" y="20751"/>
                    <a:pt x="8364" y="20282"/>
                  </a:cubicBezTo>
                  <a:cubicBezTo>
                    <a:pt x="7210" y="19812"/>
                    <a:pt x="6156" y="19126"/>
                    <a:pt x="5260" y="18259"/>
                  </a:cubicBezTo>
                  <a:lnTo>
                    <a:pt x="3000" y="16000"/>
                  </a:lnTo>
                </a:path>
                <a:path w="24000" h="24000" fill="none">
                  <a:moveTo>
                    <a:pt x="8000" y="16000"/>
                  </a:moveTo>
                  <a:lnTo>
                    <a:pt x="3000" y="16000"/>
                  </a:lnTo>
                  <a:lnTo>
                    <a:pt x="3000" y="21000"/>
                  </a:lnTo>
                </a:path>
              </a:pathLst>
            </a:custGeom>
            <a:noFill/>
            <a:ln w="17373" cap="rnd">
              <a:solidFill>
                <a:srgbClr val="0C1927"/>
              </a:solidFill>
              <a:round/>
            </a:ln>
          </p:spPr>
        </p:sp>
        <p:sp>
          <p:nvSpPr>
            <p:cNvPr id="31" name="Summary label"/>
            <p:cNvSpPr txBox="1"/>
            <p:nvPr/>
          </p:nvSpPr>
          <p:spPr>
            <a:xfrm>
              <a:off x="5120640" y="390448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buNone/>
              </a:pPr>
              <a:r>
                <a:rPr lang="en-US" sz="9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Annual recurring total</a:t>
              </a:r>
              <a:endParaRPr lang="en-US" sz="900" dirty="0">
                <a:latin typeface="Inter SemiBold"/>
              </a:endParaRPr>
            </a:p>
          </p:txBody>
        </p:sp>
        <p:sp>
          <p:nvSpPr>
            <p:cNvPr id="32" name="Summary items"/>
            <p:cNvSpPr txBox="1"/>
            <p:nvPr/>
          </p:nvSpPr>
          <p:spPr>
            <a:xfrm>
              <a:off x="4809744" y="4261104"/>
              <a:ext cx="2468880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36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IOsense platform licence + Annual support / AMC</a:t>
              </a:r>
              <a:endParaRPr lang="en-US" sz="720" dirty="0">
                <a:latin typeface="Inter"/>
              </a:endParaRPr>
            </a:p>
          </p:txBody>
        </p:sp>
        <p:sp>
          <p:nvSpPr>
            <p:cNvPr id="33" name="Summary amount (editable)"/>
            <p:cNvSpPr/>
            <p:nvPr/>
          </p:nvSpPr>
          <p:spPr>
            <a:xfrm>
              <a:off x="7223760" y="4059936"/>
              <a:ext cx="1463040" cy="420624"/>
            </a:xfrm>
            <a:prstGeom prst="roundRect">
              <a:avLst>
                <a:gd name="adj" fmla="val 8695"/>
              </a:avLst>
            </a:prstGeom>
            <a:noFill/>
            <a:ln w="9525">
              <a:solidFill>
                <a:srgbClr val="CBD5E2"/>
              </a:solidFill>
              <a:prstDash val="dash"/>
              <a:round/>
            </a:ln>
          </p:spPr>
          <p:txBody>
            <a:bodyPr wrap="square" lIns="73152" tIns="0" rIns="91440" bIns="0" anchor="ctr" rtlCol="0">
              <a:noAutofit/>
            </a:bodyPr>
            <a:lstStyle/>
            <a:p>
              <a:pPr algn="r">
                <a:lnSpc>
                  <a:spcPts val="2000"/>
                </a:lnSpc>
                <a:spcBef>
                  <a:spcPts val="0"/>
                </a:spcBef>
                <a:buNone/>
              </a:pPr>
              <a:endParaRPr lang="en-US" sz="1600" dirty="0">
                <a:latin typeface="TASA Orbiter SemiBold"/>
              </a:endParaRP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35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36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5798"/>
            <a:ext cx="8654796" cy="726034"/>
            <a:chOff x="274320" y="215798"/>
            <a:chExt cx="8654796" cy="726034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PROJECTS  ·  NEXT STEPS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Open Points to Confirm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Items to close with Welspun before requirement sign-off. Tags show the project each point applies to.</a:t>
              </a:r>
              <a:endParaRPr lang="en-US" sz="850" dirty="0">
                <a:latin typeface="Inter"/>
              </a:endParaRPr>
            </a:p>
          </p:txBody>
        </p:sp>
        <p:grpSp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" name="Open points · SAP &amp; business rules"/>
          <p:cNvGrpSpPr/>
          <p:nvPr/>
        </p:nvGrpSpPr>
        <p:grpSpPr>
          <a:xfrm>
            <a:off x="274320" y="1060704"/>
            <a:ext cx="4242816" cy="1801368"/>
            <a:chOff x="274320" y="1060704"/>
            <a:chExt cx="4242816" cy="1801368"/>
          </a:xfrm>
        </p:grpSpPr>
        <p:sp>
          <p:nvSpPr>
            <p:cNvPr id="20" name="Card"/>
            <p:cNvSpPr/>
            <p:nvPr/>
          </p:nvSpPr>
          <p:spPr>
            <a:xfrm>
              <a:off x="274320" y="1060704"/>
              <a:ext cx="4242816" cy="1801368"/>
            </a:xfrm>
            <a:prstGeom prst="roundRect">
              <a:avLst>
                <a:gd name="adj" fmla="val 304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21" name="Icon tile"/>
            <p:cNvSpPr/>
            <p:nvPr/>
          </p:nvSpPr>
          <p:spPr>
            <a:xfrm>
              <a:off x="365760" y="1152144"/>
              <a:ext cx="256032" cy="256032"/>
            </a:xfrm>
            <a:prstGeom prst="roundRect">
              <a:avLst>
                <a:gd name="adj" fmla="val 14285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</p:sp>
        <p:sp>
          <p:nvSpPr>
            <p:cNvPr id="22" name="Icon database"/>
            <p:cNvSpPr/>
            <p:nvPr/>
          </p:nvSpPr>
          <p:spPr>
            <a:xfrm>
              <a:off x="420624" y="1207008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5526"/>
                    <a:pt x="20584" y="6043"/>
                    <a:pt x="19794" y="6500"/>
                  </a:cubicBezTo>
                  <a:cubicBezTo>
                    <a:pt x="19004" y="6956"/>
                    <a:pt x="17868" y="7334"/>
                    <a:pt x="16500" y="7598"/>
                  </a:cubicBezTo>
                  <a:cubicBezTo>
                    <a:pt x="15131" y="7861"/>
                    <a:pt x="13579" y="8000"/>
                    <a:pt x="12000" y="8000"/>
                  </a:cubicBezTo>
                  <a:cubicBezTo>
                    <a:pt x="10420" y="8000"/>
                    <a:pt x="8868" y="7861"/>
                    <a:pt x="7500" y="7598"/>
                  </a:cubicBezTo>
                  <a:cubicBezTo>
                    <a:pt x="6131" y="7334"/>
                    <a:pt x="4995" y="6956"/>
                    <a:pt x="4205" y="6500"/>
                  </a:cubicBezTo>
                  <a:cubicBezTo>
                    <a:pt x="3415" y="6043"/>
                    <a:pt x="3000" y="5526"/>
                    <a:pt x="3000" y="5000"/>
                  </a:cubicBezTo>
                  <a:cubicBezTo>
                    <a:pt x="2999" y="4473"/>
                    <a:pt x="3415" y="3956"/>
                    <a:pt x="4205" y="3500"/>
                  </a:cubicBezTo>
                  <a:cubicBezTo>
                    <a:pt x="4995" y="3043"/>
                    <a:pt x="6131" y="2665"/>
                    <a:pt x="7499" y="2401"/>
                  </a:cubicBezTo>
                  <a:cubicBezTo>
                    <a:pt x="8868" y="2138"/>
                    <a:pt x="10420" y="2000"/>
                    <a:pt x="11999" y="2000"/>
                  </a:cubicBezTo>
                  <a:cubicBezTo>
                    <a:pt x="13579" y="2000"/>
                    <a:pt x="15131" y="2138"/>
                    <a:pt x="16500" y="2401"/>
                  </a:cubicBezTo>
                  <a:cubicBezTo>
                    <a:pt x="17868" y="2665"/>
                    <a:pt x="19004" y="3043"/>
                    <a:pt x="19794" y="3500"/>
                  </a:cubicBezTo>
                  <a:cubicBezTo>
                    <a:pt x="20584" y="3956"/>
                    <a:pt x="21000" y="4473"/>
                    <a:pt x="21000" y="4999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19526"/>
                    <a:pt x="3415" y="20043"/>
                    <a:pt x="4205" y="20500"/>
                  </a:cubicBezTo>
                  <a:cubicBezTo>
                    <a:pt x="4995" y="20956"/>
                    <a:pt x="6131" y="21334"/>
                    <a:pt x="7500" y="21598"/>
                  </a:cubicBezTo>
                  <a:cubicBezTo>
                    <a:pt x="8868" y="21861"/>
                    <a:pt x="10420" y="22000"/>
                    <a:pt x="12000" y="22000"/>
                  </a:cubicBezTo>
                  <a:cubicBezTo>
                    <a:pt x="13579" y="22000"/>
                    <a:pt x="15131" y="21861"/>
                    <a:pt x="16500" y="21598"/>
                  </a:cubicBezTo>
                  <a:cubicBezTo>
                    <a:pt x="17868" y="21334"/>
                    <a:pt x="19004" y="20956"/>
                    <a:pt x="19794" y="20500"/>
                  </a:cubicBezTo>
                  <a:cubicBezTo>
                    <a:pt x="20584" y="20043"/>
                    <a:pt x="21000" y="19526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2526"/>
                    <a:pt x="3415" y="13043"/>
                    <a:pt x="4205" y="13500"/>
                  </a:cubicBezTo>
                  <a:cubicBezTo>
                    <a:pt x="4995" y="13956"/>
                    <a:pt x="6131" y="14334"/>
                    <a:pt x="7500" y="14598"/>
                  </a:cubicBezTo>
                  <a:cubicBezTo>
                    <a:pt x="8868" y="14861"/>
                    <a:pt x="10420" y="15000"/>
                    <a:pt x="12000" y="15000"/>
                  </a:cubicBezTo>
                  <a:cubicBezTo>
                    <a:pt x="13579" y="15000"/>
                    <a:pt x="15131" y="14861"/>
                    <a:pt x="16500" y="14598"/>
                  </a:cubicBezTo>
                  <a:cubicBezTo>
                    <a:pt x="17868" y="14334"/>
                    <a:pt x="19004" y="13956"/>
                    <a:pt x="19794" y="13500"/>
                  </a:cubicBezTo>
                  <a:cubicBezTo>
                    <a:pt x="20584" y="13043"/>
                    <a:pt x="21000" y="12526"/>
                    <a:pt x="21000" y="12000"/>
                  </a:cubicBezTo>
                </a:path>
              </a:pathLst>
            </a:custGeom>
            <a:noFill/>
            <a:ln w="12192" cap="rnd">
              <a:solidFill>
                <a:srgbClr val="C65C10"/>
              </a:solidFill>
              <a:round/>
            </a:ln>
          </p:spPr>
        </p:sp>
        <p:sp>
          <p:nvSpPr>
            <p:cNvPr id="23" name="Group title"/>
            <p:cNvSpPr txBox="1"/>
            <p:nvPr/>
          </p:nvSpPr>
          <p:spPr>
            <a:xfrm>
              <a:off x="713232" y="1152144"/>
              <a:ext cx="369417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8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SAP &amp; business rules</a:t>
              </a:r>
              <a:endParaRPr lang="en-US" sz="840" dirty="0">
                <a:latin typeface="Inter SemiBold"/>
              </a:endParaRPr>
            </a:p>
          </p:txBody>
        </p:sp>
        <p:sp>
          <p:nvSpPr>
            <p:cNvPr id="24" name="Point number"/>
            <p:cNvSpPr txBox="1"/>
            <p:nvPr/>
          </p:nvSpPr>
          <p:spPr>
            <a:xfrm>
              <a:off x="384048" y="1499616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25" name="Point"/>
            <p:cNvSpPr txBox="1"/>
            <p:nvPr/>
          </p:nvSpPr>
          <p:spPr>
            <a:xfrm>
              <a:off x="640080" y="1495044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Retry cadence while the previous-station entry is missing (SAP team)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26" name="Chip 01"/>
            <p:cNvGrpSpPr/>
            <p:nvPr/>
          </p:nvGrpSpPr>
          <p:grpSpPr>
            <a:xfrm>
              <a:off x="4023360" y="1495044"/>
              <a:ext cx="162039" cy="137160"/>
              <a:chOff x="4023360" y="1495044"/>
              <a:chExt cx="162039" cy="137160"/>
            </a:xfrm>
          </p:grpSpPr>
          <p:sp>
            <p:nvSpPr>
              <p:cNvPr id="27" name="Chip fill"/>
              <p:cNvSpPr/>
              <p:nvPr/>
            </p:nvSpPr>
            <p:spPr>
              <a:xfrm>
                <a:off x="4023360" y="1495044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28" name="Chip label"/>
              <p:cNvSpPr txBox="1"/>
              <p:nvPr/>
            </p:nvSpPr>
            <p:spPr>
              <a:xfrm>
                <a:off x="4064508" y="1495044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29" name="Chip 02"/>
            <p:cNvGrpSpPr/>
            <p:nvPr/>
          </p:nvGrpSpPr>
          <p:grpSpPr>
            <a:xfrm>
              <a:off x="4212831" y="1495044"/>
              <a:ext cx="176782" cy="137160"/>
              <a:chOff x="4212831" y="1495044"/>
              <a:chExt cx="176782" cy="137160"/>
            </a:xfrm>
          </p:grpSpPr>
          <p:sp>
            <p:nvSpPr>
              <p:cNvPr id="30" name="Chip fill"/>
              <p:cNvSpPr/>
              <p:nvPr/>
            </p:nvSpPr>
            <p:spPr>
              <a:xfrm>
                <a:off x="4212831" y="1495044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31" name="Chip label"/>
              <p:cNvSpPr txBox="1"/>
              <p:nvPr/>
            </p:nvSpPr>
            <p:spPr>
              <a:xfrm>
                <a:off x="4253979" y="1495044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32" name="Rule"/>
            <p:cNvCxnSpPr/>
            <p:nvPr/>
          </p:nvCxnSpPr>
          <p:spPr>
            <a:xfrm>
              <a:off x="640080" y="1700784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33" name="Point number"/>
            <p:cNvSpPr txBox="1"/>
            <p:nvPr/>
          </p:nvSpPr>
          <p:spPr>
            <a:xfrm>
              <a:off x="384048" y="1755648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34" name="Point"/>
            <p:cNvSpPr txBox="1"/>
            <p:nvPr/>
          </p:nvSpPr>
          <p:spPr>
            <a:xfrm>
              <a:off x="640080" y="1751076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SAP interface type and endpoint details for reads and posts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35" name="Chip 01"/>
            <p:cNvGrpSpPr/>
            <p:nvPr/>
          </p:nvGrpSpPr>
          <p:grpSpPr>
            <a:xfrm>
              <a:off x="4023360" y="1751076"/>
              <a:ext cx="162039" cy="137160"/>
              <a:chOff x="4023360" y="1751076"/>
              <a:chExt cx="162039" cy="137160"/>
            </a:xfrm>
          </p:grpSpPr>
          <p:sp>
            <p:nvSpPr>
              <p:cNvPr id="36" name="Chip fill"/>
              <p:cNvSpPr/>
              <p:nvPr/>
            </p:nvSpPr>
            <p:spPr>
              <a:xfrm>
                <a:off x="4023360" y="1751076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37" name="Chip label"/>
              <p:cNvSpPr txBox="1"/>
              <p:nvPr/>
            </p:nvSpPr>
            <p:spPr>
              <a:xfrm>
                <a:off x="4064508" y="1751076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38" name="Chip 02"/>
            <p:cNvGrpSpPr/>
            <p:nvPr/>
          </p:nvGrpSpPr>
          <p:grpSpPr>
            <a:xfrm>
              <a:off x="4212831" y="1751076"/>
              <a:ext cx="176782" cy="137160"/>
              <a:chOff x="4212831" y="1751076"/>
              <a:chExt cx="176782" cy="137160"/>
            </a:xfrm>
          </p:grpSpPr>
          <p:sp>
            <p:nvSpPr>
              <p:cNvPr id="39" name="Chip fill"/>
              <p:cNvSpPr/>
              <p:nvPr/>
            </p:nvSpPr>
            <p:spPr>
              <a:xfrm>
                <a:off x="4212831" y="1751076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40" name="Chip label"/>
              <p:cNvSpPr txBox="1"/>
              <p:nvPr/>
            </p:nvSpPr>
            <p:spPr>
              <a:xfrm>
                <a:off x="4253979" y="1751076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41" name="Rule"/>
            <p:cNvCxnSpPr/>
            <p:nvPr/>
          </p:nvCxnSpPr>
          <p:spPr>
            <a:xfrm>
              <a:off x="640080" y="1956816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42" name="Point number"/>
            <p:cNvSpPr txBox="1"/>
            <p:nvPr/>
          </p:nvSpPr>
          <p:spPr>
            <a:xfrm>
              <a:off x="384048" y="2011680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03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43" name="Point"/>
            <p:cNvSpPr txBox="1"/>
            <p:nvPr/>
          </p:nvSpPr>
          <p:spPr>
            <a:xfrm>
              <a:off x="640080" y="2007108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Shift timings for the shift-end highlight and shift-change timestamp rule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44" name="Chip 01"/>
            <p:cNvGrpSpPr/>
            <p:nvPr/>
          </p:nvGrpSpPr>
          <p:grpSpPr>
            <a:xfrm>
              <a:off x="4023360" y="2007108"/>
              <a:ext cx="162039" cy="137160"/>
              <a:chOff x="4023360" y="2007108"/>
              <a:chExt cx="162039" cy="137160"/>
            </a:xfrm>
          </p:grpSpPr>
          <p:sp>
            <p:nvSpPr>
              <p:cNvPr id="45" name="Chip fill"/>
              <p:cNvSpPr/>
              <p:nvPr/>
            </p:nvSpPr>
            <p:spPr>
              <a:xfrm>
                <a:off x="4023360" y="2007108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46" name="Chip label"/>
              <p:cNvSpPr txBox="1"/>
              <p:nvPr/>
            </p:nvSpPr>
            <p:spPr>
              <a:xfrm>
                <a:off x="4064508" y="2007108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47" name="Chip 02"/>
            <p:cNvGrpSpPr/>
            <p:nvPr/>
          </p:nvGrpSpPr>
          <p:grpSpPr>
            <a:xfrm>
              <a:off x="4212831" y="2007108"/>
              <a:ext cx="176782" cy="137160"/>
              <a:chOff x="4212831" y="2007108"/>
              <a:chExt cx="176782" cy="137160"/>
            </a:xfrm>
          </p:grpSpPr>
          <p:sp>
            <p:nvSpPr>
              <p:cNvPr id="48" name="Chip fill"/>
              <p:cNvSpPr/>
              <p:nvPr/>
            </p:nvSpPr>
            <p:spPr>
              <a:xfrm>
                <a:off x="4212831" y="2007108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49" name="Chip label"/>
              <p:cNvSpPr txBox="1"/>
              <p:nvPr/>
            </p:nvSpPr>
            <p:spPr>
              <a:xfrm>
                <a:off x="4253979" y="2007108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50" name="Rule"/>
            <p:cNvCxnSpPr/>
            <p:nvPr/>
          </p:nvCxnSpPr>
          <p:spPr>
            <a:xfrm>
              <a:off x="640080" y="2212848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51" name="Point number"/>
            <p:cNvSpPr txBox="1"/>
            <p:nvPr/>
          </p:nvSpPr>
          <p:spPr>
            <a:xfrm>
              <a:off x="384048" y="2267712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04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52" name="Point"/>
            <p:cNvSpPr txBox="1"/>
            <p:nvPr/>
          </p:nvSpPr>
          <p:spPr>
            <a:xfrm>
              <a:off x="640080" y="2263140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Fifth graph text field — Temperature in the task list, TBC in §3.2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53" name="Chip 02"/>
            <p:cNvGrpSpPr/>
            <p:nvPr/>
          </p:nvGrpSpPr>
          <p:grpSpPr>
            <a:xfrm>
              <a:off x="4206240" y="2263140"/>
              <a:ext cx="176782" cy="137160"/>
              <a:chOff x="4206240" y="2263140"/>
              <a:chExt cx="176782" cy="137160"/>
            </a:xfrm>
          </p:grpSpPr>
          <p:sp>
            <p:nvSpPr>
              <p:cNvPr id="54" name="Chip fill"/>
              <p:cNvSpPr/>
              <p:nvPr/>
            </p:nvSpPr>
            <p:spPr>
              <a:xfrm>
                <a:off x="4206240" y="2263140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55" name="Chip label"/>
              <p:cNvSpPr txBox="1"/>
              <p:nvPr/>
            </p:nvSpPr>
            <p:spPr>
              <a:xfrm>
                <a:off x="4247388" y="2263140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56" name="Rule"/>
            <p:cNvCxnSpPr/>
            <p:nvPr/>
          </p:nvCxnSpPr>
          <p:spPr>
            <a:xfrm>
              <a:off x="640080" y="2468880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57" name="Point number"/>
            <p:cNvSpPr txBox="1"/>
            <p:nvPr/>
          </p:nvSpPr>
          <p:spPr>
            <a:xfrm>
              <a:off x="384048" y="2523744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05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58" name="Point"/>
            <p:cNvSpPr txBox="1"/>
            <p:nvPr/>
          </p:nvSpPr>
          <p:spPr>
            <a:xfrm>
              <a:off x="640080" y="2519172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Scope-doc update: pressure &amp; hold time correctable before upload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59" name="Chip 02"/>
            <p:cNvGrpSpPr/>
            <p:nvPr/>
          </p:nvGrpSpPr>
          <p:grpSpPr>
            <a:xfrm>
              <a:off x="4206240" y="2519172"/>
              <a:ext cx="176782" cy="137160"/>
              <a:chOff x="4206240" y="2519172"/>
              <a:chExt cx="176782" cy="137160"/>
            </a:xfrm>
          </p:grpSpPr>
          <p:sp>
            <p:nvSpPr>
              <p:cNvPr id="60" name="Chip fill"/>
              <p:cNvSpPr/>
              <p:nvPr/>
            </p:nvSpPr>
            <p:spPr>
              <a:xfrm>
                <a:off x="4206240" y="2519172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61" name="Chip label"/>
              <p:cNvSpPr txBox="1"/>
              <p:nvPr/>
            </p:nvSpPr>
            <p:spPr>
              <a:xfrm>
                <a:off x="4247388" y="2519172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62" name="Open points · Integration &amp; data sources"/>
          <p:cNvGrpSpPr/>
          <p:nvPr/>
        </p:nvGrpSpPr>
        <p:grpSpPr>
          <a:xfrm>
            <a:off x="4626864" y="1060704"/>
            <a:ext cx="4242816" cy="1801368"/>
            <a:chOff x="4626864" y="1060704"/>
            <a:chExt cx="4242816" cy="1801368"/>
          </a:xfrm>
        </p:grpSpPr>
        <p:sp>
          <p:nvSpPr>
            <p:cNvPr id="63" name="Card"/>
            <p:cNvSpPr/>
            <p:nvPr/>
          </p:nvSpPr>
          <p:spPr>
            <a:xfrm>
              <a:off x="4626864" y="1060704"/>
              <a:ext cx="4242816" cy="1801368"/>
            </a:xfrm>
            <a:prstGeom prst="roundRect">
              <a:avLst>
                <a:gd name="adj" fmla="val 304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64" name="Icon tile"/>
            <p:cNvSpPr/>
            <p:nvPr/>
          </p:nvSpPr>
          <p:spPr>
            <a:xfrm>
              <a:off x="4718304" y="1152144"/>
              <a:ext cx="256032" cy="256032"/>
            </a:xfrm>
            <a:prstGeom prst="roundRect">
              <a:avLst>
                <a:gd name="adj" fmla="val 14285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</p:sp>
        <p:sp>
          <p:nvSpPr>
            <p:cNvPr id="65" name="Icon plug-zap"/>
            <p:cNvSpPr/>
            <p:nvPr/>
          </p:nvSpPr>
          <p:spPr>
            <a:xfrm>
              <a:off x="4773168" y="1207008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300" y="20300"/>
                  </a:moveTo>
                  <a:cubicBezTo>
                    <a:pt x="6522" y="20523"/>
                    <a:pt x="6787" y="20701"/>
                    <a:pt x="7079" y="20822"/>
                  </a:cubicBezTo>
                  <a:cubicBezTo>
                    <a:pt x="7371" y="20943"/>
                    <a:pt x="7684" y="21005"/>
                    <a:pt x="8000" y="21005"/>
                  </a:cubicBezTo>
                  <a:cubicBezTo>
                    <a:pt x="8315" y="21005"/>
                    <a:pt x="8628" y="20943"/>
                    <a:pt x="8920" y="20822"/>
                  </a:cubicBezTo>
                  <a:cubicBezTo>
                    <a:pt x="9212" y="20701"/>
                    <a:pt x="9477" y="20523"/>
                    <a:pt x="9700" y="20300"/>
                  </a:cubicBezTo>
                  <a:lnTo>
                    <a:pt x="12000" y="18000"/>
                  </a:lnTo>
                  <a:lnTo>
                    <a:pt x="6000" y="12000"/>
                  </a:lnTo>
                  <a:lnTo>
                    <a:pt x="3700" y="14300"/>
                  </a:lnTo>
                  <a:cubicBezTo>
                    <a:pt x="3476" y="14522"/>
                    <a:pt x="3298" y="14787"/>
                    <a:pt x="3177" y="15079"/>
                  </a:cubicBezTo>
                  <a:cubicBezTo>
                    <a:pt x="3056" y="15371"/>
                    <a:pt x="2994" y="15684"/>
                    <a:pt x="2994" y="15999"/>
                  </a:cubicBezTo>
                  <a:cubicBezTo>
                    <a:pt x="2994" y="16315"/>
                    <a:pt x="3056" y="16628"/>
                    <a:pt x="3177" y="16920"/>
                  </a:cubicBezTo>
                  <a:cubicBezTo>
                    <a:pt x="3298" y="17212"/>
                    <a:pt x="3476" y="17477"/>
                    <a:pt x="3700" y="17700"/>
                  </a:cubicBezTo>
                  <a:close/>
                </a:path>
                <a:path w="24000" h="24000" fill="none">
                  <a:moveTo>
                    <a:pt x="2000" y="22000"/>
                  </a:moveTo>
                  <a:lnTo>
                    <a:pt x="5000" y="19000"/>
                  </a:lnTo>
                </a:path>
                <a:path w="24000" h="24000" fill="none">
                  <a:moveTo>
                    <a:pt x="7500" y="13500"/>
                  </a:moveTo>
                  <a:lnTo>
                    <a:pt x="10000" y="11000"/>
                  </a:lnTo>
                </a:path>
                <a:path w="24000" h="24000" fill="none">
                  <a:moveTo>
                    <a:pt x="10500" y="16500"/>
                  </a:moveTo>
                  <a:lnTo>
                    <a:pt x="13000" y="14000"/>
                  </a:lnTo>
                </a:path>
                <a:path w="24000" h="24000" fill="none">
                  <a:moveTo>
                    <a:pt x="18000" y="3000"/>
                  </a:moveTo>
                  <a:lnTo>
                    <a:pt x="14000" y="7000"/>
                  </a:lnTo>
                  <a:lnTo>
                    <a:pt x="20000" y="7000"/>
                  </a:lnTo>
                  <a:lnTo>
                    <a:pt x="16000" y="11000"/>
                  </a:lnTo>
                </a:path>
              </a:pathLst>
            </a:custGeom>
            <a:noFill/>
            <a:ln w="12192" cap="rnd">
              <a:solidFill>
                <a:srgbClr val="C65C10"/>
              </a:solidFill>
              <a:round/>
            </a:ln>
          </p:spPr>
        </p:sp>
        <p:sp>
          <p:nvSpPr>
            <p:cNvPr id="66" name="Group title"/>
            <p:cNvSpPr txBox="1"/>
            <p:nvPr/>
          </p:nvSpPr>
          <p:spPr>
            <a:xfrm>
              <a:off x="5065776" y="1152144"/>
              <a:ext cx="369417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8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Integration &amp; data sources</a:t>
              </a:r>
              <a:endParaRPr lang="en-US" sz="840" dirty="0">
                <a:latin typeface="Inter SemiBold"/>
              </a:endParaRPr>
            </a:p>
          </p:txBody>
        </p:sp>
        <p:sp>
          <p:nvSpPr>
            <p:cNvPr id="67" name="Point number"/>
            <p:cNvSpPr txBox="1"/>
            <p:nvPr/>
          </p:nvSpPr>
          <p:spPr>
            <a:xfrm>
              <a:off x="4736592" y="1499616"/>
              <a:ext cx="237744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06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68" name="Point"/>
            <p:cNvSpPr txBox="1"/>
            <p:nvPr/>
          </p:nvSpPr>
          <p:spPr>
            <a:xfrm>
              <a:off x="4992624" y="1495044"/>
              <a:ext cx="3310128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Transfer method for IUT / FUT report files (PDF + JPEG) to the central server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69" name="Chip 01"/>
            <p:cNvGrpSpPr/>
            <p:nvPr/>
          </p:nvGrpSpPr>
          <p:grpSpPr>
            <a:xfrm>
              <a:off x="8375904" y="1495044"/>
              <a:ext cx="162039" cy="137160"/>
              <a:chOff x="8375904" y="1495044"/>
              <a:chExt cx="162039" cy="137160"/>
            </a:xfrm>
          </p:grpSpPr>
          <p:sp>
            <p:nvSpPr>
              <p:cNvPr id="70" name="Chip fill"/>
              <p:cNvSpPr/>
              <p:nvPr/>
            </p:nvSpPr>
            <p:spPr>
              <a:xfrm>
                <a:off x="8375904" y="1495044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71" name="Chip label"/>
              <p:cNvSpPr txBox="1"/>
              <p:nvPr/>
            </p:nvSpPr>
            <p:spPr>
              <a:xfrm>
                <a:off x="8417052" y="1495044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72" name="Rule"/>
            <p:cNvCxnSpPr/>
            <p:nvPr/>
          </p:nvCxnSpPr>
          <p:spPr>
            <a:xfrm>
              <a:off x="4992624" y="1777492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3" name="Point number"/>
            <p:cNvSpPr txBox="1"/>
            <p:nvPr/>
          </p:nvSpPr>
          <p:spPr>
            <a:xfrm>
              <a:off x="4736592" y="1832356"/>
              <a:ext cx="237744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07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74" name="Point"/>
            <p:cNvSpPr txBox="1"/>
            <p:nvPr/>
          </p:nvSpPr>
          <p:spPr>
            <a:xfrm>
              <a:off x="4992624" y="1827784"/>
              <a:ext cx="3310128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OPC UA server details: endpoint, security and pressure tag; how test start and finish are identified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75" name="Chip 02"/>
            <p:cNvGrpSpPr/>
            <p:nvPr/>
          </p:nvGrpSpPr>
          <p:grpSpPr>
            <a:xfrm>
              <a:off x="8558784" y="1827784"/>
              <a:ext cx="176782" cy="137160"/>
              <a:chOff x="8558784" y="1827784"/>
              <a:chExt cx="176782" cy="137160"/>
            </a:xfrm>
          </p:grpSpPr>
          <p:sp>
            <p:nvSpPr>
              <p:cNvPr id="76" name="Chip fill"/>
              <p:cNvSpPr/>
              <p:nvPr/>
            </p:nvSpPr>
            <p:spPr>
              <a:xfrm>
                <a:off x="8558784" y="1827784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77" name="Chip label"/>
              <p:cNvSpPr txBox="1"/>
              <p:nvPr/>
            </p:nvSpPr>
            <p:spPr>
              <a:xfrm>
                <a:off x="8599932" y="1827784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78" name="Rule"/>
            <p:cNvCxnSpPr/>
            <p:nvPr/>
          </p:nvCxnSpPr>
          <p:spPr>
            <a:xfrm>
              <a:off x="4992624" y="2110232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9" name="Point number"/>
            <p:cNvSpPr txBox="1"/>
            <p:nvPr/>
          </p:nvSpPr>
          <p:spPr>
            <a:xfrm>
              <a:off x="4736592" y="2165096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08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80" name="Point"/>
            <p:cNvSpPr txBox="1"/>
            <p:nvPr/>
          </p:nvSpPr>
          <p:spPr>
            <a:xfrm>
              <a:off x="4992624" y="2160524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Polling rates for the standard and actual graphs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81" name="Chip 02"/>
            <p:cNvGrpSpPr/>
            <p:nvPr/>
          </p:nvGrpSpPr>
          <p:grpSpPr>
            <a:xfrm>
              <a:off x="8558784" y="2160524"/>
              <a:ext cx="176782" cy="137160"/>
              <a:chOff x="8558784" y="2160524"/>
              <a:chExt cx="176782" cy="137160"/>
            </a:xfrm>
          </p:grpSpPr>
          <p:sp>
            <p:nvSpPr>
              <p:cNvPr id="82" name="Chip fill"/>
              <p:cNvSpPr/>
              <p:nvPr/>
            </p:nvSpPr>
            <p:spPr>
              <a:xfrm>
                <a:off x="8558784" y="2160524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83" name="Chip label"/>
              <p:cNvSpPr txBox="1"/>
              <p:nvPr/>
            </p:nvSpPr>
            <p:spPr>
              <a:xfrm>
                <a:off x="8599932" y="2160524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84" name="Rule"/>
            <p:cNvCxnSpPr/>
            <p:nvPr/>
          </p:nvCxnSpPr>
          <p:spPr>
            <a:xfrm>
              <a:off x="4992624" y="2366264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5" name="Point number"/>
            <p:cNvSpPr txBox="1"/>
            <p:nvPr/>
          </p:nvSpPr>
          <p:spPr>
            <a:xfrm>
              <a:off x="4736592" y="2421128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09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86" name="Point"/>
            <p:cNvSpPr txBox="1"/>
            <p:nvPr/>
          </p:nvSpPr>
          <p:spPr>
            <a:xfrm>
              <a:off x="4992624" y="2416556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MES scanner (QR) data source and interface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87" name="Chip 02"/>
            <p:cNvGrpSpPr/>
            <p:nvPr/>
          </p:nvGrpSpPr>
          <p:grpSpPr>
            <a:xfrm>
              <a:off x="8558784" y="2416556"/>
              <a:ext cx="176782" cy="137160"/>
              <a:chOff x="8558784" y="2416556"/>
              <a:chExt cx="176782" cy="137160"/>
            </a:xfrm>
          </p:grpSpPr>
          <p:sp>
            <p:nvSpPr>
              <p:cNvPr id="88" name="Chip fill"/>
              <p:cNvSpPr/>
              <p:nvPr/>
            </p:nvSpPr>
            <p:spPr>
              <a:xfrm>
                <a:off x="8558784" y="2416556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89" name="Chip label"/>
              <p:cNvSpPr txBox="1"/>
              <p:nvPr/>
            </p:nvSpPr>
            <p:spPr>
              <a:xfrm>
                <a:off x="8599932" y="2416556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90" name="Rule"/>
            <p:cNvCxnSpPr/>
            <p:nvPr/>
          </p:nvCxnSpPr>
          <p:spPr>
            <a:xfrm>
              <a:off x="4992624" y="2622296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grpSp>
        <p:nvGrpSpPr>
          <p:cNvPr id="91" name="Open points · Network &amp; site"/>
          <p:cNvGrpSpPr/>
          <p:nvPr/>
        </p:nvGrpSpPr>
        <p:grpSpPr>
          <a:xfrm>
            <a:off x="274320" y="2971800"/>
            <a:ext cx="4242816" cy="1801368"/>
            <a:chOff x="274320" y="2971800"/>
            <a:chExt cx="4242816" cy="1801368"/>
          </a:xfrm>
        </p:grpSpPr>
        <p:sp>
          <p:nvSpPr>
            <p:cNvPr id="92" name="Card"/>
            <p:cNvSpPr/>
            <p:nvPr/>
          </p:nvSpPr>
          <p:spPr>
            <a:xfrm>
              <a:off x="274320" y="2971800"/>
              <a:ext cx="4242816" cy="1801368"/>
            </a:xfrm>
            <a:prstGeom prst="roundRect">
              <a:avLst>
                <a:gd name="adj" fmla="val 304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93" name="Icon tile"/>
            <p:cNvSpPr/>
            <p:nvPr/>
          </p:nvSpPr>
          <p:spPr>
            <a:xfrm>
              <a:off x="365760" y="3063240"/>
              <a:ext cx="256032" cy="256032"/>
            </a:xfrm>
            <a:prstGeom prst="roundRect">
              <a:avLst>
                <a:gd name="adj" fmla="val 14285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</p:sp>
        <p:sp>
          <p:nvSpPr>
            <p:cNvPr id="94" name="Icon network"/>
            <p:cNvSpPr/>
            <p:nvPr/>
          </p:nvSpPr>
          <p:spPr>
            <a:xfrm>
              <a:off x="420624" y="3118104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16000"/>
                  </a:moveTo>
                  <a:lnTo>
                    <a:pt x="21000" y="16000"/>
                  </a:lnTo>
                  <a:cubicBezTo>
                    <a:pt x="21175" y="16000"/>
                    <a:pt x="21347" y="16046"/>
                    <a:pt x="21500" y="16133"/>
                  </a:cubicBezTo>
                  <a:cubicBezTo>
                    <a:pt x="21652" y="16221"/>
                    <a:pt x="21778" y="16347"/>
                    <a:pt x="21866" y="16500"/>
                  </a:cubicBezTo>
                  <a:cubicBezTo>
                    <a:pt x="21953" y="16652"/>
                    <a:pt x="22000" y="16824"/>
                    <a:pt x="22000" y="17000"/>
                  </a:cubicBezTo>
                  <a:lnTo>
                    <a:pt x="22000" y="21000"/>
                  </a:lnTo>
                  <a:cubicBezTo>
                    <a:pt x="22000" y="21175"/>
                    <a:pt x="21953" y="21347"/>
                    <a:pt x="21866" y="21500"/>
                  </a:cubicBezTo>
                  <a:cubicBezTo>
                    <a:pt x="21778" y="21652"/>
                    <a:pt x="21652" y="21778"/>
                    <a:pt x="21500" y="21866"/>
                  </a:cubicBezTo>
                  <a:cubicBezTo>
                    <a:pt x="21347" y="21953"/>
                    <a:pt x="21175" y="22000"/>
                    <a:pt x="21000" y="22000"/>
                  </a:cubicBezTo>
                  <a:lnTo>
                    <a:pt x="17000" y="22000"/>
                  </a:lnTo>
                  <a:cubicBezTo>
                    <a:pt x="16824" y="22000"/>
                    <a:pt x="16652" y="21953"/>
                    <a:pt x="16500" y="21866"/>
                  </a:cubicBezTo>
                  <a:cubicBezTo>
                    <a:pt x="16347" y="21778"/>
                    <a:pt x="16221" y="21652"/>
                    <a:pt x="16133" y="21500"/>
                  </a:cubicBezTo>
                  <a:cubicBezTo>
                    <a:pt x="16046" y="21347"/>
                    <a:pt x="16000" y="21175"/>
                    <a:pt x="16000" y="21000"/>
                  </a:cubicBezTo>
                  <a:lnTo>
                    <a:pt x="16000" y="17000"/>
                  </a:lnTo>
                  <a:cubicBezTo>
                    <a:pt x="16000" y="16824"/>
                    <a:pt x="16046" y="16652"/>
                    <a:pt x="16133" y="16500"/>
                  </a:cubicBezTo>
                  <a:cubicBezTo>
                    <a:pt x="16221" y="16347"/>
                    <a:pt x="16347" y="16221"/>
                    <a:pt x="16500" y="16133"/>
                  </a:cubicBezTo>
                  <a:cubicBezTo>
                    <a:pt x="16652" y="16046"/>
                    <a:pt x="16824" y="16000"/>
                    <a:pt x="17000" y="16000"/>
                  </a:cubicBezTo>
                  <a:close/>
                </a:path>
                <a:path w="24000" h="24000" fill="none">
                  <a:moveTo>
                    <a:pt x="3000" y="16000"/>
                  </a:moveTo>
                  <a:lnTo>
                    <a:pt x="7000" y="16000"/>
                  </a:lnTo>
                  <a:cubicBezTo>
                    <a:pt x="7175" y="16000"/>
                    <a:pt x="7347" y="16046"/>
                    <a:pt x="7500" y="16133"/>
                  </a:cubicBezTo>
                  <a:cubicBezTo>
                    <a:pt x="7652" y="16221"/>
                    <a:pt x="7778" y="16347"/>
                    <a:pt x="7866" y="16500"/>
                  </a:cubicBezTo>
                  <a:cubicBezTo>
                    <a:pt x="7953" y="16652"/>
                    <a:pt x="8000" y="16824"/>
                    <a:pt x="8000" y="17000"/>
                  </a:cubicBezTo>
                  <a:lnTo>
                    <a:pt x="8000" y="21000"/>
                  </a:lnTo>
                  <a:cubicBezTo>
                    <a:pt x="8000" y="21175"/>
                    <a:pt x="7953" y="21347"/>
                    <a:pt x="7866" y="21500"/>
                  </a:cubicBezTo>
                  <a:cubicBezTo>
                    <a:pt x="7778" y="21652"/>
                    <a:pt x="7652" y="21778"/>
                    <a:pt x="7500" y="21866"/>
                  </a:cubicBezTo>
                  <a:cubicBezTo>
                    <a:pt x="7347" y="21953"/>
                    <a:pt x="7175" y="22000"/>
                    <a:pt x="7000" y="22000"/>
                  </a:cubicBezTo>
                  <a:lnTo>
                    <a:pt x="3000" y="22000"/>
                  </a:lnTo>
                  <a:cubicBezTo>
                    <a:pt x="2824" y="22000"/>
                    <a:pt x="2652" y="21953"/>
                    <a:pt x="2500" y="21866"/>
                  </a:cubicBezTo>
                  <a:cubicBezTo>
                    <a:pt x="2347" y="21778"/>
                    <a:pt x="2221" y="21652"/>
                    <a:pt x="2133" y="21500"/>
                  </a:cubicBezTo>
                  <a:cubicBezTo>
                    <a:pt x="2046" y="21347"/>
                    <a:pt x="2000" y="21175"/>
                    <a:pt x="2000" y="21000"/>
                  </a:cubicBezTo>
                  <a:lnTo>
                    <a:pt x="2000" y="17000"/>
                  </a:lnTo>
                  <a:cubicBezTo>
                    <a:pt x="2000" y="16824"/>
                    <a:pt x="2046" y="16652"/>
                    <a:pt x="2133" y="16500"/>
                  </a:cubicBezTo>
                  <a:cubicBezTo>
                    <a:pt x="2221" y="16347"/>
                    <a:pt x="2347" y="16221"/>
                    <a:pt x="2499" y="16133"/>
                  </a:cubicBezTo>
                  <a:cubicBezTo>
                    <a:pt x="2652" y="16046"/>
                    <a:pt x="2824" y="16000"/>
                    <a:pt x="3000" y="16000"/>
                  </a:cubicBezTo>
                  <a:close/>
                </a:path>
                <a:path w="24000" h="24000" fill="none">
                  <a:moveTo>
                    <a:pt x="10000" y="2000"/>
                  </a:moveTo>
                  <a:lnTo>
                    <a:pt x="14000" y="2000"/>
                  </a:lnTo>
                  <a:cubicBezTo>
                    <a:pt x="14175" y="2000"/>
                    <a:pt x="14347" y="2046"/>
                    <a:pt x="14500" y="2133"/>
                  </a:cubicBezTo>
                  <a:cubicBezTo>
                    <a:pt x="14652" y="2221"/>
                    <a:pt x="14778" y="2347"/>
                    <a:pt x="14866" y="2500"/>
                  </a:cubicBezTo>
                  <a:cubicBezTo>
                    <a:pt x="14953" y="2652"/>
                    <a:pt x="15000" y="2824"/>
                    <a:pt x="15000" y="3000"/>
                  </a:cubicBezTo>
                  <a:lnTo>
                    <a:pt x="15000" y="7000"/>
                  </a:lnTo>
                  <a:cubicBezTo>
                    <a:pt x="15000" y="7175"/>
                    <a:pt x="14953" y="7347"/>
                    <a:pt x="14866" y="7500"/>
                  </a:cubicBezTo>
                  <a:cubicBezTo>
                    <a:pt x="14778" y="7652"/>
                    <a:pt x="14652" y="7778"/>
                    <a:pt x="14500" y="7866"/>
                  </a:cubicBezTo>
                  <a:cubicBezTo>
                    <a:pt x="14347" y="7953"/>
                    <a:pt x="14175" y="8000"/>
                    <a:pt x="14000" y="8000"/>
                  </a:cubicBezTo>
                  <a:lnTo>
                    <a:pt x="10000" y="8000"/>
                  </a:lnTo>
                  <a:cubicBezTo>
                    <a:pt x="9824" y="8000"/>
                    <a:pt x="9652" y="7953"/>
                    <a:pt x="9500" y="7866"/>
                  </a:cubicBezTo>
                  <a:cubicBezTo>
                    <a:pt x="9347" y="7778"/>
                    <a:pt x="9221" y="7652"/>
                    <a:pt x="9133" y="7500"/>
                  </a:cubicBezTo>
                  <a:cubicBezTo>
                    <a:pt x="9046" y="7347"/>
                    <a:pt x="9000" y="7175"/>
                    <a:pt x="9000" y="7000"/>
                  </a:cubicBezTo>
                  <a:lnTo>
                    <a:pt x="9000" y="3000"/>
                  </a:lnTo>
                  <a:cubicBezTo>
                    <a:pt x="9000" y="2824"/>
                    <a:pt x="9046" y="2652"/>
                    <a:pt x="9133" y="2500"/>
                  </a:cubicBezTo>
                  <a:cubicBezTo>
                    <a:pt x="9221" y="2347"/>
                    <a:pt x="9347" y="2221"/>
                    <a:pt x="9500" y="2133"/>
                  </a:cubicBezTo>
                  <a:cubicBezTo>
                    <a:pt x="9652" y="2046"/>
                    <a:pt x="9824" y="2000"/>
                    <a:pt x="10000" y="2000"/>
                  </a:cubicBezTo>
                  <a:close/>
                </a:path>
                <a:path w="24000" h="24000" fill="none">
                  <a:moveTo>
                    <a:pt x="5000" y="16000"/>
                  </a:moveTo>
                  <a:lnTo>
                    <a:pt x="5000" y="13000"/>
                  </a:lnTo>
                  <a:cubicBezTo>
                    <a:pt x="5000" y="12824"/>
                    <a:pt x="5046" y="12652"/>
                    <a:pt x="5133" y="12500"/>
                  </a:cubicBezTo>
                  <a:cubicBezTo>
                    <a:pt x="5221" y="12347"/>
                    <a:pt x="5347" y="12221"/>
                    <a:pt x="5500" y="12133"/>
                  </a:cubicBezTo>
                  <a:cubicBezTo>
                    <a:pt x="5652" y="12046"/>
                    <a:pt x="5824" y="12000"/>
                    <a:pt x="6000" y="12000"/>
                  </a:cubicBezTo>
                  <a:lnTo>
                    <a:pt x="18000" y="12000"/>
                  </a:lnTo>
                  <a:cubicBezTo>
                    <a:pt x="18175" y="12000"/>
                    <a:pt x="18347" y="12046"/>
                    <a:pt x="18500" y="12133"/>
                  </a:cubicBezTo>
                  <a:cubicBezTo>
                    <a:pt x="18652" y="12221"/>
                    <a:pt x="18778" y="12347"/>
                    <a:pt x="18866" y="12500"/>
                  </a:cubicBezTo>
                  <a:cubicBezTo>
                    <a:pt x="18953" y="12652"/>
                    <a:pt x="19000" y="12824"/>
                    <a:pt x="19000" y="13000"/>
                  </a:cubicBezTo>
                  <a:lnTo>
                    <a:pt x="19000" y="16000"/>
                  </a:lnTo>
                </a:path>
                <a:path w="24000" h="24000" fill="none">
                  <a:moveTo>
                    <a:pt x="12000" y="12000"/>
                  </a:moveTo>
                  <a:lnTo>
                    <a:pt x="12000" y="8000"/>
                  </a:lnTo>
                </a:path>
              </a:pathLst>
            </a:custGeom>
            <a:noFill/>
            <a:ln w="12192" cap="rnd">
              <a:solidFill>
                <a:srgbClr val="C65C10"/>
              </a:solidFill>
              <a:round/>
            </a:ln>
          </p:spPr>
        </p:sp>
        <p:sp>
          <p:nvSpPr>
            <p:cNvPr id="95" name="Group title"/>
            <p:cNvSpPr txBox="1"/>
            <p:nvPr/>
          </p:nvSpPr>
          <p:spPr>
            <a:xfrm>
              <a:off x="713232" y="3063240"/>
              <a:ext cx="369417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8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Network &amp; site</a:t>
              </a:r>
              <a:endParaRPr lang="en-US" sz="840" dirty="0">
                <a:latin typeface="Inter SemiBold"/>
              </a:endParaRPr>
            </a:p>
          </p:txBody>
        </p:sp>
        <p:sp>
          <p:nvSpPr>
            <p:cNvPr id="96" name="Point number"/>
            <p:cNvSpPr txBox="1"/>
            <p:nvPr/>
          </p:nvSpPr>
          <p:spPr>
            <a:xfrm>
              <a:off x="384048" y="3410712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10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97" name="Point"/>
            <p:cNvSpPr txBox="1"/>
            <p:nvPr/>
          </p:nvSpPr>
          <p:spPr>
            <a:xfrm>
              <a:off x="640080" y="3406140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FTP host, folder and credentials for file uploads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98" name="Chip 01"/>
            <p:cNvGrpSpPr/>
            <p:nvPr/>
          </p:nvGrpSpPr>
          <p:grpSpPr>
            <a:xfrm>
              <a:off x="4023360" y="3406140"/>
              <a:ext cx="162039" cy="137160"/>
              <a:chOff x="4023360" y="3406140"/>
              <a:chExt cx="162039" cy="137160"/>
            </a:xfrm>
          </p:grpSpPr>
          <p:sp>
            <p:nvSpPr>
              <p:cNvPr id="99" name="Chip fill"/>
              <p:cNvSpPr/>
              <p:nvPr/>
            </p:nvSpPr>
            <p:spPr>
              <a:xfrm>
                <a:off x="4023360" y="3406140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100" name="Chip label"/>
              <p:cNvSpPr txBox="1"/>
              <p:nvPr/>
            </p:nvSpPr>
            <p:spPr>
              <a:xfrm>
                <a:off x="4064508" y="3406140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01" name="Chip 02"/>
            <p:cNvGrpSpPr/>
            <p:nvPr/>
          </p:nvGrpSpPr>
          <p:grpSpPr>
            <a:xfrm>
              <a:off x="4212831" y="3406140"/>
              <a:ext cx="176782" cy="137160"/>
              <a:chOff x="4212831" y="3406140"/>
              <a:chExt cx="176782" cy="137160"/>
            </a:xfrm>
          </p:grpSpPr>
          <p:sp>
            <p:nvSpPr>
              <p:cNvPr id="102" name="Chip fill"/>
              <p:cNvSpPr/>
              <p:nvPr/>
            </p:nvSpPr>
            <p:spPr>
              <a:xfrm>
                <a:off x="4212831" y="3406140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103" name="Chip label"/>
              <p:cNvSpPr txBox="1"/>
              <p:nvPr/>
            </p:nvSpPr>
            <p:spPr>
              <a:xfrm>
                <a:off x="4253979" y="3406140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104" name="Rule"/>
            <p:cNvCxnSpPr/>
            <p:nvPr/>
          </p:nvCxnSpPr>
          <p:spPr>
            <a:xfrm>
              <a:off x="640080" y="3611880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05" name="Point number"/>
            <p:cNvSpPr txBox="1"/>
            <p:nvPr/>
          </p:nvSpPr>
          <p:spPr>
            <a:xfrm>
              <a:off x="384048" y="3666744"/>
              <a:ext cx="237744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11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106" name="Point"/>
            <p:cNvSpPr txBox="1"/>
            <p:nvPr/>
          </p:nvSpPr>
          <p:spPr>
            <a:xfrm>
              <a:off x="640080" y="3662172"/>
              <a:ext cx="3310128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Ports, VLANs and firewall rules between stations, central server, SAP, MES and FTP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107" name="Chip 01"/>
            <p:cNvGrpSpPr/>
            <p:nvPr/>
          </p:nvGrpSpPr>
          <p:grpSpPr>
            <a:xfrm>
              <a:off x="4023360" y="3662172"/>
              <a:ext cx="162039" cy="137160"/>
              <a:chOff x="4023360" y="3662172"/>
              <a:chExt cx="162039" cy="137160"/>
            </a:xfrm>
          </p:grpSpPr>
          <p:sp>
            <p:nvSpPr>
              <p:cNvPr id="108" name="Chip fill"/>
              <p:cNvSpPr/>
              <p:nvPr/>
            </p:nvSpPr>
            <p:spPr>
              <a:xfrm>
                <a:off x="4023360" y="3662172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109" name="Chip label"/>
              <p:cNvSpPr txBox="1"/>
              <p:nvPr/>
            </p:nvSpPr>
            <p:spPr>
              <a:xfrm>
                <a:off x="4064508" y="3662172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10" name="Chip 02"/>
            <p:cNvGrpSpPr/>
            <p:nvPr/>
          </p:nvGrpSpPr>
          <p:grpSpPr>
            <a:xfrm>
              <a:off x="4212831" y="3662172"/>
              <a:ext cx="176782" cy="137160"/>
              <a:chOff x="4212831" y="3662172"/>
              <a:chExt cx="176782" cy="137160"/>
            </a:xfrm>
          </p:grpSpPr>
          <p:sp>
            <p:nvSpPr>
              <p:cNvPr id="111" name="Chip fill"/>
              <p:cNvSpPr/>
              <p:nvPr/>
            </p:nvSpPr>
            <p:spPr>
              <a:xfrm>
                <a:off x="4212831" y="3662172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112" name="Chip label"/>
              <p:cNvSpPr txBox="1"/>
              <p:nvPr/>
            </p:nvSpPr>
            <p:spPr>
              <a:xfrm>
                <a:off x="4253979" y="3662172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113" name="Rule"/>
            <p:cNvCxnSpPr/>
            <p:nvPr/>
          </p:nvCxnSpPr>
          <p:spPr>
            <a:xfrm>
              <a:off x="640080" y="3944620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14" name="Point number"/>
            <p:cNvSpPr txBox="1"/>
            <p:nvPr/>
          </p:nvSpPr>
          <p:spPr>
            <a:xfrm>
              <a:off x="384048" y="3999484"/>
              <a:ext cx="237744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12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115" name="Point"/>
            <p:cNvSpPr txBox="1"/>
            <p:nvPr/>
          </p:nvSpPr>
          <p:spPr>
            <a:xfrm>
              <a:off x="640080" y="3994912"/>
              <a:ext cx="3310128" cy="241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Operator terminals at IUT, FUT and Hydrotester: device and access method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116" name="Chip 01"/>
            <p:cNvGrpSpPr/>
            <p:nvPr/>
          </p:nvGrpSpPr>
          <p:grpSpPr>
            <a:xfrm>
              <a:off x="4023360" y="3994912"/>
              <a:ext cx="162039" cy="137160"/>
              <a:chOff x="4023360" y="3994912"/>
              <a:chExt cx="162039" cy="137160"/>
            </a:xfrm>
          </p:grpSpPr>
          <p:sp>
            <p:nvSpPr>
              <p:cNvPr id="117" name="Chip fill"/>
              <p:cNvSpPr/>
              <p:nvPr/>
            </p:nvSpPr>
            <p:spPr>
              <a:xfrm>
                <a:off x="4023360" y="3994912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118" name="Chip label"/>
              <p:cNvSpPr txBox="1"/>
              <p:nvPr/>
            </p:nvSpPr>
            <p:spPr>
              <a:xfrm>
                <a:off x="4064508" y="3994912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19" name="Chip 02"/>
            <p:cNvGrpSpPr/>
            <p:nvPr/>
          </p:nvGrpSpPr>
          <p:grpSpPr>
            <a:xfrm>
              <a:off x="4212831" y="3994912"/>
              <a:ext cx="176782" cy="137160"/>
              <a:chOff x="4212831" y="3994912"/>
              <a:chExt cx="176782" cy="137160"/>
            </a:xfrm>
          </p:grpSpPr>
          <p:sp>
            <p:nvSpPr>
              <p:cNvPr id="120" name="Chip fill"/>
              <p:cNvSpPr/>
              <p:nvPr/>
            </p:nvSpPr>
            <p:spPr>
              <a:xfrm>
                <a:off x="4212831" y="3994912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121" name="Chip label"/>
              <p:cNvSpPr txBox="1"/>
              <p:nvPr/>
            </p:nvSpPr>
            <p:spPr>
              <a:xfrm>
                <a:off x="4253979" y="3994912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122" name="Rule"/>
            <p:cNvCxnSpPr/>
            <p:nvPr/>
          </p:nvCxnSpPr>
          <p:spPr>
            <a:xfrm>
              <a:off x="640080" y="4277360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23" name="Point number"/>
            <p:cNvSpPr txBox="1"/>
            <p:nvPr/>
          </p:nvSpPr>
          <p:spPr>
            <a:xfrm>
              <a:off x="384048" y="4332224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13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124" name="Point"/>
            <p:cNvSpPr txBox="1"/>
            <p:nvPr/>
          </p:nvSpPr>
          <p:spPr>
            <a:xfrm>
              <a:off x="640080" y="4327652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IPC mounting, power and cabling at the Hydrotester station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125" name="Chip 02"/>
            <p:cNvGrpSpPr/>
            <p:nvPr/>
          </p:nvGrpSpPr>
          <p:grpSpPr>
            <a:xfrm>
              <a:off x="4206240" y="4327652"/>
              <a:ext cx="176782" cy="137160"/>
              <a:chOff x="4206240" y="4327652"/>
              <a:chExt cx="176782" cy="137160"/>
            </a:xfrm>
          </p:grpSpPr>
          <p:sp>
            <p:nvSpPr>
              <p:cNvPr id="126" name="Chip fill"/>
              <p:cNvSpPr/>
              <p:nvPr/>
            </p:nvSpPr>
            <p:spPr>
              <a:xfrm>
                <a:off x="4206240" y="4327652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127" name="Chip label"/>
              <p:cNvSpPr txBox="1"/>
              <p:nvPr/>
            </p:nvSpPr>
            <p:spPr>
              <a:xfrm>
                <a:off x="4247388" y="4327652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128" name="Rule"/>
            <p:cNvCxnSpPr/>
            <p:nvPr/>
          </p:nvCxnSpPr>
          <p:spPr>
            <a:xfrm>
              <a:off x="640080" y="4533392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grpSp>
        <p:nvGrpSpPr>
          <p:cNvPr id="129" name="Open points · Plan &amp; support"/>
          <p:cNvGrpSpPr/>
          <p:nvPr/>
        </p:nvGrpSpPr>
        <p:grpSpPr>
          <a:xfrm>
            <a:off x="4626864" y="2971800"/>
            <a:ext cx="4242816" cy="1801368"/>
            <a:chOff x="4626864" y="2971800"/>
            <a:chExt cx="4242816" cy="1801368"/>
          </a:xfrm>
        </p:grpSpPr>
        <p:sp>
          <p:nvSpPr>
            <p:cNvPr id="130" name="Card"/>
            <p:cNvSpPr/>
            <p:nvPr/>
          </p:nvSpPr>
          <p:spPr>
            <a:xfrm>
              <a:off x="4626864" y="2971800"/>
              <a:ext cx="4242816" cy="1801368"/>
            </a:xfrm>
            <a:prstGeom prst="roundRect">
              <a:avLst>
                <a:gd name="adj" fmla="val 304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</p:sp>
        <p:sp>
          <p:nvSpPr>
            <p:cNvPr id="131" name="Icon tile"/>
            <p:cNvSpPr/>
            <p:nvPr/>
          </p:nvSpPr>
          <p:spPr>
            <a:xfrm>
              <a:off x="4718304" y="3063240"/>
              <a:ext cx="256032" cy="256032"/>
            </a:xfrm>
            <a:prstGeom prst="roundRect">
              <a:avLst>
                <a:gd name="adj" fmla="val 14285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</p:sp>
        <p:sp>
          <p:nvSpPr>
            <p:cNvPr id="132" name="Icon calendar-clock"/>
            <p:cNvSpPr/>
            <p:nvPr/>
          </p:nvSpPr>
          <p:spPr>
            <a:xfrm>
              <a:off x="4773168" y="3118104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14000"/>
                  </a:moveTo>
                  <a:lnTo>
                    <a:pt x="16000" y="16200"/>
                  </a:lnTo>
                  <a:lnTo>
                    <a:pt x="17600" y="17200"/>
                  </a:lnTo>
                </a:path>
                <a:path w="24000" h="24000" fill="none">
                  <a:moveTo>
                    <a:pt x="16000" y="2000"/>
                  </a:moveTo>
                  <a:lnTo>
                    <a:pt x="16000" y="5000"/>
                  </a:lnTo>
                </a:path>
                <a:path w="24000" h="24000" fill="none">
                  <a:moveTo>
                    <a:pt x="21000" y="7338"/>
                  </a:moveTo>
                  <a:lnTo>
                    <a:pt x="21000" y="5000"/>
                  </a:lnTo>
                  <a:cubicBezTo>
                    <a:pt x="21000" y="4648"/>
                    <a:pt x="20907" y="4304"/>
                    <a:pt x="20732" y="4000"/>
                  </a:cubicBezTo>
                  <a:cubicBezTo>
                    <a:pt x="20556" y="3695"/>
                    <a:pt x="20304" y="3443"/>
                    <a:pt x="20000" y="3267"/>
                  </a:cubicBezTo>
                  <a:cubicBezTo>
                    <a:pt x="19695" y="3092"/>
                    <a:pt x="19351" y="3000"/>
                    <a:pt x="19000" y="3000"/>
                  </a:cubicBezTo>
                  <a:lnTo>
                    <a:pt x="5000" y="3000"/>
                  </a:lnTo>
                  <a:cubicBezTo>
                    <a:pt x="4648" y="3000"/>
                    <a:pt x="4304" y="3092"/>
                    <a:pt x="4000" y="3267"/>
                  </a:cubicBezTo>
                  <a:cubicBezTo>
                    <a:pt x="3695" y="3443"/>
                    <a:pt x="3443" y="3695"/>
                    <a:pt x="3267" y="3999"/>
                  </a:cubicBezTo>
                  <a:cubicBezTo>
                    <a:pt x="3092" y="4304"/>
                    <a:pt x="3000" y="4648"/>
                    <a:pt x="3000" y="5000"/>
                  </a:cubicBezTo>
                  <a:lnTo>
                    <a:pt x="3000" y="19000"/>
                  </a:lnTo>
                  <a:cubicBezTo>
                    <a:pt x="3000" y="19351"/>
                    <a:pt x="3092" y="19695"/>
                    <a:pt x="3267" y="20000"/>
                  </a:cubicBezTo>
                  <a:cubicBezTo>
                    <a:pt x="3443" y="20304"/>
                    <a:pt x="3695" y="20556"/>
                    <a:pt x="3999" y="20732"/>
                  </a:cubicBezTo>
                  <a:cubicBezTo>
                    <a:pt x="4304" y="20907"/>
                    <a:pt x="4648" y="21000"/>
                    <a:pt x="5000" y="21000"/>
                  </a:cubicBezTo>
                  <a:lnTo>
                    <a:pt x="7338" y="21000"/>
                  </a:lnTo>
                </a:path>
                <a:path w="24000" h="24000" fill="none">
                  <a:moveTo>
                    <a:pt x="3000" y="9000"/>
                  </a:moveTo>
                  <a:lnTo>
                    <a:pt x="8859" y="9000"/>
                  </a:lnTo>
                </a:path>
                <a:path w="24000" h="24000" fill="none">
                  <a:moveTo>
                    <a:pt x="8000" y="2000"/>
                  </a:moveTo>
                  <a:lnTo>
                    <a:pt x="8000" y="5000"/>
                  </a:lnTo>
                </a:path>
                <a:path w="24000" h="24000" fill="none">
                  <a:moveTo>
                    <a:pt x="22000" y="16000"/>
                  </a:moveTo>
                  <a:cubicBezTo>
                    <a:pt x="22000" y="17053"/>
                    <a:pt x="21722" y="18087"/>
                    <a:pt x="21196" y="19000"/>
                  </a:cubicBezTo>
                  <a:cubicBezTo>
                    <a:pt x="20669" y="19912"/>
                    <a:pt x="19912" y="20669"/>
                    <a:pt x="19000" y="21196"/>
                  </a:cubicBezTo>
                  <a:cubicBezTo>
                    <a:pt x="18087" y="21722"/>
                    <a:pt x="17053" y="22000"/>
                    <a:pt x="16000" y="22000"/>
                  </a:cubicBezTo>
                  <a:cubicBezTo>
                    <a:pt x="14946" y="22000"/>
                    <a:pt x="13912" y="21722"/>
                    <a:pt x="13000" y="21196"/>
                  </a:cubicBezTo>
                  <a:cubicBezTo>
                    <a:pt x="12087" y="20669"/>
                    <a:pt x="11330" y="19912"/>
                    <a:pt x="10803" y="19000"/>
                  </a:cubicBezTo>
                  <a:cubicBezTo>
                    <a:pt x="10277" y="18087"/>
                    <a:pt x="10000" y="17053"/>
                    <a:pt x="10000" y="16000"/>
                  </a:cubicBezTo>
                  <a:cubicBezTo>
                    <a:pt x="10000" y="14946"/>
                    <a:pt x="10277" y="13912"/>
                    <a:pt x="10803" y="13000"/>
                  </a:cubicBezTo>
                  <a:cubicBezTo>
                    <a:pt x="11330" y="12087"/>
                    <a:pt x="12087" y="11330"/>
                    <a:pt x="12999" y="10803"/>
                  </a:cubicBezTo>
                  <a:cubicBezTo>
                    <a:pt x="13912" y="10277"/>
                    <a:pt x="14946" y="10000"/>
                    <a:pt x="15999" y="10000"/>
                  </a:cubicBezTo>
                  <a:cubicBezTo>
                    <a:pt x="17053" y="10000"/>
                    <a:pt x="18087" y="10277"/>
                    <a:pt x="19000" y="10803"/>
                  </a:cubicBezTo>
                  <a:cubicBezTo>
                    <a:pt x="19912" y="11330"/>
                    <a:pt x="20669" y="12087"/>
                    <a:pt x="21196" y="13000"/>
                  </a:cubicBezTo>
                  <a:cubicBezTo>
                    <a:pt x="21722" y="13912"/>
                    <a:pt x="22000" y="14946"/>
                    <a:pt x="22000" y="15999"/>
                  </a:cubicBezTo>
                  <a:close/>
                </a:path>
              </a:pathLst>
            </a:custGeom>
            <a:noFill/>
            <a:ln w="12192" cap="rnd">
              <a:solidFill>
                <a:srgbClr val="C65C10"/>
              </a:solidFill>
              <a:round/>
            </a:ln>
          </p:spPr>
        </p:sp>
        <p:sp>
          <p:nvSpPr>
            <p:cNvPr id="133" name="Group title"/>
            <p:cNvSpPr txBox="1"/>
            <p:nvPr/>
          </p:nvSpPr>
          <p:spPr>
            <a:xfrm>
              <a:off x="5065776" y="3063240"/>
              <a:ext cx="369417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8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Plan &amp; support</a:t>
              </a:r>
              <a:endParaRPr lang="en-US" sz="840" dirty="0">
                <a:latin typeface="Inter SemiBold"/>
              </a:endParaRPr>
            </a:p>
          </p:txBody>
        </p:sp>
        <p:sp>
          <p:nvSpPr>
            <p:cNvPr id="134" name="Point number"/>
            <p:cNvSpPr txBox="1"/>
            <p:nvPr/>
          </p:nvSpPr>
          <p:spPr>
            <a:xfrm>
              <a:off x="4736592" y="3410712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14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135" name="Point"/>
            <p:cNvSpPr txBox="1"/>
            <p:nvPr/>
          </p:nvSpPr>
          <p:spPr>
            <a:xfrm>
              <a:off x="4992624" y="3406140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Post go-live support duration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136" name="Chip 01"/>
            <p:cNvGrpSpPr/>
            <p:nvPr/>
          </p:nvGrpSpPr>
          <p:grpSpPr>
            <a:xfrm>
              <a:off x="8375904" y="3406140"/>
              <a:ext cx="162039" cy="137160"/>
              <a:chOff x="8375904" y="3406140"/>
              <a:chExt cx="162039" cy="137160"/>
            </a:xfrm>
          </p:grpSpPr>
          <p:sp>
            <p:nvSpPr>
              <p:cNvPr id="137" name="Chip fill"/>
              <p:cNvSpPr/>
              <p:nvPr/>
            </p:nvSpPr>
            <p:spPr>
              <a:xfrm>
                <a:off x="8375904" y="3406140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138" name="Chip label"/>
              <p:cNvSpPr txBox="1"/>
              <p:nvPr/>
            </p:nvSpPr>
            <p:spPr>
              <a:xfrm>
                <a:off x="8417052" y="3406140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39" name="Chip 02"/>
            <p:cNvGrpSpPr/>
            <p:nvPr/>
          </p:nvGrpSpPr>
          <p:grpSpPr>
            <a:xfrm>
              <a:off x="8565375" y="3406140"/>
              <a:ext cx="176782" cy="137160"/>
              <a:chOff x="8565375" y="3406140"/>
              <a:chExt cx="176782" cy="137160"/>
            </a:xfrm>
          </p:grpSpPr>
          <p:sp>
            <p:nvSpPr>
              <p:cNvPr id="140" name="Chip fill"/>
              <p:cNvSpPr/>
              <p:nvPr/>
            </p:nvSpPr>
            <p:spPr>
              <a:xfrm>
                <a:off x="8565375" y="3406140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141" name="Chip label"/>
              <p:cNvSpPr txBox="1"/>
              <p:nvPr/>
            </p:nvSpPr>
            <p:spPr>
              <a:xfrm>
                <a:off x="8606523" y="3406140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142" name="Rule"/>
            <p:cNvCxnSpPr/>
            <p:nvPr/>
          </p:nvCxnSpPr>
          <p:spPr>
            <a:xfrm>
              <a:off x="4992624" y="3611880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43" name="Point number"/>
            <p:cNvSpPr txBox="1"/>
            <p:nvPr/>
          </p:nvSpPr>
          <p:spPr>
            <a:xfrm>
              <a:off x="4736592" y="3666744"/>
              <a:ext cx="2377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5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15</a:t>
              </a:r>
              <a:endParaRPr lang="en-US" sz="750" dirty="0">
                <a:latin typeface="TASA Orbiter SemiBold"/>
              </a:endParaRPr>
            </a:p>
          </p:txBody>
        </p:sp>
        <p:sp>
          <p:nvSpPr>
            <p:cNvPr id="144" name="Point"/>
            <p:cNvSpPr txBox="1"/>
            <p:nvPr/>
          </p:nvSpPr>
          <p:spPr>
            <a:xfrm>
              <a:off x="4992624" y="3662172"/>
              <a:ext cx="3310128" cy="120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Confirmation of the delivery schedule and phase durations</a:t>
              </a:r>
              <a:endParaRPr lang="en-US" sz="760" dirty="0">
                <a:latin typeface="Inter"/>
              </a:endParaRPr>
            </a:p>
          </p:txBody>
        </p:sp>
        <p:grpSp>
          <p:nvGrpSpPr>
            <p:cNvPr id="145" name="Chip 01"/>
            <p:cNvGrpSpPr/>
            <p:nvPr/>
          </p:nvGrpSpPr>
          <p:grpSpPr>
            <a:xfrm>
              <a:off x="8375904" y="3662172"/>
              <a:ext cx="162039" cy="137160"/>
              <a:chOff x="8375904" y="3662172"/>
              <a:chExt cx="162039" cy="137160"/>
            </a:xfrm>
          </p:grpSpPr>
          <p:sp>
            <p:nvSpPr>
              <p:cNvPr id="146" name="Chip fill"/>
              <p:cNvSpPr/>
              <p:nvPr/>
            </p:nvSpPr>
            <p:spPr>
              <a:xfrm>
                <a:off x="8375904" y="3662172"/>
                <a:ext cx="16203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/>
              </a:solidFill>
              <a:ln>
                <a:noFill/>
              </a:ln>
            </p:spPr>
          </p:sp>
          <p:sp>
            <p:nvSpPr>
              <p:cNvPr id="147" name="Chip label"/>
              <p:cNvSpPr txBox="1"/>
              <p:nvPr/>
            </p:nvSpPr>
            <p:spPr>
              <a:xfrm>
                <a:off x="8417052" y="3662172"/>
                <a:ext cx="980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48" name="Chip 02"/>
            <p:cNvGrpSpPr/>
            <p:nvPr/>
          </p:nvGrpSpPr>
          <p:grpSpPr>
            <a:xfrm>
              <a:off x="8565375" y="3662172"/>
              <a:ext cx="176782" cy="137160"/>
              <a:chOff x="8565375" y="3662172"/>
              <a:chExt cx="176782" cy="137160"/>
            </a:xfrm>
          </p:grpSpPr>
          <p:sp>
            <p:nvSpPr>
              <p:cNvPr id="149" name="Chip fill"/>
              <p:cNvSpPr/>
              <p:nvPr/>
            </p:nvSpPr>
            <p:spPr>
              <a:xfrm>
                <a:off x="8565375" y="3662172"/>
                <a:ext cx="176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C1927"/>
              </a:solidFill>
              <a:ln>
                <a:noFill/>
              </a:ln>
            </p:spPr>
          </p:sp>
          <p:sp>
            <p:nvSpPr>
              <p:cNvPr id="150" name="Chip label"/>
              <p:cNvSpPr txBox="1"/>
              <p:nvPr/>
            </p:nvSpPr>
            <p:spPr>
              <a:xfrm>
                <a:off x="8606523" y="3662172"/>
                <a:ext cx="1127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</a:t>
                </a:r>
                <a:endParaRPr lang="en-US" sz="580" dirty="0">
                  <a:latin typeface="Inter SemiBold"/>
                </a:endParaRPr>
              </a:p>
            </p:txBody>
          </p:sp>
        </p:grpSp>
        <p:cxnSp>
          <p:nvCxnSpPr>
            <p:cNvPr id="151" name="Rule"/>
            <p:cNvCxnSpPr/>
            <p:nvPr/>
          </p:nvCxnSpPr>
          <p:spPr>
            <a:xfrm>
              <a:off x="4992624" y="3867912"/>
              <a:ext cx="376732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grpSp>
        <p:nvGrpSpPr>
          <p:cNvPr id="152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53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SAP Integration Proposal  ·  Welspun Corporation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54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6F15528-21DE-4FAA-801E-634DDDAF4B2B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