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  <p:sldId id="257" r:id="rId8"/>
    <p:sldId id="258" r:id="rId9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</p:sldIdLst>
  <p:sldSz cy="5143500" cx="9144000"/>
  <p:notesSz cx="6858000" cy="9144000"/>
  <p:embeddedFontLst>
    <p:embeddedFont>
      <p:font typeface="Lato"/>
      <p:regular r:id="rId10"/>
      <p:bold r:id="rId11"/>
      <p:italic r:id="rId12"/>
      <p:boldItalic r:id="rId13"/>
    </p:embeddedFont>
    <p:embeddedFont>
      <p:font typeface="Outfit"/>
      <p:regular r:id="rId14"/>
      <p:bold r:id="rId15"/>
    </p:embeddedFont>
    <p:embeddedFont>
      <p:font typeface="Outfit SemiBo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font" Target="fonts/Lato-regular.fntdata"/><Relationship Id="rId11" Type="http://schemas.openxmlformats.org/officeDocument/2006/relationships/font" Target="fonts/Lato-bold.fntdata"/><Relationship Id="rId12" Type="http://schemas.openxmlformats.org/officeDocument/2006/relationships/font" Target="fonts/Lato-italic.fntdata"/><Relationship Id="rId13" Type="http://schemas.openxmlformats.org/officeDocument/2006/relationships/font" Target="fonts/Lato-boldItalic.fntdata"/><Relationship Id="rId14" Type="http://schemas.openxmlformats.org/officeDocument/2006/relationships/font" Target="fonts/Outfit-regular.fntdata"/><Relationship Id="rId15" Type="http://schemas.openxmlformats.org/officeDocument/2006/relationships/font" Target="fonts/Outfit-bold.fntdata"/><Relationship Id="rId16" Type="http://schemas.openxmlformats.org/officeDocument/2006/relationships/font" Target="fonts/OutfitSemiBold-regular.fntdata"/><Relationship Id="rId17" Type="http://schemas.openxmlformats.org/officeDocument/2006/relationships/font" Target="fonts/OutfitSemiBold-bold.fntdata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b63851a84_0_332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fb63851a84_0_332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25" lIns="42675" spcFirstLastPara="1" rIns="42675" wrap="square" tIns="21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/>
          </a:p>
        </p:txBody>
      </p:sp>
      <p:sp>
        <p:nvSpPr>
          <p:cNvPr id="144" name="Google Shape;144;g3fb63851a84_0_332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325" lIns="42675" spcFirstLastPara="1" rIns="42675" wrap="square" tIns="21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b63851a84_0_356:notes"/>
          <p:cNvSpPr/>
          <p:nvPr>
            <p:ph idx="2" type="sldImg"/>
          </p:nvPr>
        </p:nvSpPr>
        <p:spPr>
          <a:xfrm>
            <a:off x="73" y="0"/>
            <a:ext cx="1124700" cy="112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fb63851a84_0_356:notes"/>
          <p:cNvSpPr txBox="1"/>
          <p:nvPr>
            <p:ph idx="1" type="body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b63851a84_0_356:notes"/>
          <p:cNvSpPr txBox="1"/>
          <p:nvPr>
            <p:ph idx="12" type="sldNum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63851a84_0_462:notes"/>
          <p:cNvSpPr/>
          <p:nvPr>
            <p:ph idx="2" type="sldImg"/>
          </p:nvPr>
        </p:nvSpPr>
        <p:spPr>
          <a:xfrm>
            <a:off x="73" y="0"/>
            <a:ext cx="1124700" cy="112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g3fb63851a84_0_462:notes"/>
          <p:cNvSpPr txBox="1"/>
          <p:nvPr>
            <p:ph idx="1" type="body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fb63851a84_0_462:notes"/>
          <p:cNvSpPr txBox="1"/>
          <p:nvPr>
            <p:ph idx="12" type="sldNum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8556784" y="4749851"/>
            <a:ext cx="54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type="ctrTitle"/>
          </p:nvPr>
        </p:nvSpPr>
        <p:spPr>
          <a:xfrm>
            <a:off x="1143000" y="1939975"/>
            <a:ext cx="68580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1" type="subTitle"/>
          </p:nvPr>
        </p:nvSpPr>
        <p:spPr>
          <a:xfrm>
            <a:off x="1143000" y="2701529"/>
            <a:ext cx="685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9pPr>
          </a:lstStyle>
          <a:p/>
        </p:txBody>
      </p:sp>
      <p:sp>
        <p:nvSpPr>
          <p:cNvPr id="100" name="Google Shape;100;p26"/>
          <p:cNvSpPr txBox="1"/>
          <p:nvPr>
            <p:ph idx="10" type="dt"/>
          </p:nvPr>
        </p:nvSpPr>
        <p:spPr>
          <a:xfrm>
            <a:off x="45720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101" name="Google Shape;101;p26"/>
          <p:cNvSpPr txBox="1"/>
          <p:nvPr>
            <p:ph idx="11" type="ftr"/>
          </p:nvPr>
        </p:nvSpPr>
        <p:spPr>
          <a:xfrm>
            <a:off x="3108960" y="4783455"/>
            <a:ext cx="2926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102" name="Google Shape;102;p26"/>
          <p:cNvSpPr txBox="1"/>
          <p:nvPr>
            <p:ph idx="12" type="sldNum"/>
          </p:nvPr>
        </p:nvSpPr>
        <p:spPr>
          <a:xfrm>
            <a:off x="6583680" y="4783455"/>
            <a:ext cx="2103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Cover">
  <p:cSld name="1-Cov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5">
  <p:cSld name="OBJECT_5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2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3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OBJECT_6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3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1" name="Google Shape;131;p3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3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OBJECT_2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36" name="Google Shape;136;p3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37" name="Google Shape;137;p33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4"/>
          <p:cNvSpPr txBox="1"/>
          <p:nvPr>
            <p:ph type="title"/>
          </p:nvPr>
        </p:nvSpPr>
        <p:spPr>
          <a:xfrm>
            <a:off x="41850" y="385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40" name="Google Shape;140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2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hyperlink" Target="http://www.faclon.com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7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2.png"/><Relationship Id="rId11" Type="http://schemas.openxmlformats.org/officeDocument/2006/relationships/image" Target="../media/image8.png"/><Relationship Id="rId12" Type="http://schemas.openxmlformats.org/officeDocument/2006/relationships/image" Target="../media/image6.png"/><Relationship Id="rId13" Type="http://schemas.openxmlformats.org/officeDocument/2006/relationships/image" Target="../media/image15.png"/><Relationship Id="rId14" Type="http://schemas.openxmlformats.org/officeDocument/2006/relationships/image" Target="../media/image18.png"/><Relationship Id="rId15" Type="http://schemas.openxmlformats.org/officeDocument/2006/relationships/image" Target="../media/image1.png"/><Relationship Id="rId16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9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32.png"/><Relationship Id="rId11" Type="http://schemas.openxmlformats.org/officeDocument/2006/relationships/image" Target="../media/image30.png"/><Relationship Id="rId12" Type="http://schemas.openxmlformats.org/officeDocument/2006/relationships/image" Target="../media/image27.png"/><Relationship Id="rId13" Type="http://schemas.openxmlformats.org/officeDocument/2006/relationships/image" Target="../media/image36.png"/><Relationship Id="rId14" Type="http://schemas.openxmlformats.org/officeDocument/2006/relationships/image" Target="../media/image14.png"/><Relationship Id="rId15" Type="http://schemas.openxmlformats.org/officeDocument/2006/relationships/image" Target="../media/image23.png"/><Relationship Id="rId16" Type="http://schemas.openxmlformats.org/officeDocument/2006/relationships/image" Target="../media/image39.png"/><Relationship Id="rId17" Type="http://schemas.openxmlformats.org/officeDocument/2006/relationships/image" Target="../media/image22.png"/><Relationship Id="rId18" Type="http://schemas.openxmlformats.org/officeDocument/2006/relationships/image" Target="../media/image24.png"/><Relationship Id="rId19" Type="http://schemas.openxmlformats.org/officeDocument/2006/relationships/image" Target="../media/image37.png"/><Relationship Id="rId20" Type="http://schemas.openxmlformats.org/officeDocument/2006/relationships/image" Target="../media/image21.png"/><Relationship Id="rId21" Type="http://schemas.openxmlformats.org/officeDocument/2006/relationships/image" Target="../media/image34.png"/><Relationship Id="rId22" Type="http://schemas.openxmlformats.org/officeDocument/2006/relationships/image" Target="../media/image31.png"/><Relationship Id="rId23" Type="http://schemas.openxmlformats.org/officeDocument/2006/relationships/image" Target="../media/image26.png"/><Relationship Id="rId24" Type="http://schemas.openxmlformats.org/officeDocument/2006/relationships/image" Target="../media/image35.png"/><Relationship Id="rId25" Type="http://schemas.openxmlformats.org/officeDocument/2006/relationships/image" Target="../media/image25.png"/><Relationship Id="rId26" Type="http://schemas.openxmlformats.org/officeDocument/2006/relationships/image" Target="../media/image42.png"/><Relationship Id="rId27" Type="http://schemas.openxmlformats.org/officeDocument/2006/relationships/image" Target="../media/image33.png"/><Relationship Id="rId28" Type="http://schemas.openxmlformats.org/officeDocument/2006/relationships/image" Target="../media/image44.png"/><Relationship Id="rId29" Type="http://schemas.openxmlformats.org/officeDocument/2006/relationships/image" Target="../media/image38.png"/><Relationship Id="rId30" Type="http://schemas.openxmlformats.org/officeDocument/2006/relationships/image" Target="../media/image40.png"/><Relationship Id="rId31" Type="http://schemas.openxmlformats.org/officeDocument/2006/relationships/image" Target="../media/image49.png"/><Relationship Id="rId32" Type="http://schemas.openxmlformats.org/officeDocument/2006/relationships/image" Target="../media/image41.png"/><Relationship Id="rId33" Type="http://schemas.openxmlformats.org/officeDocument/2006/relationships/image" Target="../media/image4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0.png"/><Relationship Id="rId4" Type="http://schemas.openxmlformats.org/officeDocument/2006/relationships/image" Target="../media/image64.png"/><Relationship Id="rId5" Type="http://schemas.openxmlformats.org/officeDocument/2006/relationships/image" Target="../media/image97.png"/><Relationship Id="rId6" Type="http://schemas.openxmlformats.org/officeDocument/2006/relationships/image" Target="../media/image45.png"/><Relationship Id="rId7" Type="http://schemas.openxmlformats.org/officeDocument/2006/relationships/image" Target="../media/image51.png"/><Relationship Id="rId8" Type="http://schemas.openxmlformats.org/officeDocument/2006/relationships/image" Target="../media/image62.png"/><Relationship Id="rId9" Type="http://schemas.openxmlformats.org/officeDocument/2006/relationships/image" Target="../media/image48.png"/><Relationship Id="rId10" Type="http://schemas.openxmlformats.org/officeDocument/2006/relationships/image" Target="../media/image79.png"/><Relationship Id="rId11" Type="http://schemas.openxmlformats.org/officeDocument/2006/relationships/image" Target="../media/image59.png"/><Relationship Id="rId12" Type="http://schemas.openxmlformats.org/officeDocument/2006/relationships/image" Target="../media/image43.png"/><Relationship Id="rId13" Type="http://schemas.openxmlformats.org/officeDocument/2006/relationships/image" Target="../media/image55.png"/><Relationship Id="rId14" Type="http://schemas.openxmlformats.org/officeDocument/2006/relationships/image" Target="../media/image47.png"/><Relationship Id="rId15" Type="http://schemas.openxmlformats.org/officeDocument/2006/relationships/image" Target="../media/image95.png"/><Relationship Id="rId16" Type="http://schemas.openxmlformats.org/officeDocument/2006/relationships/image" Target="../media/image60.png"/><Relationship Id="rId17" Type="http://schemas.openxmlformats.org/officeDocument/2006/relationships/image" Target="../media/image53.png"/><Relationship Id="rId18" Type="http://schemas.openxmlformats.org/officeDocument/2006/relationships/image" Target="../media/image58.png"/><Relationship Id="rId19" Type="http://schemas.openxmlformats.org/officeDocument/2006/relationships/image" Target="../media/image52.png"/><Relationship Id="rId20" Type="http://schemas.openxmlformats.org/officeDocument/2006/relationships/image" Target="../media/image65.png"/><Relationship Id="rId21" Type="http://schemas.openxmlformats.org/officeDocument/2006/relationships/image" Target="../media/image56.png"/><Relationship Id="rId22" Type="http://schemas.openxmlformats.org/officeDocument/2006/relationships/image" Target="../media/image67.png"/><Relationship Id="rId23" Type="http://schemas.openxmlformats.org/officeDocument/2006/relationships/image" Target="../media/image57.png"/><Relationship Id="rId24" Type="http://schemas.openxmlformats.org/officeDocument/2006/relationships/image" Target="../media/image54.png"/><Relationship Id="rId25" Type="http://schemas.openxmlformats.org/officeDocument/2006/relationships/image" Target="../media/image115.png"/><Relationship Id="rId26" Type="http://schemas.openxmlformats.org/officeDocument/2006/relationships/image" Target="../media/image61.png"/><Relationship Id="rId27" Type="http://schemas.openxmlformats.org/officeDocument/2006/relationships/image" Target="../media/image71.png"/><Relationship Id="rId28" Type="http://schemas.openxmlformats.org/officeDocument/2006/relationships/image" Target="../media/image63.png"/><Relationship Id="rId29" Type="http://schemas.openxmlformats.org/officeDocument/2006/relationships/image" Target="../media/image66.png"/><Relationship Id="rId30" Type="http://schemas.openxmlformats.org/officeDocument/2006/relationships/image" Target="../media/image70.png"/><Relationship Id="rId31" Type="http://schemas.openxmlformats.org/officeDocument/2006/relationships/image" Target="../media/image69.png"/><Relationship Id="rId32" Type="http://schemas.openxmlformats.org/officeDocument/2006/relationships/image" Target="../media/image77.png"/><Relationship Id="rId33" Type="http://schemas.openxmlformats.org/officeDocument/2006/relationships/image" Target="../media/image82.png"/><Relationship Id="rId34" Type="http://schemas.openxmlformats.org/officeDocument/2006/relationships/image" Target="../media/image76.png"/><Relationship Id="rId35" Type="http://schemas.openxmlformats.org/officeDocument/2006/relationships/image" Target="../media/image68.png"/><Relationship Id="rId36" Type="http://schemas.openxmlformats.org/officeDocument/2006/relationships/image" Target="../media/image74.png"/><Relationship Id="rId37" Type="http://schemas.openxmlformats.org/officeDocument/2006/relationships/image" Target="../media/image73.png"/><Relationship Id="rId38" Type="http://schemas.openxmlformats.org/officeDocument/2006/relationships/image" Target="../media/image80.png"/><Relationship Id="rId39" Type="http://schemas.openxmlformats.org/officeDocument/2006/relationships/image" Target="../media/image75.png"/><Relationship Id="rId40" Type="http://schemas.openxmlformats.org/officeDocument/2006/relationships/image" Target="../media/image78.png"/><Relationship Id="rId41" Type="http://schemas.openxmlformats.org/officeDocument/2006/relationships/image" Target="../media/image72.png"/><Relationship Id="rId42" Type="http://schemas.openxmlformats.org/officeDocument/2006/relationships/image" Target="../media/image81.png"/><Relationship Id="rId43" Type="http://schemas.openxmlformats.org/officeDocument/2006/relationships/image" Target="../media/image85.png"/><Relationship Id="rId44" Type="http://schemas.openxmlformats.org/officeDocument/2006/relationships/image" Target="../media/image103.png"/><Relationship Id="rId45" Type="http://schemas.openxmlformats.org/officeDocument/2006/relationships/image" Target="../media/image99.png"/><Relationship Id="rId46" Type="http://schemas.openxmlformats.org/officeDocument/2006/relationships/image" Target="../media/image109.png"/><Relationship Id="rId47" Type="http://schemas.openxmlformats.org/officeDocument/2006/relationships/image" Target="../media/image84.png"/><Relationship Id="rId48" Type="http://schemas.openxmlformats.org/officeDocument/2006/relationships/image" Target="../media/image93.png"/><Relationship Id="rId49" Type="http://schemas.openxmlformats.org/officeDocument/2006/relationships/image" Target="../media/image83.png"/><Relationship Id="rId50" Type="http://schemas.openxmlformats.org/officeDocument/2006/relationships/image" Target="../media/image90.png"/><Relationship Id="rId51" Type="http://schemas.openxmlformats.org/officeDocument/2006/relationships/image" Target="../media/image92.png"/><Relationship Id="rId52" Type="http://schemas.openxmlformats.org/officeDocument/2006/relationships/image" Target="../media/image89.png"/><Relationship Id="rId53" Type="http://schemas.openxmlformats.org/officeDocument/2006/relationships/image" Target="../media/image86.png"/><Relationship Id="rId54" Type="http://schemas.openxmlformats.org/officeDocument/2006/relationships/image" Target="../media/image87.png"/><Relationship Id="rId55" Type="http://schemas.openxmlformats.org/officeDocument/2006/relationships/image" Target="../media/image91.png"/><Relationship Id="rId56" Type="http://schemas.openxmlformats.org/officeDocument/2006/relationships/image" Target="../media/image88.png"/><Relationship Id="rId57" Type="http://schemas.openxmlformats.org/officeDocument/2006/relationships/image" Target="../media/image106.png"/><Relationship Id="rId58" Type="http://schemas.openxmlformats.org/officeDocument/2006/relationships/image" Target="../media/image96.png"/><Relationship Id="rId59" Type="http://schemas.openxmlformats.org/officeDocument/2006/relationships/image" Target="../media/image101.png"/><Relationship Id="rId60" Type="http://schemas.openxmlformats.org/officeDocument/2006/relationships/image" Target="../media/image98.png"/><Relationship Id="rId61" Type="http://schemas.openxmlformats.org/officeDocument/2006/relationships/image" Target="../media/image94.png"/><Relationship Id="rId62" Type="http://schemas.openxmlformats.org/officeDocument/2006/relationships/image" Target="../media/image102.png"/><Relationship Id="rId63" Type="http://schemas.openxmlformats.org/officeDocument/2006/relationships/image" Target="../media/image107.png"/><Relationship Id="rId64" Type="http://schemas.openxmlformats.org/officeDocument/2006/relationships/image" Target="../media/image112.png"/><Relationship Id="rId65" Type="http://schemas.openxmlformats.org/officeDocument/2006/relationships/image" Target="../media/image104.png"/><Relationship Id="rId66" Type="http://schemas.openxmlformats.org/officeDocument/2006/relationships/image" Target="../media/image100.png"/><Relationship Id="rId67" Type="http://schemas.openxmlformats.org/officeDocument/2006/relationships/image" Target="../media/image113.png"/><Relationship Id="rId68" Type="http://schemas.openxmlformats.org/officeDocument/2006/relationships/image" Target="../media/image110.png"/><Relationship Id="rId69" Type="http://schemas.openxmlformats.org/officeDocument/2006/relationships/image" Target="../media/image105.png"/><Relationship Id="rId70" Type="http://schemas.openxmlformats.org/officeDocument/2006/relationships/image" Target="../media/image108.png"/><Relationship Id="rId71" Type="http://schemas.openxmlformats.org/officeDocument/2006/relationships/image" Target="../media/image114.png"/><Relationship Id="rId72" Type="http://schemas.openxmlformats.org/officeDocument/2006/relationships/image" Target="../media/image11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32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 title="Fro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28"/>
            <a:ext cx="9144003" cy="5143501"/>
          </a:xfrm>
          <a:prstGeom prst="rect">
            <a:avLst/>
          </a:prstGeom>
          <a:noFill/>
          <a:ln cap="flat" cmpd="sng" w="3575">
            <a:solidFill>
              <a:srgbClr val="002DC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" name="Google Shape;147;p35"/>
          <p:cNvSpPr/>
          <p:nvPr/>
        </p:nvSpPr>
        <p:spPr>
          <a:xfrm>
            <a:off x="421625" y="1637100"/>
            <a:ext cx="5095500" cy="490200"/>
          </a:xfrm>
          <a:prstGeom prst="roundRect">
            <a:avLst>
              <a:gd fmla="val 5060" name="adj"/>
            </a:avLst>
          </a:prstGeom>
          <a:gradFill>
            <a:gsLst>
              <a:gs pos="0">
                <a:srgbClr val="051320"/>
              </a:gs>
              <a:gs pos="36000">
                <a:srgbClr val="2F55D4"/>
              </a:gs>
              <a:gs pos="100000">
                <a:srgbClr val="3CC583"/>
              </a:gs>
            </a:gsLst>
            <a:lin ang="50" scaled="0"/>
          </a:gra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 b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35"/>
          <p:cNvSpPr/>
          <p:nvPr/>
        </p:nvSpPr>
        <p:spPr>
          <a:xfrm>
            <a:off x="6540349" y="4824425"/>
            <a:ext cx="22299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" sz="1100" u="sng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www.faclon.com</a:t>
            </a:r>
            <a:r>
              <a:rPr b="0" i="0" lang="en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35"/>
          <p:cNvSpPr/>
          <p:nvPr/>
        </p:nvSpPr>
        <p:spPr>
          <a:xfrm>
            <a:off x="449375" y="1637100"/>
            <a:ext cx="67911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152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</a:pPr>
            <a:r>
              <a:rPr b="0" lang="en" sz="1600">
                <a:solidFill>
                  <a:schemeClr val="lt1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DG Online Monitoring, Refilling &amp; Maintenance</a:t>
            </a:r>
            <a:endParaRPr b="0" sz="1600">
              <a:solidFill>
                <a:srgbClr val="FFFFFF"/>
              </a:solidFill>
              <a:latin typeface="TASA Orbiter SemiBold"/>
              <a:ea typeface="TASA Orbiter SemiBold"/>
              <a:cs typeface="TASA Orbiter SemiBold"/>
              <a:sym typeface="TASA Orbiter SemiBold"/>
            </a:endParaRPr>
          </a:p>
        </p:txBody>
      </p:sp>
      <p:grpSp>
        <p:nvGrpSpPr>
          <p:cNvPr id="151" name="Google Shape;151;p35"/>
          <p:cNvGrpSpPr/>
          <p:nvPr/>
        </p:nvGrpSpPr>
        <p:grpSpPr>
          <a:xfrm>
            <a:off x="457257" y="571500"/>
            <a:ext cx="1638505" cy="342900"/>
            <a:chOff x="1219352" y="1524000"/>
            <a:chExt cx="4369347" cy="914400"/>
          </a:xfrm>
        </p:grpSpPr>
        <p:pic>
          <p:nvPicPr>
            <p:cNvPr descr=" " id="152" name="Google Shape;152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19352" y="1524000"/>
              <a:ext cx="720455" cy="821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3" name="Google Shape;153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82763" y="1671665"/>
              <a:ext cx="235141" cy="359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4" name="Google Shape;154;p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354792" y="1671665"/>
              <a:ext cx="387684" cy="359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3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71676" y="1671665"/>
              <a:ext cx="221868" cy="359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6" name="Google Shape;156;p3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915252" y="1671665"/>
              <a:ext cx="325515" cy="359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7" name="Google Shape;157;p3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776674" y="1661291"/>
              <a:ext cx="328232" cy="3788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8" name="Google Shape;158;p3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446447" y="1661291"/>
              <a:ext cx="385501" cy="3788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9" name="Google Shape;159;p3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960799" y="2101559"/>
              <a:ext cx="206860" cy="324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0" name="Google Shape;160;p3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336339" y="2061090"/>
              <a:ext cx="348574" cy="365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1" name="Google Shape;161;p3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893994" y="2061090"/>
              <a:ext cx="244840" cy="365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3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356349" y="2051779"/>
              <a:ext cx="232350" cy="386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35"/>
          <p:cNvSpPr txBox="1"/>
          <p:nvPr/>
        </p:nvSpPr>
        <p:spPr>
          <a:xfrm>
            <a:off x="556853" y="2239550"/>
            <a:ext cx="27735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 Date: 19th Sep, 2026</a:t>
            </a:r>
            <a:endParaRPr sz="1200" b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35"/>
          <p:cNvSpPr txBox="1"/>
          <p:nvPr/>
        </p:nvSpPr>
        <p:spPr>
          <a:xfrm>
            <a:off x="383158" y="1161600"/>
            <a:ext cx="38031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chemeClr val="lt1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Flipkart Minutes</a:t>
            </a:r>
            <a:endParaRPr b="0" sz="2000">
              <a:solidFill>
                <a:schemeClr val="lt1"/>
              </a:solidFill>
              <a:latin typeface="TASA Orbiter SemiBold"/>
              <a:ea typeface="TASA Orbiter SemiBold"/>
              <a:cs typeface="TASA Orbiter SemiBold"/>
              <a:sym typeface="TASA Orbiter SemiBold"/>
            </a:endParaRPr>
          </a:p>
        </p:txBody>
      </p:sp>
      <p:pic>
        <p:nvPicPr>
          <p:cNvPr id="165" name="Google Shape;165;p3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57200" y="3355848"/>
            <a:ext cx="721825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71" name="Google Shape;17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685" y="1023938"/>
            <a:ext cx="604834" cy="604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2" name="Google Shape;17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6048" y="519113"/>
            <a:ext cx="6148355" cy="2596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95705" y="485775"/>
            <a:ext cx="4846588" cy="463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4" name="Google Shape;174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97559" y="2727305"/>
            <a:ext cx="4846587" cy="46351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6"/>
          <p:cNvSpPr/>
          <p:nvPr/>
        </p:nvSpPr>
        <p:spPr>
          <a:xfrm>
            <a:off x="233361" y="238125"/>
            <a:ext cx="4295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6" name="Google Shape;176;p36"/>
          <p:cNvSpPr/>
          <p:nvPr/>
        </p:nvSpPr>
        <p:spPr>
          <a:xfrm>
            <a:off x="233361" y="238125"/>
            <a:ext cx="2881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000"/>
              <a:buFont typeface="Inter"/>
              <a:buNone/>
            </a:pPr>
            <a:r>
              <a:rPr b="0" i="0" lang="en" sz="18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Faclon Labs</a:t>
            </a:r>
            <a:r>
              <a:rPr b="0" i="0" lang="en" sz="1800" u="none" cap="none" strike="noStrike">
                <a:solidFill>
                  <a:srgbClr val="192839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 at a Glance</a:t>
            </a:r>
            <a:endParaRPr b="0" i="0" sz="1800" u="none" cap="none" strike="noStrike">
              <a:solidFill>
                <a:schemeClr val="dk1"/>
              </a:solidFill>
              <a:latin typeface="TASA Orbiter SemiBold"/>
              <a:ea typeface="TASA Orbiter SemiBold"/>
              <a:cs typeface="TASA Orbiter SemiBold"/>
              <a:sym typeface="TASA Orbiter SemiBold"/>
            </a:endParaRPr>
          </a:p>
        </p:txBody>
      </p:sp>
      <p:sp>
        <p:nvSpPr>
          <p:cNvPr id="177" name="Google Shape;177;p36"/>
          <p:cNvSpPr/>
          <p:nvPr/>
        </p:nvSpPr>
        <p:spPr>
          <a:xfrm>
            <a:off x="233347" y="561975"/>
            <a:ext cx="544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566D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Leaders in Industrial Data Integration, Visualization, and AI based Optimization 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178" name="Google Shape;178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84002" y="-597694"/>
            <a:ext cx="4610076" cy="442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9" name="Google Shape;179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9561" y="1786494"/>
            <a:ext cx="1983265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0" name="Google Shape;180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47547" y="1786494"/>
            <a:ext cx="841137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1" name="Google Shape;181;p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62717" y="1109663"/>
            <a:ext cx="19050" cy="63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2" name="Google Shape;182;p3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362717" y="1869845"/>
            <a:ext cx="19050" cy="639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3" name="Google Shape;183;p3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81106" y="1869845"/>
            <a:ext cx="19050" cy="6399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/>
          <p:nvPr/>
        </p:nvSpPr>
        <p:spPr>
          <a:xfrm>
            <a:off x="1354943" y="1885950"/>
            <a:ext cx="9144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300"/>
              <a:buFont typeface="Inter"/>
              <a:buNone/>
            </a:pPr>
            <a:r>
              <a:rPr b="0" i="0" lang="en" sz="23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5 B+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320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051320"/>
                </a:solidFill>
                <a:latin typeface="Inter"/>
                <a:ea typeface="Inter"/>
                <a:cs typeface="Inter"/>
                <a:sym typeface="Inter"/>
              </a:rPr>
              <a:t>Data Points Daily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36"/>
          <p:cNvSpPr/>
          <p:nvPr/>
        </p:nvSpPr>
        <p:spPr>
          <a:xfrm>
            <a:off x="2616999" y="1885950"/>
            <a:ext cx="71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300"/>
              <a:buFont typeface="Inter"/>
              <a:buNone/>
            </a:pPr>
            <a:r>
              <a:rPr b="0" i="0" lang="en" sz="23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1</a:t>
            </a:r>
            <a:r>
              <a:rPr b="0" lang="en" sz="2300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5</a:t>
            </a:r>
            <a:r>
              <a:rPr b="0" i="0" lang="en" sz="23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0+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320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051320"/>
                </a:solidFill>
                <a:latin typeface="Inter"/>
                <a:ea typeface="Inter"/>
                <a:cs typeface="Inter"/>
                <a:sym typeface="Inter"/>
              </a:rPr>
              <a:t>Employees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36"/>
          <p:cNvSpPr/>
          <p:nvPr/>
        </p:nvSpPr>
        <p:spPr>
          <a:xfrm>
            <a:off x="2494762" y="1128713"/>
            <a:ext cx="9660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300"/>
              <a:buFont typeface="Inter"/>
              <a:buNone/>
            </a:pPr>
            <a:r>
              <a:rPr b="0" i="0" lang="en" sz="23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400+</a:t>
            </a:r>
            <a:r>
              <a:rPr b="0" i="0" lang="en" sz="800" u="none" cap="none" strike="noStrike">
                <a:solidFill>
                  <a:srgbClr val="05132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" sz="1000" u="none" cap="none" strike="noStrike">
                <a:solidFill>
                  <a:srgbClr val="051320"/>
                </a:solidFill>
                <a:latin typeface="Inter"/>
                <a:ea typeface="Inter"/>
                <a:cs typeface="Inter"/>
                <a:sym typeface="Inter"/>
              </a:rPr>
              <a:t>Deployments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36"/>
          <p:cNvSpPr/>
          <p:nvPr/>
        </p:nvSpPr>
        <p:spPr>
          <a:xfrm>
            <a:off x="1454955" y="1128713"/>
            <a:ext cx="71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300"/>
              <a:buFont typeface="Inter"/>
              <a:buNone/>
            </a:pPr>
            <a:r>
              <a:rPr b="0" i="0" lang="en" sz="23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1</a:t>
            </a:r>
            <a:r>
              <a:rPr b="0" lang="en" sz="2300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83</a:t>
            </a:r>
            <a:r>
              <a:rPr b="0" i="0" lang="en" sz="23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+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320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051320"/>
                </a:solidFill>
                <a:latin typeface="Inter"/>
                <a:ea typeface="Inter"/>
                <a:cs typeface="Inter"/>
                <a:sym typeface="Inter"/>
              </a:rPr>
              <a:t>Customers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240524" y="1857375"/>
            <a:ext cx="9525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300"/>
              <a:buFont typeface="Inter"/>
              <a:buNone/>
            </a:pPr>
            <a:r>
              <a:rPr b="0" i="0" lang="en" sz="23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60k+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320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051320"/>
                </a:solidFill>
                <a:latin typeface="Inter"/>
                <a:ea typeface="Inter"/>
                <a:cs typeface="Inter"/>
                <a:sym typeface="Inter"/>
              </a:rPr>
              <a:t>Assets Connected</a:t>
            </a:r>
            <a:endParaRPr b="0" i="0" sz="2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6270600" y="3286125"/>
            <a:ext cx="779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200"/>
              <a:buFont typeface="Inter"/>
              <a:buNone/>
            </a:pPr>
            <a:r>
              <a:rPr b="0" i="0" lang="en" sz="12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Backed By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190" name="Google Shape;190;p3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316559" y="2793206"/>
            <a:ext cx="2310185" cy="9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6"/>
          <p:cNvSpPr/>
          <p:nvPr/>
        </p:nvSpPr>
        <p:spPr>
          <a:xfrm>
            <a:off x="2509440" y="2890838"/>
            <a:ext cx="1924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192" name="Google Shape;192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509439" y="2890838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3" name="Google Shape;193;p3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509225" y="2890838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6"/>
          <p:cNvSpPr/>
          <p:nvPr/>
        </p:nvSpPr>
        <p:spPr>
          <a:xfrm>
            <a:off x="3090051" y="2869406"/>
            <a:ext cx="1344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36"/>
          <p:cNvSpPr/>
          <p:nvPr/>
        </p:nvSpPr>
        <p:spPr>
          <a:xfrm>
            <a:off x="3090051" y="2869406"/>
            <a:ext cx="13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Utkarsh Srivastava​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36"/>
          <p:cNvSpPr/>
          <p:nvPr/>
        </p:nvSpPr>
        <p:spPr>
          <a:xfrm>
            <a:off x="3090051" y="3069431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505050"/>
                </a:solidFill>
                <a:latin typeface="Inter"/>
                <a:ea typeface="Inter"/>
                <a:cs typeface="Inter"/>
                <a:sym typeface="Inter"/>
              </a:rPr>
              <a:t>CTO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36"/>
          <p:cNvSpPr/>
          <p:nvPr/>
        </p:nvSpPr>
        <p:spPr>
          <a:xfrm>
            <a:off x="3090051" y="3217069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Ex-White Hat Hacker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198" name="Google Shape;198;p3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298673" y="3531394"/>
            <a:ext cx="2310185" cy="9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6"/>
          <p:cNvSpPr/>
          <p:nvPr/>
        </p:nvSpPr>
        <p:spPr>
          <a:xfrm>
            <a:off x="2491554" y="3629025"/>
            <a:ext cx="1924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00" name="Google Shape;200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491554" y="3629025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1" name="Google Shape;201;p3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490850" y="3629764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6"/>
          <p:cNvSpPr/>
          <p:nvPr/>
        </p:nvSpPr>
        <p:spPr>
          <a:xfrm>
            <a:off x="3072165" y="3607594"/>
            <a:ext cx="1344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36"/>
          <p:cNvSpPr/>
          <p:nvPr/>
        </p:nvSpPr>
        <p:spPr>
          <a:xfrm>
            <a:off x="3072165" y="3607594"/>
            <a:ext cx="13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Vivek Singh​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36"/>
          <p:cNvSpPr/>
          <p:nvPr/>
        </p:nvSpPr>
        <p:spPr>
          <a:xfrm>
            <a:off x="3072165" y="3807619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505050"/>
                </a:solidFill>
                <a:latin typeface="Inter"/>
                <a:ea typeface="Inter"/>
                <a:cs typeface="Inter"/>
                <a:sym typeface="Inter"/>
              </a:rPr>
              <a:t>Chief Data Scientist​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36"/>
          <p:cNvSpPr/>
          <p:nvPr/>
        </p:nvSpPr>
        <p:spPr>
          <a:xfrm>
            <a:off x="3072165" y="3955256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B.Tech IIT Kanpur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06" name="Google Shape;206;p3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316559" y="4255294"/>
            <a:ext cx="2310185" cy="888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6"/>
          <p:cNvSpPr/>
          <p:nvPr/>
        </p:nvSpPr>
        <p:spPr>
          <a:xfrm>
            <a:off x="2509440" y="4352925"/>
            <a:ext cx="1924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08" name="Google Shape;208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509439" y="4352925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6"/>
          <p:cNvSpPr/>
          <p:nvPr/>
        </p:nvSpPr>
        <p:spPr>
          <a:xfrm>
            <a:off x="3090051" y="4331494"/>
            <a:ext cx="1344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36"/>
          <p:cNvSpPr/>
          <p:nvPr/>
        </p:nvSpPr>
        <p:spPr>
          <a:xfrm>
            <a:off x="3090051" y="4331494"/>
            <a:ext cx="13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lang="en" sz="1000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Parag Patil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" name="Google Shape;211;p36"/>
          <p:cNvSpPr/>
          <p:nvPr/>
        </p:nvSpPr>
        <p:spPr>
          <a:xfrm>
            <a:off x="3090051" y="4531519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Inter"/>
              <a:buNone/>
            </a:pPr>
            <a:r>
              <a:rPr lang="en" sz="700" b="0">
                <a:solidFill>
                  <a:srgbClr val="505050"/>
                </a:solidFill>
                <a:latin typeface="Inter"/>
                <a:ea typeface="Inter"/>
                <a:cs typeface="Inter"/>
                <a:sym typeface="Inter"/>
              </a:rPr>
              <a:t>Chief Strategic Alliances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36"/>
          <p:cNvSpPr/>
          <p:nvPr/>
        </p:nvSpPr>
        <p:spPr>
          <a:xfrm>
            <a:off x="3090051" y="4679156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lang="en" sz="700" b="0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Ex-Wipro, Infosys, RIL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13" name="Google Shape;213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943450" y="3614738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3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6682" y="2793206"/>
            <a:ext cx="2310185" cy="9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6"/>
          <p:cNvSpPr/>
          <p:nvPr/>
        </p:nvSpPr>
        <p:spPr>
          <a:xfrm>
            <a:off x="281384" y="2869406"/>
            <a:ext cx="1936200" cy="519000"/>
          </a:xfrm>
          <a:prstGeom prst="rect">
            <a:avLst/>
          </a:prstGeom>
          <a:noFill/>
          <a:ln cap="flat" cmpd="sng" w="19050">
            <a:solidFill>
              <a:srgbClr val="D7D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16" name="Google Shape;216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81384" y="2890838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7" name="Google Shape;217;p3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81169" y="2890838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6"/>
          <p:cNvSpPr/>
          <p:nvPr/>
        </p:nvSpPr>
        <p:spPr>
          <a:xfrm>
            <a:off x="861995" y="2869406"/>
            <a:ext cx="1355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36"/>
          <p:cNvSpPr/>
          <p:nvPr/>
        </p:nvSpPr>
        <p:spPr>
          <a:xfrm>
            <a:off x="861995" y="2869406"/>
            <a:ext cx="1396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Rishi Sharma​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36"/>
          <p:cNvSpPr/>
          <p:nvPr/>
        </p:nvSpPr>
        <p:spPr>
          <a:xfrm>
            <a:off x="861995" y="3069431"/>
            <a:ext cx="13872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505050"/>
                </a:solidFill>
                <a:latin typeface="Inter"/>
                <a:ea typeface="Inter"/>
                <a:cs typeface="Inter"/>
                <a:sym typeface="Inter"/>
              </a:rPr>
              <a:t>CEO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861995" y="3217069"/>
            <a:ext cx="13872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B.Tech IIT Bombay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22" name="Google Shape;222;p3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16681" y="3531394"/>
            <a:ext cx="2310185" cy="9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6"/>
          <p:cNvSpPr/>
          <p:nvPr/>
        </p:nvSpPr>
        <p:spPr>
          <a:xfrm>
            <a:off x="309561" y="3629025"/>
            <a:ext cx="1924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24" name="Google Shape;224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09561" y="3629025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6"/>
          <p:cNvSpPr/>
          <p:nvPr/>
        </p:nvSpPr>
        <p:spPr>
          <a:xfrm>
            <a:off x="890172" y="3607594"/>
            <a:ext cx="1344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36"/>
          <p:cNvSpPr/>
          <p:nvPr/>
        </p:nvSpPr>
        <p:spPr>
          <a:xfrm>
            <a:off x="890172" y="3607594"/>
            <a:ext cx="13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lang="en" sz="1000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Parth Chaudhary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36"/>
          <p:cNvSpPr/>
          <p:nvPr/>
        </p:nvSpPr>
        <p:spPr>
          <a:xfrm>
            <a:off x="890172" y="3807619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Inter"/>
              <a:buNone/>
            </a:pPr>
            <a:r>
              <a:rPr lang="en" sz="700" b="0">
                <a:solidFill>
                  <a:srgbClr val="505050"/>
                </a:solidFill>
                <a:latin typeface="Inter"/>
                <a:ea typeface="Inter"/>
                <a:cs typeface="Inter"/>
                <a:sym typeface="Inter"/>
              </a:rPr>
              <a:t>President of Solution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36"/>
          <p:cNvSpPr/>
          <p:nvPr/>
        </p:nvSpPr>
        <p:spPr>
          <a:xfrm>
            <a:off x="890172" y="3955256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lang="en" sz="700" b="0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B. Tech IIT Bombay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29" name="Google Shape;229;p3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16681" y="4255294"/>
            <a:ext cx="2310185" cy="88809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6"/>
          <p:cNvSpPr/>
          <p:nvPr/>
        </p:nvSpPr>
        <p:spPr>
          <a:xfrm>
            <a:off x="309561" y="4352925"/>
            <a:ext cx="1924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31" name="Google Shape;231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09561" y="4352925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2" name="Google Shape;232;p3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09561" y="4355306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6"/>
          <p:cNvSpPr/>
          <p:nvPr/>
        </p:nvSpPr>
        <p:spPr>
          <a:xfrm>
            <a:off x="890172" y="4331494"/>
            <a:ext cx="1344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890172" y="4331494"/>
            <a:ext cx="13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 Naraniwal​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890172" y="4531519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Inter"/>
              <a:buNone/>
            </a:pPr>
            <a:r>
              <a:rPr lang="en" sz="700" b="0">
                <a:solidFill>
                  <a:srgbClr val="505050"/>
                </a:solidFill>
                <a:latin typeface="Inter"/>
                <a:ea typeface="Inter"/>
                <a:cs typeface="Inter"/>
                <a:sym typeface="Inter"/>
              </a:rPr>
              <a:t>Chief</a:t>
            </a:r>
            <a:r>
              <a:rPr b="0" i="0" lang="en" sz="700" u="none" cap="none" strike="noStrike">
                <a:solidFill>
                  <a:srgbClr val="505050"/>
                </a:solidFill>
                <a:latin typeface="Inter"/>
                <a:ea typeface="Inter"/>
                <a:cs typeface="Inter"/>
                <a:sym typeface="Inter"/>
              </a:rPr>
              <a:t> Sales Officer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36"/>
          <p:cNvSpPr/>
          <p:nvPr/>
        </p:nvSpPr>
        <p:spPr>
          <a:xfrm>
            <a:off x="890172" y="4679156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B. Tech IIT Bombay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37" name="Google Shape;237;p3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602194" y="3531406"/>
            <a:ext cx="2136722" cy="9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6"/>
          <p:cNvSpPr/>
          <p:nvPr/>
        </p:nvSpPr>
        <p:spPr>
          <a:xfrm>
            <a:off x="5795075" y="3629038"/>
            <a:ext cx="17508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39" name="Google Shape;239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795075" y="3629038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0" name="Google Shape;240;p3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816757" y="3650670"/>
            <a:ext cx="428623" cy="42856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6"/>
          <p:cNvSpPr/>
          <p:nvPr/>
        </p:nvSpPr>
        <p:spPr>
          <a:xfrm>
            <a:off x="6375686" y="3781438"/>
            <a:ext cx="117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42" name="Google Shape;242;p36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4750569" y="4255294"/>
            <a:ext cx="2138352" cy="88809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6"/>
          <p:cNvSpPr/>
          <p:nvPr/>
        </p:nvSpPr>
        <p:spPr>
          <a:xfrm>
            <a:off x="4943449" y="4352925"/>
            <a:ext cx="17526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44" name="Google Shape;244;p36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4943449" y="4352925"/>
            <a:ext cx="476248" cy="490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36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4981549" y="4364981"/>
            <a:ext cx="428623" cy="44142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6"/>
          <p:cNvSpPr/>
          <p:nvPr/>
        </p:nvSpPr>
        <p:spPr>
          <a:xfrm>
            <a:off x="5524061" y="4338638"/>
            <a:ext cx="11721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47" name="Google Shape;247;p36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6803196" y="4250531"/>
            <a:ext cx="2136721" cy="89285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6"/>
          <p:cNvSpPr/>
          <p:nvPr/>
        </p:nvSpPr>
        <p:spPr>
          <a:xfrm>
            <a:off x="6996076" y="4357688"/>
            <a:ext cx="17508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49" name="Google Shape;249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996076" y="4357688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0" name="Google Shape;250;p36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996076" y="4376738"/>
            <a:ext cx="433385" cy="43333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6"/>
          <p:cNvSpPr/>
          <p:nvPr/>
        </p:nvSpPr>
        <p:spPr>
          <a:xfrm>
            <a:off x="7576688" y="4510088"/>
            <a:ext cx="117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36"/>
          <p:cNvSpPr/>
          <p:nvPr/>
        </p:nvSpPr>
        <p:spPr>
          <a:xfrm>
            <a:off x="5524061" y="4416187"/>
            <a:ext cx="1211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Jay Kotak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3" name="Google Shape;253;p36"/>
          <p:cNvSpPr/>
          <p:nvPr/>
        </p:nvSpPr>
        <p:spPr>
          <a:xfrm>
            <a:off x="5524061" y="4640024"/>
            <a:ext cx="1202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Co-head, Kotak 811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" name="Google Shape;254;p36"/>
          <p:cNvSpPr/>
          <p:nvPr/>
        </p:nvSpPr>
        <p:spPr>
          <a:xfrm>
            <a:off x="6354478" y="3667534"/>
            <a:ext cx="1211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Sarjan Shah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Google Shape;255;p36"/>
          <p:cNvSpPr/>
          <p:nvPr/>
        </p:nvSpPr>
        <p:spPr>
          <a:xfrm>
            <a:off x="6354478" y="3891372"/>
            <a:ext cx="1202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MD, Group Satellite </a:t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36"/>
          <p:cNvSpPr/>
          <p:nvPr/>
        </p:nvSpPr>
        <p:spPr>
          <a:xfrm>
            <a:off x="7555479" y="4416187"/>
            <a:ext cx="1211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211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Siddharth Mehra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36"/>
          <p:cNvSpPr/>
          <p:nvPr/>
        </p:nvSpPr>
        <p:spPr>
          <a:xfrm>
            <a:off x="7555479" y="4640024"/>
            <a:ext cx="1202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Inter"/>
                <a:ea typeface="Inter"/>
                <a:cs typeface="Inter"/>
                <a:sym typeface="Inter"/>
              </a:rPr>
              <a:t>ED, Savita Oil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8" name="Google Shape;258;p36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297664" y="3638616"/>
            <a:ext cx="476253" cy="476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6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2490863" y="4344875"/>
            <a:ext cx="476250" cy="476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p36"/>
          <p:cNvGrpSpPr/>
          <p:nvPr/>
        </p:nvGrpSpPr>
        <p:grpSpPr>
          <a:xfrm>
            <a:off x="7770516" y="215751"/>
            <a:ext cx="1158723" cy="241192"/>
            <a:chOff x="4059287" y="2048033"/>
            <a:chExt cx="4075704" cy="848371"/>
          </a:xfrm>
        </p:grpSpPr>
        <p:sp>
          <p:nvSpPr>
            <p:cNvPr id="261" name="Google Shape;261;p36"/>
            <p:cNvSpPr/>
            <p:nvPr/>
          </p:nvSpPr>
          <p:spPr>
            <a:xfrm>
              <a:off x="4059287" y="2048033"/>
              <a:ext cx="672035" cy="761954"/>
            </a:xfrm>
            <a:custGeom>
              <a:rect b="b" l="l" r="r" t="t"/>
              <a:pathLst>
                <a:path extrusionOk="0" h="761954" w="672035">
                  <a:moveTo>
                    <a:pt x="339316" y="761955"/>
                  </a:moveTo>
                  <a:lnTo>
                    <a:pt x="145956" y="208835"/>
                  </a:lnTo>
                  <a:lnTo>
                    <a:pt x="74200" y="431354"/>
                  </a:lnTo>
                  <a:lnTo>
                    <a:pt x="190672" y="519726"/>
                  </a:lnTo>
                  <a:lnTo>
                    <a:pt x="211441" y="612252"/>
                  </a:lnTo>
                  <a:lnTo>
                    <a:pt x="0" y="458313"/>
                  </a:lnTo>
                  <a:lnTo>
                    <a:pt x="152147" y="0"/>
                  </a:lnTo>
                  <a:lnTo>
                    <a:pt x="339316" y="556052"/>
                  </a:lnTo>
                  <a:lnTo>
                    <a:pt x="524450" y="8145"/>
                  </a:lnTo>
                  <a:lnTo>
                    <a:pt x="672035" y="470856"/>
                  </a:lnTo>
                  <a:lnTo>
                    <a:pt x="461001" y="623654"/>
                  </a:lnTo>
                  <a:lnTo>
                    <a:pt x="483888" y="523879"/>
                  </a:lnTo>
                  <a:lnTo>
                    <a:pt x="596125" y="438602"/>
                  </a:lnTo>
                  <a:lnTo>
                    <a:pt x="521273" y="218202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2" name="Google Shape;262;p36"/>
            <p:cNvSpPr/>
            <p:nvPr/>
          </p:nvSpPr>
          <p:spPr>
            <a:xfrm>
              <a:off x="4864573" y="2185030"/>
              <a:ext cx="219342" cy="333696"/>
            </a:xfrm>
            <a:custGeom>
              <a:rect b="b" l="l" r="r" t="t"/>
              <a:pathLst>
                <a:path extrusionOk="0" h="333696" w="219342">
                  <a:moveTo>
                    <a:pt x="219342" y="0"/>
                  </a:moveTo>
                  <a:lnTo>
                    <a:pt x="219342" y="68173"/>
                  </a:lnTo>
                  <a:lnTo>
                    <a:pt x="80064" y="68173"/>
                  </a:lnTo>
                  <a:lnTo>
                    <a:pt x="80064" y="138545"/>
                  </a:lnTo>
                  <a:lnTo>
                    <a:pt x="209324" y="138545"/>
                  </a:lnTo>
                  <a:lnTo>
                    <a:pt x="209324" y="206473"/>
                  </a:lnTo>
                  <a:lnTo>
                    <a:pt x="80064" y="206473"/>
                  </a:lnTo>
                  <a:lnTo>
                    <a:pt x="80064" y="333696"/>
                  </a:lnTo>
                  <a:lnTo>
                    <a:pt x="0" y="333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3" name="Google Shape;263;p36"/>
            <p:cNvSpPr/>
            <p:nvPr/>
          </p:nvSpPr>
          <p:spPr>
            <a:xfrm>
              <a:off x="5118368" y="2185030"/>
              <a:ext cx="361633" cy="333696"/>
            </a:xfrm>
            <a:custGeom>
              <a:rect b="b" l="l" r="r" t="t"/>
              <a:pathLst>
                <a:path extrusionOk="0" h="333696" w="361633">
                  <a:moveTo>
                    <a:pt x="334022" y="267804"/>
                  </a:moveTo>
                  <a:lnTo>
                    <a:pt x="308284" y="206473"/>
                  </a:lnTo>
                  <a:lnTo>
                    <a:pt x="279777" y="138545"/>
                  </a:lnTo>
                  <a:lnTo>
                    <a:pt x="250293" y="68173"/>
                  </a:lnTo>
                  <a:lnTo>
                    <a:pt x="221704" y="0"/>
                  </a:lnTo>
                  <a:lnTo>
                    <a:pt x="139929" y="0"/>
                  </a:lnTo>
                  <a:lnTo>
                    <a:pt x="111341" y="68173"/>
                  </a:lnTo>
                  <a:lnTo>
                    <a:pt x="81856" y="138545"/>
                  </a:lnTo>
                  <a:lnTo>
                    <a:pt x="53349" y="206473"/>
                  </a:lnTo>
                  <a:lnTo>
                    <a:pt x="27611" y="267804"/>
                  </a:lnTo>
                  <a:lnTo>
                    <a:pt x="0" y="333696"/>
                  </a:lnTo>
                  <a:lnTo>
                    <a:pt x="90408" y="333696"/>
                  </a:lnTo>
                  <a:lnTo>
                    <a:pt x="113621" y="267804"/>
                  </a:lnTo>
                  <a:lnTo>
                    <a:pt x="244835" y="267804"/>
                  </a:lnTo>
                  <a:lnTo>
                    <a:pt x="268048" y="333696"/>
                  </a:lnTo>
                  <a:lnTo>
                    <a:pt x="361633" y="333696"/>
                  </a:lnTo>
                  <a:lnTo>
                    <a:pt x="334022" y="267804"/>
                  </a:lnTo>
                  <a:close/>
                  <a:moveTo>
                    <a:pt x="135124" y="206473"/>
                  </a:moveTo>
                  <a:lnTo>
                    <a:pt x="159070" y="138545"/>
                  </a:lnTo>
                  <a:lnTo>
                    <a:pt x="179269" y="81123"/>
                  </a:lnTo>
                  <a:lnTo>
                    <a:pt x="199387" y="138545"/>
                  </a:lnTo>
                  <a:lnTo>
                    <a:pt x="223333" y="206473"/>
                  </a:lnTo>
                  <a:lnTo>
                    <a:pt x="135124" y="206473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4" name="Google Shape;264;p36"/>
            <p:cNvSpPr/>
            <p:nvPr/>
          </p:nvSpPr>
          <p:spPr>
            <a:xfrm>
              <a:off x="5880404" y="2185030"/>
              <a:ext cx="206961" cy="333696"/>
            </a:xfrm>
            <a:custGeom>
              <a:rect b="b" l="l" r="r" t="t"/>
              <a:pathLst>
                <a:path extrusionOk="0" h="333696" w="206961">
                  <a:moveTo>
                    <a:pt x="206962" y="267804"/>
                  </a:moveTo>
                  <a:lnTo>
                    <a:pt x="206962" y="333696"/>
                  </a:lnTo>
                  <a:lnTo>
                    <a:pt x="0" y="333696"/>
                  </a:lnTo>
                  <a:lnTo>
                    <a:pt x="0" y="0"/>
                  </a:lnTo>
                  <a:lnTo>
                    <a:pt x="78028" y="0"/>
                  </a:lnTo>
                  <a:lnTo>
                    <a:pt x="78028" y="267804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5" name="Google Shape;265;p36"/>
            <p:cNvSpPr/>
            <p:nvPr/>
          </p:nvSpPr>
          <p:spPr>
            <a:xfrm>
              <a:off x="6573941" y="2185030"/>
              <a:ext cx="303641" cy="333696"/>
            </a:xfrm>
            <a:custGeom>
              <a:rect b="b" l="l" r="r" t="t"/>
              <a:pathLst>
                <a:path extrusionOk="0" h="333696" w="303641">
                  <a:moveTo>
                    <a:pt x="303642" y="0"/>
                  </a:moveTo>
                  <a:lnTo>
                    <a:pt x="303642" y="171124"/>
                  </a:lnTo>
                  <a:lnTo>
                    <a:pt x="268293" y="206473"/>
                  </a:lnTo>
                  <a:lnTo>
                    <a:pt x="225939" y="248827"/>
                  </a:lnTo>
                  <a:lnTo>
                    <a:pt x="206962" y="267804"/>
                  </a:lnTo>
                  <a:lnTo>
                    <a:pt x="186111" y="288655"/>
                  </a:lnTo>
                  <a:lnTo>
                    <a:pt x="172916" y="267804"/>
                  </a:lnTo>
                  <a:lnTo>
                    <a:pt x="134391" y="206473"/>
                  </a:lnTo>
                  <a:lnTo>
                    <a:pt x="91630" y="138545"/>
                  </a:lnTo>
                  <a:lnTo>
                    <a:pt x="77621" y="116228"/>
                  </a:lnTo>
                  <a:lnTo>
                    <a:pt x="77621" y="333696"/>
                  </a:lnTo>
                  <a:lnTo>
                    <a:pt x="0" y="333696"/>
                  </a:lnTo>
                  <a:lnTo>
                    <a:pt x="0" y="0"/>
                  </a:lnTo>
                  <a:lnTo>
                    <a:pt x="90082" y="0"/>
                  </a:lnTo>
                  <a:lnTo>
                    <a:pt x="133006" y="68173"/>
                  </a:lnTo>
                  <a:lnTo>
                    <a:pt x="177233" y="138545"/>
                  </a:lnTo>
                  <a:lnTo>
                    <a:pt x="219912" y="206473"/>
                  </a:lnTo>
                  <a:lnTo>
                    <a:pt x="225939" y="216003"/>
                  </a:lnTo>
                  <a:lnTo>
                    <a:pt x="225939" y="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6" name="Google Shape;266;p36"/>
            <p:cNvSpPr/>
            <p:nvPr/>
          </p:nvSpPr>
          <p:spPr>
            <a:xfrm>
              <a:off x="5512010" y="2175419"/>
              <a:ext cx="306166" cy="351452"/>
            </a:xfrm>
            <a:custGeom>
              <a:rect b="b" l="l" r="r" t="t"/>
              <a:pathLst>
                <a:path extrusionOk="0" h="351452" w="306166">
                  <a:moveTo>
                    <a:pt x="306167" y="300547"/>
                  </a:moveTo>
                  <a:cubicBezTo>
                    <a:pt x="286212" y="320013"/>
                    <a:pt x="261533" y="334755"/>
                    <a:pt x="234003" y="343307"/>
                  </a:cubicBezTo>
                  <a:cubicBezTo>
                    <a:pt x="216898" y="348602"/>
                    <a:pt x="198654" y="351452"/>
                    <a:pt x="179758" y="351452"/>
                  </a:cubicBezTo>
                  <a:cubicBezTo>
                    <a:pt x="160862" y="351452"/>
                    <a:pt x="142617" y="348602"/>
                    <a:pt x="125513" y="343307"/>
                  </a:cubicBezTo>
                  <a:cubicBezTo>
                    <a:pt x="87883" y="331660"/>
                    <a:pt x="55548" y="308284"/>
                    <a:pt x="33231" y="277415"/>
                  </a:cubicBezTo>
                  <a:cubicBezTo>
                    <a:pt x="19955" y="259252"/>
                    <a:pt x="10181" y="238482"/>
                    <a:pt x="4805" y="216084"/>
                  </a:cubicBezTo>
                  <a:cubicBezTo>
                    <a:pt x="1629" y="203134"/>
                    <a:pt x="0" y="189613"/>
                    <a:pt x="0" y="175685"/>
                  </a:cubicBezTo>
                  <a:cubicBezTo>
                    <a:pt x="0" y="166319"/>
                    <a:pt x="733" y="157115"/>
                    <a:pt x="2199" y="148156"/>
                  </a:cubicBezTo>
                  <a:cubicBezTo>
                    <a:pt x="6353" y="122418"/>
                    <a:pt x="16208" y="98553"/>
                    <a:pt x="30462" y="77784"/>
                  </a:cubicBezTo>
                  <a:cubicBezTo>
                    <a:pt x="52127" y="46344"/>
                    <a:pt x="83811" y="22154"/>
                    <a:pt x="121115" y="9611"/>
                  </a:cubicBezTo>
                  <a:cubicBezTo>
                    <a:pt x="139441" y="3339"/>
                    <a:pt x="159233" y="0"/>
                    <a:pt x="179758" y="0"/>
                  </a:cubicBezTo>
                  <a:cubicBezTo>
                    <a:pt x="200283" y="0"/>
                    <a:pt x="220075" y="3339"/>
                    <a:pt x="238401" y="9611"/>
                  </a:cubicBezTo>
                  <a:cubicBezTo>
                    <a:pt x="263650" y="18082"/>
                    <a:pt x="286456" y="32009"/>
                    <a:pt x="305189" y="49765"/>
                  </a:cubicBezTo>
                  <a:lnTo>
                    <a:pt x="251026" y="104906"/>
                  </a:lnTo>
                  <a:cubicBezTo>
                    <a:pt x="240274" y="92770"/>
                    <a:pt x="226917" y="83322"/>
                    <a:pt x="211930" y="77784"/>
                  </a:cubicBezTo>
                  <a:cubicBezTo>
                    <a:pt x="202238" y="74200"/>
                    <a:pt x="191731" y="72245"/>
                    <a:pt x="180898" y="72245"/>
                  </a:cubicBezTo>
                  <a:cubicBezTo>
                    <a:pt x="170065" y="72245"/>
                    <a:pt x="159640" y="74200"/>
                    <a:pt x="149948" y="77784"/>
                  </a:cubicBezTo>
                  <a:cubicBezTo>
                    <a:pt x="120056" y="88698"/>
                    <a:pt x="96761" y="115087"/>
                    <a:pt x="88046" y="148156"/>
                  </a:cubicBezTo>
                  <a:cubicBezTo>
                    <a:pt x="85521" y="157441"/>
                    <a:pt x="84218" y="167215"/>
                    <a:pt x="84218" y="177396"/>
                  </a:cubicBezTo>
                  <a:cubicBezTo>
                    <a:pt x="84218" y="191079"/>
                    <a:pt x="86580" y="204111"/>
                    <a:pt x="90978" y="216084"/>
                  </a:cubicBezTo>
                  <a:cubicBezTo>
                    <a:pt x="101567" y="245080"/>
                    <a:pt x="123558" y="267723"/>
                    <a:pt x="151006" y="277415"/>
                  </a:cubicBezTo>
                  <a:cubicBezTo>
                    <a:pt x="160373" y="280754"/>
                    <a:pt x="170473" y="282546"/>
                    <a:pt x="180898" y="282546"/>
                  </a:cubicBezTo>
                  <a:cubicBezTo>
                    <a:pt x="191323" y="282546"/>
                    <a:pt x="201423" y="280754"/>
                    <a:pt x="210790" y="277415"/>
                  </a:cubicBezTo>
                  <a:cubicBezTo>
                    <a:pt x="227487" y="271551"/>
                    <a:pt x="242148" y="260799"/>
                    <a:pt x="253469" y="246790"/>
                  </a:cubicBezTo>
                  <a:lnTo>
                    <a:pt x="306167" y="300547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7" name="Google Shape;267;p36"/>
            <p:cNvSpPr/>
            <p:nvPr/>
          </p:nvSpPr>
          <p:spPr>
            <a:xfrm>
              <a:off x="6136642" y="2175419"/>
              <a:ext cx="359597" cy="351452"/>
            </a:xfrm>
            <a:custGeom>
              <a:rect b="b" l="l" r="r" t="t"/>
              <a:pathLst>
                <a:path extrusionOk="0" h="351452" w="359597">
                  <a:moveTo>
                    <a:pt x="357398" y="148156"/>
                  </a:moveTo>
                  <a:cubicBezTo>
                    <a:pt x="353244" y="122418"/>
                    <a:pt x="343389" y="98553"/>
                    <a:pt x="329135" y="77784"/>
                  </a:cubicBezTo>
                  <a:cubicBezTo>
                    <a:pt x="307470" y="46344"/>
                    <a:pt x="275705" y="22154"/>
                    <a:pt x="238401" y="9611"/>
                  </a:cubicBezTo>
                  <a:cubicBezTo>
                    <a:pt x="219994" y="3339"/>
                    <a:pt x="200283" y="0"/>
                    <a:pt x="179758" y="0"/>
                  </a:cubicBezTo>
                  <a:cubicBezTo>
                    <a:pt x="159233" y="0"/>
                    <a:pt x="139522" y="3339"/>
                    <a:pt x="121115" y="9611"/>
                  </a:cubicBezTo>
                  <a:cubicBezTo>
                    <a:pt x="83811" y="22154"/>
                    <a:pt x="52128" y="46344"/>
                    <a:pt x="30462" y="77784"/>
                  </a:cubicBezTo>
                  <a:cubicBezTo>
                    <a:pt x="16209" y="98553"/>
                    <a:pt x="6353" y="122418"/>
                    <a:pt x="2199" y="148156"/>
                  </a:cubicBezTo>
                  <a:cubicBezTo>
                    <a:pt x="733" y="157115"/>
                    <a:pt x="0" y="166319"/>
                    <a:pt x="0" y="175685"/>
                  </a:cubicBezTo>
                  <a:cubicBezTo>
                    <a:pt x="0" y="189613"/>
                    <a:pt x="1629" y="203134"/>
                    <a:pt x="4805" y="216084"/>
                  </a:cubicBezTo>
                  <a:cubicBezTo>
                    <a:pt x="10181" y="238482"/>
                    <a:pt x="19955" y="259252"/>
                    <a:pt x="33231" y="277415"/>
                  </a:cubicBezTo>
                  <a:cubicBezTo>
                    <a:pt x="55548" y="308284"/>
                    <a:pt x="87883" y="331660"/>
                    <a:pt x="125594" y="343307"/>
                  </a:cubicBezTo>
                  <a:cubicBezTo>
                    <a:pt x="142699" y="348602"/>
                    <a:pt x="160862" y="351452"/>
                    <a:pt x="179758" y="351452"/>
                  </a:cubicBezTo>
                  <a:cubicBezTo>
                    <a:pt x="198654" y="351452"/>
                    <a:pt x="216817" y="348602"/>
                    <a:pt x="233921" y="343307"/>
                  </a:cubicBezTo>
                  <a:cubicBezTo>
                    <a:pt x="271632" y="331660"/>
                    <a:pt x="303967" y="308284"/>
                    <a:pt x="326366" y="277415"/>
                  </a:cubicBezTo>
                  <a:cubicBezTo>
                    <a:pt x="339642" y="259252"/>
                    <a:pt x="349416" y="238482"/>
                    <a:pt x="354792" y="216084"/>
                  </a:cubicBezTo>
                  <a:cubicBezTo>
                    <a:pt x="357968" y="203134"/>
                    <a:pt x="359597" y="189613"/>
                    <a:pt x="359597" y="175685"/>
                  </a:cubicBezTo>
                  <a:cubicBezTo>
                    <a:pt x="359597" y="166319"/>
                    <a:pt x="358864" y="157115"/>
                    <a:pt x="357398" y="148156"/>
                  </a:cubicBezTo>
                  <a:close/>
                  <a:moveTo>
                    <a:pt x="270736" y="216084"/>
                  </a:moveTo>
                  <a:cubicBezTo>
                    <a:pt x="260067" y="245080"/>
                    <a:pt x="237831" y="267723"/>
                    <a:pt x="210138" y="277415"/>
                  </a:cubicBezTo>
                  <a:cubicBezTo>
                    <a:pt x="200609" y="280754"/>
                    <a:pt x="190428" y="282546"/>
                    <a:pt x="179921" y="282546"/>
                  </a:cubicBezTo>
                  <a:cubicBezTo>
                    <a:pt x="169414" y="282546"/>
                    <a:pt x="159233" y="280754"/>
                    <a:pt x="149703" y="277415"/>
                  </a:cubicBezTo>
                  <a:cubicBezTo>
                    <a:pt x="121929" y="267723"/>
                    <a:pt x="99694" y="245080"/>
                    <a:pt x="89024" y="216084"/>
                  </a:cubicBezTo>
                  <a:cubicBezTo>
                    <a:pt x="84626" y="204111"/>
                    <a:pt x="82182" y="191079"/>
                    <a:pt x="82182" y="177396"/>
                  </a:cubicBezTo>
                  <a:cubicBezTo>
                    <a:pt x="82182" y="167215"/>
                    <a:pt x="83485" y="157441"/>
                    <a:pt x="86092" y="148156"/>
                  </a:cubicBezTo>
                  <a:cubicBezTo>
                    <a:pt x="94888" y="115087"/>
                    <a:pt x="118427" y="88698"/>
                    <a:pt x="148644" y="77784"/>
                  </a:cubicBezTo>
                  <a:cubicBezTo>
                    <a:pt x="158500" y="74200"/>
                    <a:pt x="169007" y="72245"/>
                    <a:pt x="179921" y="72245"/>
                  </a:cubicBezTo>
                  <a:cubicBezTo>
                    <a:pt x="190916" y="72245"/>
                    <a:pt x="201423" y="74200"/>
                    <a:pt x="211279" y="77784"/>
                  </a:cubicBezTo>
                  <a:cubicBezTo>
                    <a:pt x="241333" y="88779"/>
                    <a:pt x="264872" y="115087"/>
                    <a:pt x="273668" y="148156"/>
                  </a:cubicBezTo>
                  <a:cubicBezTo>
                    <a:pt x="276275" y="157441"/>
                    <a:pt x="277578" y="167215"/>
                    <a:pt x="277578" y="177396"/>
                  </a:cubicBezTo>
                  <a:cubicBezTo>
                    <a:pt x="277578" y="191079"/>
                    <a:pt x="275134" y="204111"/>
                    <a:pt x="270736" y="216084"/>
                  </a:cubicBez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8" name="Google Shape;268;p36"/>
            <p:cNvSpPr/>
            <p:nvPr/>
          </p:nvSpPr>
          <p:spPr>
            <a:xfrm>
              <a:off x="6616539" y="2583885"/>
              <a:ext cx="192952" cy="301442"/>
            </a:xfrm>
            <a:custGeom>
              <a:rect b="b" l="l" r="r" t="t"/>
              <a:pathLst>
                <a:path extrusionOk="0" h="301442" w="192952">
                  <a:moveTo>
                    <a:pt x="192953" y="276112"/>
                  </a:moveTo>
                  <a:lnTo>
                    <a:pt x="192953" y="301443"/>
                  </a:lnTo>
                  <a:lnTo>
                    <a:pt x="0" y="301443"/>
                  </a:lnTo>
                  <a:lnTo>
                    <a:pt x="0" y="34127"/>
                  </a:lnTo>
                  <a:lnTo>
                    <a:pt x="34860" y="0"/>
                  </a:lnTo>
                  <a:lnTo>
                    <a:pt x="34860" y="276112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9" name="Google Shape;269;p36"/>
            <p:cNvSpPr/>
            <p:nvPr/>
          </p:nvSpPr>
          <p:spPr>
            <a:xfrm>
              <a:off x="6966851" y="2546337"/>
              <a:ext cx="325143" cy="338990"/>
            </a:xfrm>
            <a:custGeom>
              <a:rect b="b" l="l" r="r" t="t"/>
              <a:pathLst>
                <a:path extrusionOk="0" h="338990" w="325143">
                  <a:moveTo>
                    <a:pt x="314393" y="313660"/>
                  </a:moveTo>
                  <a:lnTo>
                    <a:pt x="287922" y="251270"/>
                  </a:lnTo>
                  <a:lnTo>
                    <a:pt x="275542" y="222193"/>
                  </a:lnTo>
                  <a:lnTo>
                    <a:pt x="256238" y="176744"/>
                  </a:lnTo>
                  <a:lnTo>
                    <a:pt x="244917" y="150110"/>
                  </a:lnTo>
                  <a:lnTo>
                    <a:pt x="192382" y="26715"/>
                  </a:lnTo>
                  <a:lnTo>
                    <a:pt x="181061" y="0"/>
                  </a:lnTo>
                  <a:lnTo>
                    <a:pt x="144164" y="0"/>
                  </a:lnTo>
                  <a:lnTo>
                    <a:pt x="132843" y="26715"/>
                  </a:lnTo>
                  <a:lnTo>
                    <a:pt x="80309" y="150110"/>
                  </a:lnTo>
                  <a:lnTo>
                    <a:pt x="68987" y="176744"/>
                  </a:lnTo>
                  <a:lnTo>
                    <a:pt x="49684" y="222193"/>
                  </a:lnTo>
                  <a:lnTo>
                    <a:pt x="37303" y="251270"/>
                  </a:lnTo>
                  <a:lnTo>
                    <a:pt x="10751" y="313660"/>
                  </a:lnTo>
                  <a:lnTo>
                    <a:pt x="0" y="338990"/>
                  </a:lnTo>
                  <a:lnTo>
                    <a:pt x="35186" y="338990"/>
                  </a:lnTo>
                  <a:lnTo>
                    <a:pt x="45530" y="313660"/>
                  </a:lnTo>
                  <a:lnTo>
                    <a:pt x="71105" y="251270"/>
                  </a:lnTo>
                  <a:lnTo>
                    <a:pt x="250781" y="251270"/>
                  </a:lnTo>
                  <a:lnTo>
                    <a:pt x="276356" y="313660"/>
                  </a:lnTo>
                  <a:lnTo>
                    <a:pt x="286700" y="338990"/>
                  </a:lnTo>
                  <a:lnTo>
                    <a:pt x="325144" y="338990"/>
                  </a:lnTo>
                  <a:lnTo>
                    <a:pt x="314393" y="313660"/>
                  </a:lnTo>
                  <a:close/>
                  <a:moveTo>
                    <a:pt x="82996" y="222193"/>
                  </a:moveTo>
                  <a:lnTo>
                    <a:pt x="101648" y="176744"/>
                  </a:lnTo>
                  <a:lnTo>
                    <a:pt x="112562" y="150110"/>
                  </a:lnTo>
                  <a:lnTo>
                    <a:pt x="160943" y="32172"/>
                  </a:lnTo>
                  <a:lnTo>
                    <a:pt x="209324" y="150110"/>
                  </a:lnTo>
                  <a:lnTo>
                    <a:pt x="220238" y="176744"/>
                  </a:lnTo>
                  <a:lnTo>
                    <a:pt x="238890" y="222193"/>
                  </a:lnTo>
                  <a:lnTo>
                    <a:pt x="82996" y="222193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0" name="Google Shape;270;p36"/>
            <p:cNvSpPr/>
            <p:nvPr/>
          </p:nvSpPr>
          <p:spPr>
            <a:xfrm>
              <a:off x="7486902" y="2546337"/>
              <a:ext cx="228382" cy="338990"/>
            </a:xfrm>
            <a:custGeom>
              <a:rect b="b" l="l" r="r" t="t"/>
              <a:pathLst>
                <a:path extrusionOk="0" h="338990" w="228382">
                  <a:moveTo>
                    <a:pt x="224148" y="222193"/>
                  </a:moveTo>
                  <a:cubicBezTo>
                    <a:pt x="218202" y="204029"/>
                    <a:pt x="206066" y="188228"/>
                    <a:pt x="189857" y="176744"/>
                  </a:cubicBezTo>
                  <a:cubicBezTo>
                    <a:pt x="180410" y="170065"/>
                    <a:pt x="169495" y="164771"/>
                    <a:pt x="157685" y="161432"/>
                  </a:cubicBezTo>
                  <a:cubicBezTo>
                    <a:pt x="164853" y="158581"/>
                    <a:pt x="171531" y="154753"/>
                    <a:pt x="177559" y="150110"/>
                  </a:cubicBezTo>
                  <a:cubicBezTo>
                    <a:pt x="197514" y="134717"/>
                    <a:pt x="210383" y="110771"/>
                    <a:pt x="210383" y="83811"/>
                  </a:cubicBezTo>
                  <a:cubicBezTo>
                    <a:pt x="210383" y="61738"/>
                    <a:pt x="201830" y="41702"/>
                    <a:pt x="187740" y="26715"/>
                  </a:cubicBezTo>
                  <a:cubicBezTo>
                    <a:pt x="172265" y="10263"/>
                    <a:pt x="150273" y="0"/>
                    <a:pt x="125839" y="0"/>
                  </a:cubicBezTo>
                  <a:lnTo>
                    <a:pt x="0" y="0"/>
                  </a:lnTo>
                  <a:lnTo>
                    <a:pt x="0" y="338990"/>
                  </a:lnTo>
                  <a:lnTo>
                    <a:pt x="127305" y="338990"/>
                  </a:lnTo>
                  <a:cubicBezTo>
                    <a:pt x="154509" y="338990"/>
                    <a:pt x="179106" y="329380"/>
                    <a:pt x="197188" y="313660"/>
                  </a:cubicBezTo>
                  <a:cubicBezTo>
                    <a:pt x="215595" y="297859"/>
                    <a:pt x="227406" y="275786"/>
                    <a:pt x="228301" y="251270"/>
                  </a:cubicBezTo>
                  <a:cubicBezTo>
                    <a:pt x="228383" y="250211"/>
                    <a:pt x="228383" y="249152"/>
                    <a:pt x="228383" y="248093"/>
                  </a:cubicBezTo>
                  <a:cubicBezTo>
                    <a:pt x="228383" y="239134"/>
                    <a:pt x="226917" y="230419"/>
                    <a:pt x="224148" y="222193"/>
                  </a:cubicBezTo>
                  <a:close/>
                  <a:moveTo>
                    <a:pt x="32172" y="26715"/>
                  </a:moveTo>
                  <a:lnTo>
                    <a:pt x="116146" y="26715"/>
                  </a:lnTo>
                  <a:cubicBezTo>
                    <a:pt x="150192" y="26715"/>
                    <a:pt x="177803" y="54326"/>
                    <a:pt x="177803" y="88372"/>
                  </a:cubicBezTo>
                  <a:cubicBezTo>
                    <a:pt x="177803" y="122499"/>
                    <a:pt x="150192" y="150110"/>
                    <a:pt x="116146" y="150110"/>
                  </a:cubicBezTo>
                  <a:lnTo>
                    <a:pt x="32172" y="150110"/>
                  </a:lnTo>
                  <a:lnTo>
                    <a:pt x="32172" y="26715"/>
                  </a:lnTo>
                  <a:close/>
                  <a:moveTo>
                    <a:pt x="32172" y="313660"/>
                  </a:moveTo>
                  <a:lnTo>
                    <a:pt x="32172" y="176744"/>
                  </a:lnTo>
                  <a:lnTo>
                    <a:pt x="125187" y="176744"/>
                  </a:lnTo>
                  <a:cubicBezTo>
                    <a:pt x="155893" y="176744"/>
                    <a:pt x="181957" y="195722"/>
                    <a:pt x="191649" y="222193"/>
                  </a:cubicBezTo>
                  <a:cubicBezTo>
                    <a:pt x="194337" y="229360"/>
                    <a:pt x="195803" y="237179"/>
                    <a:pt x="195803" y="245243"/>
                  </a:cubicBezTo>
                  <a:cubicBezTo>
                    <a:pt x="195803" y="247279"/>
                    <a:pt x="195722" y="249315"/>
                    <a:pt x="195559" y="251270"/>
                  </a:cubicBezTo>
                  <a:cubicBezTo>
                    <a:pt x="192383" y="286211"/>
                    <a:pt x="162084" y="313660"/>
                    <a:pt x="125187" y="313660"/>
                  </a:cubicBezTo>
                  <a:lnTo>
                    <a:pt x="32172" y="31366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1" name="Google Shape;271;p36"/>
            <p:cNvSpPr/>
            <p:nvPr/>
          </p:nvSpPr>
          <p:spPr>
            <a:xfrm>
              <a:off x="7918256" y="2537704"/>
              <a:ext cx="216735" cy="358700"/>
            </a:xfrm>
            <a:custGeom>
              <a:rect b="b" l="l" r="r" t="t"/>
              <a:pathLst>
                <a:path extrusionOk="0" h="358700" w="216735">
                  <a:moveTo>
                    <a:pt x="216736" y="259904"/>
                  </a:moveTo>
                  <a:lnTo>
                    <a:pt x="216736" y="260392"/>
                  </a:lnTo>
                  <a:cubicBezTo>
                    <a:pt x="216736" y="283850"/>
                    <a:pt x="207044" y="305434"/>
                    <a:pt x="190916" y="322293"/>
                  </a:cubicBezTo>
                  <a:cubicBezTo>
                    <a:pt x="180898" y="332800"/>
                    <a:pt x="168436" y="341434"/>
                    <a:pt x="154264" y="347624"/>
                  </a:cubicBezTo>
                  <a:cubicBezTo>
                    <a:pt x="138301" y="354710"/>
                    <a:pt x="120219" y="358701"/>
                    <a:pt x="100997" y="358701"/>
                  </a:cubicBezTo>
                  <a:cubicBezTo>
                    <a:pt x="81775" y="358701"/>
                    <a:pt x="63693" y="354710"/>
                    <a:pt x="47729" y="347624"/>
                  </a:cubicBezTo>
                  <a:cubicBezTo>
                    <a:pt x="33557" y="341434"/>
                    <a:pt x="21095" y="332800"/>
                    <a:pt x="11077" y="322293"/>
                  </a:cubicBezTo>
                  <a:cubicBezTo>
                    <a:pt x="6923" y="317976"/>
                    <a:pt x="3177" y="313334"/>
                    <a:pt x="0" y="308447"/>
                  </a:cubicBezTo>
                  <a:lnTo>
                    <a:pt x="23295" y="290365"/>
                  </a:lnTo>
                  <a:cubicBezTo>
                    <a:pt x="31114" y="303886"/>
                    <a:pt x="43983" y="315044"/>
                    <a:pt x="59865" y="322293"/>
                  </a:cubicBezTo>
                  <a:cubicBezTo>
                    <a:pt x="72653" y="328158"/>
                    <a:pt x="87314" y="331497"/>
                    <a:pt x="103033" y="331497"/>
                  </a:cubicBezTo>
                  <a:cubicBezTo>
                    <a:pt x="118753" y="331497"/>
                    <a:pt x="133495" y="328158"/>
                    <a:pt x="146282" y="322293"/>
                  </a:cubicBezTo>
                  <a:cubicBezTo>
                    <a:pt x="172997" y="309995"/>
                    <a:pt x="191161" y="286700"/>
                    <a:pt x="191568" y="259904"/>
                  </a:cubicBezTo>
                  <a:lnTo>
                    <a:pt x="191568" y="259008"/>
                  </a:lnTo>
                  <a:cubicBezTo>
                    <a:pt x="191568" y="248989"/>
                    <a:pt x="189125" y="239541"/>
                    <a:pt x="184564" y="230826"/>
                  </a:cubicBezTo>
                  <a:cubicBezTo>
                    <a:pt x="172428" y="207287"/>
                    <a:pt x="145468" y="190102"/>
                    <a:pt x="113214" y="187088"/>
                  </a:cubicBezTo>
                  <a:cubicBezTo>
                    <a:pt x="110852" y="186844"/>
                    <a:pt x="108409" y="186681"/>
                    <a:pt x="105965" y="186681"/>
                  </a:cubicBezTo>
                  <a:cubicBezTo>
                    <a:pt x="105884" y="186600"/>
                    <a:pt x="105721" y="186600"/>
                    <a:pt x="105640" y="186681"/>
                  </a:cubicBezTo>
                  <a:cubicBezTo>
                    <a:pt x="102219" y="186355"/>
                    <a:pt x="98798" y="185948"/>
                    <a:pt x="95458" y="185378"/>
                  </a:cubicBezTo>
                  <a:cubicBezTo>
                    <a:pt x="80227" y="182853"/>
                    <a:pt x="66136" y="177722"/>
                    <a:pt x="53838" y="170635"/>
                  </a:cubicBezTo>
                  <a:cubicBezTo>
                    <a:pt x="47810" y="167133"/>
                    <a:pt x="42109" y="163142"/>
                    <a:pt x="36978" y="158744"/>
                  </a:cubicBezTo>
                  <a:cubicBezTo>
                    <a:pt x="17349" y="141884"/>
                    <a:pt x="5294" y="118915"/>
                    <a:pt x="5294" y="93585"/>
                  </a:cubicBezTo>
                  <a:cubicBezTo>
                    <a:pt x="5294" y="71512"/>
                    <a:pt x="14417" y="51313"/>
                    <a:pt x="29648" y="35349"/>
                  </a:cubicBezTo>
                  <a:cubicBezTo>
                    <a:pt x="40480" y="24027"/>
                    <a:pt x="54408" y="14824"/>
                    <a:pt x="70372" y="8634"/>
                  </a:cubicBezTo>
                  <a:cubicBezTo>
                    <a:pt x="84707" y="3095"/>
                    <a:pt x="100671" y="0"/>
                    <a:pt x="117450" y="0"/>
                  </a:cubicBezTo>
                  <a:cubicBezTo>
                    <a:pt x="134228" y="0"/>
                    <a:pt x="150192" y="3095"/>
                    <a:pt x="164527" y="8634"/>
                  </a:cubicBezTo>
                  <a:cubicBezTo>
                    <a:pt x="180491" y="14824"/>
                    <a:pt x="194338" y="24027"/>
                    <a:pt x="205170" y="35349"/>
                  </a:cubicBezTo>
                  <a:cubicBezTo>
                    <a:pt x="207288" y="37467"/>
                    <a:pt x="209242" y="39747"/>
                    <a:pt x="211116" y="42109"/>
                  </a:cubicBezTo>
                  <a:lnTo>
                    <a:pt x="184319" y="62960"/>
                  </a:lnTo>
                  <a:cubicBezTo>
                    <a:pt x="176581" y="50987"/>
                    <a:pt x="164608" y="41295"/>
                    <a:pt x="150273" y="35349"/>
                  </a:cubicBezTo>
                  <a:cubicBezTo>
                    <a:pt x="140174" y="31195"/>
                    <a:pt x="128852" y="28833"/>
                    <a:pt x="116880" y="28833"/>
                  </a:cubicBezTo>
                  <a:cubicBezTo>
                    <a:pt x="104906" y="28833"/>
                    <a:pt x="93585" y="31195"/>
                    <a:pt x="83485" y="35349"/>
                  </a:cubicBezTo>
                  <a:cubicBezTo>
                    <a:pt x="57340" y="46181"/>
                    <a:pt x="39340" y="69232"/>
                    <a:pt x="39340" y="95947"/>
                  </a:cubicBezTo>
                  <a:cubicBezTo>
                    <a:pt x="39340" y="124698"/>
                    <a:pt x="60191" y="149133"/>
                    <a:pt x="89512" y="158744"/>
                  </a:cubicBezTo>
                  <a:cubicBezTo>
                    <a:pt x="94155" y="160291"/>
                    <a:pt x="99124" y="161432"/>
                    <a:pt x="104173" y="162165"/>
                  </a:cubicBezTo>
                  <a:cubicBezTo>
                    <a:pt x="108327" y="162735"/>
                    <a:pt x="112562" y="163061"/>
                    <a:pt x="116880" y="163061"/>
                  </a:cubicBezTo>
                  <a:cubicBezTo>
                    <a:pt x="116961" y="162979"/>
                    <a:pt x="117042" y="163061"/>
                    <a:pt x="117124" y="163061"/>
                  </a:cubicBezTo>
                  <a:cubicBezTo>
                    <a:pt x="134554" y="165097"/>
                    <a:pt x="150762" y="170473"/>
                    <a:pt x="164772" y="178373"/>
                  </a:cubicBezTo>
                  <a:cubicBezTo>
                    <a:pt x="168599" y="180491"/>
                    <a:pt x="172346" y="182853"/>
                    <a:pt x="175848" y="185378"/>
                  </a:cubicBezTo>
                  <a:cubicBezTo>
                    <a:pt x="192301" y="197269"/>
                    <a:pt x="204763" y="212907"/>
                    <a:pt x="211360" y="230826"/>
                  </a:cubicBezTo>
                  <a:cubicBezTo>
                    <a:pt x="214781" y="239948"/>
                    <a:pt x="216654" y="249722"/>
                    <a:pt x="216736" y="259904"/>
                  </a:cubicBez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72" name="Google Shape;272;p36"/>
          <p:cNvSpPr txBox="1"/>
          <p:nvPr/>
        </p:nvSpPr>
        <p:spPr>
          <a:xfrm>
            <a:off x="8361434" y="4775269"/>
            <a:ext cx="681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 b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900" b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/>
          <p:nvPr/>
        </p:nvSpPr>
        <p:spPr>
          <a:xfrm>
            <a:off x="233361" y="238125"/>
            <a:ext cx="4295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Inter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37"/>
          <p:cNvSpPr/>
          <p:nvPr/>
        </p:nvSpPr>
        <p:spPr>
          <a:xfrm>
            <a:off x="233361" y="238125"/>
            <a:ext cx="18573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000"/>
              <a:buFont typeface="Inter"/>
              <a:buNone/>
            </a:pPr>
            <a:r>
              <a:rPr b="0" i="0" lang="en" sz="1800" u="none" cap="none" strike="noStrike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Key</a:t>
            </a:r>
            <a:r>
              <a:rPr b="0" i="0" lang="en" sz="1800" u="none" cap="none" strike="noStrike">
                <a:solidFill>
                  <a:srgbClr val="192839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 </a:t>
            </a:r>
            <a:r>
              <a:rPr b="0" lang="en" sz="1800">
                <a:solidFill>
                  <a:srgbClr val="2F55D4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Customers</a:t>
            </a:r>
            <a:endParaRPr b="0" sz="1800">
              <a:solidFill>
                <a:srgbClr val="2F55D4"/>
              </a:solidFill>
              <a:latin typeface="TASA Orbiter SemiBold"/>
              <a:ea typeface="TASA Orbiter SemiBold"/>
              <a:cs typeface="TASA Orbiter SemiBold"/>
              <a:sym typeface="TASA Orbiter SemiBold"/>
            </a:endParaRPr>
          </a:p>
        </p:txBody>
      </p:sp>
      <p:sp>
        <p:nvSpPr>
          <p:cNvPr id="280" name="Google Shape;280;p37"/>
          <p:cNvSpPr/>
          <p:nvPr/>
        </p:nvSpPr>
        <p:spPr>
          <a:xfrm>
            <a:off x="233350" y="561975"/>
            <a:ext cx="4760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566D"/>
              </a:buClr>
              <a:buSzPts val="1000"/>
              <a:buFont typeface="Inter"/>
              <a:buNone/>
            </a:pPr>
            <a:r>
              <a:rPr b="0" i="0" lang="en" sz="925" u="none" cap="none" strike="noStrike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Trusted and Ideal digital partner for Industrial setups, commercial setups and OEMs</a:t>
            </a:r>
            <a:endParaRPr b="0" i="0" sz="92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81" name="Google Shape;28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825" y="814400"/>
            <a:ext cx="8723302" cy="4222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2" name="Google Shape;28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825" y="814400"/>
            <a:ext cx="8723302" cy="4222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3" name="Google Shape;28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5745" y="847027"/>
            <a:ext cx="1047787" cy="4176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4" name="Google Shape;28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3893" y="847027"/>
            <a:ext cx="1047798" cy="417649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7"/>
          <p:cNvSpPr/>
          <p:nvPr/>
        </p:nvSpPr>
        <p:spPr>
          <a:xfrm>
            <a:off x="354554" y="944744"/>
            <a:ext cx="7860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875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Automobile &amp;  </a:t>
            </a:r>
            <a:endParaRPr b="0" i="0" sz="87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875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ancillary</a:t>
            </a:r>
            <a:endParaRPr b="0" i="0" sz="87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86" name="Google Shape;28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1721" y="2540912"/>
            <a:ext cx="805868" cy="412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7" name="Google Shape;287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7245" y="4456095"/>
            <a:ext cx="713715" cy="435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8" name="Google Shape;288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4425" y="852565"/>
            <a:ext cx="1933794" cy="2058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9" name="Google Shape;289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5332" y="3107607"/>
            <a:ext cx="872330" cy="53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7"/>
          <p:cNvSpPr/>
          <p:nvPr/>
        </p:nvSpPr>
        <p:spPr>
          <a:xfrm>
            <a:off x="2808032" y="944744"/>
            <a:ext cx="3903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Metals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91" name="Google Shape;291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66944" y="847027"/>
            <a:ext cx="1050566" cy="4176494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7"/>
          <p:cNvSpPr/>
          <p:nvPr/>
        </p:nvSpPr>
        <p:spPr>
          <a:xfrm>
            <a:off x="1616290" y="944744"/>
            <a:ext cx="5739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875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Consumer</a:t>
            </a:r>
            <a:endParaRPr b="0" i="0" sz="87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875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Goods </a:t>
            </a:r>
            <a:endParaRPr b="0" i="0" sz="87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93" name="Google Shape;293;p3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61097" y="2600610"/>
            <a:ext cx="473550" cy="420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4" name="Google Shape;294;p3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4943" y="1983047"/>
            <a:ext cx="470782" cy="4070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3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43788" y="853088"/>
            <a:ext cx="1255015" cy="2051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6" name="Google Shape;296;p3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789579" y="1202099"/>
            <a:ext cx="371086" cy="44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7"/>
          <p:cNvSpPr/>
          <p:nvPr/>
        </p:nvSpPr>
        <p:spPr>
          <a:xfrm>
            <a:off x="5268374" y="944744"/>
            <a:ext cx="10662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85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Consumer Durables</a:t>
            </a:r>
            <a:endParaRPr b="0" i="0" sz="8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37"/>
          <p:cNvSpPr/>
          <p:nvPr/>
        </p:nvSpPr>
        <p:spPr>
          <a:xfrm>
            <a:off x="7834634" y="944744"/>
            <a:ext cx="9357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875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Energy, Oil &amp; Gas</a:t>
            </a:r>
            <a:endParaRPr b="0" i="0" sz="87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299" name="Google Shape;299;p3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18392" y="2505848"/>
            <a:ext cx="1011354" cy="252356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7"/>
          <p:cNvSpPr/>
          <p:nvPr/>
        </p:nvSpPr>
        <p:spPr>
          <a:xfrm>
            <a:off x="3897566" y="2571621"/>
            <a:ext cx="45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Pharma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301" name="Google Shape;301;p3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564171" y="4588985"/>
            <a:ext cx="720023" cy="210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2" name="Google Shape;302;p3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730601" y="1409685"/>
            <a:ext cx="736630" cy="238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3" name="Google Shape;303;p3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776849" y="2866464"/>
            <a:ext cx="739404" cy="33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4" name="Google Shape;304;p3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697098" y="1379347"/>
            <a:ext cx="401549" cy="418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5" name="Google Shape;305;p3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750699" y="852565"/>
            <a:ext cx="815221" cy="205841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7"/>
          <p:cNvSpPr/>
          <p:nvPr/>
        </p:nvSpPr>
        <p:spPr>
          <a:xfrm>
            <a:off x="6885800" y="944744"/>
            <a:ext cx="5787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875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Chemicals</a:t>
            </a:r>
            <a:endParaRPr b="0" i="0" sz="87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307" name="Google Shape;307;p3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842475" y="1323955"/>
            <a:ext cx="639709" cy="318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8" name="Google Shape;308;p3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672174" y="3791415"/>
            <a:ext cx="504013" cy="4817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9" name="Google Shape;309;p3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3732540" y="1479043"/>
            <a:ext cx="678480" cy="384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0" name="Google Shape;310;p3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815620" y="3849567"/>
            <a:ext cx="606478" cy="603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1" name="Google Shape;311;p3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734437" y="2979402"/>
            <a:ext cx="3068969" cy="2057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2" name="Google Shape;312;p3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877591" y="4020663"/>
            <a:ext cx="1011815" cy="9951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3" name="Google Shape;313;p37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945219" y="3359395"/>
            <a:ext cx="720018" cy="329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4" name="Google Shape;314;p37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138511" y="1188263"/>
            <a:ext cx="808637" cy="5344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5" name="Google Shape;315;p37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8141281" y="1188268"/>
            <a:ext cx="805864" cy="534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6" name="Google Shape;316;p37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5961834" y="3749869"/>
            <a:ext cx="664632" cy="501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7" name="Google Shape;317;p37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3627293" y="848261"/>
            <a:ext cx="1008812" cy="160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7"/>
          <p:cNvSpPr/>
          <p:nvPr/>
        </p:nvSpPr>
        <p:spPr>
          <a:xfrm>
            <a:off x="3930020" y="944744"/>
            <a:ext cx="4482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Cement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319" name="Google Shape;319;p37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3776849" y="1348876"/>
            <a:ext cx="697864" cy="398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0" name="Google Shape;320;p37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3735309" y="1836284"/>
            <a:ext cx="803099" cy="379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1" name="Google Shape;321;p37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5070117" y="3292939"/>
            <a:ext cx="534475" cy="4402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2" name="Google Shape;322;p37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5070117" y="3292944"/>
            <a:ext cx="534474" cy="437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3" name="Google Shape;323;p37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5068931" y="1331744"/>
            <a:ext cx="418158" cy="415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4" name="Google Shape;324;p37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6726164" y="1799475"/>
            <a:ext cx="861251" cy="42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5" name="Google Shape;325;p37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7875509" y="2986856"/>
            <a:ext cx="1013641" cy="955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6" name="Google Shape;326;p37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5818712" y="1929985"/>
            <a:ext cx="642477" cy="326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7" name="Google Shape;327;p37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5083963" y="3868962"/>
            <a:ext cx="534475" cy="409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8" name="Google Shape;328;p37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5083964" y="3868965"/>
            <a:ext cx="534474" cy="4070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9" name="Google Shape;329;p37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1589095" y="3340012"/>
            <a:ext cx="736634" cy="22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0" name="Google Shape;330;p37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4942729" y="2334754"/>
            <a:ext cx="603707" cy="398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1" name="Google Shape;331;p37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5072886" y="4325889"/>
            <a:ext cx="589861" cy="606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2" name="Google Shape;332;p37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5072886" y="4325889"/>
            <a:ext cx="587092" cy="60639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7"/>
          <p:cNvSpPr/>
          <p:nvPr/>
        </p:nvSpPr>
        <p:spPr>
          <a:xfrm>
            <a:off x="5828573" y="3059202"/>
            <a:ext cx="9552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Commercial Infra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334" name="Google Shape;334;p37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5839985" y="4386818"/>
            <a:ext cx="739402" cy="4153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5" name="Google Shape;335;p37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8027740" y="4151428"/>
            <a:ext cx="742173" cy="412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6" name="Google Shape;336;p37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8027740" y="4151428"/>
            <a:ext cx="739401" cy="4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7"/>
          <p:cNvSpPr/>
          <p:nvPr/>
        </p:nvSpPr>
        <p:spPr>
          <a:xfrm>
            <a:off x="8060611" y="3038162"/>
            <a:ext cx="45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OEM tie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37"/>
          <p:cNvSpPr/>
          <p:nvPr/>
        </p:nvSpPr>
        <p:spPr>
          <a:xfrm>
            <a:off x="8481047" y="3038162"/>
            <a:ext cx="90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-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37"/>
          <p:cNvSpPr/>
          <p:nvPr/>
        </p:nvSpPr>
        <p:spPr>
          <a:xfrm>
            <a:off x="8533416" y="3038162"/>
            <a:ext cx="2214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ups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340" name="Google Shape;340;p37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5799640" y="2434441"/>
            <a:ext cx="697860" cy="2270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1" name="Google Shape;341;p37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6676316" y="4447745"/>
            <a:ext cx="1002487" cy="332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2" name="Google Shape;342;p37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6679086" y="4447745"/>
            <a:ext cx="999717" cy="332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3" name="Google Shape;343;p37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7028018" y="3292941"/>
            <a:ext cx="418163" cy="4070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4" name="Google Shape;344;p37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8013893" y="3218171"/>
            <a:ext cx="720017" cy="3738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5" name="Google Shape;345;p37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6828628" y="3940964"/>
            <a:ext cx="805866" cy="210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6" name="Google Shape;346;p37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8066509" y="3600330"/>
            <a:ext cx="642476" cy="279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7" name="Google Shape;347;p37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8049894" y="4568314"/>
            <a:ext cx="664634" cy="329543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7"/>
          <p:cNvSpPr/>
          <p:nvPr/>
        </p:nvSpPr>
        <p:spPr>
          <a:xfrm>
            <a:off x="8047125" y="4079426"/>
            <a:ext cx="7137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58585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Partnerships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 " id="349" name="Google Shape;349;p37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6859091" y="2403994"/>
            <a:ext cx="587094" cy="2852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0" name="Google Shape;350;p37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3865467" y="3406480"/>
            <a:ext cx="504012" cy="285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1" name="Google Shape;351;p37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4801491" y="1950997"/>
            <a:ext cx="891712" cy="207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37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7714807" y="1886127"/>
            <a:ext cx="534475" cy="265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3" name="Google Shape;353;p37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8348979" y="1733814"/>
            <a:ext cx="473551" cy="459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4" name="Google Shape;354;p37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7728654" y="2340292"/>
            <a:ext cx="534475" cy="42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5" name="Google Shape;355;p37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7728654" y="2343061"/>
            <a:ext cx="534474" cy="420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6" name="Google Shape;356;p37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8301901" y="2376296"/>
            <a:ext cx="537244" cy="393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7" name="Google Shape;357;p37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8301901" y="2376296"/>
            <a:ext cx="537244" cy="393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8" name="Google Shape;358;p37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3890391" y="4489290"/>
            <a:ext cx="473550" cy="443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9" name="Google Shape;359;p37"/>
          <p:cNvPicPr preferRelativeResize="0"/>
          <p:nvPr/>
        </p:nvPicPr>
        <p:blipFill rotWithShape="1">
          <a:blip r:embed="rId62">
            <a:alphaModFix/>
          </a:blip>
          <a:srcRect b="0" l="0" r="0" t="0"/>
          <a:stretch/>
        </p:blipFill>
        <p:spPr>
          <a:xfrm>
            <a:off x="342905" y="1574476"/>
            <a:ext cx="805865" cy="2907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0" name="Google Shape;360;p37"/>
          <p:cNvPicPr preferRelativeResize="0"/>
          <p:nvPr/>
        </p:nvPicPr>
        <p:blipFill rotWithShape="1">
          <a:blip r:embed="rId63">
            <a:alphaModFix/>
          </a:blip>
          <a:srcRect b="0" l="0" r="0" t="0"/>
          <a:stretch/>
        </p:blipFill>
        <p:spPr>
          <a:xfrm>
            <a:off x="396302" y="3898711"/>
            <a:ext cx="736623" cy="31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1" name="Google Shape;361;p37"/>
          <p:cNvPicPr preferRelativeResize="0"/>
          <p:nvPr/>
        </p:nvPicPr>
        <p:blipFill rotWithShape="1">
          <a:blip r:embed="rId64">
            <a:alphaModFix/>
          </a:blip>
          <a:srcRect b="0" l="0" r="0" t="0"/>
          <a:stretch/>
        </p:blipFill>
        <p:spPr>
          <a:xfrm>
            <a:off x="2671377" y="2260285"/>
            <a:ext cx="680678" cy="231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2" name="Google Shape;362;p37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2811375" y="1694646"/>
            <a:ext cx="400683" cy="386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3" name="Google Shape;363;p37"/>
          <p:cNvPicPr preferRelativeResize="0"/>
          <p:nvPr/>
        </p:nvPicPr>
        <p:blipFill rotWithShape="1">
          <a:blip r:embed="rId66">
            <a:alphaModFix/>
          </a:blip>
          <a:srcRect b="0" l="0" r="0" t="0"/>
          <a:stretch/>
        </p:blipFill>
        <p:spPr>
          <a:xfrm>
            <a:off x="2705169" y="4081821"/>
            <a:ext cx="608266" cy="24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4" name="Google Shape;364;p37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2598964" y="1325773"/>
            <a:ext cx="825503" cy="231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5" name="Google Shape;365;p37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2753444" y="4357808"/>
            <a:ext cx="569646" cy="5647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6" name="Google Shape;366;p37"/>
          <p:cNvPicPr preferRelativeResize="0"/>
          <p:nvPr/>
        </p:nvPicPr>
        <p:blipFill rotWithShape="1">
          <a:blip r:embed="rId69">
            <a:alphaModFix/>
          </a:blip>
          <a:srcRect b="0" l="0" r="0" t="0"/>
          <a:stretch/>
        </p:blipFill>
        <p:spPr>
          <a:xfrm>
            <a:off x="2636583" y="3426432"/>
            <a:ext cx="762746" cy="4875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7" name="Google Shape;367;p37"/>
          <p:cNvPicPr preferRelativeResize="0"/>
          <p:nvPr/>
        </p:nvPicPr>
        <p:blipFill rotWithShape="1">
          <a:blip r:embed="rId70">
            <a:alphaModFix/>
          </a:blip>
          <a:srcRect b="0" l="0" r="0" t="0"/>
          <a:stretch/>
        </p:blipFill>
        <p:spPr>
          <a:xfrm>
            <a:off x="2676204" y="3155627"/>
            <a:ext cx="661368" cy="19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7" title="Screenshot 2025-11-01 at 2.43.15 PM.png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2646870" y="2631148"/>
            <a:ext cx="742174" cy="393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7" title="Screenshot 2025-11-01 at 6.54.00 PM.png"/>
          <p:cNvPicPr preferRelativeResize="0"/>
          <p:nvPr/>
        </p:nvPicPr>
        <p:blipFill rotWithShape="1">
          <a:blip r:embed="rId72">
            <a:alphaModFix/>
          </a:blip>
          <a:srcRect b="20479" l="0" r="6629" t="21688"/>
          <a:stretch/>
        </p:blipFill>
        <p:spPr>
          <a:xfrm>
            <a:off x="279930" y="2141629"/>
            <a:ext cx="935706" cy="21548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7"/>
          <p:cNvSpPr txBox="1"/>
          <p:nvPr/>
        </p:nvSpPr>
        <p:spPr>
          <a:xfrm>
            <a:off x="8361434" y="4775269"/>
            <a:ext cx="681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 b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900" b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71" name="Google Shape;371;p37"/>
          <p:cNvGrpSpPr/>
          <p:nvPr/>
        </p:nvGrpSpPr>
        <p:grpSpPr>
          <a:xfrm>
            <a:off x="7770516" y="215751"/>
            <a:ext cx="1158723" cy="241192"/>
            <a:chOff x="4059287" y="2048033"/>
            <a:chExt cx="4075704" cy="848371"/>
          </a:xfrm>
        </p:grpSpPr>
        <p:sp>
          <p:nvSpPr>
            <p:cNvPr id="372" name="Google Shape;372;p37"/>
            <p:cNvSpPr/>
            <p:nvPr/>
          </p:nvSpPr>
          <p:spPr>
            <a:xfrm>
              <a:off x="4059287" y="2048033"/>
              <a:ext cx="672035" cy="761954"/>
            </a:xfrm>
            <a:custGeom>
              <a:rect b="b" l="l" r="r" t="t"/>
              <a:pathLst>
                <a:path extrusionOk="0" h="761954" w="672035">
                  <a:moveTo>
                    <a:pt x="339316" y="761955"/>
                  </a:moveTo>
                  <a:lnTo>
                    <a:pt x="145956" y="208835"/>
                  </a:lnTo>
                  <a:lnTo>
                    <a:pt x="74200" y="431354"/>
                  </a:lnTo>
                  <a:lnTo>
                    <a:pt x="190672" y="519726"/>
                  </a:lnTo>
                  <a:lnTo>
                    <a:pt x="211441" y="612252"/>
                  </a:lnTo>
                  <a:lnTo>
                    <a:pt x="0" y="458313"/>
                  </a:lnTo>
                  <a:lnTo>
                    <a:pt x="152147" y="0"/>
                  </a:lnTo>
                  <a:lnTo>
                    <a:pt x="339316" y="556052"/>
                  </a:lnTo>
                  <a:lnTo>
                    <a:pt x="524450" y="8145"/>
                  </a:lnTo>
                  <a:lnTo>
                    <a:pt x="672035" y="470856"/>
                  </a:lnTo>
                  <a:lnTo>
                    <a:pt x="461001" y="623654"/>
                  </a:lnTo>
                  <a:lnTo>
                    <a:pt x="483888" y="523879"/>
                  </a:lnTo>
                  <a:lnTo>
                    <a:pt x="596125" y="438602"/>
                  </a:lnTo>
                  <a:lnTo>
                    <a:pt x="521273" y="218202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4864573" y="2185030"/>
              <a:ext cx="219342" cy="333696"/>
            </a:xfrm>
            <a:custGeom>
              <a:rect b="b" l="l" r="r" t="t"/>
              <a:pathLst>
                <a:path extrusionOk="0" h="333696" w="219342">
                  <a:moveTo>
                    <a:pt x="219342" y="0"/>
                  </a:moveTo>
                  <a:lnTo>
                    <a:pt x="219342" y="68173"/>
                  </a:lnTo>
                  <a:lnTo>
                    <a:pt x="80064" y="68173"/>
                  </a:lnTo>
                  <a:lnTo>
                    <a:pt x="80064" y="138545"/>
                  </a:lnTo>
                  <a:lnTo>
                    <a:pt x="209324" y="138545"/>
                  </a:lnTo>
                  <a:lnTo>
                    <a:pt x="209324" y="206473"/>
                  </a:lnTo>
                  <a:lnTo>
                    <a:pt x="80064" y="206473"/>
                  </a:lnTo>
                  <a:lnTo>
                    <a:pt x="80064" y="333696"/>
                  </a:lnTo>
                  <a:lnTo>
                    <a:pt x="0" y="333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4" name="Google Shape;374;p37"/>
            <p:cNvSpPr/>
            <p:nvPr/>
          </p:nvSpPr>
          <p:spPr>
            <a:xfrm>
              <a:off x="5118368" y="2185030"/>
              <a:ext cx="361633" cy="333696"/>
            </a:xfrm>
            <a:custGeom>
              <a:rect b="b" l="l" r="r" t="t"/>
              <a:pathLst>
                <a:path extrusionOk="0" h="333696" w="361633">
                  <a:moveTo>
                    <a:pt x="334022" y="267804"/>
                  </a:moveTo>
                  <a:lnTo>
                    <a:pt x="308284" y="206473"/>
                  </a:lnTo>
                  <a:lnTo>
                    <a:pt x="279777" y="138545"/>
                  </a:lnTo>
                  <a:lnTo>
                    <a:pt x="250293" y="68173"/>
                  </a:lnTo>
                  <a:lnTo>
                    <a:pt x="221704" y="0"/>
                  </a:lnTo>
                  <a:lnTo>
                    <a:pt x="139929" y="0"/>
                  </a:lnTo>
                  <a:lnTo>
                    <a:pt x="111341" y="68173"/>
                  </a:lnTo>
                  <a:lnTo>
                    <a:pt x="81856" y="138545"/>
                  </a:lnTo>
                  <a:lnTo>
                    <a:pt x="53349" y="206473"/>
                  </a:lnTo>
                  <a:lnTo>
                    <a:pt x="27611" y="267804"/>
                  </a:lnTo>
                  <a:lnTo>
                    <a:pt x="0" y="333696"/>
                  </a:lnTo>
                  <a:lnTo>
                    <a:pt x="90408" y="333696"/>
                  </a:lnTo>
                  <a:lnTo>
                    <a:pt x="113621" y="267804"/>
                  </a:lnTo>
                  <a:lnTo>
                    <a:pt x="244835" y="267804"/>
                  </a:lnTo>
                  <a:lnTo>
                    <a:pt x="268048" y="333696"/>
                  </a:lnTo>
                  <a:lnTo>
                    <a:pt x="361633" y="333696"/>
                  </a:lnTo>
                  <a:lnTo>
                    <a:pt x="334022" y="267804"/>
                  </a:lnTo>
                  <a:close/>
                  <a:moveTo>
                    <a:pt x="135124" y="206473"/>
                  </a:moveTo>
                  <a:lnTo>
                    <a:pt x="159070" y="138545"/>
                  </a:lnTo>
                  <a:lnTo>
                    <a:pt x="179269" y="81123"/>
                  </a:lnTo>
                  <a:lnTo>
                    <a:pt x="199387" y="138545"/>
                  </a:lnTo>
                  <a:lnTo>
                    <a:pt x="223333" y="206473"/>
                  </a:lnTo>
                  <a:lnTo>
                    <a:pt x="135124" y="206473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5" name="Google Shape;375;p37"/>
            <p:cNvSpPr/>
            <p:nvPr/>
          </p:nvSpPr>
          <p:spPr>
            <a:xfrm>
              <a:off x="5880404" y="2185030"/>
              <a:ext cx="206961" cy="333696"/>
            </a:xfrm>
            <a:custGeom>
              <a:rect b="b" l="l" r="r" t="t"/>
              <a:pathLst>
                <a:path extrusionOk="0" h="333696" w="206961">
                  <a:moveTo>
                    <a:pt x="206962" y="267804"/>
                  </a:moveTo>
                  <a:lnTo>
                    <a:pt x="206962" y="333696"/>
                  </a:lnTo>
                  <a:lnTo>
                    <a:pt x="0" y="333696"/>
                  </a:lnTo>
                  <a:lnTo>
                    <a:pt x="0" y="0"/>
                  </a:lnTo>
                  <a:lnTo>
                    <a:pt x="78028" y="0"/>
                  </a:lnTo>
                  <a:lnTo>
                    <a:pt x="78028" y="267804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6573941" y="2185030"/>
              <a:ext cx="303641" cy="333696"/>
            </a:xfrm>
            <a:custGeom>
              <a:rect b="b" l="l" r="r" t="t"/>
              <a:pathLst>
                <a:path extrusionOk="0" h="333696" w="303641">
                  <a:moveTo>
                    <a:pt x="303642" y="0"/>
                  </a:moveTo>
                  <a:lnTo>
                    <a:pt x="303642" y="171124"/>
                  </a:lnTo>
                  <a:lnTo>
                    <a:pt x="268293" y="206473"/>
                  </a:lnTo>
                  <a:lnTo>
                    <a:pt x="225939" y="248827"/>
                  </a:lnTo>
                  <a:lnTo>
                    <a:pt x="206962" y="267804"/>
                  </a:lnTo>
                  <a:lnTo>
                    <a:pt x="186111" y="288655"/>
                  </a:lnTo>
                  <a:lnTo>
                    <a:pt x="172916" y="267804"/>
                  </a:lnTo>
                  <a:lnTo>
                    <a:pt x="134391" y="206473"/>
                  </a:lnTo>
                  <a:lnTo>
                    <a:pt x="91630" y="138545"/>
                  </a:lnTo>
                  <a:lnTo>
                    <a:pt x="77621" y="116228"/>
                  </a:lnTo>
                  <a:lnTo>
                    <a:pt x="77621" y="333696"/>
                  </a:lnTo>
                  <a:lnTo>
                    <a:pt x="0" y="333696"/>
                  </a:lnTo>
                  <a:lnTo>
                    <a:pt x="0" y="0"/>
                  </a:lnTo>
                  <a:lnTo>
                    <a:pt x="90082" y="0"/>
                  </a:lnTo>
                  <a:lnTo>
                    <a:pt x="133006" y="68173"/>
                  </a:lnTo>
                  <a:lnTo>
                    <a:pt x="177233" y="138545"/>
                  </a:lnTo>
                  <a:lnTo>
                    <a:pt x="219912" y="206473"/>
                  </a:lnTo>
                  <a:lnTo>
                    <a:pt x="225939" y="216003"/>
                  </a:lnTo>
                  <a:lnTo>
                    <a:pt x="225939" y="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7" name="Google Shape;377;p37"/>
            <p:cNvSpPr/>
            <p:nvPr/>
          </p:nvSpPr>
          <p:spPr>
            <a:xfrm>
              <a:off x="5512010" y="2175419"/>
              <a:ext cx="306166" cy="351452"/>
            </a:xfrm>
            <a:custGeom>
              <a:rect b="b" l="l" r="r" t="t"/>
              <a:pathLst>
                <a:path extrusionOk="0" h="351452" w="306166">
                  <a:moveTo>
                    <a:pt x="306167" y="300547"/>
                  </a:moveTo>
                  <a:cubicBezTo>
                    <a:pt x="286212" y="320013"/>
                    <a:pt x="261533" y="334755"/>
                    <a:pt x="234003" y="343307"/>
                  </a:cubicBezTo>
                  <a:cubicBezTo>
                    <a:pt x="216898" y="348602"/>
                    <a:pt x="198654" y="351452"/>
                    <a:pt x="179758" y="351452"/>
                  </a:cubicBezTo>
                  <a:cubicBezTo>
                    <a:pt x="160862" y="351452"/>
                    <a:pt x="142617" y="348602"/>
                    <a:pt x="125513" y="343307"/>
                  </a:cubicBezTo>
                  <a:cubicBezTo>
                    <a:pt x="87883" y="331660"/>
                    <a:pt x="55548" y="308284"/>
                    <a:pt x="33231" y="277415"/>
                  </a:cubicBezTo>
                  <a:cubicBezTo>
                    <a:pt x="19955" y="259252"/>
                    <a:pt x="10181" y="238482"/>
                    <a:pt x="4805" y="216084"/>
                  </a:cubicBezTo>
                  <a:cubicBezTo>
                    <a:pt x="1629" y="203134"/>
                    <a:pt x="0" y="189613"/>
                    <a:pt x="0" y="175685"/>
                  </a:cubicBezTo>
                  <a:cubicBezTo>
                    <a:pt x="0" y="166319"/>
                    <a:pt x="733" y="157115"/>
                    <a:pt x="2199" y="148156"/>
                  </a:cubicBezTo>
                  <a:cubicBezTo>
                    <a:pt x="6353" y="122418"/>
                    <a:pt x="16208" y="98553"/>
                    <a:pt x="30462" y="77784"/>
                  </a:cubicBezTo>
                  <a:cubicBezTo>
                    <a:pt x="52127" y="46344"/>
                    <a:pt x="83811" y="22154"/>
                    <a:pt x="121115" y="9611"/>
                  </a:cubicBezTo>
                  <a:cubicBezTo>
                    <a:pt x="139441" y="3339"/>
                    <a:pt x="159233" y="0"/>
                    <a:pt x="179758" y="0"/>
                  </a:cubicBezTo>
                  <a:cubicBezTo>
                    <a:pt x="200283" y="0"/>
                    <a:pt x="220075" y="3339"/>
                    <a:pt x="238401" y="9611"/>
                  </a:cubicBezTo>
                  <a:cubicBezTo>
                    <a:pt x="263650" y="18082"/>
                    <a:pt x="286456" y="32009"/>
                    <a:pt x="305189" y="49765"/>
                  </a:cubicBezTo>
                  <a:lnTo>
                    <a:pt x="251026" y="104906"/>
                  </a:lnTo>
                  <a:cubicBezTo>
                    <a:pt x="240274" y="92770"/>
                    <a:pt x="226917" y="83322"/>
                    <a:pt x="211930" y="77784"/>
                  </a:cubicBezTo>
                  <a:cubicBezTo>
                    <a:pt x="202238" y="74200"/>
                    <a:pt x="191731" y="72245"/>
                    <a:pt x="180898" y="72245"/>
                  </a:cubicBezTo>
                  <a:cubicBezTo>
                    <a:pt x="170065" y="72245"/>
                    <a:pt x="159640" y="74200"/>
                    <a:pt x="149948" y="77784"/>
                  </a:cubicBezTo>
                  <a:cubicBezTo>
                    <a:pt x="120056" y="88698"/>
                    <a:pt x="96761" y="115087"/>
                    <a:pt x="88046" y="148156"/>
                  </a:cubicBezTo>
                  <a:cubicBezTo>
                    <a:pt x="85521" y="157441"/>
                    <a:pt x="84218" y="167215"/>
                    <a:pt x="84218" y="177396"/>
                  </a:cubicBezTo>
                  <a:cubicBezTo>
                    <a:pt x="84218" y="191079"/>
                    <a:pt x="86580" y="204111"/>
                    <a:pt x="90978" y="216084"/>
                  </a:cubicBezTo>
                  <a:cubicBezTo>
                    <a:pt x="101567" y="245080"/>
                    <a:pt x="123558" y="267723"/>
                    <a:pt x="151006" y="277415"/>
                  </a:cubicBezTo>
                  <a:cubicBezTo>
                    <a:pt x="160373" y="280754"/>
                    <a:pt x="170473" y="282546"/>
                    <a:pt x="180898" y="282546"/>
                  </a:cubicBezTo>
                  <a:cubicBezTo>
                    <a:pt x="191323" y="282546"/>
                    <a:pt x="201423" y="280754"/>
                    <a:pt x="210790" y="277415"/>
                  </a:cubicBezTo>
                  <a:cubicBezTo>
                    <a:pt x="227487" y="271551"/>
                    <a:pt x="242148" y="260799"/>
                    <a:pt x="253469" y="246790"/>
                  </a:cubicBezTo>
                  <a:lnTo>
                    <a:pt x="306167" y="300547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6136642" y="2175419"/>
              <a:ext cx="359597" cy="351452"/>
            </a:xfrm>
            <a:custGeom>
              <a:rect b="b" l="l" r="r" t="t"/>
              <a:pathLst>
                <a:path extrusionOk="0" h="351452" w="359597">
                  <a:moveTo>
                    <a:pt x="357398" y="148156"/>
                  </a:moveTo>
                  <a:cubicBezTo>
                    <a:pt x="353244" y="122418"/>
                    <a:pt x="343389" y="98553"/>
                    <a:pt x="329135" y="77784"/>
                  </a:cubicBezTo>
                  <a:cubicBezTo>
                    <a:pt x="307470" y="46344"/>
                    <a:pt x="275705" y="22154"/>
                    <a:pt x="238401" y="9611"/>
                  </a:cubicBezTo>
                  <a:cubicBezTo>
                    <a:pt x="219994" y="3339"/>
                    <a:pt x="200283" y="0"/>
                    <a:pt x="179758" y="0"/>
                  </a:cubicBezTo>
                  <a:cubicBezTo>
                    <a:pt x="159233" y="0"/>
                    <a:pt x="139522" y="3339"/>
                    <a:pt x="121115" y="9611"/>
                  </a:cubicBezTo>
                  <a:cubicBezTo>
                    <a:pt x="83811" y="22154"/>
                    <a:pt x="52128" y="46344"/>
                    <a:pt x="30462" y="77784"/>
                  </a:cubicBezTo>
                  <a:cubicBezTo>
                    <a:pt x="16209" y="98553"/>
                    <a:pt x="6353" y="122418"/>
                    <a:pt x="2199" y="148156"/>
                  </a:cubicBezTo>
                  <a:cubicBezTo>
                    <a:pt x="733" y="157115"/>
                    <a:pt x="0" y="166319"/>
                    <a:pt x="0" y="175685"/>
                  </a:cubicBezTo>
                  <a:cubicBezTo>
                    <a:pt x="0" y="189613"/>
                    <a:pt x="1629" y="203134"/>
                    <a:pt x="4805" y="216084"/>
                  </a:cubicBezTo>
                  <a:cubicBezTo>
                    <a:pt x="10181" y="238482"/>
                    <a:pt x="19955" y="259252"/>
                    <a:pt x="33231" y="277415"/>
                  </a:cubicBezTo>
                  <a:cubicBezTo>
                    <a:pt x="55548" y="308284"/>
                    <a:pt x="87883" y="331660"/>
                    <a:pt x="125594" y="343307"/>
                  </a:cubicBezTo>
                  <a:cubicBezTo>
                    <a:pt x="142699" y="348602"/>
                    <a:pt x="160862" y="351452"/>
                    <a:pt x="179758" y="351452"/>
                  </a:cubicBezTo>
                  <a:cubicBezTo>
                    <a:pt x="198654" y="351452"/>
                    <a:pt x="216817" y="348602"/>
                    <a:pt x="233921" y="343307"/>
                  </a:cubicBezTo>
                  <a:cubicBezTo>
                    <a:pt x="271632" y="331660"/>
                    <a:pt x="303967" y="308284"/>
                    <a:pt x="326366" y="277415"/>
                  </a:cubicBezTo>
                  <a:cubicBezTo>
                    <a:pt x="339642" y="259252"/>
                    <a:pt x="349416" y="238482"/>
                    <a:pt x="354792" y="216084"/>
                  </a:cubicBezTo>
                  <a:cubicBezTo>
                    <a:pt x="357968" y="203134"/>
                    <a:pt x="359597" y="189613"/>
                    <a:pt x="359597" y="175685"/>
                  </a:cubicBezTo>
                  <a:cubicBezTo>
                    <a:pt x="359597" y="166319"/>
                    <a:pt x="358864" y="157115"/>
                    <a:pt x="357398" y="148156"/>
                  </a:cubicBezTo>
                  <a:close/>
                  <a:moveTo>
                    <a:pt x="270736" y="216084"/>
                  </a:moveTo>
                  <a:cubicBezTo>
                    <a:pt x="260067" y="245080"/>
                    <a:pt x="237831" y="267723"/>
                    <a:pt x="210138" y="277415"/>
                  </a:cubicBezTo>
                  <a:cubicBezTo>
                    <a:pt x="200609" y="280754"/>
                    <a:pt x="190428" y="282546"/>
                    <a:pt x="179921" y="282546"/>
                  </a:cubicBezTo>
                  <a:cubicBezTo>
                    <a:pt x="169414" y="282546"/>
                    <a:pt x="159233" y="280754"/>
                    <a:pt x="149703" y="277415"/>
                  </a:cubicBezTo>
                  <a:cubicBezTo>
                    <a:pt x="121929" y="267723"/>
                    <a:pt x="99694" y="245080"/>
                    <a:pt x="89024" y="216084"/>
                  </a:cubicBezTo>
                  <a:cubicBezTo>
                    <a:pt x="84626" y="204111"/>
                    <a:pt x="82182" y="191079"/>
                    <a:pt x="82182" y="177396"/>
                  </a:cubicBezTo>
                  <a:cubicBezTo>
                    <a:pt x="82182" y="167215"/>
                    <a:pt x="83485" y="157441"/>
                    <a:pt x="86092" y="148156"/>
                  </a:cubicBezTo>
                  <a:cubicBezTo>
                    <a:pt x="94888" y="115087"/>
                    <a:pt x="118427" y="88698"/>
                    <a:pt x="148644" y="77784"/>
                  </a:cubicBezTo>
                  <a:cubicBezTo>
                    <a:pt x="158500" y="74200"/>
                    <a:pt x="169007" y="72245"/>
                    <a:pt x="179921" y="72245"/>
                  </a:cubicBezTo>
                  <a:cubicBezTo>
                    <a:pt x="190916" y="72245"/>
                    <a:pt x="201423" y="74200"/>
                    <a:pt x="211279" y="77784"/>
                  </a:cubicBezTo>
                  <a:cubicBezTo>
                    <a:pt x="241333" y="88779"/>
                    <a:pt x="264872" y="115087"/>
                    <a:pt x="273668" y="148156"/>
                  </a:cubicBezTo>
                  <a:cubicBezTo>
                    <a:pt x="276275" y="157441"/>
                    <a:pt x="277578" y="167215"/>
                    <a:pt x="277578" y="177396"/>
                  </a:cubicBezTo>
                  <a:cubicBezTo>
                    <a:pt x="277578" y="191079"/>
                    <a:pt x="275134" y="204111"/>
                    <a:pt x="270736" y="216084"/>
                  </a:cubicBez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6616539" y="2583885"/>
              <a:ext cx="192952" cy="301442"/>
            </a:xfrm>
            <a:custGeom>
              <a:rect b="b" l="l" r="r" t="t"/>
              <a:pathLst>
                <a:path extrusionOk="0" h="301442" w="192952">
                  <a:moveTo>
                    <a:pt x="192953" y="276112"/>
                  </a:moveTo>
                  <a:lnTo>
                    <a:pt x="192953" y="301443"/>
                  </a:lnTo>
                  <a:lnTo>
                    <a:pt x="0" y="301443"/>
                  </a:lnTo>
                  <a:lnTo>
                    <a:pt x="0" y="34127"/>
                  </a:lnTo>
                  <a:lnTo>
                    <a:pt x="34860" y="0"/>
                  </a:lnTo>
                  <a:lnTo>
                    <a:pt x="34860" y="276112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6966851" y="2546337"/>
              <a:ext cx="325143" cy="338990"/>
            </a:xfrm>
            <a:custGeom>
              <a:rect b="b" l="l" r="r" t="t"/>
              <a:pathLst>
                <a:path extrusionOk="0" h="338990" w="325143">
                  <a:moveTo>
                    <a:pt x="314393" y="313660"/>
                  </a:moveTo>
                  <a:lnTo>
                    <a:pt x="287922" y="251270"/>
                  </a:lnTo>
                  <a:lnTo>
                    <a:pt x="275542" y="222193"/>
                  </a:lnTo>
                  <a:lnTo>
                    <a:pt x="256238" y="176744"/>
                  </a:lnTo>
                  <a:lnTo>
                    <a:pt x="244917" y="150110"/>
                  </a:lnTo>
                  <a:lnTo>
                    <a:pt x="192382" y="26715"/>
                  </a:lnTo>
                  <a:lnTo>
                    <a:pt x="181061" y="0"/>
                  </a:lnTo>
                  <a:lnTo>
                    <a:pt x="144164" y="0"/>
                  </a:lnTo>
                  <a:lnTo>
                    <a:pt x="132843" y="26715"/>
                  </a:lnTo>
                  <a:lnTo>
                    <a:pt x="80309" y="150110"/>
                  </a:lnTo>
                  <a:lnTo>
                    <a:pt x="68987" y="176744"/>
                  </a:lnTo>
                  <a:lnTo>
                    <a:pt x="49684" y="222193"/>
                  </a:lnTo>
                  <a:lnTo>
                    <a:pt x="37303" y="251270"/>
                  </a:lnTo>
                  <a:lnTo>
                    <a:pt x="10751" y="313660"/>
                  </a:lnTo>
                  <a:lnTo>
                    <a:pt x="0" y="338990"/>
                  </a:lnTo>
                  <a:lnTo>
                    <a:pt x="35186" y="338990"/>
                  </a:lnTo>
                  <a:lnTo>
                    <a:pt x="45530" y="313660"/>
                  </a:lnTo>
                  <a:lnTo>
                    <a:pt x="71105" y="251270"/>
                  </a:lnTo>
                  <a:lnTo>
                    <a:pt x="250781" y="251270"/>
                  </a:lnTo>
                  <a:lnTo>
                    <a:pt x="276356" y="313660"/>
                  </a:lnTo>
                  <a:lnTo>
                    <a:pt x="286700" y="338990"/>
                  </a:lnTo>
                  <a:lnTo>
                    <a:pt x="325144" y="338990"/>
                  </a:lnTo>
                  <a:lnTo>
                    <a:pt x="314393" y="313660"/>
                  </a:lnTo>
                  <a:close/>
                  <a:moveTo>
                    <a:pt x="82996" y="222193"/>
                  </a:moveTo>
                  <a:lnTo>
                    <a:pt x="101648" y="176744"/>
                  </a:lnTo>
                  <a:lnTo>
                    <a:pt x="112562" y="150110"/>
                  </a:lnTo>
                  <a:lnTo>
                    <a:pt x="160943" y="32172"/>
                  </a:lnTo>
                  <a:lnTo>
                    <a:pt x="209324" y="150110"/>
                  </a:lnTo>
                  <a:lnTo>
                    <a:pt x="220238" y="176744"/>
                  </a:lnTo>
                  <a:lnTo>
                    <a:pt x="238890" y="222193"/>
                  </a:lnTo>
                  <a:lnTo>
                    <a:pt x="82996" y="222193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7486902" y="2546337"/>
              <a:ext cx="228382" cy="338990"/>
            </a:xfrm>
            <a:custGeom>
              <a:rect b="b" l="l" r="r" t="t"/>
              <a:pathLst>
                <a:path extrusionOk="0" h="338990" w="228382">
                  <a:moveTo>
                    <a:pt x="224148" y="222193"/>
                  </a:moveTo>
                  <a:cubicBezTo>
                    <a:pt x="218202" y="204029"/>
                    <a:pt x="206066" y="188228"/>
                    <a:pt x="189857" y="176744"/>
                  </a:cubicBezTo>
                  <a:cubicBezTo>
                    <a:pt x="180410" y="170065"/>
                    <a:pt x="169495" y="164771"/>
                    <a:pt x="157685" y="161432"/>
                  </a:cubicBezTo>
                  <a:cubicBezTo>
                    <a:pt x="164853" y="158581"/>
                    <a:pt x="171531" y="154753"/>
                    <a:pt x="177559" y="150110"/>
                  </a:cubicBezTo>
                  <a:cubicBezTo>
                    <a:pt x="197514" y="134717"/>
                    <a:pt x="210383" y="110771"/>
                    <a:pt x="210383" y="83811"/>
                  </a:cubicBezTo>
                  <a:cubicBezTo>
                    <a:pt x="210383" y="61738"/>
                    <a:pt x="201830" y="41702"/>
                    <a:pt x="187740" y="26715"/>
                  </a:cubicBezTo>
                  <a:cubicBezTo>
                    <a:pt x="172265" y="10263"/>
                    <a:pt x="150273" y="0"/>
                    <a:pt x="125839" y="0"/>
                  </a:cubicBezTo>
                  <a:lnTo>
                    <a:pt x="0" y="0"/>
                  </a:lnTo>
                  <a:lnTo>
                    <a:pt x="0" y="338990"/>
                  </a:lnTo>
                  <a:lnTo>
                    <a:pt x="127305" y="338990"/>
                  </a:lnTo>
                  <a:cubicBezTo>
                    <a:pt x="154509" y="338990"/>
                    <a:pt x="179106" y="329380"/>
                    <a:pt x="197188" y="313660"/>
                  </a:cubicBezTo>
                  <a:cubicBezTo>
                    <a:pt x="215595" y="297859"/>
                    <a:pt x="227406" y="275786"/>
                    <a:pt x="228301" y="251270"/>
                  </a:cubicBezTo>
                  <a:cubicBezTo>
                    <a:pt x="228383" y="250211"/>
                    <a:pt x="228383" y="249152"/>
                    <a:pt x="228383" y="248093"/>
                  </a:cubicBezTo>
                  <a:cubicBezTo>
                    <a:pt x="228383" y="239134"/>
                    <a:pt x="226917" y="230419"/>
                    <a:pt x="224148" y="222193"/>
                  </a:cubicBezTo>
                  <a:close/>
                  <a:moveTo>
                    <a:pt x="32172" y="26715"/>
                  </a:moveTo>
                  <a:lnTo>
                    <a:pt x="116146" y="26715"/>
                  </a:lnTo>
                  <a:cubicBezTo>
                    <a:pt x="150192" y="26715"/>
                    <a:pt x="177803" y="54326"/>
                    <a:pt x="177803" y="88372"/>
                  </a:cubicBezTo>
                  <a:cubicBezTo>
                    <a:pt x="177803" y="122499"/>
                    <a:pt x="150192" y="150110"/>
                    <a:pt x="116146" y="150110"/>
                  </a:cubicBezTo>
                  <a:lnTo>
                    <a:pt x="32172" y="150110"/>
                  </a:lnTo>
                  <a:lnTo>
                    <a:pt x="32172" y="26715"/>
                  </a:lnTo>
                  <a:close/>
                  <a:moveTo>
                    <a:pt x="32172" y="313660"/>
                  </a:moveTo>
                  <a:lnTo>
                    <a:pt x="32172" y="176744"/>
                  </a:lnTo>
                  <a:lnTo>
                    <a:pt x="125187" y="176744"/>
                  </a:lnTo>
                  <a:cubicBezTo>
                    <a:pt x="155893" y="176744"/>
                    <a:pt x="181957" y="195722"/>
                    <a:pt x="191649" y="222193"/>
                  </a:cubicBezTo>
                  <a:cubicBezTo>
                    <a:pt x="194337" y="229360"/>
                    <a:pt x="195803" y="237179"/>
                    <a:pt x="195803" y="245243"/>
                  </a:cubicBezTo>
                  <a:cubicBezTo>
                    <a:pt x="195803" y="247279"/>
                    <a:pt x="195722" y="249315"/>
                    <a:pt x="195559" y="251270"/>
                  </a:cubicBezTo>
                  <a:cubicBezTo>
                    <a:pt x="192383" y="286211"/>
                    <a:pt x="162084" y="313660"/>
                    <a:pt x="125187" y="313660"/>
                  </a:cubicBezTo>
                  <a:lnTo>
                    <a:pt x="32172" y="31366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7918256" y="2537704"/>
              <a:ext cx="216735" cy="358700"/>
            </a:xfrm>
            <a:custGeom>
              <a:rect b="b" l="l" r="r" t="t"/>
              <a:pathLst>
                <a:path extrusionOk="0" h="358700" w="216735">
                  <a:moveTo>
                    <a:pt x="216736" y="259904"/>
                  </a:moveTo>
                  <a:lnTo>
                    <a:pt x="216736" y="260392"/>
                  </a:lnTo>
                  <a:cubicBezTo>
                    <a:pt x="216736" y="283850"/>
                    <a:pt x="207044" y="305434"/>
                    <a:pt x="190916" y="322293"/>
                  </a:cubicBezTo>
                  <a:cubicBezTo>
                    <a:pt x="180898" y="332800"/>
                    <a:pt x="168436" y="341434"/>
                    <a:pt x="154264" y="347624"/>
                  </a:cubicBezTo>
                  <a:cubicBezTo>
                    <a:pt x="138301" y="354710"/>
                    <a:pt x="120219" y="358701"/>
                    <a:pt x="100997" y="358701"/>
                  </a:cubicBezTo>
                  <a:cubicBezTo>
                    <a:pt x="81775" y="358701"/>
                    <a:pt x="63693" y="354710"/>
                    <a:pt x="47729" y="347624"/>
                  </a:cubicBezTo>
                  <a:cubicBezTo>
                    <a:pt x="33557" y="341434"/>
                    <a:pt x="21095" y="332800"/>
                    <a:pt x="11077" y="322293"/>
                  </a:cubicBezTo>
                  <a:cubicBezTo>
                    <a:pt x="6923" y="317976"/>
                    <a:pt x="3177" y="313334"/>
                    <a:pt x="0" y="308447"/>
                  </a:cubicBezTo>
                  <a:lnTo>
                    <a:pt x="23295" y="290365"/>
                  </a:lnTo>
                  <a:cubicBezTo>
                    <a:pt x="31114" y="303886"/>
                    <a:pt x="43983" y="315044"/>
                    <a:pt x="59865" y="322293"/>
                  </a:cubicBezTo>
                  <a:cubicBezTo>
                    <a:pt x="72653" y="328158"/>
                    <a:pt x="87314" y="331497"/>
                    <a:pt x="103033" y="331497"/>
                  </a:cubicBezTo>
                  <a:cubicBezTo>
                    <a:pt x="118753" y="331497"/>
                    <a:pt x="133495" y="328158"/>
                    <a:pt x="146282" y="322293"/>
                  </a:cubicBezTo>
                  <a:cubicBezTo>
                    <a:pt x="172997" y="309995"/>
                    <a:pt x="191161" y="286700"/>
                    <a:pt x="191568" y="259904"/>
                  </a:cubicBezTo>
                  <a:lnTo>
                    <a:pt x="191568" y="259008"/>
                  </a:lnTo>
                  <a:cubicBezTo>
                    <a:pt x="191568" y="248989"/>
                    <a:pt x="189125" y="239541"/>
                    <a:pt x="184564" y="230826"/>
                  </a:cubicBezTo>
                  <a:cubicBezTo>
                    <a:pt x="172428" y="207287"/>
                    <a:pt x="145468" y="190102"/>
                    <a:pt x="113214" y="187088"/>
                  </a:cubicBezTo>
                  <a:cubicBezTo>
                    <a:pt x="110852" y="186844"/>
                    <a:pt x="108409" y="186681"/>
                    <a:pt x="105965" y="186681"/>
                  </a:cubicBezTo>
                  <a:cubicBezTo>
                    <a:pt x="105884" y="186600"/>
                    <a:pt x="105721" y="186600"/>
                    <a:pt x="105640" y="186681"/>
                  </a:cubicBezTo>
                  <a:cubicBezTo>
                    <a:pt x="102219" y="186355"/>
                    <a:pt x="98798" y="185948"/>
                    <a:pt x="95458" y="185378"/>
                  </a:cubicBezTo>
                  <a:cubicBezTo>
                    <a:pt x="80227" y="182853"/>
                    <a:pt x="66136" y="177722"/>
                    <a:pt x="53838" y="170635"/>
                  </a:cubicBezTo>
                  <a:cubicBezTo>
                    <a:pt x="47810" y="167133"/>
                    <a:pt x="42109" y="163142"/>
                    <a:pt x="36978" y="158744"/>
                  </a:cubicBezTo>
                  <a:cubicBezTo>
                    <a:pt x="17349" y="141884"/>
                    <a:pt x="5294" y="118915"/>
                    <a:pt x="5294" y="93585"/>
                  </a:cubicBezTo>
                  <a:cubicBezTo>
                    <a:pt x="5294" y="71512"/>
                    <a:pt x="14417" y="51313"/>
                    <a:pt x="29648" y="35349"/>
                  </a:cubicBezTo>
                  <a:cubicBezTo>
                    <a:pt x="40480" y="24027"/>
                    <a:pt x="54408" y="14824"/>
                    <a:pt x="70372" y="8634"/>
                  </a:cubicBezTo>
                  <a:cubicBezTo>
                    <a:pt x="84707" y="3095"/>
                    <a:pt x="100671" y="0"/>
                    <a:pt x="117450" y="0"/>
                  </a:cubicBezTo>
                  <a:cubicBezTo>
                    <a:pt x="134228" y="0"/>
                    <a:pt x="150192" y="3095"/>
                    <a:pt x="164527" y="8634"/>
                  </a:cubicBezTo>
                  <a:cubicBezTo>
                    <a:pt x="180491" y="14824"/>
                    <a:pt x="194338" y="24027"/>
                    <a:pt x="205170" y="35349"/>
                  </a:cubicBezTo>
                  <a:cubicBezTo>
                    <a:pt x="207288" y="37467"/>
                    <a:pt x="209242" y="39747"/>
                    <a:pt x="211116" y="42109"/>
                  </a:cubicBezTo>
                  <a:lnTo>
                    <a:pt x="184319" y="62960"/>
                  </a:lnTo>
                  <a:cubicBezTo>
                    <a:pt x="176581" y="50987"/>
                    <a:pt x="164608" y="41295"/>
                    <a:pt x="150273" y="35349"/>
                  </a:cubicBezTo>
                  <a:cubicBezTo>
                    <a:pt x="140174" y="31195"/>
                    <a:pt x="128852" y="28833"/>
                    <a:pt x="116880" y="28833"/>
                  </a:cubicBezTo>
                  <a:cubicBezTo>
                    <a:pt x="104906" y="28833"/>
                    <a:pt x="93585" y="31195"/>
                    <a:pt x="83485" y="35349"/>
                  </a:cubicBezTo>
                  <a:cubicBezTo>
                    <a:pt x="57340" y="46181"/>
                    <a:pt x="39340" y="69232"/>
                    <a:pt x="39340" y="95947"/>
                  </a:cubicBezTo>
                  <a:cubicBezTo>
                    <a:pt x="39340" y="124698"/>
                    <a:pt x="60191" y="149133"/>
                    <a:pt x="89512" y="158744"/>
                  </a:cubicBezTo>
                  <a:cubicBezTo>
                    <a:pt x="94155" y="160291"/>
                    <a:pt x="99124" y="161432"/>
                    <a:pt x="104173" y="162165"/>
                  </a:cubicBezTo>
                  <a:cubicBezTo>
                    <a:pt x="108327" y="162735"/>
                    <a:pt x="112562" y="163061"/>
                    <a:pt x="116880" y="163061"/>
                  </a:cubicBezTo>
                  <a:cubicBezTo>
                    <a:pt x="116961" y="162979"/>
                    <a:pt x="117042" y="163061"/>
                    <a:pt x="117124" y="163061"/>
                  </a:cubicBezTo>
                  <a:cubicBezTo>
                    <a:pt x="134554" y="165097"/>
                    <a:pt x="150762" y="170473"/>
                    <a:pt x="164772" y="178373"/>
                  </a:cubicBezTo>
                  <a:cubicBezTo>
                    <a:pt x="168599" y="180491"/>
                    <a:pt x="172346" y="182853"/>
                    <a:pt x="175848" y="185378"/>
                  </a:cubicBezTo>
                  <a:cubicBezTo>
                    <a:pt x="192301" y="197269"/>
                    <a:pt x="204763" y="212907"/>
                    <a:pt x="211360" y="230826"/>
                  </a:cubicBezTo>
                  <a:cubicBezTo>
                    <a:pt x="214781" y="239948"/>
                    <a:pt x="216654" y="249722"/>
                    <a:pt x="216736" y="259904"/>
                  </a:cubicBez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Inter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9456"/>
            <a:ext cx="8650224" cy="722376"/>
            <a:chOff x="274320" y="219456"/>
            <a:chExt cx="8650224" cy="722376"/>
          </a:xfrm>
        </p:grpSpPr>
        <p:sp>
          <p:nvSpPr>
            <p:cNvPr id="4" name="Eyebrow"/>
            <p:cNvSpPr txBox="1"/>
            <p:nvPr/>
          </p:nvSpPr>
          <p:spPr>
            <a:xfrm>
              <a:off x="274320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DG ONLINE MONITORING  ·  OVERVIEW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5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Objective &amp; Business Outcome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6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Bring every DG onto IOsense, and turn low-fuel and maintenance conditions into vendor work orders that are tracked from creation to completion.</a:t>
              </a:r>
              <a:endParaRPr lang="en-US" sz="850" dirty="0">
                <a:latin typeface="Inter"/>
              </a:endParaRPr>
            </a:p>
          </p:txBody>
        </p:sp>
        <p:grpSp>
          <p:nvGrpSpPr>
            <p:cNvPr id="7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8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" name="Icon history"/>
          <p:cNvSpPr/>
          <p:nvPr/>
        </p:nvSpPr>
        <p:spPr>
          <a:xfrm>
            <a:off x="1783080" y="1060704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2000"/>
                </a:moveTo>
                <a:cubicBezTo>
                  <a:pt x="3000" y="16971"/>
                  <a:pt x="7029" y="21000"/>
                  <a:pt x="12000" y="21000"/>
                </a:cubicBezTo>
                <a:cubicBezTo>
                  <a:pt x="16971" y="21000"/>
                  <a:pt x="21000" y="16971"/>
                  <a:pt x="21000" y="12000"/>
                </a:cubicBezTo>
                <a:cubicBezTo>
                  <a:pt x="21000" y="7029"/>
                  <a:pt x="16971" y="3000"/>
                  <a:pt x="12000" y="3000"/>
                </a:cubicBezTo>
                <a:cubicBezTo>
                  <a:pt x="9484" y="3009"/>
                  <a:pt x="7069" y="3991"/>
                  <a:pt x="5260" y="5740"/>
                </a:cubicBezTo>
                <a:lnTo>
                  <a:pt x="3000" y="8000"/>
                </a:lnTo>
              </a:path>
              <a:path w="24000" h="24000" fill="none">
                <a:moveTo>
                  <a:pt x="3000" y="3000"/>
                </a:moveTo>
                <a:lnTo>
                  <a:pt x="3000" y="8000"/>
                </a:lnTo>
                <a:lnTo>
                  <a:pt x="8000" y="8000"/>
                </a:lnTo>
              </a:path>
              <a:path w="24000" h="24000" fill="none">
                <a:moveTo>
                  <a:pt x="12000" y="7000"/>
                </a:moveTo>
                <a:lnTo>
                  <a:pt x="12000" y="12000"/>
                </a:lnTo>
                <a:lnTo>
                  <a:pt x="16000" y="14000"/>
                </a:lnTo>
              </a:path>
            </a:pathLst>
          </a:custGeom>
          <a:noFill/>
          <a:ln w="12573" cap="rnd">
            <a:solidFill>
              <a:srgbClr val="40566D"/>
            </a:solidFill>
            <a:round/>
          </a:ln>
        </p:spPr>
      </p:sp>
      <p:sp>
        <p:nvSpPr>
          <p:cNvPr id="20" name="Column header"/>
          <p:cNvSpPr txBox="1"/>
          <p:nvPr/>
        </p:nvSpPr>
        <p:spPr>
          <a:xfrm>
            <a:off x="1965960" y="103327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buNone/>
            </a:pPr>
            <a:r>
              <a:rPr lang="en-US" sz="660" b="0" i="0" cap="all" spc="82" dirty="0">
                <a:solidFill>
                  <a:srgbClr val="40566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CURRENT PROCEDURE</a:t>
            </a:r>
            <a:endParaRPr lang="en-US" sz="660" dirty="0">
              <a:latin typeface="Inter SemiBold"/>
            </a:endParaRPr>
          </a:p>
        </p:txBody>
      </p:sp>
      <p:sp>
        <p:nvSpPr>
          <p:cNvPr id="21" name="Icon crosshair"/>
          <p:cNvSpPr/>
          <p:nvPr/>
        </p:nvSpPr>
        <p:spPr>
          <a:xfrm>
            <a:off x="4206240" y="1060704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</a:path>
              <a:path w="24000" h="24000" fill="none">
                <a:moveTo>
                  <a:pt x="22000" y="12000"/>
                </a:moveTo>
                <a:lnTo>
                  <a:pt x="18000" y="12000"/>
                </a:lnTo>
              </a:path>
              <a:path w="24000" h="24000" fill="none">
                <a:moveTo>
                  <a:pt x="6000" y="12000"/>
                </a:moveTo>
                <a:lnTo>
                  <a:pt x="2000" y="12000"/>
                </a:lnTo>
              </a:path>
              <a:path w="24000" h="24000" fill="none">
                <a:moveTo>
                  <a:pt x="12000" y="6000"/>
                </a:moveTo>
                <a:lnTo>
                  <a:pt x="12000" y="2000"/>
                </a:lnTo>
              </a:path>
              <a:path w="24000" h="24000" fill="none">
                <a:moveTo>
                  <a:pt x="12000" y="22000"/>
                </a:moveTo>
                <a:lnTo>
                  <a:pt x="12000" y="18000"/>
                </a:lnTo>
              </a:path>
            </a:pathLst>
          </a:custGeom>
          <a:noFill/>
          <a:ln w="12573" cap="rnd">
            <a:solidFill>
              <a:srgbClr val="165FF2"/>
            </a:solidFill>
            <a:round/>
          </a:ln>
        </p:spPr>
      </p:sp>
      <p:sp>
        <p:nvSpPr>
          <p:cNvPr id="22" name="Column header"/>
          <p:cNvSpPr txBox="1"/>
          <p:nvPr/>
        </p:nvSpPr>
        <p:spPr>
          <a:xfrm>
            <a:off x="4389120" y="103327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buNone/>
            </a:pPr>
            <a:r>
              <a:rPr lang="en-US" sz="660" b="0" i="0" cap="all" spc="82" dirty="0">
                <a:solidFill>
                  <a:srgbClr val="165FF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OBJECTIVE</a:t>
            </a:r>
            <a:endParaRPr lang="en-US" sz="660" dirty="0">
              <a:latin typeface="Inter SemiBold"/>
            </a:endParaRPr>
          </a:p>
        </p:txBody>
      </p:sp>
      <p:sp>
        <p:nvSpPr>
          <p:cNvPr id="23" name="Icon badge-check"/>
          <p:cNvSpPr/>
          <p:nvPr/>
        </p:nvSpPr>
        <p:spPr>
          <a:xfrm>
            <a:off x="6629400" y="1060704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850" y="8620"/>
                </a:moveTo>
                <a:cubicBezTo>
                  <a:pt x="3553" y="7284"/>
                  <a:pt x="3961" y="5889"/>
                  <a:pt x="4929" y="4922"/>
                </a:cubicBezTo>
                <a:cubicBezTo>
                  <a:pt x="5898" y="3955"/>
                  <a:pt x="7294" y="3551"/>
                  <a:pt x="8630" y="3850"/>
                </a:cubicBezTo>
                <a:cubicBezTo>
                  <a:pt x="9365" y="2700"/>
                  <a:pt x="10635" y="2005"/>
                  <a:pt x="12000" y="2005"/>
                </a:cubicBezTo>
                <a:cubicBezTo>
                  <a:pt x="13365" y="2005"/>
                  <a:pt x="14635" y="2700"/>
                  <a:pt x="15370" y="3850"/>
                </a:cubicBezTo>
                <a:cubicBezTo>
                  <a:pt x="16708" y="3549"/>
                  <a:pt x="18106" y="3955"/>
                  <a:pt x="19076" y="4924"/>
                </a:cubicBezTo>
                <a:cubicBezTo>
                  <a:pt x="20045" y="5894"/>
                  <a:pt x="20451" y="7292"/>
                  <a:pt x="20150" y="8630"/>
                </a:cubicBezTo>
                <a:cubicBezTo>
                  <a:pt x="21300" y="9365"/>
                  <a:pt x="21995" y="10635"/>
                  <a:pt x="21995" y="12000"/>
                </a:cubicBezTo>
                <a:cubicBezTo>
                  <a:pt x="21995" y="13365"/>
                  <a:pt x="21300" y="14635"/>
                  <a:pt x="20150" y="15370"/>
                </a:cubicBezTo>
                <a:cubicBezTo>
                  <a:pt x="20449" y="16706"/>
                  <a:pt x="20045" y="18102"/>
                  <a:pt x="19078" y="19071"/>
                </a:cubicBezTo>
                <a:cubicBezTo>
                  <a:pt x="18111" y="20039"/>
                  <a:pt x="16716" y="20447"/>
                  <a:pt x="15380" y="20150"/>
                </a:cubicBezTo>
                <a:cubicBezTo>
                  <a:pt x="14646" y="21304"/>
                  <a:pt x="13373" y="22003"/>
                  <a:pt x="12005" y="22003"/>
                </a:cubicBezTo>
                <a:cubicBezTo>
                  <a:pt x="10637" y="22003"/>
                  <a:pt x="9364" y="21304"/>
                  <a:pt x="8630" y="20150"/>
                </a:cubicBezTo>
                <a:cubicBezTo>
                  <a:pt x="7294" y="20449"/>
                  <a:pt x="5898" y="20045"/>
                  <a:pt x="4929" y="19078"/>
                </a:cubicBezTo>
                <a:cubicBezTo>
                  <a:pt x="3961" y="18111"/>
                  <a:pt x="3553" y="16716"/>
                  <a:pt x="3850" y="15380"/>
                </a:cubicBezTo>
                <a:cubicBezTo>
                  <a:pt x="2691" y="14647"/>
                  <a:pt x="1989" y="13371"/>
                  <a:pt x="1989" y="12000"/>
                </a:cubicBezTo>
                <a:cubicBezTo>
                  <a:pt x="1989" y="10629"/>
                  <a:pt x="2691" y="9353"/>
                  <a:pt x="3850" y="8620"/>
                </a:cubicBezTo>
                <a:close/>
              </a:path>
              <a:path w="24000" h="24000" fill="none"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12573" cap="rnd">
            <a:solidFill>
              <a:srgbClr val="008743"/>
            </a:solidFill>
            <a:round/>
          </a:ln>
        </p:spPr>
      </p:sp>
      <p:sp>
        <p:nvSpPr>
          <p:cNvPr id="24" name="Column header"/>
          <p:cNvSpPr txBox="1"/>
          <p:nvPr/>
        </p:nvSpPr>
        <p:spPr>
          <a:xfrm>
            <a:off x="6812280" y="103327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buNone/>
            </a:pPr>
            <a:r>
              <a:rPr lang="en-US" sz="660" b="0" i="0" cap="all" spc="82" dirty="0">
                <a:solidFill>
                  <a:srgbClr val="00874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BUSINESS OUTCOME</a:t>
            </a:r>
            <a:endParaRPr lang="en-US" sz="660" dirty="0">
              <a:latin typeface="Inter SemiBold"/>
            </a:endParaRPr>
          </a:p>
        </p:txBody>
      </p:sp>
      <p:grpSp>
        <p:nvGrpSpPr>
          <p:cNvPr id="25" name="Workflow 01 identity"/>
          <p:cNvGrpSpPr/>
          <p:nvPr/>
        </p:nvGrpSpPr>
        <p:grpSpPr>
          <a:xfrm>
            <a:off x="274320" y="1280160"/>
            <a:ext cx="1371600" cy="1691640"/>
            <a:chOff x="274320" y="1280160"/>
            <a:chExt cx="1371600" cy="1691640"/>
          </a:xfrm>
        </p:grpSpPr>
        <p:sp>
          <p:nvSpPr>
            <p:cNvPr id="26" name="Panel"/>
            <p:cNvSpPr/>
            <p:nvPr/>
          </p:nvSpPr>
          <p:spPr>
            <a:xfrm>
              <a:off x="274320" y="1280160"/>
              <a:ext cx="1371600" cy="1691640"/>
            </a:xfrm>
            <a:prstGeom prst="roundRect">
              <a:avLst>
                <a:gd name="adj" fmla="val 5333"/>
              </a:avLst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7" name="Icon fuel"/>
            <p:cNvSpPr/>
            <p:nvPr/>
          </p:nvSpPr>
          <p:spPr>
            <a:xfrm>
              <a:off x="420624" y="1435608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22000"/>
                  </a:moveTo>
                  <a:lnTo>
                    <a:pt x="15000" y="22000"/>
                  </a:lnTo>
                </a:path>
                <a:path w="24000" h="24000" fill="none">
                  <a:moveTo>
                    <a:pt x="4000" y="9000"/>
                  </a:moveTo>
                  <a:lnTo>
                    <a:pt x="14000" y="9000"/>
                  </a:lnTo>
                </a:path>
                <a:path w="24000" h="24000" fill="none">
                  <a:moveTo>
                    <a:pt x="14000" y="22000"/>
                  </a:moveTo>
                  <a:lnTo>
                    <a:pt x="14000" y="4000"/>
                  </a:lnTo>
                  <a:cubicBezTo>
                    <a:pt x="14000" y="2895"/>
                    <a:pt x="13105" y="2000"/>
                    <a:pt x="12000" y="2000"/>
                  </a:cubicBez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2000"/>
                  </a:lnTo>
                </a:path>
                <a:path w="24000" h="24000" fill="none">
                  <a:moveTo>
                    <a:pt x="14000" y="13000"/>
                  </a:moveTo>
                  <a:lnTo>
                    <a:pt x="16000" y="13000"/>
                  </a:lnTo>
                  <a:cubicBezTo>
                    <a:pt x="17105" y="13000"/>
                    <a:pt x="18000" y="13895"/>
                    <a:pt x="18000" y="15000"/>
                  </a:cubicBezTo>
                  <a:lnTo>
                    <a:pt x="18000" y="17000"/>
                  </a:lnTo>
                  <a:cubicBezTo>
                    <a:pt x="18000" y="18105"/>
                    <a:pt x="18895" y="19000"/>
                    <a:pt x="20000" y="19000"/>
                  </a:cubicBezTo>
                  <a:cubicBezTo>
                    <a:pt x="21105" y="19000"/>
                    <a:pt x="22000" y="18105"/>
                    <a:pt x="22000" y="17000"/>
                  </a:cubicBezTo>
                  <a:lnTo>
                    <a:pt x="22000" y="9830"/>
                  </a:lnTo>
                  <a:cubicBezTo>
                    <a:pt x="22000" y="9297"/>
                    <a:pt x="21788" y="8786"/>
                    <a:pt x="21410" y="8410"/>
                  </a:cubicBezTo>
                  <a:lnTo>
                    <a:pt x="18000" y="5000"/>
                  </a:lnTo>
                </a:path>
              </a:pathLst>
            </a:custGeom>
            <a:noFill/>
            <a:ln w="25146" cap="rnd">
              <a:solidFill>
                <a:srgbClr val="FFFFFF"/>
              </a:solidFill>
              <a:round/>
            </a:ln>
          </p:spPr>
        </p:sp>
        <p:sp>
          <p:nvSpPr>
            <p:cNvPr id="28" name="Project number"/>
            <p:cNvSpPr txBox="1"/>
            <p:nvPr/>
          </p:nvSpPr>
          <p:spPr>
            <a:xfrm>
              <a:off x="914400" y="1371600"/>
              <a:ext cx="603504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2600"/>
                </a:lnSpc>
                <a:spcBef>
                  <a:spcPts val="0"/>
                </a:spcBef>
                <a:buNone/>
              </a:pPr>
              <a:r>
                <a:rPr lang="en-US" sz="24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01</a:t>
              </a:r>
              <a:endParaRPr lang="en-US" sz="2400" dirty="0">
                <a:latin typeface="TASA Orbiter SemiBold"/>
              </a:endParaRPr>
            </a:p>
          </p:txBody>
        </p:sp>
        <p:sp>
          <p:nvSpPr>
            <p:cNvPr id="29" name="Project name"/>
            <p:cNvSpPr txBox="1"/>
            <p:nvPr/>
          </p:nvSpPr>
          <p:spPr>
            <a:xfrm>
              <a:off x="420624" y="1865376"/>
              <a:ext cx="114300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buNone/>
              </a:pPr>
              <a:r>
                <a:rPr lang="en-US" sz="11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DG Refilling</a:t>
              </a:r>
              <a:endParaRPr lang="en-US" sz="1150" dirty="0">
                <a:latin typeface="TASA Orbiter SemiBold"/>
              </a:endParaRPr>
            </a:p>
          </p:txBody>
        </p:sp>
        <p:sp>
          <p:nvSpPr>
            <p:cNvPr id="30" name="Project station"/>
            <p:cNvSpPr txBox="1"/>
            <p:nvPr/>
          </p:nvSpPr>
          <p:spPr>
            <a:xfrm>
              <a:off x="420624" y="2084832"/>
              <a:ext cx="11430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DCE8FE"/>
                  </a:solidFill>
                  <a:latin typeface="Inter"/>
                  <a:ea typeface="Inter"/>
                  <a:cs typeface="Inter"/>
                  <a:sym typeface="Inter"/>
                </a:rPr>
                <a:t>Fuel monitoring  ·  vendor refuelling</a:t>
              </a:r>
              <a:endParaRPr lang="en-US" sz="630" dirty="0">
                <a:latin typeface="Inter"/>
              </a:endParaRPr>
            </a:p>
          </p:txBody>
        </p:sp>
        <p:cxnSp>
          <p:nvCxnSpPr>
            <p:cNvPr id="31" name="Divider"/>
            <p:cNvCxnSpPr/>
            <p:nvPr/>
          </p:nvCxnSpPr>
          <p:spPr>
            <a:xfrm>
              <a:off x="420624" y="2377440"/>
              <a:ext cx="1078992" cy="0"/>
            </a:xfrm>
            <a:prstGeom prst="straightConnector1">
              <a:avLst/>
            </a:prstGeom>
            <a:noFill/>
            <a:ln w="6350">
              <a:solidFill>
                <a:srgbClr val="5A8DF7"/>
              </a:solidFill>
              <a:round/>
            </a:ln>
          </p:spPr>
        </p:cxnSp>
        <p:sp>
          <p:nvSpPr>
            <p:cNvPr id="32" name="Applications label"/>
            <p:cNvSpPr txBox="1"/>
            <p:nvPr/>
          </p:nvSpPr>
          <p:spPr>
            <a:xfrm>
              <a:off x="420624" y="2450592"/>
              <a:ext cx="1143000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550"/>
                </a:lnSpc>
                <a:spcBef>
                  <a:spcPts val="0"/>
                </a:spcBef>
                <a:buNone/>
              </a:pPr>
              <a:r>
                <a:rPr lang="en-US" sz="550" b="0" i="0" cap="all" spc="82" dirty="0">
                  <a:solidFill>
                    <a:srgbClr val="B8D0F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WORKFLOW</a:t>
              </a:r>
              <a:endParaRPr lang="en-US" sz="550" dirty="0">
                <a:latin typeface="Inter SemiBold"/>
              </a:endParaRPr>
            </a:p>
          </p:txBody>
        </p:sp>
        <p:sp>
          <p:nvSpPr>
            <p:cNvPr id="33" name="Applications"/>
            <p:cNvSpPr txBox="1"/>
            <p:nvPr/>
          </p:nvSpPr>
          <p:spPr>
            <a:xfrm>
              <a:off x="420624" y="2596896"/>
              <a:ext cx="11430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9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Low-fuel alert → refill work order → invoice</a:t>
              </a:r>
              <a:endParaRPr lang="en-US" sz="660" dirty="0">
                <a:latin typeface="Inter SemiBold"/>
              </a:endParaRPr>
            </a:p>
          </p:txBody>
        </p:sp>
      </p:grpSp>
      <p:grpSp>
        <p:nvGrpSpPr>
          <p:cNvPr id="34" name="Workflow 01 current procedure"/>
          <p:cNvGrpSpPr/>
          <p:nvPr/>
        </p:nvGrpSpPr>
        <p:grpSpPr>
          <a:xfrm>
            <a:off x="1764792" y="1280160"/>
            <a:ext cx="2194560" cy="1691640"/>
            <a:chOff x="1764792" y="1280160"/>
            <a:chExt cx="2194560" cy="1691640"/>
          </a:xfrm>
        </p:grpSpPr>
        <p:sp>
          <p:nvSpPr>
            <p:cNvPr id="35" name="Current procedure card"/>
            <p:cNvSpPr/>
            <p:nvPr/>
          </p:nvSpPr>
          <p:spPr>
            <a:xfrm>
              <a:off x="1764792" y="1280160"/>
              <a:ext cx="2194560" cy="1691640"/>
            </a:xfrm>
            <a:prstGeom prst="roundRect">
              <a:avLst>
                <a:gd name="adj" fmla="val 4324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grpSp>
          <p:nvGrpSpPr>
            <p:cNvPr id="36" name="Item"/>
            <p:cNvGrpSpPr/>
            <p:nvPr/>
          </p:nvGrpSpPr>
          <p:grpSpPr>
            <a:xfrm>
              <a:off x="1883664" y="1417320"/>
              <a:ext cx="1965960" cy="213360"/>
              <a:chOff x="1883664" y="1417320"/>
              <a:chExt cx="1965960" cy="213360"/>
            </a:xfrm>
          </p:grpSpPr>
          <p:sp>
            <p:nvSpPr>
              <p:cNvPr id="37" name="Icon eye"/>
              <p:cNvSpPr/>
              <p:nvPr/>
            </p:nvSpPr>
            <p:spPr>
              <a:xfrm>
                <a:off x="1883664" y="1426464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62" y="12348"/>
                    </a:moveTo>
                    <a:cubicBezTo>
                      <a:pt x="1979" y="12123"/>
                      <a:pt x="1979" y="11877"/>
                      <a:pt x="2062" y="11652"/>
                    </a:cubicBezTo>
                    <a:cubicBezTo>
                      <a:pt x="3722" y="7627"/>
                      <a:pt x="7646" y="5001"/>
                      <a:pt x="12000" y="5001"/>
                    </a:cubicBezTo>
                    <a:cubicBezTo>
                      <a:pt x="16354" y="5001"/>
                      <a:pt x="20278" y="7627"/>
                      <a:pt x="21938" y="11652"/>
                    </a:cubicBezTo>
                    <a:cubicBezTo>
                      <a:pt x="22021" y="11877"/>
                      <a:pt x="22021" y="12123"/>
                      <a:pt x="21938" y="12348"/>
                    </a:cubicBezTo>
                    <a:cubicBezTo>
                      <a:pt x="20278" y="16373"/>
                      <a:pt x="16354" y="18999"/>
                      <a:pt x="12000" y="18999"/>
                    </a:cubicBezTo>
                    <a:cubicBezTo>
                      <a:pt x="7646" y="18999"/>
                      <a:pt x="3722" y="16373"/>
                      <a:pt x="2062" y="12348"/>
                    </a:cubicBezTo>
                  </a:path>
                  <a:path w="24000" h="24000" fill="none">
                    <a:moveTo>
                      <a:pt x="15000" y="12000"/>
                    </a:moveTo>
                    <a:cubicBezTo>
                      <a:pt x="15000" y="13657"/>
                      <a:pt x="13657" y="15000"/>
                      <a:pt x="12000" y="15000"/>
                    </a:cubicBezTo>
                    <a:cubicBezTo>
                      <a:pt x="10343" y="15000"/>
                      <a:pt x="9000" y="13657"/>
                      <a:pt x="9000" y="12000"/>
                    </a:cubicBezTo>
                    <a:cubicBezTo>
                      <a:pt x="9000" y="10343"/>
                      <a:pt x="10343" y="9000"/>
                      <a:pt x="12000" y="9000"/>
                    </a:cubicBezTo>
                    <a:cubicBezTo>
                      <a:pt x="13657" y="9000"/>
                      <a:pt x="15000" y="10343"/>
                      <a:pt x="15000" y="12000"/>
                    </a:cubicBezTo>
                    <a:close/>
                  </a:path>
                </a:pathLst>
              </a:custGeom>
              <a:noFill/>
              <a:ln w="11735" cap="rnd">
                <a:solidFill>
                  <a:srgbClr val="6C849D"/>
                </a:solidFill>
                <a:round/>
              </a:ln>
            </p:spPr>
          </p:sp>
          <p:sp>
            <p:nvSpPr>
              <p:cNvPr id="38" name="Item text"/>
              <p:cNvSpPr txBox="1"/>
              <p:nvPr/>
            </p:nvSpPr>
            <p:spPr>
              <a:xfrm>
                <a:off x="2075688" y="1417320"/>
                <a:ext cx="17739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Fuel level checked physically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at the store; no live view across stores</a:t>
                </a:r>
                <a:endParaRPr lang="en-US" sz="700" dirty="0">
                  <a:latin typeface="Inter SemiBold"/>
                </a:endParaRPr>
              </a:p>
            </p:txBody>
          </p:sp>
        </p:grpSp>
        <p:grpSp>
          <p:nvGrpSpPr>
            <p:cNvPr id="39" name="Item"/>
            <p:cNvGrpSpPr/>
            <p:nvPr/>
          </p:nvGrpSpPr>
          <p:grpSpPr>
            <a:xfrm>
              <a:off x="1883664" y="1712976"/>
              <a:ext cx="1965960" cy="213360"/>
              <a:chOff x="1883664" y="1712976"/>
              <a:chExt cx="1965960" cy="213360"/>
            </a:xfrm>
          </p:grpSpPr>
          <p:sp>
            <p:nvSpPr>
              <p:cNvPr id="40" name="Icon phone"/>
              <p:cNvSpPr/>
              <p:nvPr/>
            </p:nvSpPr>
            <p:spPr>
              <a:xfrm>
                <a:off x="1883664" y="1722120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6920"/>
                    </a:moveTo>
                    <a:lnTo>
                      <a:pt x="22000" y="19920"/>
                    </a:lnTo>
                    <a:cubicBezTo>
                      <a:pt x="22002" y="20483"/>
                      <a:pt x="21767" y="21021"/>
                      <a:pt x="21352" y="21402"/>
                    </a:cubicBezTo>
                    <a:cubicBezTo>
                      <a:pt x="20937" y="21783"/>
                      <a:pt x="20381" y="21971"/>
                      <a:pt x="19820" y="21920"/>
                    </a:cubicBezTo>
                    <a:cubicBezTo>
                      <a:pt x="16743" y="21586"/>
                      <a:pt x="13787" y="20534"/>
                      <a:pt x="11190" y="18850"/>
                    </a:cubicBezTo>
                    <a:cubicBezTo>
                      <a:pt x="8774" y="17315"/>
                      <a:pt x="6725" y="15266"/>
                      <a:pt x="5190" y="12850"/>
                    </a:cubicBezTo>
                    <a:cubicBezTo>
                      <a:pt x="3500" y="10241"/>
                      <a:pt x="2448" y="7271"/>
                      <a:pt x="2120" y="4180"/>
                    </a:cubicBezTo>
                    <a:cubicBezTo>
                      <a:pt x="2069" y="3621"/>
                      <a:pt x="2256" y="3066"/>
                      <a:pt x="2635" y="2652"/>
                    </a:cubicBezTo>
                    <a:cubicBezTo>
                      <a:pt x="3013" y="2237"/>
                      <a:pt x="3549" y="2001"/>
                      <a:pt x="4110" y="2000"/>
                    </a:cubicBezTo>
                    <a:lnTo>
                      <a:pt x="7110" y="2000"/>
                    </a:lnTo>
                    <a:cubicBezTo>
                      <a:pt x="8114" y="1990"/>
                      <a:pt x="8970" y="2726"/>
                      <a:pt x="9110" y="3720"/>
                    </a:cubicBezTo>
                    <a:cubicBezTo>
                      <a:pt x="9237" y="4680"/>
                      <a:pt x="9471" y="5623"/>
                      <a:pt x="9810" y="6530"/>
                    </a:cubicBezTo>
                    <a:cubicBezTo>
                      <a:pt x="10085" y="7261"/>
                      <a:pt x="9909" y="8085"/>
                      <a:pt x="9360" y="8640"/>
                    </a:cubicBezTo>
                    <a:lnTo>
                      <a:pt x="8090" y="9910"/>
                    </a:lnTo>
                    <a:cubicBezTo>
                      <a:pt x="9514" y="12414"/>
                      <a:pt x="11586" y="14486"/>
                      <a:pt x="14090" y="15910"/>
                    </a:cubicBezTo>
                    <a:lnTo>
                      <a:pt x="15360" y="14640"/>
                    </a:lnTo>
                    <a:cubicBezTo>
                      <a:pt x="15915" y="14091"/>
                      <a:pt x="16739" y="13915"/>
                      <a:pt x="17470" y="14190"/>
                    </a:cubicBezTo>
                    <a:cubicBezTo>
                      <a:pt x="18377" y="14529"/>
                      <a:pt x="19320" y="14763"/>
                      <a:pt x="20280" y="14890"/>
                    </a:cubicBezTo>
                    <a:cubicBezTo>
                      <a:pt x="21286" y="15032"/>
                      <a:pt x="22025" y="15905"/>
                      <a:pt x="22000" y="16920"/>
                    </a:cubicBezTo>
                    <a:close/>
                  </a:path>
                </a:pathLst>
              </a:custGeom>
              <a:noFill/>
              <a:ln w="11735" cap="rnd">
                <a:solidFill>
                  <a:srgbClr val="6C849D"/>
                </a:solidFill>
                <a:round/>
              </a:ln>
            </p:spPr>
          </p:sp>
          <p:sp>
            <p:nvSpPr>
              <p:cNvPr id="41" name="Item text"/>
              <p:cNvSpPr txBox="1"/>
              <p:nvPr/>
            </p:nvSpPr>
            <p:spPr>
              <a:xfrm>
                <a:off x="2075688" y="1712976"/>
                <a:ext cx="17739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Refill request raised by phone / message;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litres and proof tracked offline</a:t>
                </a:r>
                <a:endParaRPr lang="en-US" sz="700" dirty="0">
                  <a:latin typeface="Inter SemiBold"/>
                </a:endParaRPr>
              </a:p>
            </p:txBody>
          </p:sp>
        </p:grpSp>
        <p:grpSp>
          <p:nvGrpSpPr>
            <p:cNvPr id="42" name="Item"/>
            <p:cNvGrpSpPr/>
            <p:nvPr/>
          </p:nvGrpSpPr>
          <p:grpSpPr>
            <a:xfrm>
              <a:off x="1883664" y="2008632"/>
              <a:ext cx="1965960" cy="213360"/>
              <a:chOff x="1883664" y="2008632"/>
              <a:chExt cx="1965960" cy="213360"/>
            </a:xfrm>
          </p:grpSpPr>
          <p:sp>
            <p:nvSpPr>
              <p:cNvPr id="43" name="Icon file-text"/>
              <p:cNvSpPr/>
              <p:nvPr/>
            </p:nvSpPr>
            <p:spPr>
              <a:xfrm>
                <a:off x="1883664" y="2017776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5000" y="2000"/>
                    </a:moveTo>
                    <a:lnTo>
                      <a:pt x="6000" y="2000"/>
                    </a:lnTo>
                    <a:cubicBezTo>
                      <a:pt x="4895" y="2000"/>
                      <a:pt x="4000" y="2895"/>
                      <a:pt x="4000" y="4000"/>
                    </a:cubicBezTo>
                    <a:lnTo>
                      <a:pt x="4000" y="20000"/>
                    </a:lnTo>
                    <a:cubicBezTo>
                      <a:pt x="4000" y="21105"/>
                      <a:pt x="4895" y="22000"/>
                      <a:pt x="6000" y="22000"/>
                    </a:cubicBezTo>
                    <a:lnTo>
                      <a:pt x="18000" y="22000"/>
                    </a:lnTo>
                    <a:cubicBezTo>
                      <a:pt x="19105" y="22000"/>
                      <a:pt x="20000" y="21105"/>
                      <a:pt x="20000" y="20000"/>
                    </a:cubicBezTo>
                    <a:lnTo>
                      <a:pt x="20000" y="7000"/>
                    </a:lnTo>
                    <a:close/>
                  </a:path>
                  <a:path w="24000" h="24000" fill="none">
                    <a:moveTo>
                      <a:pt x="14000" y="2000"/>
                    </a:moveTo>
                    <a:lnTo>
                      <a:pt x="14000" y="6000"/>
                    </a:lnTo>
                    <a:cubicBezTo>
                      <a:pt x="14000" y="7105"/>
                      <a:pt x="14895" y="8000"/>
                      <a:pt x="16000" y="8000"/>
                    </a:cubicBezTo>
                    <a:lnTo>
                      <a:pt x="20000" y="8000"/>
                    </a:lnTo>
                  </a:path>
                  <a:path w="24000" h="24000" fill="none">
                    <a:moveTo>
                      <a:pt x="10000" y="9000"/>
                    </a:moveTo>
                    <a:lnTo>
                      <a:pt x="8000" y="9000"/>
                    </a:lnTo>
                  </a:path>
                  <a:path w="24000" h="24000" fill="none">
                    <a:moveTo>
                      <a:pt x="16000" y="13000"/>
                    </a:moveTo>
                    <a:lnTo>
                      <a:pt x="8000" y="13000"/>
                    </a:lnTo>
                  </a:path>
                  <a:path w="24000" h="24000" fill="none">
                    <a:moveTo>
                      <a:pt x="16000" y="17000"/>
                    </a:moveTo>
                    <a:lnTo>
                      <a:pt x="8000" y="17000"/>
                    </a:lnTo>
                  </a:path>
                </a:pathLst>
              </a:custGeom>
              <a:noFill/>
              <a:ln w="11735" cap="rnd">
                <a:solidFill>
                  <a:srgbClr val="6C849D"/>
                </a:solidFill>
                <a:round/>
              </a:ln>
            </p:spPr>
          </p:sp>
          <p:sp>
            <p:nvSpPr>
              <p:cNvPr id="44" name="Item text"/>
              <p:cNvSpPr txBox="1"/>
              <p:nvPr/>
            </p:nvSpPr>
            <p:spPr>
              <a:xfrm>
                <a:off x="2075688" y="2008632"/>
                <a:ext cx="17739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No consolidated record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of litres, vendor and timing per store for reconciliation</a:t>
                </a:r>
                <a:endParaRPr lang="en-US" sz="700" dirty="0">
                  <a:latin typeface="Inter SemiBold"/>
                </a:endParaRPr>
              </a:p>
            </p:txBody>
          </p:sp>
        </p:grpSp>
        <p:cxnSp>
          <p:nvCxnSpPr>
            <p:cNvPr id="45" name="Divider"/>
            <p:cNvCxnSpPr/>
            <p:nvPr/>
          </p:nvCxnSpPr>
          <p:spPr>
            <a:xfrm>
              <a:off x="1883664" y="2615184"/>
              <a:ext cx="1956816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grpSp>
          <p:nvGrpSpPr>
            <p:cNvPr id="46" name="Chip No live visibility"/>
            <p:cNvGrpSpPr/>
            <p:nvPr/>
          </p:nvGrpSpPr>
          <p:grpSpPr>
            <a:xfrm>
              <a:off x="1883664" y="2697480"/>
              <a:ext cx="785670" cy="137160"/>
              <a:chOff x="1883664" y="2697480"/>
              <a:chExt cx="785670" cy="137160"/>
            </a:xfrm>
          </p:grpSpPr>
          <p:sp>
            <p:nvSpPr>
              <p:cNvPr id="47" name="Chip fill"/>
              <p:cNvSpPr/>
              <p:nvPr/>
            </p:nvSpPr>
            <p:spPr>
              <a:xfrm>
                <a:off x="1883664" y="2697480"/>
                <a:ext cx="785670" cy="137160"/>
              </a:xfrm>
              <a:prstGeom prst="roundRect">
                <a:avLst>
                  <a:gd name="adj" fmla="val 20000"/>
                </a:avLst>
              </a:prstGeom>
              <a:solidFill>
                <a:srgbClr val="D92D20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48" name="Icon eye"/>
              <p:cNvSpPr/>
              <p:nvPr/>
            </p:nvSpPr>
            <p:spPr>
              <a:xfrm>
                <a:off x="1943100" y="2723540"/>
                <a:ext cx="85039" cy="85039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62" y="12348"/>
                    </a:moveTo>
                    <a:cubicBezTo>
                      <a:pt x="1979" y="12123"/>
                      <a:pt x="1979" y="11877"/>
                      <a:pt x="2062" y="11652"/>
                    </a:cubicBezTo>
                    <a:cubicBezTo>
                      <a:pt x="3722" y="7627"/>
                      <a:pt x="7646" y="5001"/>
                      <a:pt x="12000" y="5001"/>
                    </a:cubicBezTo>
                    <a:cubicBezTo>
                      <a:pt x="16354" y="5001"/>
                      <a:pt x="20278" y="7627"/>
                      <a:pt x="21938" y="11652"/>
                    </a:cubicBezTo>
                    <a:cubicBezTo>
                      <a:pt x="22021" y="11877"/>
                      <a:pt x="22021" y="12123"/>
                      <a:pt x="21938" y="12348"/>
                    </a:cubicBezTo>
                    <a:cubicBezTo>
                      <a:pt x="20278" y="16373"/>
                      <a:pt x="16354" y="18999"/>
                      <a:pt x="12000" y="18999"/>
                    </a:cubicBezTo>
                    <a:cubicBezTo>
                      <a:pt x="7646" y="18999"/>
                      <a:pt x="3722" y="16373"/>
                      <a:pt x="2062" y="12348"/>
                    </a:cubicBezTo>
                  </a:path>
                  <a:path w="24000" h="24000" fill="none">
                    <a:moveTo>
                      <a:pt x="15000" y="12000"/>
                    </a:moveTo>
                    <a:cubicBezTo>
                      <a:pt x="15000" y="13657"/>
                      <a:pt x="13657" y="15000"/>
                      <a:pt x="12000" y="15000"/>
                    </a:cubicBezTo>
                    <a:cubicBezTo>
                      <a:pt x="10343" y="15000"/>
                      <a:pt x="9000" y="13657"/>
                      <a:pt x="9000" y="12000"/>
                    </a:cubicBezTo>
                    <a:cubicBezTo>
                      <a:pt x="9000" y="10343"/>
                      <a:pt x="10343" y="9000"/>
                      <a:pt x="12000" y="9000"/>
                    </a:cubicBezTo>
                    <a:cubicBezTo>
                      <a:pt x="13657" y="9000"/>
                      <a:pt x="15000" y="10343"/>
                      <a:pt x="15000" y="12000"/>
                    </a:cubicBezTo>
                    <a:close/>
                  </a:path>
                </a:pathLst>
              </a:custGeom>
              <a:noFill/>
              <a:ln w="7795" cap="rnd">
                <a:solidFill>
                  <a:srgbClr val="B42318"/>
                </a:solidFill>
                <a:round/>
              </a:ln>
            </p:spPr>
          </p:sp>
          <p:sp>
            <p:nvSpPr>
              <p:cNvPr id="49" name="Chip label"/>
              <p:cNvSpPr txBox="1"/>
              <p:nvPr/>
            </p:nvSpPr>
            <p:spPr>
              <a:xfrm>
                <a:off x="2055571" y="2697480"/>
                <a:ext cx="58633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B4231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No live visibility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50" name="Chip Draft · for review"/>
            <p:cNvGrpSpPr/>
            <p:nvPr/>
          </p:nvGrpSpPr>
          <p:grpSpPr>
            <a:xfrm>
              <a:off x="2724198" y="2697480"/>
              <a:ext cx="819444" cy="137160"/>
              <a:chOff x="2724198" y="2697480"/>
              <a:chExt cx="819444" cy="137160"/>
            </a:xfrm>
          </p:grpSpPr>
          <p:sp>
            <p:nvSpPr>
              <p:cNvPr id="51" name="Chip fill"/>
              <p:cNvSpPr/>
              <p:nvPr/>
            </p:nvSpPr>
            <p:spPr>
              <a:xfrm>
                <a:off x="2724198" y="2697480"/>
                <a:ext cx="819444" cy="137160"/>
              </a:xfrm>
              <a:prstGeom prst="roundRect">
                <a:avLst>
                  <a:gd name="adj" fmla="val 20000"/>
                </a:avLst>
              </a:prstGeom>
              <a:solidFill>
                <a:srgbClr val="E9690C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52" name="Icon pen-line"/>
              <p:cNvSpPr/>
              <p:nvPr/>
            </p:nvSpPr>
            <p:spPr>
              <a:xfrm>
                <a:off x="2783634" y="2723540"/>
                <a:ext cx="85039" cy="85039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20000"/>
                    </a:moveTo>
                    <a:lnTo>
                      <a:pt x="21000" y="20000"/>
                    </a:lnTo>
                  </a:path>
                  <a:path w="24000" h="24000" fill="none">
                    <a:moveTo>
                      <a:pt x="16376" y="3622"/>
                    </a:moveTo>
                    <a:cubicBezTo>
                      <a:pt x="17205" y="2793"/>
                      <a:pt x="18549" y="2793"/>
                      <a:pt x="19378" y="3622"/>
                    </a:cubicBezTo>
                    <a:cubicBezTo>
                      <a:pt x="20207" y="4451"/>
                      <a:pt x="20207" y="5795"/>
                      <a:pt x="19378" y="6624"/>
                    </a:cubicBezTo>
                    <a:lnTo>
                      <a:pt x="7368" y="18635"/>
                    </a:lnTo>
                    <a:cubicBezTo>
                      <a:pt x="7130" y="18873"/>
                      <a:pt x="6836" y="19047"/>
                      <a:pt x="6513" y="19141"/>
                    </a:cubicBezTo>
                    <a:lnTo>
                      <a:pt x="3641" y="19979"/>
                    </a:lnTo>
                    <a:cubicBezTo>
                      <a:pt x="3466" y="20030"/>
                      <a:pt x="3277" y="19982"/>
                      <a:pt x="3147" y="19853"/>
                    </a:cubicBezTo>
                    <a:cubicBezTo>
                      <a:pt x="3018" y="19723"/>
                      <a:pt x="2970" y="19534"/>
                      <a:pt x="3021" y="19359"/>
                    </a:cubicBezTo>
                    <a:lnTo>
                      <a:pt x="3859" y="16487"/>
                    </a:lnTo>
                    <a:cubicBezTo>
                      <a:pt x="3953" y="16164"/>
                      <a:pt x="4127" y="15871"/>
                      <a:pt x="4365" y="15633"/>
                    </a:cubicBezTo>
                    <a:close/>
                  </a:path>
                </a:pathLst>
              </a:custGeom>
              <a:noFill/>
              <a:ln w="7795" cap="rnd">
                <a:solidFill>
                  <a:srgbClr val="C65C10"/>
                </a:solidFill>
                <a:round/>
              </a:ln>
            </p:spPr>
          </p:sp>
          <p:sp>
            <p:nvSpPr>
              <p:cNvPr id="53" name="Chip label"/>
              <p:cNvSpPr txBox="1"/>
              <p:nvPr/>
            </p:nvSpPr>
            <p:spPr>
              <a:xfrm>
                <a:off x="2896106" y="2697480"/>
                <a:ext cx="62010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C65C1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Draft · for review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sp>
        <p:nvSpPr>
          <p:cNvPr id="54" name="Icon chevron-right"/>
          <p:cNvSpPr/>
          <p:nvPr/>
        </p:nvSpPr>
        <p:spPr>
          <a:xfrm>
            <a:off x="4005072" y="205740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3411" cap="rnd">
            <a:solidFill>
              <a:srgbClr val="90A5BB"/>
            </a:solidFill>
            <a:round/>
          </a:ln>
        </p:spPr>
      </p:sp>
      <p:grpSp>
        <p:nvGrpSpPr>
          <p:cNvPr id="55" name="Workflow 01 objective"/>
          <p:cNvGrpSpPr/>
          <p:nvPr/>
        </p:nvGrpSpPr>
        <p:grpSpPr>
          <a:xfrm>
            <a:off x="4187952" y="1280160"/>
            <a:ext cx="2194560" cy="1691640"/>
            <a:chOff x="4187952" y="1280160"/>
            <a:chExt cx="2194560" cy="1691640"/>
          </a:xfrm>
        </p:grpSpPr>
        <p:sp>
          <p:nvSpPr>
            <p:cNvPr id="56" name="Objective card"/>
            <p:cNvSpPr/>
            <p:nvPr/>
          </p:nvSpPr>
          <p:spPr>
            <a:xfrm>
              <a:off x="4187952" y="1280160"/>
              <a:ext cx="2194560" cy="1691640"/>
            </a:xfrm>
            <a:prstGeom prst="roundRect">
              <a:avLst>
                <a:gd name="adj" fmla="val 4324"/>
              </a:avLst>
            </a:prstGeom>
            <a:solidFill>
              <a:srgbClr val="F4F8FF"/>
            </a:solidFill>
            <a:ln w="9525">
              <a:solidFill>
                <a:srgbClr val="B8D0FD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grpSp>
          <p:nvGrpSpPr>
            <p:cNvPr id="57" name="Item"/>
            <p:cNvGrpSpPr/>
            <p:nvPr/>
          </p:nvGrpSpPr>
          <p:grpSpPr>
            <a:xfrm>
              <a:off x="4306824" y="1417320"/>
              <a:ext cx="1965960" cy="213360"/>
              <a:chOff x="4306824" y="1417320"/>
              <a:chExt cx="1965960" cy="213360"/>
            </a:xfrm>
          </p:grpSpPr>
          <p:sp>
            <p:nvSpPr>
              <p:cNvPr id="58" name="Icon activity"/>
              <p:cNvSpPr/>
              <p:nvPr/>
            </p:nvSpPr>
            <p:spPr>
              <a:xfrm>
                <a:off x="4306824" y="1426464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lnTo>
                      <a:pt x="19520" y="12000"/>
                    </a:lnTo>
                    <a:cubicBezTo>
                      <a:pt x="18622" y="11998"/>
                      <a:pt x="17833" y="12595"/>
                      <a:pt x="17590" y="13460"/>
                    </a:cubicBezTo>
                    <a:lnTo>
                      <a:pt x="15240" y="21820"/>
                    </a:lnTo>
                    <a:cubicBezTo>
                      <a:pt x="15209" y="21927"/>
                      <a:pt x="15111" y="22000"/>
                      <a:pt x="15000" y="22000"/>
                    </a:cubicBezTo>
                    <a:cubicBezTo>
                      <a:pt x="14889" y="22000"/>
                      <a:pt x="14791" y="21927"/>
                      <a:pt x="14760" y="21820"/>
                    </a:cubicBezTo>
                    <a:lnTo>
                      <a:pt x="9240" y="2180"/>
                    </a:lnTo>
                    <a:cubicBezTo>
                      <a:pt x="9209" y="2073"/>
                      <a:pt x="9111" y="2000"/>
                      <a:pt x="9000" y="2000"/>
                    </a:cubicBezTo>
                    <a:cubicBezTo>
                      <a:pt x="8889" y="2000"/>
                      <a:pt x="8791" y="2073"/>
                      <a:pt x="8760" y="2180"/>
                    </a:cubicBezTo>
                    <a:lnTo>
                      <a:pt x="6410" y="10540"/>
                    </a:lnTo>
                    <a:cubicBezTo>
                      <a:pt x="6168" y="11401"/>
                      <a:pt x="5384" y="11997"/>
                      <a:pt x="4490" y="12000"/>
                    </a:cubicBezTo>
                    <a:lnTo>
                      <a:pt x="2000" y="12000"/>
                    </a:lnTo>
                  </a:path>
                </a:pathLst>
              </a:custGeom>
              <a:noFill/>
              <a:ln w="11735" cap="rnd">
                <a:solidFill>
                  <a:srgbClr val="165FF2"/>
                </a:solidFill>
                <a:round/>
              </a:ln>
            </p:spPr>
          </p:sp>
          <p:sp>
            <p:nvSpPr>
              <p:cNvPr id="59" name="Item text"/>
              <p:cNvSpPr txBox="1"/>
              <p:nvPr/>
            </p:nvSpPr>
            <p:spPr>
              <a:xfrm>
                <a:off x="4498848" y="1417320"/>
                <a:ext cx="17739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Monitor every DG live: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fuel %, litres, running hours, kWh and operating status</a:t>
                </a:r>
                <a:endParaRPr lang="en-US" sz="700" dirty="0">
                  <a:latin typeface="Inter SemiBold"/>
                </a:endParaRPr>
              </a:p>
            </p:txBody>
          </p:sp>
        </p:grpSp>
        <p:grpSp>
          <p:nvGrpSpPr>
            <p:cNvPr id="60" name="Item"/>
            <p:cNvGrpSpPr/>
            <p:nvPr/>
          </p:nvGrpSpPr>
          <p:grpSpPr>
            <a:xfrm>
              <a:off x="4306824" y="1712976"/>
              <a:ext cx="1965960" cy="320040"/>
              <a:chOff x="4306824" y="1712976"/>
              <a:chExt cx="1965960" cy="320040"/>
            </a:xfrm>
          </p:grpSpPr>
          <p:sp>
            <p:nvSpPr>
              <p:cNvPr id="61" name="Icon bell-ring"/>
              <p:cNvSpPr/>
              <p:nvPr/>
            </p:nvSpPr>
            <p:spPr>
              <a:xfrm>
                <a:off x="4306824" y="1722120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0268" y="21000"/>
                    </a:moveTo>
                    <a:cubicBezTo>
                      <a:pt x="10625" y="21619"/>
                      <a:pt x="11286" y="22000"/>
                      <a:pt x="12000" y="22000"/>
                    </a:cubicBezTo>
                    <a:cubicBezTo>
                      <a:pt x="12714" y="22000"/>
                      <a:pt x="13375" y="21619"/>
                      <a:pt x="13732" y="21000"/>
                    </a:cubicBezTo>
                  </a:path>
                  <a:path w="24000" h="24000" fill="none">
                    <a:moveTo>
                      <a:pt x="22000" y="8000"/>
                    </a:moveTo>
                    <a:cubicBezTo>
                      <a:pt x="22000" y="5700"/>
                      <a:pt x="21200" y="3700"/>
                      <a:pt x="20000" y="2000"/>
                    </a:cubicBezTo>
                  </a:path>
                  <a:path w="24000" h="24000" fill="none">
                    <a:moveTo>
                      <a:pt x="3262" y="15326"/>
                    </a:moveTo>
                    <a:cubicBezTo>
                      <a:pt x="2995" y="15619"/>
                      <a:pt x="2926" y="16041"/>
                      <a:pt x="3086" y="16403"/>
                    </a:cubicBezTo>
                    <a:cubicBezTo>
                      <a:pt x="3245" y="16766"/>
                      <a:pt x="3604" y="17000"/>
                      <a:pt x="4000" y="17000"/>
                    </a:cubicBezTo>
                    <a:lnTo>
                      <a:pt x="20000" y="17000"/>
                    </a:lnTo>
                    <a:cubicBezTo>
                      <a:pt x="20396" y="17000"/>
                      <a:pt x="20755" y="16767"/>
                      <a:pt x="20915" y="16405"/>
                    </a:cubicBezTo>
                    <a:cubicBezTo>
                      <a:pt x="21075" y="16042"/>
                      <a:pt x="21006" y="15620"/>
                      <a:pt x="20740" y="15327"/>
                    </a:cubicBezTo>
                    <a:cubicBezTo>
                      <a:pt x="19410" y="13956"/>
                      <a:pt x="18000" y="12499"/>
                      <a:pt x="18000" y="8000"/>
                    </a:cubicBezTo>
                    <a:cubicBezTo>
                      <a:pt x="18000" y="4686"/>
                      <a:pt x="15314" y="2000"/>
                      <a:pt x="12000" y="2000"/>
                    </a:cubicBezTo>
                    <a:cubicBezTo>
                      <a:pt x="8686" y="2000"/>
                      <a:pt x="6000" y="4686"/>
                      <a:pt x="6000" y="8000"/>
                    </a:cubicBezTo>
                    <a:cubicBezTo>
                      <a:pt x="6000" y="12499"/>
                      <a:pt x="4589" y="13956"/>
                      <a:pt x="3262" y="15326"/>
                    </a:cubicBezTo>
                  </a:path>
                  <a:path w="24000" h="24000" fill="none">
                    <a:moveTo>
                      <a:pt x="4000" y="2000"/>
                    </a:moveTo>
                    <a:cubicBezTo>
                      <a:pt x="2800" y="3700"/>
                      <a:pt x="2000" y="5700"/>
                      <a:pt x="2000" y="8000"/>
                    </a:cubicBezTo>
                  </a:path>
                </a:pathLst>
              </a:custGeom>
              <a:noFill/>
              <a:ln w="11735" cap="rnd">
                <a:solidFill>
                  <a:srgbClr val="165FF2"/>
                </a:solidFill>
                <a:round/>
              </a:ln>
            </p:spPr>
          </p:sp>
          <p:sp>
            <p:nvSpPr>
              <p:cNvPr id="62" name="Item text"/>
              <p:cNvSpPr txBox="1"/>
              <p:nvPr/>
            </p:nvSpPr>
            <p:spPr>
              <a:xfrm>
                <a:off x="4498848" y="1712976"/>
                <a:ext cx="177393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Raise one alert and one refill work order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when the level stays below the limit for the waiting time</a:t>
                </a:r>
                <a:endParaRPr lang="en-US" sz="700" dirty="0">
                  <a:latin typeface="Inter SemiBold"/>
                </a:endParaRPr>
              </a:p>
            </p:txBody>
          </p:sp>
        </p:grpSp>
        <p:grpSp>
          <p:nvGrpSpPr>
            <p:cNvPr id="63" name="Item"/>
            <p:cNvGrpSpPr/>
            <p:nvPr/>
          </p:nvGrpSpPr>
          <p:grpSpPr>
            <a:xfrm>
              <a:off x="4306824" y="2115312"/>
              <a:ext cx="1965960" cy="320040"/>
              <a:chOff x="4306824" y="2115312"/>
              <a:chExt cx="1965960" cy="320040"/>
            </a:xfrm>
          </p:grpSpPr>
          <p:sp>
            <p:nvSpPr>
              <p:cNvPr id="64" name="Icon user-check"/>
              <p:cNvSpPr/>
              <p:nvPr/>
            </p:nvSpPr>
            <p:spPr>
              <a:xfrm>
                <a:off x="4306824" y="2124456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21000"/>
                    </a:moveTo>
                    <a:lnTo>
                      <a:pt x="16000" y="19000"/>
                    </a:lnTo>
                    <a:cubicBezTo>
                      <a:pt x="16000" y="16791"/>
                      <a:pt x="14209" y="15000"/>
                      <a:pt x="12000" y="15000"/>
                    </a:cubicBezTo>
                    <a:lnTo>
                      <a:pt x="6000" y="15000"/>
                    </a:lnTo>
                    <a:cubicBezTo>
                      <a:pt x="3791" y="15000"/>
                      <a:pt x="2000" y="16791"/>
                      <a:pt x="2000" y="19000"/>
                    </a:cubicBezTo>
                    <a:lnTo>
                      <a:pt x="2000" y="21000"/>
                    </a:lnTo>
                  </a:path>
                  <a:path w="24000" h="24000" fill="none">
                    <a:moveTo>
                      <a:pt x="13000" y="7000"/>
                    </a:moveTo>
                    <a:cubicBezTo>
                      <a:pt x="13000" y="9209"/>
                      <a:pt x="11209" y="11000"/>
                      <a:pt x="9000" y="11000"/>
                    </a:cubicBezTo>
                    <a:cubicBezTo>
                      <a:pt x="6791" y="11000"/>
                      <a:pt x="5000" y="9209"/>
                      <a:pt x="5000" y="7000"/>
                    </a:cubicBezTo>
                    <a:cubicBezTo>
                      <a:pt x="5000" y="4791"/>
                      <a:pt x="6791" y="3000"/>
                      <a:pt x="9000" y="3000"/>
                    </a:cubicBezTo>
                    <a:cubicBezTo>
                      <a:pt x="11209" y="3000"/>
                      <a:pt x="13000" y="4791"/>
                      <a:pt x="13000" y="7000"/>
                    </a:cubicBezTo>
                    <a:close/>
                  </a:path>
                  <a:path w="24000" h="24000" fill="none">
                    <a:moveTo>
                      <a:pt x="16000" y="11000"/>
                    </a:moveTo>
                    <a:lnTo>
                      <a:pt x="18000" y="13000"/>
                    </a:lnTo>
                    <a:lnTo>
                      <a:pt x="22000" y="9000"/>
                    </a:lnTo>
                  </a:path>
                </a:pathLst>
              </a:custGeom>
              <a:noFill/>
              <a:ln w="11735" cap="rnd">
                <a:solidFill>
                  <a:srgbClr val="165FF2"/>
                </a:solidFill>
                <a:round/>
              </a:ln>
            </p:spPr>
          </p:sp>
          <p:sp>
            <p:nvSpPr>
              <p:cNvPr id="65" name="Item text"/>
              <p:cNvSpPr txBox="1"/>
              <p:nvPr/>
            </p:nvSpPr>
            <p:spPr>
              <a:xfrm>
                <a:off x="4498848" y="2115312"/>
                <a:ext cx="177393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Assign to the primary refilling vendor's SPOC: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acknowledge, refuel, enter litres, upload proof, submit</a:t>
                </a:r>
                <a:endParaRPr lang="en-US" sz="700" dirty="0">
                  <a:latin typeface="Inter SemiBold"/>
                </a:endParaRPr>
              </a:p>
            </p:txBody>
          </p:sp>
        </p:grpSp>
      </p:grpSp>
      <p:sp>
        <p:nvSpPr>
          <p:cNvPr id="66" name="Icon chevron-right"/>
          <p:cNvSpPr/>
          <p:nvPr/>
        </p:nvSpPr>
        <p:spPr>
          <a:xfrm>
            <a:off x="6428232" y="205740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3411" cap="rnd">
            <a:solidFill>
              <a:srgbClr val="90A5BB"/>
            </a:solidFill>
            <a:round/>
          </a:ln>
        </p:spPr>
      </p:sp>
      <p:grpSp>
        <p:nvGrpSpPr>
          <p:cNvPr id="67" name="Workflow 01 business outcome"/>
          <p:cNvGrpSpPr/>
          <p:nvPr/>
        </p:nvGrpSpPr>
        <p:grpSpPr>
          <a:xfrm>
            <a:off x="6611112" y="1280160"/>
            <a:ext cx="2258568" cy="1691640"/>
            <a:chOff x="6611112" y="1280160"/>
            <a:chExt cx="2258568" cy="1691640"/>
          </a:xfrm>
        </p:grpSpPr>
        <p:sp>
          <p:nvSpPr>
            <p:cNvPr id="68" name="Business outcome card"/>
            <p:cNvSpPr/>
            <p:nvPr/>
          </p:nvSpPr>
          <p:spPr>
            <a:xfrm>
              <a:off x="6611112" y="1280160"/>
              <a:ext cx="2258568" cy="1691640"/>
            </a:xfrm>
            <a:prstGeom prst="roundRect">
              <a:avLst>
                <a:gd name="adj" fmla="val 4324"/>
              </a:avLst>
            </a:prstGeom>
            <a:solidFill>
              <a:srgbClr val="EBFAF3"/>
            </a:solidFill>
            <a:ln w="9525">
              <a:solidFill>
                <a:srgbClr val="B6ECD1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grpSp>
          <p:nvGrpSpPr>
            <p:cNvPr id="69" name="Item"/>
            <p:cNvGrpSpPr/>
            <p:nvPr/>
          </p:nvGrpSpPr>
          <p:grpSpPr>
            <a:xfrm>
              <a:off x="6729984" y="1417320"/>
              <a:ext cx="2029968" cy="213360"/>
              <a:chOff x="6729984" y="1417320"/>
              <a:chExt cx="2029968" cy="213360"/>
            </a:xfrm>
          </p:grpSpPr>
          <p:sp>
            <p:nvSpPr>
              <p:cNvPr id="70" name="Icon circle-check"/>
              <p:cNvSpPr/>
              <p:nvPr/>
            </p:nvSpPr>
            <p:spPr>
              <a:xfrm>
                <a:off x="6729984" y="1426464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7523"/>
                      <a:pt x="17523" y="22000"/>
                      <a:pt x="12000" y="22000"/>
                    </a:cubicBezTo>
                    <a:cubicBezTo>
                      <a:pt x="6477" y="22000"/>
                      <a:pt x="2000" y="17523"/>
                      <a:pt x="2000" y="12000"/>
                    </a:cubicBezTo>
                    <a:cubicBezTo>
                      <a:pt x="2000" y="6477"/>
                      <a:pt x="6477" y="2000"/>
                      <a:pt x="12000" y="2000"/>
                    </a:cubicBezTo>
                    <a:cubicBezTo>
                      <a:pt x="17523" y="2000"/>
                      <a:pt x="22000" y="6477"/>
                      <a:pt x="22000" y="12000"/>
                    </a:cubicBezTo>
                    <a:close/>
                  </a:path>
                  <a:path w="24000" h="24000" fill="none">
                    <a:moveTo>
                      <a:pt x="9000" y="12000"/>
                    </a:moveTo>
                    <a:lnTo>
                      <a:pt x="11000" y="14000"/>
                    </a:lnTo>
                    <a:lnTo>
                      <a:pt x="15000" y="10000"/>
                    </a:lnTo>
                  </a:path>
                </a:pathLst>
              </a:custGeom>
              <a:noFill/>
              <a:ln w="11735" cap="rnd">
                <a:solidFill>
                  <a:srgbClr val="00A251"/>
                </a:solidFill>
                <a:round/>
              </a:ln>
            </p:spPr>
          </p:sp>
          <p:sp>
            <p:nvSpPr>
              <p:cNvPr id="71" name="Item text"/>
              <p:cNvSpPr txBox="1"/>
              <p:nvPr/>
            </p:nvSpPr>
            <p:spPr>
              <a:xfrm>
                <a:off x="6922008" y="1417320"/>
                <a:ext cx="18379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Refills triggered by data: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one alert, one work order, no duplicates</a:t>
                </a:r>
                <a:endParaRPr lang="en-US" sz="700" dirty="0">
                  <a:latin typeface="Inter SemiBold"/>
                </a:endParaRPr>
              </a:p>
            </p:txBody>
          </p:sp>
        </p:grpSp>
        <p:grpSp>
          <p:nvGrpSpPr>
            <p:cNvPr id="72" name="Item"/>
            <p:cNvGrpSpPr/>
            <p:nvPr/>
          </p:nvGrpSpPr>
          <p:grpSpPr>
            <a:xfrm>
              <a:off x="6729984" y="1708404"/>
              <a:ext cx="2029968" cy="320040"/>
              <a:chOff x="6729984" y="1708404"/>
              <a:chExt cx="2029968" cy="320040"/>
            </a:xfrm>
          </p:grpSpPr>
          <p:sp>
            <p:nvSpPr>
              <p:cNvPr id="73" name="Icon circle-check"/>
              <p:cNvSpPr/>
              <p:nvPr/>
            </p:nvSpPr>
            <p:spPr>
              <a:xfrm>
                <a:off x="6729984" y="1717548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7523"/>
                      <a:pt x="17523" y="22000"/>
                      <a:pt x="12000" y="22000"/>
                    </a:cubicBezTo>
                    <a:cubicBezTo>
                      <a:pt x="6477" y="22000"/>
                      <a:pt x="2000" y="17523"/>
                      <a:pt x="2000" y="12000"/>
                    </a:cubicBezTo>
                    <a:cubicBezTo>
                      <a:pt x="2000" y="6477"/>
                      <a:pt x="6477" y="2000"/>
                      <a:pt x="12000" y="2000"/>
                    </a:cubicBezTo>
                    <a:cubicBezTo>
                      <a:pt x="17523" y="2000"/>
                      <a:pt x="22000" y="6477"/>
                      <a:pt x="22000" y="12000"/>
                    </a:cubicBezTo>
                    <a:close/>
                  </a:path>
                  <a:path w="24000" h="24000" fill="none">
                    <a:moveTo>
                      <a:pt x="9000" y="12000"/>
                    </a:moveTo>
                    <a:lnTo>
                      <a:pt x="11000" y="14000"/>
                    </a:lnTo>
                    <a:lnTo>
                      <a:pt x="15000" y="10000"/>
                    </a:lnTo>
                  </a:path>
                </a:pathLst>
              </a:custGeom>
              <a:noFill/>
              <a:ln w="11735" cap="rnd">
                <a:solidFill>
                  <a:srgbClr val="00A251"/>
                </a:solidFill>
                <a:round/>
              </a:ln>
            </p:spPr>
          </p:sp>
          <p:sp>
            <p:nvSpPr>
              <p:cNvPr id="74" name="Item text"/>
              <p:cNvSpPr txBox="1"/>
              <p:nvPr/>
            </p:nvSpPr>
            <p:spPr>
              <a:xfrm>
                <a:off x="6922008" y="1708404"/>
                <a:ext cx="183794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Every litre on record: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quantity, vendor, SPOC and timestamps against one Work Order ID</a:t>
                </a:r>
                <a:endParaRPr lang="en-US" sz="700" dirty="0">
                  <a:latin typeface="Inter SemiBold"/>
                </a:endParaRPr>
              </a:p>
            </p:txBody>
          </p:sp>
        </p:grpSp>
        <p:grpSp>
          <p:nvGrpSpPr>
            <p:cNvPr id="75" name="Item"/>
            <p:cNvGrpSpPr/>
            <p:nvPr/>
          </p:nvGrpSpPr>
          <p:grpSpPr>
            <a:xfrm>
              <a:off x="6729984" y="2106168"/>
              <a:ext cx="2029968" cy="213360"/>
              <a:chOff x="6729984" y="2106168"/>
              <a:chExt cx="2029968" cy="213360"/>
            </a:xfrm>
          </p:grpSpPr>
          <p:sp>
            <p:nvSpPr>
              <p:cNvPr id="76" name="Icon circle-check"/>
              <p:cNvSpPr/>
              <p:nvPr/>
            </p:nvSpPr>
            <p:spPr>
              <a:xfrm>
                <a:off x="6729984" y="2115312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7523"/>
                      <a:pt x="17523" y="22000"/>
                      <a:pt x="12000" y="22000"/>
                    </a:cubicBezTo>
                    <a:cubicBezTo>
                      <a:pt x="6477" y="22000"/>
                      <a:pt x="2000" y="17523"/>
                      <a:pt x="2000" y="12000"/>
                    </a:cubicBezTo>
                    <a:cubicBezTo>
                      <a:pt x="2000" y="6477"/>
                      <a:pt x="6477" y="2000"/>
                      <a:pt x="12000" y="2000"/>
                    </a:cubicBezTo>
                    <a:cubicBezTo>
                      <a:pt x="17523" y="2000"/>
                      <a:pt x="22000" y="6477"/>
                      <a:pt x="22000" y="12000"/>
                    </a:cubicBezTo>
                    <a:close/>
                  </a:path>
                  <a:path w="24000" h="24000" fill="none">
                    <a:moveTo>
                      <a:pt x="9000" y="12000"/>
                    </a:moveTo>
                    <a:lnTo>
                      <a:pt x="11000" y="14000"/>
                    </a:lnTo>
                    <a:lnTo>
                      <a:pt x="15000" y="10000"/>
                    </a:lnTo>
                  </a:path>
                </a:pathLst>
              </a:custGeom>
              <a:noFill/>
              <a:ln w="11735" cap="rnd">
                <a:solidFill>
                  <a:srgbClr val="00A251"/>
                </a:solidFill>
                <a:round/>
              </a:ln>
            </p:spPr>
          </p:sp>
          <p:sp>
            <p:nvSpPr>
              <p:cNvPr id="77" name="Item text"/>
              <p:cNvSpPr txBox="1"/>
              <p:nvPr/>
            </p:nvSpPr>
            <p:spPr>
              <a:xfrm>
                <a:off x="6922008" y="2106168"/>
                <a:ext cx="18379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Store-to-zone visibility: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dashboards and downloads by zone, city, store and vendor</a:t>
                </a:r>
                <a:endParaRPr lang="en-US" sz="700" dirty="0">
                  <a:latin typeface="Inter SemiBold"/>
                </a:endParaRPr>
              </a:p>
            </p:txBody>
          </p:sp>
        </p:grpSp>
        <p:grpSp>
          <p:nvGrpSpPr>
            <p:cNvPr id="78" name="Item"/>
            <p:cNvGrpSpPr/>
            <p:nvPr/>
          </p:nvGrpSpPr>
          <p:grpSpPr>
            <a:xfrm>
              <a:off x="6729984" y="2397252"/>
              <a:ext cx="2029968" cy="213360"/>
              <a:chOff x="6729984" y="2397252"/>
              <a:chExt cx="2029968" cy="213360"/>
            </a:xfrm>
          </p:grpSpPr>
          <p:sp>
            <p:nvSpPr>
              <p:cNvPr id="79" name="Icon circle-check"/>
              <p:cNvSpPr/>
              <p:nvPr/>
            </p:nvSpPr>
            <p:spPr>
              <a:xfrm>
                <a:off x="6729984" y="2406396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7523"/>
                      <a:pt x="17523" y="22000"/>
                      <a:pt x="12000" y="22000"/>
                    </a:cubicBezTo>
                    <a:cubicBezTo>
                      <a:pt x="6477" y="22000"/>
                      <a:pt x="2000" y="17523"/>
                      <a:pt x="2000" y="12000"/>
                    </a:cubicBezTo>
                    <a:cubicBezTo>
                      <a:pt x="2000" y="6477"/>
                      <a:pt x="6477" y="2000"/>
                      <a:pt x="12000" y="2000"/>
                    </a:cubicBezTo>
                    <a:cubicBezTo>
                      <a:pt x="17523" y="2000"/>
                      <a:pt x="22000" y="6477"/>
                      <a:pt x="22000" y="12000"/>
                    </a:cubicBezTo>
                    <a:close/>
                  </a:path>
                  <a:path w="24000" h="24000" fill="none">
                    <a:moveTo>
                      <a:pt x="9000" y="12000"/>
                    </a:moveTo>
                    <a:lnTo>
                      <a:pt x="11000" y="14000"/>
                    </a:lnTo>
                    <a:lnTo>
                      <a:pt x="15000" y="10000"/>
                    </a:lnTo>
                  </a:path>
                </a:pathLst>
              </a:custGeom>
              <a:noFill/>
              <a:ln w="11735" cap="rnd">
                <a:solidFill>
                  <a:srgbClr val="00A251"/>
                </a:solidFill>
                <a:round/>
              </a:ln>
            </p:spPr>
          </p:sp>
          <p:sp>
            <p:nvSpPr>
              <p:cNvPr id="80" name="Item text"/>
              <p:cNvSpPr txBox="1"/>
              <p:nvPr/>
            </p:nvSpPr>
            <p:spPr>
              <a:xfrm>
                <a:off x="6922008" y="2397252"/>
                <a:ext cx="18379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Billed from the same record: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line items roll into an invoice posted to Oracle Fusion</a:t>
                </a:r>
                <a:endParaRPr lang="en-US" sz="700" dirty="0">
                  <a:latin typeface="Inter SemiBold"/>
                </a:endParaRPr>
              </a:p>
            </p:txBody>
          </p:sp>
        </p:grpSp>
      </p:grpSp>
      <p:grpSp>
        <p:nvGrpSpPr>
          <p:cNvPr id="81" name="Workflow 02 identity"/>
          <p:cNvGrpSpPr/>
          <p:nvPr/>
        </p:nvGrpSpPr>
        <p:grpSpPr>
          <a:xfrm>
            <a:off x="274320" y="3081528"/>
            <a:ext cx="1371600" cy="1691640"/>
            <a:chOff x="274320" y="3081528"/>
            <a:chExt cx="1371600" cy="1691640"/>
          </a:xfrm>
        </p:grpSpPr>
        <p:sp>
          <p:nvSpPr>
            <p:cNvPr id="82" name="Panel"/>
            <p:cNvSpPr/>
            <p:nvPr/>
          </p:nvSpPr>
          <p:spPr>
            <a:xfrm>
              <a:off x="274320" y="3081528"/>
              <a:ext cx="1371600" cy="1691640"/>
            </a:xfrm>
            <a:prstGeom prst="roundRect">
              <a:avLst>
                <a:gd name="adj" fmla="val 5333"/>
              </a:avLst>
            </a:prstGeom>
            <a:solidFill>
              <a:srgbClr val="0C192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3" name="Icon wrench"/>
            <p:cNvSpPr/>
            <p:nvPr/>
          </p:nvSpPr>
          <p:spPr>
            <a:xfrm>
              <a:off x="420624" y="323697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700" y="6300"/>
                  </a:moveTo>
                  <a:cubicBezTo>
                    <a:pt x="14319" y="6689"/>
                    <a:pt x="14319" y="7311"/>
                    <a:pt x="14700" y="7700"/>
                  </a:cubicBezTo>
                  <a:lnTo>
                    <a:pt x="16300" y="9300"/>
                  </a:lnTo>
                  <a:cubicBezTo>
                    <a:pt x="16689" y="9681"/>
                    <a:pt x="17311" y="9681"/>
                    <a:pt x="17700" y="9300"/>
                  </a:cubicBezTo>
                  <a:lnTo>
                    <a:pt x="21470" y="5530"/>
                  </a:lnTo>
                  <a:cubicBezTo>
                    <a:pt x="22500" y="7805"/>
                    <a:pt x="22012" y="10480"/>
                    <a:pt x="20246" y="12246"/>
                  </a:cubicBezTo>
                  <a:cubicBezTo>
                    <a:pt x="18480" y="14012"/>
                    <a:pt x="15805" y="14500"/>
                    <a:pt x="13530" y="13470"/>
                  </a:cubicBezTo>
                  <a:lnTo>
                    <a:pt x="6620" y="20380"/>
                  </a:lnTo>
                  <a:cubicBezTo>
                    <a:pt x="5792" y="21208"/>
                    <a:pt x="4448" y="21208"/>
                    <a:pt x="3620" y="20380"/>
                  </a:cubicBezTo>
                  <a:cubicBezTo>
                    <a:pt x="2792" y="19552"/>
                    <a:pt x="2792" y="18208"/>
                    <a:pt x="3620" y="17380"/>
                  </a:cubicBezTo>
                  <a:lnTo>
                    <a:pt x="10530" y="10470"/>
                  </a:lnTo>
                  <a:cubicBezTo>
                    <a:pt x="9500" y="8195"/>
                    <a:pt x="9988" y="5520"/>
                    <a:pt x="11754" y="3754"/>
                  </a:cubicBezTo>
                  <a:cubicBezTo>
                    <a:pt x="13520" y="1988"/>
                    <a:pt x="16195" y="1500"/>
                    <a:pt x="18470" y="2530"/>
                  </a:cubicBezTo>
                  <a:lnTo>
                    <a:pt x="14710" y="6290"/>
                  </a:lnTo>
                  <a:close/>
                </a:path>
              </a:pathLst>
            </a:custGeom>
            <a:noFill/>
            <a:ln w="25146" cap="rnd">
              <a:solidFill>
                <a:srgbClr val="FFFFFF"/>
              </a:solidFill>
              <a:round/>
            </a:ln>
          </p:spPr>
        </p:sp>
        <p:sp>
          <p:nvSpPr>
            <p:cNvPr id="84" name="Project number"/>
            <p:cNvSpPr txBox="1"/>
            <p:nvPr/>
          </p:nvSpPr>
          <p:spPr>
            <a:xfrm>
              <a:off x="914400" y="3172968"/>
              <a:ext cx="603504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lnSpc>
                  <a:spcPts val="2600"/>
                </a:lnSpc>
                <a:spcBef>
                  <a:spcPts val="0"/>
                </a:spcBef>
                <a:buNone/>
              </a:pPr>
              <a:r>
                <a:rPr lang="en-US" sz="2400" b="0" i="0" spc="0" dirty="0">
                  <a:solidFill>
                    <a:srgbClr val="B1C1D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02</a:t>
              </a:r>
              <a:endParaRPr lang="en-US" sz="2400" dirty="0">
                <a:latin typeface="TASA Orbiter SemiBold"/>
              </a:endParaRPr>
            </a:p>
          </p:txBody>
        </p:sp>
        <p:sp>
          <p:nvSpPr>
            <p:cNvPr id="85" name="Project name"/>
            <p:cNvSpPr txBox="1"/>
            <p:nvPr/>
          </p:nvSpPr>
          <p:spPr>
            <a:xfrm>
              <a:off x="420624" y="3666744"/>
              <a:ext cx="1143000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buNone/>
              </a:pPr>
              <a:r>
                <a:rPr lang="en-US" sz="11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DG Maintenance</a:t>
              </a:r>
              <a:endParaRPr lang="en-US" sz="1150" dirty="0">
                <a:latin typeface="TASA Orbiter SemiBold"/>
              </a:endParaRPr>
            </a:p>
          </p:txBody>
        </p:sp>
        <p:sp>
          <p:nvSpPr>
            <p:cNvPr id="86" name="Project station"/>
            <p:cNvSpPr txBox="1"/>
            <p:nvPr/>
          </p:nvSpPr>
          <p:spPr>
            <a:xfrm>
              <a:off x="420624" y="3886200"/>
              <a:ext cx="1143000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B1C1D2"/>
                  </a:solidFill>
                  <a:latin typeface="Inter"/>
                  <a:ea typeface="Inter"/>
                  <a:cs typeface="Inter"/>
                  <a:sym typeface="Inter"/>
                </a:rPr>
                <a:t>Preventive  ·  breakdown</a:t>
              </a:r>
              <a:endParaRPr lang="en-US" sz="630" dirty="0">
                <a:latin typeface="Inter"/>
              </a:endParaRPr>
            </a:p>
          </p:txBody>
        </p:sp>
        <p:cxnSp>
          <p:nvCxnSpPr>
            <p:cNvPr id="87" name="Divider"/>
            <p:cNvCxnSpPr/>
            <p:nvPr/>
          </p:nvCxnSpPr>
          <p:spPr>
            <a:xfrm>
              <a:off x="420624" y="4178808"/>
              <a:ext cx="1078992" cy="0"/>
            </a:xfrm>
            <a:prstGeom prst="straightConnector1">
              <a:avLst/>
            </a:prstGeom>
            <a:noFill/>
            <a:ln w="6350">
              <a:solidFill>
                <a:srgbClr val="40566D"/>
              </a:solidFill>
              <a:round/>
            </a:ln>
          </p:spPr>
        </p:cxnSp>
        <p:sp>
          <p:nvSpPr>
            <p:cNvPr id="88" name="Applications label"/>
            <p:cNvSpPr txBox="1"/>
            <p:nvPr/>
          </p:nvSpPr>
          <p:spPr>
            <a:xfrm>
              <a:off x="420624" y="4251960"/>
              <a:ext cx="1143000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550"/>
                </a:lnSpc>
                <a:spcBef>
                  <a:spcPts val="0"/>
                </a:spcBef>
                <a:buNone/>
              </a:pPr>
              <a:r>
                <a:rPr lang="en-US" sz="550" b="0" i="0" cap="all" spc="82" dirty="0">
                  <a:solidFill>
                    <a:srgbClr val="90A5B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WORKFLOW</a:t>
              </a:r>
              <a:endParaRPr lang="en-US" sz="550" dirty="0">
                <a:latin typeface="Inter SemiBold"/>
              </a:endParaRPr>
            </a:p>
          </p:txBody>
        </p:sp>
        <p:sp>
          <p:nvSpPr>
            <p:cNvPr id="89" name="Applications"/>
            <p:cNvSpPr txBox="1"/>
            <p:nvPr/>
          </p:nvSpPr>
          <p:spPr>
            <a:xfrm>
              <a:off x="420624" y="4398264"/>
              <a:ext cx="11430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9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Running hours / period / breakdown → maintenance work order</a:t>
              </a:r>
              <a:endParaRPr lang="en-US" sz="660" dirty="0">
                <a:latin typeface="Inter SemiBold"/>
              </a:endParaRPr>
            </a:p>
          </p:txBody>
        </p:sp>
      </p:grpSp>
      <p:grpSp>
        <p:nvGrpSpPr>
          <p:cNvPr id="90" name="Workflow 02 current procedure"/>
          <p:cNvGrpSpPr/>
          <p:nvPr/>
        </p:nvGrpSpPr>
        <p:grpSpPr>
          <a:xfrm>
            <a:off x="1764792" y="3081528"/>
            <a:ext cx="2194560" cy="1691640"/>
            <a:chOff x="1764792" y="3081528"/>
            <a:chExt cx="2194560" cy="1691640"/>
          </a:xfrm>
        </p:grpSpPr>
        <p:sp>
          <p:nvSpPr>
            <p:cNvPr id="91" name="Current procedure card"/>
            <p:cNvSpPr/>
            <p:nvPr/>
          </p:nvSpPr>
          <p:spPr>
            <a:xfrm>
              <a:off x="1764792" y="3081528"/>
              <a:ext cx="2194560" cy="1691640"/>
            </a:xfrm>
            <a:prstGeom prst="roundRect">
              <a:avLst>
                <a:gd name="adj" fmla="val 4324"/>
              </a:avLst>
            </a:prstGeom>
            <a:solidFill>
              <a:srgbClr val="F8FAFC"/>
            </a:solidFill>
            <a:ln w="9525">
              <a:solidFill>
                <a:srgbClr val="E3EAF3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grpSp>
          <p:nvGrpSpPr>
            <p:cNvPr id="92" name="Item"/>
            <p:cNvGrpSpPr/>
            <p:nvPr/>
          </p:nvGrpSpPr>
          <p:grpSpPr>
            <a:xfrm>
              <a:off x="1883664" y="3218688"/>
              <a:ext cx="1965960" cy="213360"/>
              <a:chOff x="1883664" y="3218688"/>
              <a:chExt cx="1965960" cy="213360"/>
            </a:xfrm>
          </p:grpSpPr>
          <p:sp>
            <p:nvSpPr>
              <p:cNvPr id="93" name="Icon calendar-days"/>
              <p:cNvSpPr/>
              <p:nvPr/>
            </p:nvSpPr>
            <p:spPr>
              <a:xfrm>
                <a:off x="1883664" y="3227832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8000" y="2000"/>
                    </a:moveTo>
                    <a:lnTo>
                      <a:pt x="8000" y="6000"/>
                    </a:lnTo>
                  </a:path>
                  <a:path w="24000" h="24000" fill="none">
                    <a:moveTo>
                      <a:pt x="16000" y="2000"/>
                    </a:moveTo>
                    <a:lnTo>
                      <a:pt x="16000" y="6000"/>
                    </a:lnTo>
                  </a:path>
                  <a:path w="24000" h="24000" fill="none">
                    <a:moveTo>
                      <a:pt x="5000" y="4000"/>
                    </a:moveTo>
                    <a:lnTo>
                      <a:pt x="19000" y="4000"/>
                    </a:lnTo>
                    <a:cubicBezTo>
                      <a:pt x="20105" y="4000"/>
                      <a:pt x="21000" y="4895"/>
                      <a:pt x="21000" y="6000"/>
                    </a:cubicBezTo>
                    <a:lnTo>
                      <a:pt x="21000" y="20000"/>
                    </a:lnTo>
                    <a:cubicBezTo>
                      <a:pt x="21000" y="21105"/>
                      <a:pt x="20105" y="22000"/>
                      <a:pt x="19000" y="22000"/>
                    </a:cubicBezTo>
                    <a:lnTo>
                      <a:pt x="5000" y="22000"/>
                    </a:lnTo>
                    <a:cubicBezTo>
                      <a:pt x="3895" y="22000"/>
                      <a:pt x="3000" y="21105"/>
                      <a:pt x="3000" y="20000"/>
                    </a:cubicBezTo>
                    <a:lnTo>
                      <a:pt x="3000" y="6000"/>
                    </a:lnTo>
                    <a:cubicBezTo>
                      <a:pt x="3000" y="4895"/>
                      <a:pt x="3895" y="4000"/>
                      <a:pt x="5000" y="4000"/>
                    </a:cubicBezTo>
                    <a:close/>
                  </a:path>
                  <a:path w="24000" h="24000" fill="none">
                    <a:moveTo>
                      <a:pt x="3000" y="10000"/>
                    </a:moveTo>
                    <a:lnTo>
                      <a:pt x="21000" y="10000"/>
                    </a:lnTo>
                  </a:path>
                  <a:path w="24000" h="24000" fill="none">
                    <a:moveTo>
                      <a:pt x="8000" y="14000"/>
                    </a:moveTo>
                    <a:lnTo>
                      <a:pt x="8010" y="14000"/>
                    </a:lnTo>
                  </a:path>
                  <a:path w="24000" h="24000" fill="none">
                    <a:moveTo>
                      <a:pt x="12000" y="14000"/>
                    </a:moveTo>
                    <a:lnTo>
                      <a:pt x="12010" y="14000"/>
                    </a:lnTo>
                  </a:path>
                  <a:path w="24000" h="24000" fill="none">
                    <a:moveTo>
                      <a:pt x="16000" y="14000"/>
                    </a:moveTo>
                    <a:lnTo>
                      <a:pt x="16010" y="14000"/>
                    </a:lnTo>
                  </a:path>
                  <a:path w="24000" h="24000" fill="none">
                    <a:moveTo>
                      <a:pt x="8000" y="18000"/>
                    </a:moveTo>
                    <a:lnTo>
                      <a:pt x="8010" y="18000"/>
                    </a:lnTo>
                  </a:path>
                  <a:path w="24000" h="24000" fill="none">
                    <a:moveTo>
                      <a:pt x="12000" y="18000"/>
                    </a:moveTo>
                    <a:lnTo>
                      <a:pt x="12010" y="18000"/>
                    </a:lnTo>
                  </a:path>
                  <a:path w="24000" h="24000" fill="none">
                    <a:moveTo>
                      <a:pt x="16000" y="18000"/>
                    </a:moveTo>
                    <a:lnTo>
                      <a:pt x="16010" y="18000"/>
                    </a:lnTo>
                  </a:path>
                </a:pathLst>
              </a:custGeom>
              <a:noFill/>
              <a:ln w="11735" cap="rnd">
                <a:solidFill>
                  <a:srgbClr val="6C849D"/>
                </a:solidFill>
                <a:round/>
              </a:ln>
            </p:spPr>
          </p:sp>
          <p:sp>
            <p:nvSpPr>
              <p:cNvPr id="94" name="Item text"/>
              <p:cNvSpPr txBox="1"/>
              <p:nvPr/>
            </p:nvSpPr>
            <p:spPr>
              <a:xfrm>
                <a:off x="2075688" y="3218688"/>
                <a:ext cx="17739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Service due tracked manually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per DG from hour-meter readings and dates</a:t>
                </a:r>
                <a:endParaRPr lang="en-US" sz="700" dirty="0">
                  <a:latin typeface="Inter SemiBold"/>
                </a:endParaRPr>
              </a:p>
            </p:txBody>
          </p:sp>
        </p:grpSp>
        <p:grpSp>
          <p:nvGrpSpPr>
            <p:cNvPr id="95" name="Item"/>
            <p:cNvGrpSpPr/>
            <p:nvPr/>
          </p:nvGrpSpPr>
          <p:grpSpPr>
            <a:xfrm>
              <a:off x="1883664" y="3514344"/>
              <a:ext cx="1965960" cy="213360"/>
              <a:chOff x="1883664" y="3514344"/>
              <a:chExt cx="1965960" cy="213360"/>
            </a:xfrm>
          </p:grpSpPr>
          <p:sp>
            <p:nvSpPr>
              <p:cNvPr id="96" name="Icon phone"/>
              <p:cNvSpPr/>
              <p:nvPr/>
            </p:nvSpPr>
            <p:spPr>
              <a:xfrm>
                <a:off x="1883664" y="3523488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6920"/>
                    </a:moveTo>
                    <a:lnTo>
                      <a:pt x="22000" y="19920"/>
                    </a:lnTo>
                    <a:cubicBezTo>
                      <a:pt x="22002" y="20483"/>
                      <a:pt x="21767" y="21021"/>
                      <a:pt x="21352" y="21402"/>
                    </a:cubicBezTo>
                    <a:cubicBezTo>
                      <a:pt x="20937" y="21783"/>
                      <a:pt x="20381" y="21971"/>
                      <a:pt x="19820" y="21920"/>
                    </a:cubicBezTo>
                    <a:cubicBezTo>
                      <a:pt x="16743" y="21586"/>
                      <a:pt x="13787" y="20534"/>
                      <a:pt x="11190" y="18850"/>
                    </a:cubicBezTo>
                    <a:cubicBezTo>
                      <a:pt x="8774" y="17315"/>
                      <a:pt x="6725" y="15266"/>
                      <a:pt x="5190" y="12850"/>
                    </a:cubicBezTo>
                    <a:cubicBezTo>
                      <a:pt x="3500" y="10241"/>
                      <a:pt x="2448" y="7271"/>
                      <a:pt x="2120" y="4180"/>
                    </a:cubicBezTo>
                    <a:cubicBezTo>
                      <a:pt x="2069" y="3621"/>
                      <a:pt x="2256" y="3066"/>
                      <a:pt x="2635" y="2652"/>
                    </a:cubicBezTo>
                    <a:cubicBezTo>
                      <a:pt x="3013" y="2237"/>
                      <a:pt x="3549" y="2001"/>
                      <a:pt x="4110" y="2000"/>
                    </a:cubicBezTo>
                    <a:lnTo>
                      <a:pt x="7110" y="2000"/>
                    </a:lnTo>
                    <a:cubicBezTo>
                      <a:pt x="8114" y="1990"/>
                      <a:pt x="8970" y="2726"/>
                      <a:pt x="9110" y="3720"/>
                    </a:cubicBezTo>
                    <a:cubicBezTo>
                      <a:pt x="9237" y="4680"/>
                      <a:pt x="9471" y="5623"/>
                      <a:pt x="9810" y="6530"/>
                    </a:cubicBezTo>
                    <a:cubicBezTo>
                      <a:pt x="10085" y="7261"/>
                      <a:pt x="9909" y="8085"/>
                      <a:pt x="9360" y="8640"/>
                    </a:cubicBezTo>
                    <a:lnTo>
                      <a:pt x="8090" y="9910"/>
                    </a:lnTo>
                    <a:cubicBezTo>
                      <a:pt x="9514" y="12414"/>
                      <a:pt x="11586" y="14486"/>
                      <a:pt x="14090" y="15910"/>
                    </a:cubicBezTo>
                    <a:lnTo>
                      <a:pt x="15360" y="14640"/>
                    </a:lnTo>
                    <a:cubicBezTo>
                      <a:pt x="15915" y="14091"/>
                      <a:pt x="16739" y="13915"/>
                      <a:pt x="17470" y="14190"/>
                    </a:cubicBezTo>
                    <a:cubicBezTo>
                      <a:pt x="18377" y="14529"/>
                      <a:pt x="19320" y="14763"/>
                      <a:pt x="20280" y="14890"/>
                    </a:cubicBezTo>
                    <a:cubicBezTo>
                      <a:pt x="21286" y="15032"/>
                      <a:pt x="22025" y="15905"/>
                      <a:pt x="22000" y="16920"/>
                    </a:cubicBezTo>
                    <a:close/>
                  </a:path>
                </a:pathLst>
              </a:custGeom>
              <a:noFill/>
              <a:ln w="11735" cap="rnd">
                <a:solidFill>
                  <a:srgbClr val="6C849D"/>
                </a:solidFill>
                <a:round/>
              </a:ln>
            </p:spPr>
          </p:sp>
          <p:sp>
            <p:nvSpPr>
              <p:cNvPr id="97" name="Item text"/>
              <p:cNvSpPr txBox="1"/>
              <p:nvPr/>
            </p:nvSpPr>
            <p:spPr>
              <a:xfrm>
                <a:off x="2075688" y="3514344"/>
                <a:ext cx="17739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Breakdowns reported by phone;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no central view of open jobs or history</a:t>
                </a:r>
                <a:endParaRPr lang="en-US" sz="700" dirty="0">
                  <a:latin typeface="Inter SemiBold"/>
                </a:endParaRPr>
              </a:p>
            </p:txBody>
          </p:sp>
        </p:grpSp>
        <p:grpSp>
          <p:nvGrpSpPr>
            <p:cNvPr id="98" name="Item"/>
            <p:cNvGrpSpPr/>
            <p:nvPr/>
          </p:nvGrpSpPr>
          <p:grpSpPr>
            <a:xfrm>
              <a:off x="1883664" y="3810000"/>
              <a:ext cx="1965960" cy="213360"/>
              <a:chOff x="1883664" y="3810000"/>
              <a:chExt cx="1965960" cy="213360"/>
            </a:xfrm>
          </p:grpSpPr>
          <p:sp>
            <p:nvSpPr>
              <p:cNvPr id="99" name="Icon history"/>
              <p:cNvSpPr/>
              <p:nvPr/>
            </p:nvSpPr>
            <p:spPr>
              <a:xfrm>
                <a:off x="1883664" y="3819144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12000"/>
                    </a:moveTo>
                    <a:cubicBezTo>
                      <a:pt x="3000" y="16971"/>
                      <a:pt x="7029" y="21000"/>
                      <a:pt x="12000" y="21000"/>
                    </a:cubicBezTo>
                    <a:cubicBezTo>
                      <a:pt x="16971" y="21000"/>
                      <a:pt x="21000" y="16971"/>
                      <a:pt x="21000" y="12000"/>
                    </a:cubicBezTo>
                    <a:cubicBezTo>
                      <a:pt x="21000" y="7029"/>
                      <a:pt x="16971" y="3000"/>
                      <a:pt x="12000" y="3000"/>
                    </a:cubicBezTo>
                    <a:cubicBezTo>
                      <a:pt x="9484" y="3009"/>
                      <a:pt x="7069" y="3991"/>
                      <a:pt x="5260" y="5740"/>
                    </a:cubicBezTo>
                    <a:lnTo>
                      <a:pt x="3000" y="8000"/>
                    </a:lnTo>
                  </a:path>
                  <a:path w="24000" h="24000" fill="none">
                    <a:moveTo>
                      <a:pt x="3000" y="3000"/>
                    </a:moveTo>
                    <a:lnTo>
                      <a:pt x="3000" y="8000"/>
                    </a:lnTo>
                    <a:lnTo>
                      <a:pt x="8000" y="8000"/>
                    </a:lnTo>
                  </a:path>
                  <a:path w="24000" h="24000" fill="none">
                    <a:moveTo>
                      <a:pt x="12000" y="7000"/>
                    </a:moveTo>
                    <a:lnTo>
                      <a:pt x="12000" y="12000"/>
                    </a:lnTo>
                    <a:lnTo>
                      <a:pt x="16000" y="14000"/>
                    </a:lnTo>
                  </a:path>
                </a:pathLst>
              </a:custGeom>
              <a:noFill/>
              <a:ln w="11735" cap="rnd">
                <a:solidFill>
                  <a:srgbClr val="6C849D"/>
                </a:solidFill>
                <a:round/>
              </a:ln>
            </p:spPr>
          </p:sp>
          <p:sp>
            <p:nvSpPr>
              <p:cNvPr id="100" name="Item text"/>
              <p:cNvSpPr txBox="1"/>
              <p:nvPr/>
            </p:nvSpPr>
            <p:spPr>
              <a:xfrm>
                <a:off x="2075688" y="3810000"/>
                <a:ext cx="17739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Service history scattered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across vendor reports and messages</a:t>
                </a:r>
                <a:endParaRPr lang="en-US" sz="700" dirty="0">
                  <a:latin typeface="Inter SemiBold"/>
                </a:endParaRPr>
              </a:p>
            </p:txBody>
          </p:sp>
        </p:grpSp>
        <p:cxnSp>
          <p:nvCxnSpPr>
            <p:cNvPr id="101" name="Divider"/>
            <p:cNvCxnSpPr/>
            <p:nvPr/>
          </p:nvCxnSpPr>
          <p:spPr>
            <a:xfrm>
              <a:off x="1883664" y="4416552"/>
              <a:ext cx="1956816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grpSp>
          <p:nvGrpSpPr>
            <p:cNvPr id="102" name="Chip Manual tracking"/>
            <p:cNvGrpSpPr/>
            <p:nvPr/>
          </p:nvGrpSpPr>
          <p:grpSpPr>
            <a:xfrm>
              <a:off x="1883664" y="4498848"/>
              <a:ext cx="799482" cy="137160"/>
              <a:chOff x="1883664" y="4498848"/>
              <a:chExt cx="799482" cy="137160"/>
            </a:xfrm>
          </p:grpSpPr>
          <p:sp>
            <p:nvSpPr>
              <p:cNvPr id="103" name="Chip fill"/>
              <p:cNvSpPr/>
              <p:nvPr/>
            </p:nvSpPr>
            <p:spPr>
              <a:xfrm>
                <a:off x="1883664" y="4498848"/>
                <a:ext cx="7994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D92D20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04" name="Icon calendar-days"/>
              <p:cNvSpPr/>
              <p:nvPr/>
            </p:nvSpPr>
            <p:spPr>
              <a:xfrm>
                <a:off x="1943100" y="4524908"/>
                <a:ext cx="85039" cy="85039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8000" y="2000"/>
                    </a:moveTo>
                    <a:lnTo>
                      <a:pt x="8000" y="6000"/>
                    </a:lnTo>
                  </a:path>
                  <a:path w="24000" h="24000" fill="none">
                    <a:moveTo>
                      <a:pt x="16000" y="2000"/>
                    </a:moveTo>
                    <a:lnTo>
                      <a:pt x="16000" y="6000"/>
                    </a:lnTo>
                  </a:path>
                  <a:path w="24000" h="24000" fill="none">
                    <a:moveTo>
                      <a:pt x="5000" y="4000"/>
                    </a:moveTo>
                    <a:lnTo>
                      <a:pt x="19000" y="4000"/>
                    </a:lnTo>
                    <a:cubicBezTo>
                      <a:pt x="20105" y="4000"/>
                      <a:pt x="21000" y="4895"/>
                      <a:pt x="21000" y="6000"/>
                    </a:cubicBezTo>
                    <a:lnTo>
                      <a:pt x="21000" y="20000"/>
                    </a:lnTo>
                    <a:cubicBezTo>
                      <a:pt x="21000" y="21105"/>
                      <a:pt x="20105" y="22000"/>
                      <a:pt x="19000" y="22000"/>
                    </a:cubicBezTo>
                    <a:lnTo>
                      <a:pt x="5000" y="22000"/>
                    </a:lnTo>
                    <a:cubicBezTo>
                      <a:pt x="3895" y="22000"/>
                      <a:pt x="3000" y="21105"/>
                      <a:pt x="3000" y="20000"/>
                    </a:cubicBezTo>
                    <a:lnTo>
                      <a:pt x="3000" y="6000"/>
                    </a:lnTo>
                    <a:cubicBezTo>
                      <a:pt x="3000" y="4895"/>
                      <a:pt x="3895" y="4000"/>
                      <a:pt x="5000" y="4000"/>
                    </a:cubicBezTo>
                    <a:close/>
                  </a:path>
                  <a:path w="24000" h="24000" fill="none">
                    <a:moveTo>
                      <a:pt x="3000" y="10000"/>
                    </a:moveTo>
                    <a:lnTo>
                      <a:pt x="21000" y="10000"/>
                    </a:lnTo>
                  </a:path>
                  <a:path w="24000" h="24000" fill="none">
                    <a:moveTo>
                      <a:pt x="8000" y="14000"/>
                    </a:moveTo>
                    <a:lnTo>
                      <a:pt x="8010" y="14000"/>
                    </a:lnTo>
                  </a:path>
                  <a:path w="24000" h="24000" fill="none">
                    <a:moveTo>
                      <a:pt x="12000" y="14000"/>
                    </a:moveTo>
                    <a:lnTo>
                      <a:pt x="12010" y="14000"/>
                    </a:lnTo>
                  </a:path>
                  <a:path w="24000" h="24000" fill="none">
                    <a:moveTo>
                      <a:pt x="16000" y="14000"/>
                    </a:moveTo>
                    <a:lnTo>
                      <a:pt x="16010" y="14000"/>
                    </a:lnTo>
                  </a:path>
                  <a:path w="24000" h="24000" fill="none">
                    <a:moveTo>
                      <a:pt x="8000" y="18000"/>
                    </a:moveTo>
                    <a:lnTo>
                      <a:pt x="8010" y="18000"/>
                    </a:lnTo>
                  </a:path>
                  <a:path w="24000" h="24000" fill="none">
                    <a:moveTo>
                      <a:pt x="12000" y="18000"/>
                    </a:moveTo>
                    <a:lnTo>
                      <a:pt x="12010" y="18000"/>
                    </a:lnTo>
                  </a:path>
                  <a:path w="24000" h="24000" fill="none">
                    <a:moveTo>
                      <a:pt x="16000" y="18000"/>
                    </a:moveTo>
                    <a:lnTo>
                      <a:pt x="16010" y="18000"/>
                    </a:lnTo>
                  </a:path>
                </a:pathLst>
              </a:custGeom>
              <a:noFill/>
              <a:ln w="7795" cap="rnd">
                <a:solidFill>
                  <a:srgbClr val="B42318"/>
                </a:solidFill>
                <a:round/>
              </a:ln>
            </p:spPr>
          </p:sp>
          <p:sp>
            <p:nvSpPr>
              <p:cNvPr id="105" name="Chip label"/>
              <p:cNvSpPr txBox="1"/>
              <p:nvPr/>
            </p:nvSpPr>
            <p:spPr>
              <a:xfrm>
                <a:off x="2055571" y="4498848"/>
                <a:ext cx="60014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B4231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Manual tracking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06" name="Chip Draft · for review"/>
            <p:cNvGrpSpPr/>
            <p:nvPr/>
          </p:nvGrpSpPr>
          <p:grpSpPr>
            <a:xfrm>
              <a:off x="2738010" y="4498848"/>
              <a:ext cx="819444" cy="137160"/>
              <a:chOff x="2738010" y="4498848"/>
              <a:chExt cx="819444" cy="137160"/>
            </a:xfrm>
          </p:grpSpPr>
          <p:sp>
            <p:nvSpPr>
              <p:cNvPr id="107" name="Chip fill"/>
              <p:cNvSpPr/>
              <p:nvPr/>
            </p:nvSpPr>
            <p:spPr>
              <a:xfrm>
                <a:off x="2738010" y="4498848"/>
                <a:ext cx="819444" cy="137160"/>
              </a:xfrm>
              <a:prstGeom prst="roundRect">
                <a:avLst>
                  <a:gd name="adj" fmla="val 20000"/>
                </a:avLst>
              </a:prstGeom>
              <a:solidFill>
                <a:srgbClr val="E9690C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08" name="Icon pen-line"/>
              <p:cNvSpPr/>
              <p:nvPr/>
            </p:nvSpPr>
            <p:spPr>
              <a:xfrm>
                <a:off x="2797446" y="4524908"/>
                <a:ext cx="85039" cy="85039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20000"/>
                    </a:moveTo>
                    <a:lnTo>
                      <a:pt x="21000" y="20000"/>
                    </a:lnTo>
                  </a:path>
                  <a:path w="24000" h="24000" fill="none">
                    <a:moveTo>
                      <a:pt x="16376" y="3622"/>
                    </a:moveTo>
                    <a:cubicBezTo>
                      <a:pt x="17205" y="2793"/>
                      <a:pt x="18549" y="2793"/>
                      <a:pt x="19378" y="3622"/>
                    </a:cubicBezTo>
                    <a:cubicBezTo>
                      <a:pt x="20207" y="4451"/>
                      <a:pt x="20207" y="5795"/>
                      <a:pt x="19378" y="6624"/>
                    </a:cubicBezTo>
                    <a:lnTo>
                      <a:pt x="7368" y="18635"/>
                    </a:lnTo>
                    <a:cubicBezTo>
                      <a:pt x="7130" y="18873"/>
                      <a:pt x="6836" y="19047"/>
                      <a:pt x="6513" y="19141"/>
                    </a:cubicBezTo>
                    <a:lnTo>
                      <a:pt x="3641" y="19979"/>
                    </a:lnTo>
                    <a:cubicBezTo>
                      <a:pt x="3466" y="20030"/>
                      <a:pt x="3277" y="19982"/>
                      <a:pt x="3147" y="19853"/>
                    </a:cubicBezTo>
                    <a:cubicBezTo>
                      <a:pt x="3018" y="19723"/>
                      <a:pt x="2970" y="19534"/>
                      <a:pt x="3021" y="19359"/>
                    </a:cubicBezTo>
                    <a:lnTo>
                      <a:pt x="3859" y="16487"/>
                    </a:lnTo>
                    <a:cubicBezTo>
                      <a:pt x="3953" y="16164"/>
                      <a:pt x="4127" y="15871"/>
                      <a:pt x="4365" y="15633"/>
                    </a:cubicBezTo>
                    <a:close/>
                  </a:path>
                </a:pathLst>
              </a:custGeom>
              <a:noFill/>
              <a:ln w="7795" cap="rnd">
                <a:solidFill>
                  <a:srgbClr val="C65C10"/>
                </a:solidFill>
                <a:round/>
              </a:ln>
            </p:spPr>
          </p:sp>
          <p:sp>
            <p:nvSpPr>
              <p:cNvPr id="109" name="Chip label"/>
              <p:cNvSpPr txBox="1"/>
              <p:nvPr/>
            </p:nvSpPr>
            <p:spPr>
              <a:xfrm>
                <a:off x="2909917" y="4498848"/>
                <a:ext cx="62010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C65C1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Draft · for review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sp>
        <p:nvSpPr>
          <p:cNvPr id="110" name="Icon chevron-right"/>
          <p:cNvSpPr/>
          <p:nvPr/>
        </p:nvSpPr>
        <p:spPr>
          <a:xfrm>
            <a:off x="4005072" y="385876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3411" cap="rnd">
            <a:solidFill>
              <a:srgbClr val="90A5BB"/>
            </a:solidFill>
            <a:round/>
          </a:ln>
        </p:spPr>
      </p:sp>
      <p:grpSp>
        <p:nvGrpSpPr>
          <p:cNvPr id="111" name="Workflow 02 objective"/>
          <p:cNvGrpSpPr/>
          <p:nvPr/>
        </p:nvGrpSpPr>
        <p:grpSpPr>
          <a:xfrm>
            <a:off x="4187952" y="3081528"/>
            <a:ext cx="2194560" cy="1691640"/>
            <a:chOff x="4187952" y="3081528"/>
            <a:chExt cx="2194560" cy="1691640"/>
          </a:xfrm>
        </p:grpSpPr>
        <p:sp>
          <p:nvSpPr>
            <p:cNvPr id="112" name="Objective card"/>
            <p:cNvSpPr/>
            <p:nvPr/>
          </p:nvSpPr>
          <p:spPr>
            <a:xfrm>
              <a:off x="4187952" y="3081528"/>
              <a:ext cx="2194560" cy="1691640"/>
            </a:xfrm>
            <a:prstGeom prst="roundRect">
              <a:avLst>
                <a:gd name="adj" fmla="val 4324"/>
              </a:avLst>
            </a:prstGeom>
            <a:solidFill>
              <a:srgbClr val="F4F8FF"/>
            </a:solidFill>
            <a:ln w="9525">
              <a:solidFill>
                <a:srgbClr val="B8D0FD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grpSp>
          <p:nvGrpSpPr>
            <p:cNvPr id="113" name="Item"/>
            <p:cNvGrpSpPr/>
            <p:nvPr/>
          </p:nvGrpSpPr>
          <p:grpSpPr>
            <a:xfrm>
              <a:off x="4306824" y="3218688"/>
              <a:ext cx="1965960" cy="320040"/>
              <a:chOff x="4306824" y="3218688"/>
              <a:chExt cx="1965960" cy="320040"/>
            </a:xfrm>
          </p:grpSpPr>
          <p:sp>
            <p:nvSpPr>
              <p:cNvPr id="114" name="Icon timer"/>
              <p:cNvSpPr/>
              <p:nvPr/>
            </p:nvSpPr>
            <p:spPr>
              <a:xfrm>
                <a:off x="4306824" y="3227832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0000" y="2000"/>
                    </a:moveTo>
                    <a:lnTo>
                      <a:pt x="14000" y="2000"/>
                    </a:lnTo>
                  </a:path>
                  <a:path w="24000" h="24000" fill="none">
                    <a:moveTo>
                      <a:pt x="12000" y="14000"/>
                    </a:moveTo>
                    <a:lnTo>
                      <a:pt x="15000" y="11000"/>
                    </a:lnTo>
                  </a:path>
                  <a:path w="24000" h="24000" fill="none">
                    <a:moveTo>
                      <a:pt x="20000" y="14000"/>
                    </a:moveTo>
                    <a:cubicBezTo>
                      <a:pt x="20000" y="18418"/>
                      <a:pt x="16418" y="22000"/>
                      <a:pt x="12000" y="22000"/>
                    </a:cubicBezTo>
                    <a:cubicBezTo>
                      <a:pt x="7582" y="22000"/>
                      <a:pt x="4000" y="18418"/>
                      <a:pt x="4000" y="14000"/>
                    </a:cubicBezTo>
                    <a:cubicBezTo>
                      <a:pt x="4000" y="9582"/>
                      <a:pt x="7582" y="6000"/>
                      <a:pt x="12000" y="6000"/>
                    </a:cubicBezTo>
                    <a:cubicBezTo>
                      <a:pt x="16418" y="6000"/>
                      <a:pt x="20000" y="9582"/>
                      <a:pt x="20000" y="14000"/>
                    </a:cubicBezTo>
                    <a:close/>
                  </a:path>
                </a:pathLst>
              </a:custGeom>
              <a:noFill/>
              <a:ln w="11735" cap="rnd">
                <a:solidFill>
                  <a:srgbClr val="165FF2"/>
                </a:solidFill>
                <a:round/>
              </a:ln>
            </p:spPr>
          </p:sp>
          <p:sp>
            <p:nvSpPr>
              <p:cNvPr id="115" name="Item text"/>
              <p:cNvSpPr txBox="1"/>
              <p:nvPr/>
            </p:nvSpPr>
            <p:spPr>
              <a:xfrm>
                <a:off x="4498848" y="3218688"/>
                <a:ext cx="177393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PM due on running-hours limit or fixed period,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whichever occurs first — set per DG</a:t>
                </a:r>
                <a:endParaRPr lang="en-US" sz="700" dirty="0">
                  <a:latin typeface="Inter SemiBold"/>
                </a:endParaRPr>
              </a:p>
            </p:txBody>
          </p:sp>
        </p:grpSp>
        <p:grpSp>
          <p:nvGrpSpPr>
            <p:cNvPr id="116" name="Item"/>
            <p:cNvGrpSpPr/>
            <p:nvPr/>
          </p:nvGrpSpPr>
          <p:grpSpPr>
            <a:xfrm>
              <a:off x="4306824" y="3621024"/>
              <a:ext cx="1965960" cy="320040"/>
              <a:chOff x="4306824" y="3621024"/>
              <a:chExt cx="1965960" cy="320040"/>
            </a:xfrm>
          </p:grpSpPr>
          <p:sp>
            <p:nvSpPr>
              <p:cNvPr id="117" name="Icon triangle-alert"/>
              <p:cNvSpPr/>
              <p:nvPr/>
            </p:nvSpPr>
            <p:spPr>
              <a:xfrm>
                <a:off x="4306824" y="3630168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1730" y="18000"/>
                    </a:moveTo>
                    <a:lnTo>
                      <a:pt x="13730" y="4000"/>
                    </a:lnTo>
                    <a:cubicBezTo>
                      <a:pt x="13375" y="3373"/>
                      <a:pt x="12710" y="2986"/>
                      <a:pt x="11990" y="2986"/>
                    </a:cubicBezTo>
                    <a:cubicBezTo>
                      <a:pt x="11270" y="2986"/>
                      <a:pt x="10605" y="3373"/>
                      <a:pt x="10250" y="4000"/>
                    </a:cubicBezTo>
                    <a:lnTo>
                      <a:pt x="2250" y="18000"/>
                    </a:lnTo>
                    <a:cubicBezTo>
                      <a:pt x="1891" y="18622"/>
                      <a:pt x="1893" y="19388"/>
                      <a:pt x="2254" y="20008"/>
                    </a:cubicBezTo>
                    <a:cubicBezTo>
                      <a:pt x="2616" y="20628"/>
                      <a:pt x="3282" y="21006"/>
                      <a:pt x="4000" y="21000"/>
                    </a:cubicBezTo>
                    <a:lnTo>
                      <a:pt x="20000" y="21000"/>
                    </a:lnTo>
                    <a:cubicBezTo>
                      <a:pt x="20714" y="20999"/>
                      <a:pt x="21374" y="20618"/>
                      <a:pt x="21731" y="19999"/>
                    </a:cubicBezTo>
                    <a:cubicBezTo>
                      <a:pt x="22087" y="19380"/>
                      <a:pt x="22087" y="18618"/>
                      <a:pt x="21730" y="18000"/>
                    </a:cubicBezTo>
                  </a:path>
                  <a:path w="24000" h="24000" fill="none">
                    <a:moveTo>
                      <a:pt x="12000" y="9000"/>
                    </a:moveTo>
                    <a:lnTo>
                      <a:pt x="12000" y="13000"/>
                    </a:lnTo>
                  </a:path>
                  <a:path w="24000" h="24000" fill="none">
                    <a:moveTo>
                      <a:pt x="12000" y="17000"/>
                    </a:moveTo>
                    <a:lnTo>
                      <a:pt x="12010" y="17000"/>
                    </a:lnTo>
                  </a:path>
                </a:pathLst>
              </a:custGeom>
              <a:noFill/>
              <a:ln w="11735" cap="rnd">
                <a:solidFill>
                  <a:srgbClr val="165FF2"/>
                </a:solidFill>
                <a:round/>
              </a:ln>
            </p:spPr>
          </p:sp>
          <p:sp>
            <p:nvSpPr>
              <p:cNvPr id="118" name="Item text"/>
              <p:cNvSpPr txBox="1"/>
              <p:nvPr/>
            </p:nvSpPr>
            <p:spPr>
              <a:xfrm>
                <a:off x="4498848" y="3621024"/>
                <a:ext cx="177393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Breakdown work order raised in the platform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by the store user / maintenance team</a:t>
                </a:r>
                <a:endParaRPr lang="en-US" sz="700" dirty="0">
                  <a:latin typeface="Inter SemiBold"/>
                </a:endParaRPr>
              </a:p>
            </p:txBody>
          </p:sp>
        </p:grpSp>
        <p:grpSp>
          <p:nvGrpSpPr>
            <p:cNvPr id="119" name="Item"/>
            <p:cNvGrpSpPr/>
            <p:nvPr/>
          </p:nvGrpSpPr>
          <p:grpSpPr>
            <a:xfrm>
              <a:off x="4306824" y="4023360"/>
              <a:ext cx="1965960" cy="320040"/>
              <a:chOff x="4306824" y="4023360"/>
              <a:chExt cx="1965960" cy="320040"/>
            </a:xfrm>
          </p:grpSpPr>
          <p:sp>
            <p:nvSpPr>
              <p:cNvPr id="120" name="Icon clipboard-check"/>
              <p:cNvSpPr/>
              <p:nvPr/>
            </p:nvSpPr>
            <p:spPr>
              <a:xfrm>
                <a:off x="4306824" y="4032504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9000" y="2000"/>
                    </a:moveTo>
                    <a:lnTo>
                      <a:pt x="15000" y="2000"/>
                    </a:lnTo>
                    <a:cubicBezTo>
                      <a:pt x="15552" y="2000"/>
                      <a:pt x="16000" y="2448"/>
                      <a:pt x="16000" y="3000"/>
                    </a:cubicBezTo>
                    <a:lnTo>
                      <a:pt x="16000" y="5000"/>
                    </a:lnTo>
                    <a:cubicBezTo>
                      <a:pt x="16000" y="5552"/>
                      <a:pt x="15552" y="6000"/>
                      <a:pt x="15000" y="6000"/>
                    </a:cubicBezTo>
                    <a:lnTo>
                      <a:pt x="9000" y="6000"/>
                    </a:lnTo>
                    <a:cubicBezTo>
                      <a:pt x="8448" y="6000"/>
                      <a:pt x="8000" y="5552"/>
                      <a:pt x="8000" y="5000"/>
                    </a:cubicBezTo>
                    <a:lnTo>
                      <a:pt x="8000" y="3000"/>
                    </a:lnTo>
                    <a:cubicBezTo>
                      <a:pt x="8000" y="2448"/>
                      <a:pt x="8448" y="2000"/>
                      <a:pt x="9000" y="2000"/>
                    </a:cubicBezTo>
                    <a:close/>
                  </a:path>
                  <a:path w="24000" h="24000" fill="none">
                    <a:moveTo>
                      <a:pt x="16000" y="4000"/>
                    </a:moveTo>
                    <a:lnTo>
                      <a:pt x="18000" y="4000"/>
                    </a:lnTo>
                    <a:cubicBezTo>
                      <a:pt x="19105" y="4000"/>
                      <a:pt x="20000" y="4895"/>
                      <a:pt x="20000" y="6000"/>
                    </a:cubicBezTo>
                    <a:lnTo>
                      <a:pt x="20000" y="20000"/>
                    </a:lnTo>
                    <a:cubicBezTo>
                      <a:pt x="20000" y="21105"/>
                      <a:pt x="19105" y="22000"/>
                      <a:pt x="18000" y="22000"/>
                    </a:cubicBezTo>
                    <a:lnTo>
                      <a:pt x="6000" y="22000"/>
                    </a:lnTo>
                    <a:cubicBezTo>
                      <a:pt x="4895" y="22000"/>
                      <a:pt x="4000" y="21105"/>
                      <a:pt x="4000" y="20000"/>
                    </a:cubicBezTo>
                    <a:lnTo>
                      <a:pt x="4000" y="6000"/>
                    </a:lnTo>
                    <a:cubicBezTo>
                      <a:pt x="4000" y="4895"/>
                      <a:pt x="4895" y="4000"/>
                      <a:pt x="6000" y="4000"/>
                    </a:cubicBezTo>
                    <a:lnTo>
                      <a:pt x="8000" y="4000"/>
                    </a:lnTo>
                  </a:path>
                  <a:path w="24000" h="24000" fill="none">
                    <a:moveTo>
                      <a:pt x="9000" y="14000"/>
                    </a:moveTo>
                    <a:lnTo>
                      <a:pt x="11000" y="16000"/>
                    </a:lnTo>
                    <a:lnTo>
                      <a:pt x="15000" y="12000"/>
                    </a:lnTo>
                  </a:path>
                </a:pathLst>
              </a:custGeom>
              <a:noFill/>
              <a:ln w="11735" cap="rnd">
                <a:solidFill>
                  <a:srgbClr val="165FF2"/>
                </a:solidFill>
                <a:round/>
              </a:ln>
            </p:spPr>
          </p:sp>
          <p:sp>
            <p:nvSpPr>
              <p:cNvPr id="121" name="Item text"/>
              <p:cNvSpPr txBox="1"/>
              <p:nvPr/>
            </p:nvSpPr>
            <p:spPr>
              <a:xfrm>
                <a:off x="4498848" y="4023360"/>
                <a:ext cx="177393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AMC vendor SPOC acknowledges,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carries out maintenance, submits details and proof</a:t>
                </a:r>
                <a:endParaRPr lang="en-US" sz="700" dirty="0">
                  <a:latin typeface="Inter SemiBold"/>
                </a:endParaRPr>
              </a:p>
            </p:txBody>
          </p:sp>
        </p:grpSp>
      </p:grpSp>
      <p:sp>
        <p:nvSpPr>
          <p:cNvPr id="122" name="Icon chevron-right"/>
          <p:cNvSpPr/>
          <p:nvPr/>
        </p:nvSpPr>
        <p:spPr>
          <a:xfrm>
            <a:off x="6428232" y="385876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3411" cap="rnd">
            <a:solidFill>
              <a:srgbClr val="90A5BB"/>
            </a:solidFill>
            <a:round/>
          </a:ln>
        </p:spPr>
      </p:sp>
      <p:grpSp>
        <p:nvGrpSpPr>
          <p:cNvPr id="123" name="Workflow 02 business outcome"/>
          <p:cNvGrpSpPr/>
          <p:nvPr/>
        </p:nvGrpSpPr>
        <p:grpSpPr>
          <a:xfrm>
            <a:off x="6611112" y="3081528"/>
            <a:ext cx="2258568" cy="1691640"/>
            <a:chOff x="6611112" y="3081528"/>
            <a:chExt cx="2258568" cy="1691640"/>
          </a:xfrm>
        </p:grpSpPr>
        <p:sp>
          <p:nvSpPr>
            <p:cNvPr id="124" name="Business outcome card"/>
            <p:cNvSpPr/>
            <p:nvPr/>
          </p:nvSpPr>
          <p:spPr>
            <a:xfrm>
              <a:off x="6611112" y="3081528"/>
              <a:ext cx="2258568" cy="1691640"/>
            </a:xfrm>
            <a:prstGeom prst="roundRect">
              <a:avLst>
                <a:gd name="adj" fmla="val 4324"/>
              </a:avLst>
            </a:prstGeom>
            <a:solidFill>
              <a:srgbClr val="EBFAF3"/>
            </a:solidFill>
            <a:ln w="9525">
              <a:solidFill>
                <a:srgbClr val="B6ECD1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grpSp>
          <p:nvGrpSpPr>
            <p:cNvPr id="125" name="Item"/>
            <p:cNvGrpSpPr/>
            <p:nvPr/>
          </p:nvGrpSpPr>
          <p:grpSpPr>
            <a:xfrm>
              <a:off x="6729984" y="3218688"/>
              <a:ext cx="2029968" cy="320040"/>
              <a:chOff x="6729984" y="3218688"/>
              <a:chExt cx="2029968" cy="320040"/>
            </a:xfrm>
          </p:grpSpPr>
          <p:sp>
            <p:nvSpPr>
              <p:cNvPr id="126" name="Icon circle-check"/>
              <p:cNvSpPr/>
              <p:nvPr/>
            </p:nvSpPr>
            <p:spPr>
              <a:xfrm>
                <a:off x="6729984" y="3227832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7523"/>
                      <a:pt x="17523" y="22000"/>
                      <a:pt x="12000" y="22000"/>
                    </a:cubicBezTo>
                    <a:cubicBezTo>
                      <a:pt x="6477" y="22000"/>
                      <a:pt x="2000" y="17523"/>
                      <a:pt x="2000" y="12000"/>
                    </a:cubicBezTo>
                    <a:cubicBezTo>
                      <a:pt x="2000" y="6477"/>
                      <a:pt x="6477" y="2000"/>
                      <a:pt x="12000" y="2000"/>
                    </a:cubicBezTo>
                    <a:cubicBezTo>
                      <a:pt x="17523" y="2000"/>
                      <a:pt x="22000" y="6477"/>
                      <a:pt x="22000" y="12000"/>
                    </a:cubicBezTo>
                    <a:close/>
                  </a:path>
                  <a:path w="24000" h="24000" fill="none">
                    <a:moveTo>
                      <a:pt x="9000" y="12000"/>
                    </a:moveTo>
                    <a:lnTo>
                      <a:pt x="11000" y="14000"/>
                    </a:lnTo>
                    <a:lnTo>
                      <a:pt x="15000" y="10000"/>
                    </a:lnTo>
                  </a:path>
                </a:pathLst>
              </a:custGeom>
              <a:noFill/>
              <a:ln w="11735" cap="rnd">
                <a:solidFill>
                  <a:srgbClr val="00A251"/>
                </a:solidFill>
                <a:round/>
              </a:ln>
            </p:spPr>
          </p:sp>
          <p:sp>
            <p:nvSpPr>
              <p:cNvPr id="127" name="Item text"/>
              <p:cNvSpPr txBox="1"/>
              <p:nvPr/>
            </p:nvSpPr>
            <p:spPr>
              <a:xfrm>
                <a:off x="6922008" y="3218688"/>
                <a:ext cx="183794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PM never missed: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work order created automatically when a limit or period is reached</a:t>
                </a:r>
                <a:endParaRPr lang="en-US" sz="700" dirty="0">
                  <a:latin typeface="Inter SemiBold"/>
                </a:endParaRPr>
              </a:p>
            </p:txBody>
          </p:sp>
        </p:grpSp>
        <p:grpSp>
          <p:nvGrpSpPr>
            <p:cNvPr id="128" name="Item"/>
            <p:cNvGrpSpPr/>
            <p:nvPr/>
          </p:nvGrpSpPr>
          <p:grpSpPr>
            <a:xfrm>
              <a:off x="6729984" y="3616452"/>
              <a:ext cx="2029968" cy="320040"/>
              <a:chOff x="6729984" y="3616452"/>
              <a:chExt cx="2029968" cy="320040"/>
            </a:xfrm>
          </p:grpSpPr>
          <p:sp>
            <p:nvSpPr>
              <p:cNvPr id="129" name="Icon circle-check"/>
              <p:cNvSpPr/>
              <p:nvPr/>
            </p:nvSpPr>
            <p:spPr>
              <a:xfrm>
                <a:off x="6729984" y="3625596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7523"/>
                      <a:pt x="17523" y="22000"/>
                      <a:pt x="12000" y="22000"/>
                    </a:cubicBezTo>
                    <a:cubicBezTo>
                      <a:pt x="6477" y="22000"/>
                      <a:pt x="2000" y="17523"/>
                      <a:pt x="2000" y="12000"/>
                    </a:cubicBezTo>
                    <a:cubicBezTo>
                      <a:pt x="2000" y="6477"/>
                      <a:pt x="6477" y="2000"/>
                      <a:pt x="12000" y="2000"/>
                    </a:cubicBezTo>
                    <a:cubicBezTo>
                      <a:pt x="17523" y="2000"/>
                      <a:pt x="22000" y="6477"/>
                      <a:pt x="22000" y="12000"/>
                    </a:cubicBezTo>
                    <a:close/>
                  </a:path>
                  <a:path w="24000" h="24000" fill="none">
                    <a:moveTo>
                      <a:pt x="9000" y="12000"/>
                    </a:moveTo>
                    <a:lnTo>
                      <a:pt x="11000" y="14000"/>
                    </a:lnTo>
                    <a:lnTo>
                      <a:pt x="15000" y="10000"/>
                    </a:lnTo>
                  </a:path>
                </a:pathLst>
              </a:custGeom>
              <a:noFill/>
              <a:ln w="11735" cap="rnd">
                <a:solidFill>
                  <a:srgbClr val="00A251"/>
                </a:solidFill>
                <a:round/>
              </a:ln>
            </p:spPr>
          </p:sp>
          <p:sp>
            <p:nvSpPr>
              <p:cNvPr id="130" name="Item text"/>
              <p:cNvSpPr txBox="1"/>
              <p:nvPr/>
            </p:nvSpPr>
            <p:spPr>
              <a:xfrm>
                <a:off x="6922008" y="3616452"/>
                <a:ext cx="183794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Shared visibility: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open tickets, PM schedules and repair history for store, central and vendor users</a:t>
                </a:r>
                <a:endParaRPr lang="en-US" sz="700" dirty="0">
                  <a:latin typeface="Inter SemiBold"/>
                </a:endParaRPr>
              </a:p>
            </p:txBody>
          </p:sp>
        </p:grpSp>
        <p:grpSp>
          <p:nvGrpSpPr>
            <p:cNvPr id="131" name="Item"/>
            <p:cNvGrpSpPr/>
            <p:nvPr/>
          </p:nvGrpSpPr>
          <p:grpSpPr>
            <a:xfrm>
              <a:off x="6729984" y="4014216"/>
              <a:ext cx="2029968" cy="213360"/>
              <a:chOff x="6729984" y="4014216"/>
              <a:chExt cx="2029968" cy="213360"/>
            </a:xfrm>
          </p:grpSpPr>
          <p:sp>
            <p:nvSpPr>
              <p:cNvPr id="132" name="Icon circle-check"/>
              <p:cNvSpPr/>
              <p:nvPr/>
            </p:nvSpPr>
            <p:spPr>
              <a:xfrm>
                <a:off x="6729984" y="4023360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7523"/>
                      <a:pt x="17523" y="22000"/>
                      <a:pt x="12000" y="22000"/>
                    </a:cubicBezTo>
                    <a:cubicBezTo>
                      <a:pt x="6477" y="22000"/>
                      <a:pt x="2000" y="17523"/>
                      <a:pt x="2000" y="12000"/>
                    </a:cubicBezTo>
                    <a:cubicBezTo>
                      <a:pt x="2000" y="6477"/>
                      <a:pt x="6477" y="2000"/>
                      <a:pt x="12000" y="2000"/>
                    </a:cubicBezTo>
                    <a:cubicBezTo>
                      <a:pt x="17523" y="2000"/>
                      <a:pt x="22000" y="6477"/>
                      <a:pt x="22000" y="12000"/>
                    </a:cubicBezTo>
                    <a:close/>
                  </a:path>
                  <a:path w="24000" h="24000" fill="none">
                    <a:moveTo>
                      <a:pt x="9000" y="12000"/>
                    </a:moveTo>
                    <a:lnTo>
                      <a:pt x="11000" y="14000"/>
                    </a:lnTo>
                    <a:lnTo>
                      <a:pt x="15000" y="10000"/>
                    </a:lnTo>
                  </a:path>
                </a:pathLst>
              </a:custGeom>
              <a:noFill/>
              <a:ln w="11735" cap="rnd">
                <a:solidFill>
                  <a:srgbClr val="00A251"/>
                </a:solidFill>
                <a:round/>
              </a:ln>
            </p:spPr>
          </p:sp>
          <p:sp>
            <p:nvSpPr>
              <p:cNvPr id="133" name="Item text"/>
              <p:cNvSpPr txBox="1"/>
              <p:nvPr/>
            </p:nvSpPr>
            <p:spPr>
              <a:xfrm>
                <a:off x="6922008" y="4014216"/>
                <a:ext cx="18379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Complete service history per DG: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trigger, vendor, timestamps and details</a:t>
                </a:r>
                <a:endParaRPr lang="en-US" sz="700" dirty="0">
                  <a:latin typeface="Inter SemiBold"/>
                </a:endParaRPr>
              </a:p>
            </p:txBody>
          </p:sp>
        </p:grpSp>
        <p:grpSp>
          <p:nvGrpSpPr>
            <p:cNvPr id="134" name="Item"/>
            <p:cNvGrpSpPr/>
            <p:nvPr/>
          </p:nvGrpSpPr>
          <p:grpSpPr>
            <a:xfrm>
              <a:off x="6729984" y="4305300"/>
              <a:ext cx="2029968" cy="213360"/>
              <a:chOff x="6729984" y="4305300"/>
              <a:chExt cx="2029968" cy="213360"/>
            </a:xfrm>
          </p:grpSpPr>
          <p:sp>
            <p:nvSpPr>
              <p:cNvPr id="135" name="Icon circle-check"/>
              <p:cNvSpPr/>
              <p:nvPr/>
            </p:nvSpPr>
            <p:spPr>
              <a:xfrm>
                <a:off x="6729984" y="4314444"/>
                <a:ext cx="1280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7523"/>
                      <a:pt x="17523" y="22000"/>
                      <a:pt x="12000" y="22000"/>
                    </a:cubicBezTo>
                    <a:cubicBezTo>
                      <a:pt x="6477" y="22000"/>
                      <a:pt x="2000" y="17523"/>
                      <a:pt x="2000" y="12000"/>
                    </a:cubicBezTo>
                    <a:cubicBezTo>
                      <a:pt x="2000" y="6477"/>
                      <a:pt x="6477" y="2000"/>
                      <a:pt x="12000" y="2000"/>
                    </a:cubicBezTo>
                    <a:cubicBezTo>
                      <a:pt x="17523" y="2000"/>
                      <a:pt x="22000" y="6477"/>
                      <a:pt x="22000" y="12000"/>
                    </a:cubicBezTo>
                    <a:close/>
                  </a:path>
                  <a:path w="24000" h="24000" fill="none">
                    <a:moveTo>
                      <a:pt x="9000" y="12000"/>
                    </a:moveTo>
                    <a:lnTo>
                      <a:pt x="11000" y="14000"/>
                    </a:lnTo>
                    <a:lnTo>
                      <a:pt x="15000" y="10000"/>
                    </a:lnTo>
                  </a:path>
                </a:pathLst>
              </a:custGeom>
              <a:noFill/>
              <a:ln w="11735" cap="rnd">
                <a:solidFill>
                  <a:srgbClr val="00A251"/>
                </a:solidFill>
                <a:round/>
              </a:ln>
            </p:spPr>
          </p:sp>
          <p:sp>
            <p:nvSpPr>
              <p:cNvPr id="136" name="Item text"/>
              <p:cNvSpPr txBox="1"/>
              <p:nvPr/>
            </p:nvSpPr>
            <p:spPr>
              <a:xfrm>
                <a:off x="6922008" y="4305300"/>
                <a:ext cx="18379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buNone/>
                </a:pPr>
                <a:r>
                  <a:rPr lang="en-US" sz="700" b="0" i="0" spc="0" dirty="0">
                    <a:solidFill>
                      <a:srgbClr val="0C19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One platform: </a:t>
                </a:r>
                <a:r>
                  <a:rPr lang="en-US" sz="700" b="0" i="0" spc="0" dirty="0">
                    <a:solidFill>
                      <a:srgbClr val="243547"/>
                    </a:solidFill>
                    <a:latin typeface="Inter"/>
                    <a:ea typeface="Inter"/>
                    <a:cs typeface="Inter"/>
                    <a:sym typeface="Inter"/>
                  </a:rPr>
                  <a:t>same work-order logic and access rules for both workflows</a:t>
                </a:r>
                <a:endParaRPr lang="en-US" sz="700" dirty="0">
                  <a:latin typeface="Inter SemiBold"/>
                </a:endParaRPr>
              </a:p>
            </p:txBody>
          </p:sp>
        </p:grpSp>
      </p:grpSp>
      <p:grpSp>
        <p:nvGrpSpPr>
          <p:cNvPr id="137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138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DG Online Monitoring Proposal  ·  Flipkart Minutes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39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4B396D7D-E3D4-4C91-AC60-EDD6A2156A8C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9456"/>
            <a:ext cx="8650224" cy="722376"/>
            <a:chOff x="274320" y="219456"/>
            <a:chExt cx="8650224" cy="722376"/>
          </a:xfrm>
        </p:grpSpPr>
        <p:grpSp>
          <p:nvGrpSpPr>
            <p:cNvPr id="4" name="Badge 01"/>
            <p:cNvGrpSpPr/>
            <p:nvPr/>
          </p:nvGrpSpPr>
          <p:grpSpPr>
            <a:xfrm>
              <a:off x="274320" y="228600"/>
              <a:ext cx="192024" cy="192024"/>
              <a:chOff x="274320" y="228600"/>
              <a:chExt cx="192024" cy="192024"/>
            </a:xfrm>
          </p:grpSpPr>
          <p:sp>
            <p:nvSpPr>
              <p:cNvPr id="5" name="Badge"/>
              <p:cNvSpPr/>
              <p:nvPr/>
            </p:nvSpPr>
            <p:spPr>
              <a:xfrm>
                <a:off x="274320" y="228600"/>
                <a:ext cx="192024" cy="192024"/>
              </a:xfrm>
              <a:prstGeom prst="roundRect">
                <a:avLst>
                  <a:gd name="adj" fmla="val 22000"/>
                </a:avLst>
              </a:prstGeom>
              <a:solidFill>
                <a:srgbClr val="165FF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6" name="Badge number"/>
              <p:cNvSpPr txBox="1"/>
              <p:nvPr/>
            </p:nvSpPr>
            <p:spPr>
              <a:xfrm>
                <a:off x="274320" y="228600"/>
                <a:ext cx="192024" cy="1920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75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01</a:t>
                </a:r>
                <a:endParaRPr lang="en-US" sz="750" dirty="0">
                  <a:latin typeface="TASA Orbiter SemiBold"/>
                </a:endParaRPr>
              </a:p>
            </p:txBody>
          </p:sp>
        </p:grpSp>
        <p:sp>
          <p:nvSpPr>
            <p:cNvPr id="7" name="Eyebrow"/>
            <p:cNvSpPr txBox="1"/>
            <p:nvPr/>
          </p:nvSpPr>
          <p:spPr>
            <a:xfrm>
              <a:off x="530352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WORKFLOW 01  ·  FUEL MONITORING &amp; VENDOR REFILLING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8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Solution Architecture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9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What comes in from each DG, what the application decides, and what the vendor and Flipkart users get.</a:t>
              </a:r>
              <a:endParaRPr lang="en-US" sz="850" dirty="0">
                <a:latin typeface="Inter"/>
              </a:endParaRPr>
            </a:p>
          </p:txBody>
        </p:sp>
        <p:grpSp>
          <p:nvGrpSpPr>
            <p:cNvPr id="10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11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" name="Stage 1"/>
          <p:cNvGrpSpPr/>
          <p:nvPr/>
        </p:nvGrpSpPr>
        <p:grpSpPr>
          <a:xfrm>
            <a:off x="274320" y="1005840"/>
            <a:ext cx="2039112" cy="164592"/>
            <a:chOff x="274320" y="1005840"/>
            <a:chExt cx="2039112" cy="164592"/>
          </a:xfrm>
        </p:grpSpPr>
        <p:grpSp>
          <p:nvGrpSpPr>
            <p:cNvPr id="23" name="Badge 1"/>
            <p:cNvGrpSpPr/>
            <p:nvPr/>
          </p:nvGrpSpPr>
          <p:grpSpPr>
            <a:xfrm>
              <a:off x="274320" y="1005840"/>
              <a:ext cx="155448" cy="155448"/>
              <a:chOff x="274320" y="1005840"/>
              <a:chExt cx="155448" cy="155448"/>
            </a:xfrm>
          </p:grpSpPr>
          <p:sp>
            <p:nvSpPr>
              <p:cNvPr id="24" name="Badge"/>
              <p:cNvSpPr/>
              <p:nvPr/>
            </p:nvSpPr>
            <p:spPr>
              <a:xfrm>
                <a:off x="274320" y="1005840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25" name="Badge number"/>
              <p:cNvSpPr txBox="1"/>
              <p:nvPr/>
            </p:nvSpPr>
            <p:spPr>
              <a:xfrm>
                <a:off x="274320" y="1005840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50"/>
                  </a:lnSpc>
                  <a:spcBef>
                    <a:spcPts val="0"/>
                  </a:spcBef>
                  <a:buNone/>
                </a:pPr>
                <a:r>
                  <a:rPr lang="en-US" sz="65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1</a:t>
                </a:r>
                <a:endParaRPr lang="en-US" sz="650" dirty="0">
                  <a:latin typeface="TASA Orbiter SemiBold"/>
                </a:endParaRPr>
              </a:p>
            </p:txBody>
          </p:sp>
        </p:grpSp>
        <p:sp>
          <p:nvSpPr>
            <p:cNvPr id="26" name="Stage name"/>
            <p:cNvSpPr txBox="1"/>
            <p:nvPr/>
          </p:nvSpPr>
          <p:spPr>
            <a:xfrm>
              <a:off x="484632" y="1001268"/>
              <a:ext cx="18288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cap="all" spc="82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INPUTS</a:t>
              </a:r>
              <a:endParaRPr lang="en-US" sz="680" dirty="0">
                <a:latin typeface="Inter SemiBold"/>
              </a:endParaRPr>
            </a:p>
          </p:txBody>
        </p:sp>
      </p:grpSp>
      <p:grpSp>
        <p:nvGrpSpPr>
          <p:cNvPr id="27" name="Stage 2"/>
          <p:cNvGrpSpPr/>
          <p:nvPr/>
        </p:nvGrpSpPr>
        <p:grpSpPr>
          <a:xfrm>
            <a:off x="2304288" y="1005840"/>
            <a:ext cx="2039112" cy="164592"/>
            <a:chOff x="2304288" y="1005840"/>
            <a:chExt cx="2039112" cy="164592"/>
          </a:xfrm>
        </p:grpSpPr>
        <p:grpSp>
          <p:nvGrpSpPr>
            <p:cNvPr id="28" name="Badge 2"/>
            <p:cNvGrpSpPr/>
            <p:nvPr/>
          </p:nvGrpSpPr>
          <p:grpSpPr>
            <a:xfrm>
              <a:off x="2304288" y="1005840"/>
              <a:ext cx="155448" cy="155448"/>
              <a:chOff x="2304288" y="1005840"/>
              <a:chExt cx="155448" cy="155448"/>
            </a:xfrm>
          </p:grpSpPr>
          <p:sp>
            <p:nvSpPr>
              <p:cNvPr id="29" name="Badge"/>
              <p:cNvSpPr/>
              <p:nvPr/>
            </p:nvSpPr>
            <p:spPr>
              <a:xfrm>
                <a:off x="2304288" y="1005840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30" name="Badge number"/>
              <p:cNvSpPr txBox="1"/>
              <p:nvPr/>
            </p:nvSpPr>
            <p:spPr>
              <a:xfrm>
                <a:off x="2304288" y="1005840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50"/>
                  </a:lnSpc>
                  <a:spcBef>
                    <a:spcPts val="0"/>
                  </a:spcBef>
                  <a:buNone/>
                </a:pPr>
                <a:r>
                  <a:rPr lang="en-US" sz="65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2</a:t>
                </a:r>
                <a:endParaRPr lang="en-US" sz="650" dirty="0">
                  <a:latin typeface="TASA Orbiter SemiBold"/>
                </a:endParaRPr>
              </a:p>
            </p:txBody>
          </p:sp>
        </p:grpSp>
        <p:sp>
          <p:nvSpPr>
            <p:cNvPr id="31" name="Stage name"/>
            <p:cNvSpPr txBox="1"/>
            <p:nvPr/>
          </p:nvSpPr>
          <p:spPr>
            <a:xfrm>
              <a:off x="2514600" y="1001268"/>
              <a:ext cx="18288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cap="all" spc="82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MONITOR &amp; TRIGGER</a:t>
              </a:r>
              <a:endParaRPr lang="en-US" sz="680" dirty="0">
                <a:latin typeface="Inter SemiBold"/>
              </a:endParaRPr>
            </a:p>
          </p:txBody>
        </p:sp>
      </p:grpSp>
      <p:grpSp>
        <p:nvGrpSpPr>
          <p:cNvPr id="32" name="Stage 3"/>
          <p:cNvGrpSpPr/>
          <p:nvPr/>
        </p:nvGrpSpPr>
        <p:grpSpPr>
          <a:xfrm>
            <a:off x="4663440" y="1005840"/>
            <a:ext cx="2039112" cy="164592"/>
            <a:chOff x="4663440" y="1005840"/>
            <a:chExt cx="2039112" cy="164592"/>
          </a:xfrm>
        </p:grpSpPr>
        <p:grpSp>
          <p:nvGrpSpPr>
            <p:cNvPr id="33" name="Badge 3"/>
            <p:cNvGrpSpPr/>
            <p:nvPr/>
          </p:nvGrpSpPr>
          <p:grpSpPr>
            <a:xfrm>
              <a:off x="4663440" y="1005840"/>
              <a:ext cx="155448" cy="155448"/>
              <a:chOff x="4663440" y="1005840"/>
              <a:chExt cx="155448" cy="155448"/>
            </a:xfrm>
          </p:grpSpPr>
          <p:sp>
            <p:nvSpPr>
              <p:cNvPr id="34" name="Badge"/>
              <p:cNvSpPr/>
              <p:nvPr/>
            </p:nvSpPr>
            <p:spPr>
              <a:xfrm>
                <a:off x="4663440" y="1005840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35" name="Badge number"/>
              <p:cNvSpPr txBox="1"/>
              <p:nvPr/>
            </p:nvSpPr>
            <p:spPr>
              <a:xfrm>
                <a:off x="4663440" y="1005840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50"/>
                  </a:lnSpc>
                  <a:spcBef>
                    <a:spcPts val="0"/>
                  </a:spcBef>
                  <a:buNone/>
                </a:pPr>
                <a:r>
                  <a:rPr lang="en-US" sz="65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3</a:t>
                </a:r>
                <a:endParaRPr lang="en-US" sz="650" dirty="0">
                  <a:latin typeface="TASA Orbiter SemiBold"/>
                </a:endParaRPr>
              </a:p>
            </p:txBody>
          </p:sp>
        </p:grpSp>
        <p:sp>
          <p:nvSpPr>
            <p:cNvPr id="36" name="Stage name"/>
            <p:cNvSpPr txBox="1"/>
            <p:nvPr/>
          </p:nvSpPr>
          <p:spPr>
            <a:xfrm>
              <a:off x="4873752" y="1001268"/>
              <a:ext cx="18288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cap="all" spc="82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ASSIGN &amp; EXECUTE</a:t>
              </a:r>
              <a:endParaRPr lang="en-US" sz="680" dirty="0">
                <a:latin typeface="Inter SemiBold"/>
              </a:endParaRPr>
            </a:p>
          </p:txBody>
        </p:sp>
      </p:grpSp>
      <p:grpSp>
        <p:nvGrpSpPr>
          <p:cNvPr id="37" name="Stage 4"/>
          <p:cNvGrpSpPr/>
          <p:nvPr/>
        </p:nvGrpSpPr>
        <p:grpSpPr>
          <a:xfrm>
            <a:off x="7059168" y="1005840"/>
            <a:ext cx="2039112" cy="164592"/>
            <a:chOff x="7059168" y="1005840"/>
            <a:chExt cx="2039112" cy="164592"/>
          </a:xfrm>
        </p:grpSpPr>
        <p:grpSp>
          <p:nvGrpSpPr>
            <p:cNvPr id="38" name="Badge 4"/>
            <p:cNvGrpSpPr/>
            <p:nvPr/>
          </p:nvGrpSpPr>
          <p:grpSpPr>
            <a:xfrm>
              <a:off x="7059168" y="1005840"/>
              <a:ext cx="155448" cy="155448"/>
              <a:chOff x="7059168" y="1005840"/>
              <a:chExt cx="155448" cy="155448"/>
            </a:xfrm>
          </p:grpSpPr>
          <p:sp>
            <p:nvSpPr>
              <p:cNvPr id="39" name="Badge"/>
              <p:cNvSpPr/>
              <p:nvPr/>
            </p:nvSpPr>
            <p:spPr>
              <a:xfrm>
                <a:off x="7059168" y="1005840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40" name="Badge number"/>
              <p:cNvSpPr txBox="1"/>
              <p:nvPr/>
            </p:nvSpPr>
            <p:spPr>
              <a:xfrm>
                <a:off x="7059168" y="1005840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50"/>
                  </a:lnSpc>
                  <a:spcBef>
                    <a:spcPts val="0"/>
                  </a:spcBef>
                  <a:buNone/>
                </a:pPr>
                <a:r>
                  <a:rPr lang="en-US" sz="65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4</a:t>
                </a:r>
                <a:endParaRPr lang="en-US" sz="650" dirty="0">
                  <a:latin typeface="TASA Orbiter SemiBold"/>
                </a:endParaRPr>
              </a:p>
            </p:txBody>
          </p:sp>
        </p:grpSp>
        <p:sp>
          <p:nvSpPr>
            <p:cNvPr id="41" name="Stage name"/>
            <p:cNvSpPr txBox="1"/>
            <p:nvPr/>
          </p:nvSpPr>
          <p:spPr>
            <a:xfrm>
              <a:off x="7269480" y="1001268"/>
              <a:ext cx="18288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cap="all" spc="82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OUTPUTS</a:t>
              </a:r>
              <a:endParaRPr lang="en-US" sz="680" dirty="0">
                <a:latin typeface="Inter SemiBold"/>
              </a:endParaRPr>
            </a:p>
          </p:txBody>
        </p:sp>
      </p:grpSp>
      <p:grpSp>
        <p:nvGrpSpPr>
          <p:cNvPr id="42" name="IoT device + gateway"/>
          <p:cNvGrpSpPr/>
          <p:nvPr/>
        </p:nvGrpSpPr>
        <p:grpSpPr>
          <a:xfrm>
            <a:off x="274320" y="1243584"/>
            <a:ext cx="1874520" cy="788746"/>
            <a:chOff x="274320" y="1243584"/>
            <a:chExt cx="1874520" cy="788746"/>
          </a:xfrm>
        </p:grpSpPr>
        <p:sp>
          <p:nvSpPr>
            <p:cNvPr id="43" name="IoT device + gateway"/>
            <p:cNvSpPr/>
            <p:nvPr/>
          </p:nvSpPr>
          <p:spPr>
            <a:xfrm>
              <a:off x="274320" y="1243584"/>
              <a:ext cx="1874520" cy="788746"/>
            </a:xfrm>
            <a:prstGeom prst="roundRect">
              <a:avLst>
                <a:gd name="adj" fmla="val 9274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4" name="Icon cpu"/>
            <p:cNvSpPr/>
            <p:nvPr/>
          </p:nvSpPr>
          <p:spPr>
            <a:xfrm>
              <a:off x="365760" y="1339596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4000"/>
                  </a:moveTo>
                  <a:lnTo>
                    <a:pt x="18000" y="4000"/>
                  </a:lnTo>
                  <a:cubicBezTo>
                    <a:pt x="19105" y="4000"/>
                    <a:pt x="20000" y="4895"/>
                    <a:pt x="20000" y="6000"/>
                  </a:cubicBezTo>
                  <a:lnTo>
                    <a:pt x="20000" y="18000"/>
                  </a:lnTo>
                  <a:cubicBezTo>
                    <a:pt x="20000" y="19105"/>
                    <a:pt x="19105" y="20000"/>
                    <a:pt x="18000" y="20000"/>
                  </a:cubicBezTo>
                  <a:lnTo>
                    <a:pt x="6000" y="20000"/>
                  </a:lnTo>
                  <a:cubicBezTo>
                    <a:pt x="4895" y="20000"/>
                    <a:pt x="4000" y="19105"/>
                    <a:pt x="4000" y="18000"/>
                  </a:cubicBezTo>
                  <a:lnTo>
                    <a:pt x="4000" y="6000"/>
                  </a:lnTo>
                  <a:cubicBezTo>
                    <a:pt x="4000" y="4895"/>
                    <a:pt x="4895" y="4000"/>
                    <a:pt x="6000" y="4000"/>
                  </a:cubicBezTo>
                  <a:close/>
                </a:path>
                <a:path w="24000" h="24000" fill="none">
                  <a:moveTo>
                    <a:pt x="10000" y="9000"/>
                  </a:moveTo>
                  <a:lnTo>
                    <a:pt x="14000" y="9000"/>
                  </a:lnTo>
                  <a:cubicBezTo>
                    <a:pt x="14552" y="9000"/>
                    <a:pt x="15000" y="9448"/>
                    <a:pt x="15000" y="10000"/>
                  </a:cubicBezTo>
                  <a:lnTo>
                    <a:pt x="15000" y="14000"/>
                  </a:lnTo>
                  <a:cubicBezTo>
                    <a:pt x="15000" y="14552"/>
                    <a:pt x="14552" y="15000"/>
                    <a:pt x="14000" y="15000"/>
                  </a:cubicBezTo>
                  <a:lnTo>
                    <a:pt x="10000" y="15000"/>
                  </a:lnTo>
                  <a:cubicBezTo>
                    <a:pt x="9448" y="15000"/>
                    <a:pt x="9000" y="14552"/>
                    <a:pt x="9000" y="14000"/>
                  </a:cubicBezTo>
                  <a:lnTo>
                    <a:pt x="9000" y="10000"/>
                  </a:lnTo>
                  <a:cubicBezTo>
                    <a:pt x="9000" y="9448"/>
                    <a:pt x="9448" y="9000"/>
                    <a:pt x="10000" y="9000"/>
                  </a:cubicBezTo>
                  <a:close/>
                </a:path>
                <a:path w="24000" h="24000" fill="none">
                  <a:moveTo>
                    <a:pt x="15000" y="2000"/>
                  </a:moveTo>
                  <a:lnTo>
                    <a:pt x="15000" y="4000"/>
                  </a:lnTo>
                </a:path>
                <a:path w="24000" h="24000" fill="none">
                  <a:moveTo>
                    <a:pt x="15000" y="20000"/>
                  </a:moveTo>
                  <a:lnTo>
                    <a:pt x="15000" y="22000"/>
                  </a:lnTo>
                </a:path>
                <a:path w="24000" h="24000" fill="none">
                  <a:moveTo>
                    <a:pt x="2000" y="15000"/>
                  </a:moveTo>
                  <a:lnTo>
                    <a:pt x="4000" y="15000"/>
                  </a:lnTo>
                </a:path>
                <a:path w="24000" h="24000" fill="none">
                  <a:moveTo>
                    <a:pt x="2000" y="9000"/>
                  </a:moveTo>
                  <a:lnTo>
                    <a:pt x="4000" y="9000"/>
                  </a:lnTo>
                </a:path>
                <a:path w="24000" h="24000" fill="none">
                  <a:moveTo>
                    <a:pt x="20000" y="15000"/>
                  </a:moveTo>
                  <a:lnTo>
                    <a:pt x="22000" y="15000"/>
                  </a:lnTo>
                </a:path>
                <a:path w="24000" h="24000" fill="none">
                  <a:moveTo>
                    <a:pt x="20000" y="9000"/>
                  </a:moveTo>
                  <a:lnTo>
                    <a:pt x="22000" y="9000"/>
                  </a:lnTo>
                </a:path>
                <a:path w="24000" h="24000" fill="none">
                  <a:moveTo>
                    <a:pt x="9000" y="2000"/>
                  </a:moveTo>
                  <a:lnTo>
                    <a:pt x="9000" y="4000"/>
                  </a:lnTo>
                </a:path>
                <a:path w="24000" h="24000" fill="none">
                  <a:moveTo>
                    <a:pt x="9000" y="20000"/>
                  </a:moveTo>
                  <a:lnTo>
                    <a:pt x="9000" y="22000"/>
                  </a:lnTo>
                </a:path>
              </a:pathLst>
            </a:custGeom>
            <a:noFill/>
            <a:ln w="13411" cap="rnd">
              <a:solidFill>
                <a:srgbClr val="165FF2"/>
              </a:solidFill>
              <a:round/>
            </a:ln>
          </p:spPr>
        </p:sp>
        <p:sp>
          <p:nvSpPr>
            <p:cNvPr id="45" name="IoT device + gateway title"/>
            <p:cNvSpPr txBox="1"/>
            <p:nvPr/>
          </p:nvSpPr>
          <p:spPr>
            <a:xfrm>
              <a:off x="594360" y="1335024"/>
              <a:ext cx="1463040" cy="221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IoT device + gateway</a:t>
              </a:r>
              <a:endParaRPr lang="en-US" sz="720" dirty="0">
                <a:latin typeface="Inter SemiBold"/>
              </a:endParaRPr>
            </a:p>
            <a:p>
              <a:pPr algn="l">
                <a:lnSpc>
                  <a:spcPts val="769"/>
                </a:lnSpc>
                <a:spcBef>
                  <a:spcPts val="150"/>
                </a:spcBef>
                <a:buNone/>
              </a:pPr>
              <a:r>
                <a:rPr lang="en-US" sz="63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Faclon supplied · polls the controller</a:t>
              </a:r>
              <a:endParaRPr lang="en-US" sz="630" dirty="0">
                <a:latin typeface="Inter"/>
              </a:endParaRPr>
            </a:p>
          </p:txBody>
        </p:sp>
        <p:grpSp>
          <p:nvGrpSpPr>
            <p:cNvPr id="46" name="Chip Fuel %"/>
            <p:cNvGrpSpPr/>
            <p:nvPr/>
          </p:nvGrpSpPr>
          <p:grpSpPr>
            <a:xfrm>
              <a:off x="365760" y="1629994"/>
              <a:ext cx="351028" cy="137160"/>
              <a:chOff x="365760" y="1629994"/>
              <a:chExt cx="351028" cy="137160"/>
            </a:xfrm>
          </p:grpSpPr>
          <p:sp>
            <p:nvSpPr>
              <p:cNvPr id="47" name="Chip fill"/>
              <p:cNvSpPr/>
              <p:nvPr/>
            </p:nvSpPr>
            <p:spPr>
              <a:xfrm>
                <a:off x="365760" y="1629994"/>
                <a:ext cx="351028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48" name="Chip label"/>
              <p:cNvSpPr txBox="1"/>
              <p:nvPr/>
            </p:nvSpPr>
            <p:spPr>
              <a:xfrm>
                <a:off x="420624" y="1629994"/>
                <a:ext cx="26873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E3FA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Fuel %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49" name="Chip Litres"/>
            <p:cNvGrpSpPr/>
            <p:nvPr/>
          </p:nvGrpSpPr>
          <p:grpSpPr>
            <a:xfrm>
              <a:off x="762508" y="1629994"/>
              <a:ext cx="308304" cy="137160"/>
              <a:chOff x="762508" y="1629994"/>
              <a:chExt cx="308304" cy="137160"/>
            </a:xfrm>
          </p:grpSpPr>
          <p:sp>
            <p:nvSpPr>
              <p:cNvPr id="50" name="Chip fill"/>
              <p:cNvSpPr/>
              <p:nvPr/>
            </p:nvSpPr>
            <p:spPr>
              <a:xfrm>
                <a:off x="762508" y="1629994"/>
                <a:ext cx="308304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51" name="Chip label"/>
              <p:cNvSpPr txBox="1"/>
              <p:nvPr/>
            </p:nvSpPr>
            <p:spPr>
              <a:xfrm>
                <a:off x="817372" y="1629994"/>
                <a:ext cx="22600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E3FA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Litres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52" name="Chip Running hours"/>
            <p:cNvGrpSpPr/>
            <p:nvPr/>
          </p:nvGrpSpPr>
          <p:grpSpPr>
            <a:xfrm>
              <a:off x="1116532" y="1629994"/>
              <a:ext cx="626777" cy="137160"/>
              <a:chOff x="1116532" y="1629994"/>
              <a:chExt cx="626777" cy="137160"/>
            </a:xfrm>
          </p:grpSpPr>
          <p:sp>
            <p:nvSpPr>
              <p:cNvPr id="53" name="Chip fill"/>
              <p:cNvSpPr/>
              <p:nvPr/>
            </p:nvSpPr>
            <p:spPr>
              <a:xfrm>
                <a:off x="1116532" y="1629994"/>
                <a:ext cx="626777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54" name="Chip label"/>
              <p:cNvSpPr txBox="1"/>
              <p:nvPr/>
            </p:nvSpPr>
            <p:spPr>
              <a:xfrm>
                <a:off x="1171396" y="1629994"/>
                <a:ext cx="54448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E3FA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Running hours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55" name="Chip kWh"/>
            <p:cNvGrpSpPr/>
            <p:nvPr/>
          </p:nvGrpSpPr>
          <p:grpSpPr>
            <a:xfrm>
              <a:off x="365760" y="1803730"/>
              <a:ext cx="271891" cy="137160"/>
              <a:chOff x="365760" y="1803730"/>
              <a:chExt cx="271891" cy="137160"/>
            </a:xfrm>
          </p:grpSpPr>
          <p:sp>
            <p:nvSpPr>
              <p:cNvPr id="56" name="Chip fill"/>
              <p:cNvSpPr/>
              <p:nvPr/>
            </p:nvSpPr>
            <p:spPr>
              <a:xfrm>
                <a:off x="365760" y="1803730"/>
                <a:ext cx="271891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57" name="Chip label"/>
              <p:cNvSpPr txBox="1"/>
              <p:nvPr/>
            </p:nvSpPr>
            <p:spPr>
              <a:xfrm>
                <a:off x="420624" y="1803730"/>
                <a:ext cx="18959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E3FA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kWh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58" name="Chip Status"/>
            <p:cNvGrpSpPr/>
            <p:nvPr/>
          </p:nvGrpSpPr>
          <p:grpSpPr>
            <a:xfrm>
              <a:off x="683371" y="1803730"/>
              <a:ext cx="337852" cy="137160"/>
              <a:chOff x="683371" y="1803730"/>
              <a:chExt cx="337852" cy="137160"/>
            </a:xfrm>
          </p:grpSpPr>
          <p:sp>
            <p:nvSpPr>
              <p:cNvPr id="59" name="Chip fill"/>
              <p:cNvSpPr/>
              <p:nvPr/>
            </p:nvSpPr>
            <p:spPr>
              <a:xfrm>
                <a:off x="683371" y="1803730"/>
                <a:ext cx="33785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60" name="Chip label"/>
              <p:cNvSpPr txBox="1"/>
              <p:nvPr/>
            </p:nvSpPr>
            <p:spPr>
              <a:xfrm>
                <a:off x="738235" y="1803730"/>
                <a:ext cx="25555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E3FA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Status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61" name="Master data"/>
          <p:cNvGrpSpPr/>
          <p:nvPr/>
        </p:nvGrpSpPr>
        <p:grpSpPr>
          <a:xfrm>
            <a:off x="274320" y="2096338"/>
            <a:ext cx="1874520" cy="788746"/>
            <a:chOff x="274320" y="2096338"/>
            <a:chExt cx="1874520" cy="788746"/>
          </a:xfrm>
        </p:grpSpPr>
        <p:sp>
          <p:nvSpPr>
            <p:cNvPr id="62" name="Master data"/>
            <p:cNvSpPr/>
            <p:nvPr/>
          </p:nvSpPr>
          <p:spPr>
            <a:xfrm>
              <a:off x="274320" y="2096338"/>
              <a:ext cx="1874520" cy="788746"/>
            </a:xfrm>
            <a:prstGeom prst="roundRect">
              <a:avLst>
                <a:gd name="adj" fmla="val 9274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63" name="Icon database"/>
            <p:cNvSpPr/>
            <p:nvPr/>
          </p:nvSpPr>
          <p:spPr>
            <a:xfrm>
              <a:off x="365760" y="2192350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5000"/>
                  </a:moveTo>
                  <a:cubicBezTo>
                    <a:pt x="21000" y="6657"/>
                    <a:pt x="16971" y="8000"/>
                    <a:pt x="12000" y="8000"/>
                  </a:cubicBezTo>
                  <a:cubicBezTo>
                    <a:pt x="7029" y="8000"/>
                    <a:pt x="3000" y="6657"/>
                    <a:pt x="3000" y="5000"/>
                  </a:cubicBezTo>
                  <a:cubicBezTo>
                    <a:pt x="3000" y="3343"/>
                    <a:pt x="7029" y="2000"/>
                    <a:pt x="12000" y="2000"/>
                  </a:cubicBezTo>
                  <a:cubicBezTo>
                    <a:pt x="16971" y="2000"/>
                    <a:pt x="21000" y="3343"/>
                    <a:pt x="21000" y="5000"/>
                  </a:cubicBezTo>
                  <a:close/>
                </a:path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20657"/>
                    <a:pt x="7029" y="22000"/>
                    <a:pt x="12000" y="22000"/>
                  </a:cubicBezTo>
                  <a:cubicBezTo>
                    <a:pt x="16971" y="22000"/>
                    <a:pt x="21000" y="20657"/>
                    <a:pt x="21000" y="19000"/>
                  </a:cubicBezTo>
                  <a:lnTo>
                    <a:pt x="21000" y="5000"/>
                  </a:lnTo>
                </a:path>
                <a:path w="24000" h="24000" fill="none">
                  <a:moveTo>
                    <a:pt x="3000" y="12000"/>
                  </a:moveTo>
                  <a:cubicBezTo>
                    <a:pt x="3000" y="13657"/>
                    <a:pt x="7029" y="15000"/>
                    <a:pt x="12000" y="15000"/>
                  </a:cubicBezTo>
                  <a:cubicBezTo>
                    <a:pt x="16971" y="15000"/>
                    <a:pt x="21000" y="13657"/>
                    <a:pt x="21000" y="12000"/>
                  </a:cubicBezTo>
                </a:path>
              </a:pathLst>
            </a:custGeom>
            <a:noFill/>
            <a:ln w="13411" cap="rnd">
              <a:solidFill>
                <a:srgbClr val="165FF2"/>
              </a:solidFill>
              <a:round/>
            </a:ln>
          </p:spPr>
        </p:sp>
        <p:sp>
          <p:nvSpPr>
            <p:cNvPr id="64" name="Master data title"/>
            <p:cNvSpPr txBox="1"/>
            <p:nvPr/>
          </p:nvSpPr>
          <p:spPr>
            <a:xfrm>
              <a:off x="594360" y="2187778"/>
              <a:ext cx="1463040" cy="221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Master data</a:t>
              </a:r>
              <a:endParaRPr lang="en-US" sz="720" dirty="0">
                <a:latin typeface="Inter SemiBold"/>
              </a:endParaRPr>
            </a:p>
            <a:p>
              <a:pPr algn="l">
                <a:lnSpc>
                  <a:spcPts val="769"/>
                </a:lnSpc>
                <a:spcBef>
                  <a:spcPts val="150"/>
                </a:spcBef>
                <a:buNone/>
              </a:pPr>
              <a:r>
                <a:rPr lang="en-US" sz="63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Set up in the application</a:t>
              </a:r>
              <a:endParaRPr lang="en-US" sz="630" dirty="0">
                <a:latin typeface="Inter"/>
              </a:endParaRPr>
            </a:p>
          </p:txBody>
        </p:sp>
        <p:grpSp>
          <p:nvGrpSpPr>
            <p:cNvPr id="65" name="Chip Zone → City → Store"/>
            <p:cNvGrpSpPr/>
            <p:nvPr/>
          </p:nvGrpSpPr>
          <p:grpSpPr>
            <a:xfrm>
              <a:off x="365760" y="2482748"/>
              <a:ext cx="839740" cy="137160"/>
              <a:chOff x="365760" y="2482748"/>
              <a:chExt cx="839740" cy="137160"/>
            </a:xfrm>
          </p:grpSpPr>
          <p:sp>
            <p:nvSpPr>
              <p:cNvPr id="66" name="Chip fill"/>
              <p:cNvSpPr/>
              <p:nvPr/>
            </p:nvSpPr>
            <p:spPr>
              <a:xfrm>
                <a:off x="365760" y="2482748"/>
                <a:ext cx="839740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1F5FA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67" name="Chip label"/>
              <p:cNvSpPr txBox="1"/>
              <p:nvPr/>
            </p:nvSpPr>
            <p:spPr>
              <a:xfrm>
                <a:off x="420624" y="2482748"/>
                <a:ext cx="75744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40566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Zone → City → Store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68" name="Chip Vendors &amp; SPOCs"/>
            <p:cNvGrpSpPr/>
            <p:nvPr/>
          </p:nvGrpSpPr>
          <p:grpSpPr>
            <a:xfrm>
              <a:off x="1251220" y="2482748"/>
              <a:ext cx="740898" cy="137160"/>
              <a:chOff x="1251220" y="2482748"/>
              <a:chExt cx="740898" cy="137160"/>
            </a:xfrm>
          </p:grpSpPr>
          <p:sp>
            <p:nvSpPr>
              <p:cNvPr id="69" name="Chip fill"/>
              <p:cNvSpPr/>
              <p:nvPr/>
            </p:nvSpPr>
            <p:spPr>
              <a:xfrm>
                <a:off x="1251220" y="2482748"/>
                <a:ext cx="740898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1F5FA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70" name="Chip label"/>
              <p:cNvSpPr txBox="1"/>
              <p:nvPr/>
            </p:nvSpPr>
            <p:spPr>
              <a:xfrm>
                <a:off x="1306084" y="2482748"/>
                <a:ext cx="65860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40566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Vendors &amp; SPOCs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71" name="Chip Low-fuel limits"/>
            <p:cNvGrpSpPr/>
            <p:nvPr/>
          </p:nvGrpSpPr>
          <p:grpSpPr>
            <a:xfrm>
              <a:off x="365760" y="2656484"/>
              <a:ext cx="636381" cy="137160"/>
              <a:chOff x="365760" y="2656484"/>
              <a:chExt cx="636381" cy="137160"/>
            </a:xfrm>
          </p:grpSpPr>
          <p:sp>
            <p:nvSpPr>
              <p:cNvPr id="72" name="Chip fill"/>
              <p:cNvSpPr/>
              <p:nvPr/>
            </p:nvSpPr>
            <p:spPr>
              <a:xfrm>
                <a:off x="365760" y="2656484"/>
                <a:ext cx="636381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1F5FA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73" name="Chip label"/>
              <p:cNvSpPr txBox="1"/>
              <p:nvPr/>
            </p:nvSpPr>
            <p:spPr>
              <a:xfrm>
                <a:off x="420624" y="2656484"/>
                <a:ext cx="55408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40566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Low-fuel limits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74" name="Manual trigger"/>
          <p:cNvGrpSpPr/>
          <p:nvPr/>
        </p:nvGrpSpPr>
        <p:grpSpPr>
          <a:xfrm>
            <a:off x="274320" y="2949092"/>
            <a:ext cx="1874520" cy="615010"/>
            <a:chOff x="274320" y="2949092"/>
            <a:chExt cx="1874520" cy="615010"/>
          </a:xfrm>
        </p:grpSpPr>
        <p:sp>
          <p:nvSpPr>
            <p:cNvPr id="75" name="Manual trigger"/>
            <p:cNvSpPr/>
            <p:nvPr/>
          </p:nvSpPr>
          <p:spPr>
            <a:xfrm>
              <a:off x="274320" y="2949092"/>
              <a:ext cx="1874520" cy="615010"/>
            </a:xfrm>
            <a:prstGeom prst="roundRect">
              <a:avLst>
                <a:gd name="adj" fmla="val 11894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76" name="Icon square-pen"/>
            <p:cNvSpPr/>
            <p:nvPr/>
          </p:nvSpPr>
          <p:spPr>
            <a:xfrm>
              <a:off x="365760" y="3045104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3000"/>
                  </a:moveTo>
                  <a:lnTo>
                    <a:pt x="5000" y="3000"/>
                  </a:lnTo>
                  <a:cubicBezTo>
                    <a:pt x="3895" y="3000"/>
                    <a:pt x="3000" y="3895"/>
                    <a:pt x="3000" y="5000"/>
                  </a:cubicBez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19000" y="21000"/>
                  </a:lnTo>
                  <a:cubicBezTo>
                    <a:pt x="20105" y="21000"/>
                    <a:pt x="21000" y="20105"/>
                    <a:pt x="21000" y="19000"/>
                  </a:cubicBezTo>
                  <a:lnTo>
                    <a:pt x="21000" y="12000"/>
                  </a:lnTo>
                </a:path>
                <a:path w="24000" h="24000" fill="none">
                  <a:moveTo>
                    <a:pt x="18375" y="2625"/>
                  </a:moveTo>
                  <a:cubicBezTo>
                    <a:pt x="19203" y="1797"/>
                    <a:pt x="20547" y="1797"/>
                    <a:pt x="21375" y="2625"/>
                  </a:cubicBezTo>
                  <a:cubicBezTo>
                    <a:pt x="22203" y="3453"/>
                    <a:pt x="22203" y="4797"/>
                    <a:pt x="21375" y="5625"/>
                  </a:cubicBezTo>
                  <a:lnTo>
                    <a:pt x="12362" y="14639"/>
                  </a:lnTo>
                  <a:cubicBezTo>
                    <a:pt x="12125" y="14876"/>
                    <a:pt x="11831" y="15050"/>
                    <a:pt x="11509" y="15144"/>
                  </a:cubicBezTo>
                  <a:lnTo>
                    <a:pt x="8636" y="15984"/>
                  </a:lnTo>
                  <a:cubicBezTo>
                    <a:pt x="8461" y="16035"/>
                    <a:pt x="8272" y="15987"/>
                    <a:pt x="8142" y="15858"/>
                  </a:cubicBezTo>
                  <a:cubicBezTo>
                    <a:pt x="8013" y="15728"/>
                    <a:pt x="7965" y="15539"/>
                    <a:pt x="8016" y="15364"/>
                  </a:cubicBezTo>
                  <a:lnTo>
                    <a:pt x="8856" y="12491"/>
                  </a:lnTo>
                  <a:cubicBezTo>
                    <a:pt x="8951" y="12169"/>
                    <a:pt x="9125" y="11876"/>
                    <a:pt x="9362" y="11639"/>
                  </a:cubicBezTo>
                  <a:close/>
                </a:path>
              </a:pathLst>
            </a:custGeom>
            <a:noFill/>
            <a:ln w="13411" cap="rnd">
              <a:solidFill>
                <a:srgbClr val="165FF2"/>
              </a:solidFill>
              <a:round/>
            </a:ln>
          </p:spPr>
        </p:sp>
        <p:sp>
          <p:nvSpPr>
            <p:cNvPr id="77" name="Manual trigger title"/>
            <p:cNvSpPr txBox="1"/>
            <p:nvPr/>
          </p:nvSpPr>
          <p:spPr>
            <a:xfrm>
              <a:off x="594360" y="3040532"/>
              <a:ext cx="1463040" cy="221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Manual trigger</a:t>
              </a:r>
              <a:endParaRPr lang="en-US" sz="720" dirty="0">
                <a:latin typeface="Inter SemiBold"/>
              </a:endParaRPr>
            </a:p>
            <a:p>
              <a:pPr algn="l">
                <a:lnSpc>
                  <a:spcPts val="769"/>
                </a:lnSpc>
                <a:spcBef>
                  <a:spcPts val="150"/>
                </a:spcBef>
                <a:buNone/>
              </a:pPr>
              <a:r>
                <a:rPr lang="en-US" sz="63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Store · Central · Super Admin</a:t>
              </a:r>
              <a:endParaRPr lang="en-US" sz="630" dirty="0">
                <a:latin typeface="Inter"/>
              </a:endParaRPr>
            </a:p>
          </p:txBody>
        </p:sp>
        <p:grpSp>
          <p:nvGrpSpPr>
            <p:cNvPr id="78" name="Chip On-demand refill"/>
            <p:cNvGrpSpPr/>
            <p:nvPr/>
          </p:nvGrpSpPr>
          <p:grpSpPr>
            <a:xfrm>
              <a:off x="365760" y="3335503"/>
              <a:ext cx="711510" cy="137160"/>
              <a:chOff x="365760" y="3335503"/>
              <a:chExt cx="711510" cy="137160"/>
            </a:xfrm>
          </p:grpSpPr>
          <p:sp>
            <p:nvSpPr>
              <p:cNvPr id="79" name="Chip fill"/>
              <p:cNvSpPr/>
              <p:nvPr/>
            </p:nvSpPr>
            <p:spPr>
              <a:xfrm>
                <a:off x="365760" y="3335503"/>
                <a:ext cx="711510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1F5FA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80" name="Chip label"/>
              <p:cNvSpPr txBox="1"/>
              <p:nvPr/>
            </p:nvSpPr>
            <p:spPr>
              <a:xfrm>
                <a:off x="420624" y="3335503"/>
                <a:ext cx="62921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40566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On-demand refill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sp>
        <p:nvSpPr>
          <p:cNvPr id="81" name="Application block"/>
          <p:cNvSpPr/>
          <p:nvPr/>
        </p:nvSpPr>
        <p:spPr>
          <a:xfrm>
            <a:off x="2286000" y="1243584"/>
            <a:ext cx="4617720" cy="2569743"/>
          </a:xfrm>
          <a:prstGeom prst="roundRect">
            <a:avLst>
              <a:gd name="adj" fmla="val 3202"/>
            </a:avLst>
          </a:prstGeom>
          <a:solidFill>
            <a:srgbClr val="F4F8FF"/>
          </a:solidFill>
          <a:ln w="9525">
            <a:solidFill>
              <a:srgbClr val="B8D0FD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82" name="Icon app-window"/>
          <p:cNvSpPr/>
          <p:nvPr/>
        </p:nvSpPr>
        <p:spPr>
          <a:xfrm>
            <a:off x="2395728" y="132588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  <a:path w="24000" h="24000" fill="none">
                <a:moveTo>
                  <a:pt x="10000" y="4000"/>
                </a:moveTo>
                <a:lnTo>
                  <a:pt x="10000" y="8000"/>
                </a:lnTo>
              </a:path>
              <a:path w="24000" h="24000" fill="none">
                <a:moveTo>
                  <a:pt x="2000" y="8000"/>
                </a:moveTo>
                <a:lnTo>
                  <a:pt x="22000" y="8000"/>
                </a:lnTo>
              </a:path>
              <a:path w="24000" h="24000" fill="none">
                <a:moveTo>
                  <a:pt x="6000" y="4000"/>
                </a:moveTo>
                <a:lnTo>
                  <a:pt x="6000" y="8000"/>
                </a:lnTo>
              </a:path>
            </a:pathLst>
          </a:custGeom>
          <a:noFill/>
          <a:ln w="13411" cap="rnd">
            <a:solidFill>
              <a:srgbClr val="165FF2"/>
            </a:solidFill>
            <a:round/>
          </a:ln>
        </p:spPr>
      </p:sp>
      <p:sp>
        <p:nvSpPr>
          <p:cNvPr id="83" name="Application label"/>
          <p:cNvSpPr txBox="1"/>
          <p:nvPr/>
        </p:nvSpPr>
        <p:spPr>
          <a:xfrm>
            <a:off x="2596896" y="1307592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buNone/>
            </a:pPr>
            <a:r>
              <a:rPr lang="en-US" sz="7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DG Fuel Management Application</a:t>
            </a:r>
            <a:r>
              <a:rPr lang="en-US" sz="6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 ·   IOsense cloud</a:t>
            </a:r>
            <a:endParaRPr lang="en-US" sz="740" dirty="0">
              <a:latin typeface="Inter SemiBold"/>
            </a:endParaRPr>
          </a:p>
        </p:txBody>
      </p:sp>
      <p:grpSp>
        <p:nvGrpSpPr>
          <p:cNvPr id="84" name="Chip Mobile-responsive web"/>
          <p:cNvGrpSpPr/>
          <p:nvPr/>
        </p:nvGrpSpPr>
        <p:grpSpPr>
          <a:xfrm>
            <a:off x="5730588" y="1325880"/>
            <a:ext cx="1063404" cy="137160"/>
            <a:chOff x="5730588" y="1325880"/>
            <a:chExt cx="1063404" cy="137160"/>
          </a:xfrm>
        </p:grpSpPr>
        <p:sp>
          <p:nvSpPr>
            <p:cNvPr id="85" name="Chip fill"/>
            <p:cNvSpPr/>
            <p:nvPr/>
          </p:nvSpPr>
          <p:spPr>
            <a:xfrm>
              <a:off x="5730588" y="1325880"/>
              <a:ext cx="1063404" cy="137160"/>
            </a:xfrm>
            <a:prstGeom prst="roundRect">
              <a:avLst>
                <a:gd name="adj" fmla="val 20000"/>
              </a:avLst>
            </a:prstGeom>
            <a:solidFill>
              <a:srgbClr val="0C192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6" name="Icon monitor"/>
            <p:cNvSpPr/>
            <p:nvPr/>
          </p:nvSpPr>
          <p:spPr>
            <a:xfrm>
              <a:off x="5790024" y="1351940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3000"/>
                  </a:moveTo>
                  <a:lnTo>
                    <a:pt x="20000" y="3000"/>
                  </a:lnTo>
                  <a:cubicBezTo>
                    <a:pt x="21105" y="3000"/>
                    <a:pt x="22000" y="3895"/>
                    <a:pt x="22000" y="5000"/>
                  </a:cubicBezTo>
                  <a:lnTo>
                    <a:pt x="22000" y="15000"/>
                  </a:lnTo>
                  <a:cubicBezTo>
                    <a:pt x="22000" y="16105"/>
                    <a:pt x="21105" y="17000"/>
                    <a:pt x="20000" y="17000"/>
                  </a:cubicBezTo>
                  <a:lnTo>
                    <a:pt x="4000" y="17000"/>
                  </a:lnTo>
                  <a:cubicBezTo>
                    <a:pt x="2895" y="17000"/>
                    <a:pt x="2000" y="16105"/>
                    <a:pt x="2000" y="15000"/>
                  </a:cubicBezTo>
                  <a:lnTo>
                    <a:pt x="2000" y="5000"/>
                  </a:lnTo>
                  <a:cubicBezTo>
                    <a:pt x="2000" y="3895"/>
                    <a:pt x="2895" y="3000"/>
                    <a:pt x="4000" y="3000"/>
                  </a:cubicBezTo>
                  <a:close/>
                </a:path>
                <a:path w="24000" h="24000" fill="none">
                  <a:moveTo>
                    <a:pt x="8000" y="21000"/>
                  </a:moveTo>
                  <a:lnTo>
                    <a:pt x="16000" y="21000"/>
                  </a:lnTo>
                </a:path>
                <a:path w="24000" h="24000" fill="none">
                  <a:moveTo>
                    <a:pt x="12000" y="17000"/>
                  </a:moveTo>
                  <a:lnTo>
                    <a:pt x="12000" y="21000"/>
                  </a:lnTo>
                </a:path>
              </a:pathLst>
            </a:custGeom>
            <a:noFill/>
            <a:ln w="7795" cap="rnd">
              <a:solidFill>
                <a:srgbClr val="FFFFFF"/>
              </a:solidFill>
              <a:round/>
            </a:ln>
          </p:spPr>
        </p:sp>
        <p:sp>
          <p:nvSpPr>
            <p:cNvPr id="87" name="Chip label"/>
            <p:cNvSpPr txBox="1"/>
            <p:nvPr/>
          </p:nvSpPr>
          <p:spPr>
            <a:xfrm>
              <a:off x="5902496" y="1325880"/>
              <a:ext cx="86406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Mobile-responsive web</a:t>
              </a:r>
              <a:endParaRPr lang="en-US" sz="580" dirty="0">
                <a:latin typeface="Inter SemiBold"/>
              </a:endParaRPr>
            </a:p>
          </p:txBody>
        </p:sp>
      </p:grpSp>
      <p:cxnSp>
        <p:nvCxnSpPr>
          <p:cNvPr id="88" name="Input link"/>
          <p:cNvCxnSpPr/>
          <p:nvPr/>
        </p:nvCxnSpPr>
        <p:spPr>
          <a:xfrm>
            <a:off x="2148840" y="1637957"/>
            <a:ext cx="137160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cxnSp>
        <p:nvCxnSpPr>
          <p:cNvPr id="89" name="Input link"/>
          <p:cNvCxnSpPr/>
          <p:nvPr/>
        </p:nvCxnSpPr>
        <p:spPr>
          <a:xfrm>
            <a:off x="2148840" y="2490711"/>
            <a:ext cx="137160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cxnSp>
        <p:nvCxnSpPr>
          <p:cNvPr id="90" name="Input link"/>
          <p:cNvCxnSpPr/>
          <p:nvPr/>
        </p:nvCxnSpPr>
        <p:spPr>
          <a:xfrm>
            <a:off x="2148840" y="3256597"/>
            <a:ext cx="137160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grpSp>
        <p:nvGrpSpPr>
          <p:cNvPr id="91" name="Live monitoring"/>
          <p:cNvGrpSpPr/>
          <p:nvPr/>
        </p:nvGrpSpPr>
        <p:grpSpPr>
          <a:xfrm>
            <a:off x="2395728" y="1572768"/>
            <a:ext cx="2157984" cy="382676"/>
            <a:chOff x="2395728" y="1572768"/>
            <a:chExt cx="2157984" cy="382676"/>
          </a:xfrm>
        </p:grpSpPr>
        <p:sp>
          <p:nvSpPr>
            <p:cNvPr id="92" name="Live monitoring"/>
            <p:cNvSpPr/>
            <p:nvPr/>
          </p:nvSpPr>
          <p:spPr>
            <a:xfrm>
              <a:off x="2395728" y="1572768"/>
              <a:ext cx="2157984" cy="382676"/>
            </a:xfrm>
            <a:prstGeom prst="roundRect">
              <a:avLst>
                <a:gd name="adj" fmla="val 16726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3" name="Icon activity"/>
            <p:cNvSpPr/>
            <p:nvPr/>
          </p:nvSpPr>
          <p:spPr>
            <a:xfrm>
              <a:off x="2468880" y="1650492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lnTo>
                    <a:pt x="19520" y="12000"/>
                  </a:lnTo>
                  <a:cubicBezTo>
                    <a:pt x="18622" y="11998"/>
                    <a:pt x="17833" y="12595"/>
                    <a:pt x="17590" y="13460"/>
                  </a:cubicBezTo>
                  <a:lnTo>
                    <a:pt x="15240" y="21820"/>
                  </a:lnTo>
                  <a:cubicBezTo>
                    <a:pt x="15209" y="21927"/>
                    <a:pt x="15111" y="22000"/>
                    <a:pt x="15000" y="22000"/>
                  </a:cubicBezTo>
                  <a:cubicBezTo>
                    <a:pt x="14889" y="22000"/>
                    <a:pt x="14791" y="21927"/>
                    <a:pt x="14760" y="21820"/>
                  </a:cubicBezTo>
                  <a:lnTo>
                    <a:pt x="9240" y="2180"/>
                  </a:lnTo>
                  <a:cubicBezTo>
                    <a:pt x="9209" y="2073"/>
                    <a:pt x="9111" y="2000"/>
                    <a:pt x="9000" y="2000"/>
                  </a:cubicBezTo>
                  <a:cubicBezTo>
                    <a:pt x="8889" y="2000"/>
                    <a:pt x="8791" y="2073"/>
                    <a:pt x="8760" y="2180"/>
                  </a:cubicBezTo>
                  <a:lnTo>
                    <a:pt x="6410" y="10540"/>
                  </a:lnTo>
                  <a:cubicBezTo>
                    <a:pt x="6168" y="11401"/>
                    <a:pt x="5384" y="11997"/>
                    <a:pt x="4490" y="12000"/>
                  </a:cubicBezTo>
                  <a:lnTo>
                    <a:pt x="2000" y="12000"/>
                  </a:lnTo>
                </a:path>
              </a:pathLst>
            </a:custGeom>
            <a:noFill/>
            <a:ln w="12573" cap="rnd">
              <a:solidFill>
                <a:srgbClr val="165FF2"/>
              </a:solidFill>
              <a:round/>
            </a:ln>
          </p:spPr>
        </p:sp>
        <p:sp>
          <p:nvSpPr>
            <p:cNvPr id="94" name="Live monitoring title"/>
            <p:cNvSpPr txBox="1"/>
            <p:nvPr/>
          </p:nvSpPr>
          <p:spPr>
            <a:xfrm>
              <a:off x="2688336" y="1645920"/>
              <a:ext cx="1792224" cy="1051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Live monitoring</a:t>
              </a:r>
              <a:endParaRPr lang="en-US" sz="720" dirty="0">
                <a:latin typeface="Inter SemiBold"/>
              </a:endParaRPr>
            </a:p>
          </p:txBody>
        </p:sp>
        <p:sp>
          <p:nvSpPr>
            <p:cNvPr id="95" name="Live monitoring desc"/>
            <p:cNvSpPr txBox="1"/>
            <p:nvPr/>
          </p:nvSpPr>
          <p:spPr>
            <a:xfrm>
              <a:off x="2468880" y="1783080"/>
              <a:ext cx="2011680" cy="99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1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Fuel, hours, energy and status per DG</a:t>
              </a:r>
              <a:endParaRPr lang="en-US" sz="630" dirty="0">
                <a:latin typeface="Inter"/>
              </a:endParaRPr>
            </a:p>
          </p:txBody>
        </p:sp>
      </p:grpSp>
      <p:grpSp>
        <p:nvGrpSpPr>
          <p:cNvPr id="96" name="Low-fuel evaluation"/>
          <p:cNvGrpSpPr/>
          <p:nvPr/>
        </p:nvGrpSpPr>
        <p:grpSpPr>
          <a:xfrm>
            <a:off x="2395728" y="2019452"/>
            <a:ext cx="2157984" cy="583844"/>
            <a:chOff x="2395728" y="2019452"/>
            <a:chExt cx="2157984" cy="583844"/>
          </a:xfrm>
        </p:grpSpPr>
        <p:sp>
          <p:nvSpPr>
            <p:cNvPr id="97" name="Low-fuel evaluation"/>
            <p:cNvSpPr/>
            <p:nvPr/>
          </p:nvSpPr>
          <p:spPr>
            <a:xfrm>
              <a:off x="2395728" y="2019452"/>
              <a:ext cx="2157984" cy="583844"/>
            </a:xfrm>
            <a:prstGeom prst="roundRect">
              <a:avLst>
                <a:gd name="adj" fmla="val 10963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8" name="Icon gauge"/>
            <p:cNvSpPr/>
            <p:nvPr/>
          </p:nvSpPr>
          <p:spPr>
            <a:xfrm>
              <a:off x="2468880" y="2097176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4000"/>
                  </a:moveTo>
                  <a:lnTo>
                    <a:pt x="16000" y="10000"/>
                  </a:lnTo>
                </a:path>
                <a:path w="24000" h="24000" fill="none">
                  <a:moveTo>
                    <a:pt x="3340" y="19000"/>
                  </a:moveTo>
                  <a:cubicBezTo>
                    <a:pt x="913" y="14797"/>
                    <a:pt x="1854" y="9459"/>
                    <a:pt x="5572" y="6339"/>
                  </a:cubicBezTo>
                  <a:cubicBezTo>
                    <a:pt x="9290" y="3220"/>
                    <a:pt x="14710" y="3220"/>
                    <a:pt x="18428" y="6339"/>
                  </a:cubicBezTo>
                  <a:cubicBezTo>
                    <a:pt x="22146" y="9459"/>
                    <a:pt x="23087" y="14797"/>
                    <a:pt x="20660" y="19000"/>
                  </a:cubicBezTo>
                </a:path>
              </a:pathLst>
            </a:custGeom>
            <a:noFill/>
            <a:ln w="12573" cap="rnd">
              <a:solidFill>
                <a:srgbClr val="165FF2"/>
              </a:solidFill>
              <a:round/>
            </a:ln>
          </p:spPr>
        </p:sp>
        <p:sp>
          <p:nvSpPr>
            <p:cNvPr id="99" name="Low-fuel evaluation title"/>
            <p:cNvSpPr txBox="1"/>
            <p:nvPr/>
          </p:nvSpPr>
          <p:spPr>
            <a:xfrm>
              <a:off x="2688336" y="2092604"/>
              <a:ext cx="1792224" cy="1051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Low-fuel evaluation</a:t>
              </a:r>
              <a:endParaRPr lang="en-US" sz="720" dirty="0">
                <a:latin typeface="Inter SemiBold"/>
              </a:endParaRPr>
            </a:p>
          </p:txBody>
        </p:sp>
        <p:sp>
          <p:nvSpPr>
            <p:cNvPr id="100" name="Low-fuel evaluation desc"/>
            <p:cNvSpPr txBox="1"/>
            <p:nvPr/>
          </p:nvSpPr>
          <p:spPr>
            <a:xfrm>
              <a:off x="2468880" y="2229764"/>
              <a:ext cx="2011680" cy="99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1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Below the limit for the waiting time</a:t>
              </a:r>
              <a:endParaRPr lang="en-US" sz="630" dirty="0">
                <a:latin typeface="Inter"/>
              </a:endParaRPr>
            </a:p>
          </p:txBody>
        </p:sp>
        <p:grpSp>
          <p:nvGrpSpPr>
            <p:cNvPr id="101" name="Chip DG › Store › City › Zone › Global"/>
            <p:cNvGrpSpPr/>
            <p:nvPr/>
          </p:nvGrpSpPr>
          <p:grpSpPr>
            <a:xfrm>
              <a:off x="2468880" y="2392985"/>
              <a:ext cx="1231713" cy="137160"/>
              <a:chOff x="2468880" y="2392985"/>
              <a:chExt cx="1231713" cy="137160"/>
            </a:xfrm>
          </p:grpSpPr>
          <p:sp>
            <p:nvSpPr>
              <p:cNvPr id="102" name="Chip fill"/>
              <p:cNvSpPr/>
              <p:nvPr/>
            </p:nvSpPr>
            <p:spPr>
              <a:xfrm>
                <a:off x="2468880" y="2392985"/>
                <a:ext cx="1231713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03" name="Chip label"/>
              <p:cNvSpPr txBox="1"/>
              <p:nvPr/>
            </p:nvSpPr>
            <p:spPr>
              <a:xfrm>
                <a:off x="2523744" y="2392985"/>
                <a:ext cx="1149417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E3FA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DG › Store › City › Zone › Global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104" name="Alert + refill work order"/>
          <p:cNvGrpSpPr/>
          <p:nvPr/>
        </p:nvGrpSpPr>
        <p:grpSpPr>
          <a:xfrm>
            <a:off x="2395728" y="2667305"/>
            <a:ext cx="2157984" cy="382676"/>
            <a:chOff x="2395728" y="2667305"/>
            <a:chExt cx="2157984" cy="382676"/>
          </a:xfrm>
        </p:grpSpPr>
        <p:sp>
          <p:nvSpPr>
            <p:cNvPr id="105" name="Alert + refill work order"/>
            <p:cNvSpPr/>
            <p:nvPr/>
          </p:nvSpPr>
          <p:spPr>
            <a:xfrm>
              <a:off x="2395728" y="2667305"/>
              <a:ext cx="2157984" cy="382676"/>
            </a:xfrm>
            <a:prstGeom prst="roundRect">
              <a:avLst>
                <a:gd name="adj" fmla="val 16726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06" name="Icon bell-ring"/>
            <p:cNvSpPr/>
            <p:nvPr/>
          </p:nvSpPr>
          <p:spPr>
            <a:xfrm>
              <a:off x="2468880" y="2745029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268" y="21000"/>
                  </a:moveTo>
                  <a:cubicBezTo>
                    <a:pt x="10625" y="21619"/>
                    <a:pt x="11286" y="22000"/>
                    <a:pt x="12000" y="22000"/>
                  </a:cubicBezTo>
                  <a:cubicBezTo>
                    <a:pt x="12714" y="22000"/>
                    <a:pt x="13375" y="21619"/>
                    <a:pt x="13732" y="21000"/>
                  </a:cubicBezTo>
                </a:path>
                <a:path w="24000" h="24000" fill="none">
                  <a:moveTo>
                    <a:pt x="22000" y="8000"/>
                  </a:moveTo>
                  <a:cubicBezTo>
                    <a:pt x="22000" y="5700"/>
                    <a:pt x="21200" y="3700"/>
                    <a:pt x="20000" y="2000"/>
                  </a:cubicBezTo>
                </a:path>
                <a:path w="24000" h="24000" fill="none">
                  <a:moveTo>
                    <a:pt x="3262" y="15326"/>
                  </a:moveTo>
                  <a:cubicBezTo>
                    <a:pt x="2995" y="15619"/>
                    <a:pt x="2926" y="16041"/>
                    <a:pt x="3086" y="16403"/>
                  </a:cubicBezTo>
                  <a:cubicBezTo>
                    <a:pt x="3245" y="16766"/>
                    <a:pt x="3604" y="17000"/>
                    <a:pt x="4000" y="17000"/>
                  </a:cubicBezTo>
                  <a:lnTo>
                    <a:pt x="20000" y="17000"/>
                  </a:lnTo>
                  <a:cubicBezTo>
                    <a:pt x="20396" y="17000"/>
                    <a:pt x="20755" y="16767"/>
                    <a:pt x="20915" y="16405"/>
                  </a:cubicBezTo>
                  <a:cubicBezTo>
                    <a:pt x="21075" y="16042"/>
                    <a:pt x="21006" y="15620"/>
                    <a:pt x="20740" y="15327"/>
                  </a:cubicBezTo>
                  <a:cubicBezTo>
                    <a:pt x="19410" y="13956"/>
                    <a:pt x="18000" y="12499"/>
                    <a:pt x="18000" y="8000"/>
                  </a:cubicBezTo>
                  <a:cubicBezTo>
                    <a:pt x="18000" y="4686"/>
                    <a:pt x="15314" y="2000"/>
                    <a:pt x="12000" y="2000"/>
                  </a:cubicBezTo>
                  <a:cubicBezTo>
                    <a:pt x="8686" y="2000"/>
                    <a:pt x="6000" y="4686"/>
                    <a:pt x="6000" y="8000"/>
                  </a:cubicBezTo>
                  <a:cubicBezTo>
                    <a:pt x="6000" y="12499"/>
                    <a:pt x="4589" y="13956"/>
                    <a:pt x="3262" y="15326"/>
                  </a:cubicBezTo>
                </a:path>
                <a:path w="24000" h="24000" fill="none">
                  <a:moveTo>
                    <a:pt x="4000" y="2000"/>
                  </a:moveTo>
                  <a:cubicBezTo>
                    <a:pt x="2800" y="3700"/>
                    <a:pt x="2000" y="5700"/>
                    <a:pt x="2000" y="8000"/>
                  </a:cubicBezTo>
                </a:path>
              </a:pathLst>
            </a:custGeom>
            <a:noFill/>
            <a:ln w="12573" cap="rnd">
              <a:solidFill>
                <a:srgbClr val="165FF2"/>
              </a:solidFill>
              <a:round/>
            </a:ln>
          </p:spPr>
        </p:sp>
        <p:sp>
          <p:nvSpPr>
            <p:cNvPr id="107" name="Alert + refill work order title"/>
            <p:cNvSpPr txBox="1"/>
            <p:nvPr/>
          </p:nvSpPr>
          <p:spPr>
            <a:xfrm>
              <a:off x="2688336" y="2740457"/>
              <a:ext cx="1792224" cy="1051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Alert + refill work order</a:t>
              </a:r>
              <a:endParaRPr lang="en-US" sz="720" dirty="0">
                <a:latin typeface="Inter SemiBold"/>
              </a:endParaRPr>
            </a:p>
          </p:txBody>
        </p:sp>
        <p:sp>
          <p:nvSpPr>
            <p:cNvPr id="108" name="Alert + refill work order desc"/>
            <p:cNvSpPr txBox="1"/>
            <p:nvPr/>
          </p:nvSpPr>
          <p:spPr>
            <a:xfrm>
              <a:off x="2468880" y="2877617"/>
              <a:ext cx="2011680" cy="99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1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One alert, one work order, unique ID</a:t>
              </a:r>
              <a:endParaRPr lang="en-US" sz="630" dirty="0">
                <a:latin typeface="Inter"/>
              </a:endParaRPr>
            </a:p>
          </p:txBody>
        </p:sp>
      </p:grpSp>
      <p:grpSp>
        <p:nvGrpSpPr>
          <p:cNvPr id="109" name="Decision"/>
          <p:cNvGrpSpPr/>
          <p:nvPr/>
        </p:nvGrpSpPr>
        <p:grpSpPr>
          <a:xfrm>
            <a:off x="4636008" y="1572768"/>
            <a:ext cx="2157984" cy="742315"/>
            <a:chOff x="4636008" y="1572768"/>
            <a:chExt cx="2157984" cy="742315"/>
          </a:xfrm>
        </p:grpSpPr>
        <p:sp>
          <p:nvSpPr>
            <p:cNvPr id="110" name="Decision card"/>
            <p:cNvSpPr/>
            <p:nvPr/>
          </p:nvSpPr>
          <p:spPr>
            <a:xfrm>
              <a:off x="4636008" y="1572768"/>
              <a:ext cx="2157984" cy="742315"/>
            </a:xfrm>
            <a:prstGeom prst="roundRect">
              <a:avLst>
                <a:gd name="adj" fmla="val 8623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11" name="Icon git-branch"/>
            <p:cNvSpPr/>
            <p:nvPr/>
          </p:nvSpPr>
          <p:spPr>
            <a:xfrm>
              <a:off x="4709160" y="1650492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3000"/>
                  </a:moveTo>
                  <a:lnTo>
                    <a:pt x="6000" y="15000"/>
                  </a:lnTo>
                </a:path>
                <a:path w="24000" h="24000" fill="none">
                  <a:moveTo>
                    <a:pt x="21000" y="6000"/>
                  </a:moveTo>
                  <a:cubicBezTo>
                    <a:pt x="21000" y="7657"/>
                    <a:pt x="19657" y="9000"/>
                    <a:pt x="18000" y="9000"/>
                  </a:cubicBezTo>
                  <a:cubicBezTo>
                    <a:pt x="16343" y="9000"/>
                    <a:pt x="15000" y="7657"/>
                    <a:pt x="15000" y="6000"/>
                  </a:cubicBezTo>
                  <a:cubicBezTo>
                    <a:pt x="15000" y="4343"/>
                    <a:pt x="16343" y="3000"/>
                    <a:pt x="18000" y="3000"/>
                  </a:cubicBezTo>
                  <a:cubicBezTo>
                    <a:pt x="19657" y="3000"/>
                    <a:pt x="21000" y="4343"/>
                    <a:pt x="21000" y="6000"/>
                  </a:cubicBezTo>
                  <a:close/>
                </a:path>
                <a:path w="24000" h="24000" fill="none">
                  <a:moveTo>
                    <a:pt x="9000" y="18000"/>
                  </a:moveTo>
                  <a:cubicBezTo>
                    <a:pt x="9000" y="19657"/>
                    <a:pt x="7657" y="21000"/>
                    <a:pt x="6000" y="21000"/>
                  </a:cubicBezTo>
                  <a:cubicBezTo>
                    <a:pt x="4343" y="21000"/>
                    <a:pt x="3000" y="19657"/>
                    <a:pt x="3000" y="18000"/>
                  </a:cubicBezTo>
                  <a:cubicBezTo>
                    <a:pt x="3000" y="16343"/>
                    <a:pt x="4343" y="15000"/>
                    <a:pt x="6000" y="15000"/>
                  </a:cubicBezTo>
                  <a:cubicBezTo>
                    <a:pt x="7657" y="15000"/>
                    <a:pt x="9000" y="16343"/>
                    <a:pt x="9000" y="18000"/>
                  </a:cubicBezTo>
                  <a:close/>
                </a:path>
                <a:path w="24000" h="24000" fill="none">
                  <a:moveTo>
                    <a:pt x="18000" y="9000"/>
                  </a:moveTo>
                  <a:cubicBezTo>
                    <a:pt x="18000" y="13971"/>
                    <a:pt x="13971" y="18000"/>
                    <a:pt x="9000" y="18000"/>
                  </a:cubicBezTo>
                </a:path>
              </a:pathLst>
            </a:custGeom>
            <a:noFill/>
            <a:ln w="12573" cap="rnd">
              <a:solidFill>
                <a:srgbClr val="165FF2"/>
              </a:solidFill>
              <a:round/>
            </a:ln>
          </p:spPr>
        </p:sp>
        <p:sp>
          <p:nvSpPr>
            <p:cNvPr id="112" name="Decision title"/>
            <p:cNvSpPr txBox="1"/>
            <p:nvPr/>
          </p:nvSpPr>
          <p:spPr>
            <a:xfrm>
              <a:off x="4928616" y="1645920"/>
              <a:ext cx="1792224" cy="1022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Auto-assignment  ·  primary vendor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113" name="Question"/>
            <p:cNvSpPr/>
            <p:nvPr/>
          </p:nvSpPr>
          <p:spPr>
            <a:xfrm>
              <a:off x="4709160" y="1812163"/>
              <a:ext cx="1833328" cy="173736"/>
            </a:xfrm>
            <a:prstGeom prst="roundRect">
              <a:avLst>
                <a:gd name="adj" fmla="val 21053"/>
              </a:avLst>
            </a:prstGeom>
            <a:solidFill>
              <a:srgbClr val="F1F5FA"/>
            </a:solidFill>
            <a:ln w="6350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14" name="Question text"/>
            <p:cNvSpPr txBox="1"/>
            <p:nvPr/>
          </p:nvSpPr>
          <p:spPr>
            <a:xfrm>
              <a:off x="4709160" y="1812163"/>
              <a:ext cx="1833328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30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Active vendor + SPOC mapped to the DG?</a:t>
              </a:r>
              <a:endParaRPr lang="en-US" sz="630" dirty="0">
                <a:latin typeface="Inter SemiBold"/>
              </a:endParaRPr>
            </a:p>
          </p:txBody>
        </p:sp>
        <p:cxnSp>
          <p:nvCxnSpPr>
            <p:cNvPr id="115" name="Yes link"/>
            <p:cNvCxnSpPr/>
            <p:nvPr/>
          </p:nvCxnSpPr>
          <p:spPr>
            <a:xfrm>
              <a:off x="4818888" y="1985899"/>
              <a:ext cx="0" cy="118872"/>
            </a:xfrm>
            <a:prstGeom prst="straightConnector1">
              <a:avLst/>
            </a:prstGeom>
            <a:noFill/>
            <a:ln w="6350">
              <a:solidFill>
                <a:srgbClr val="B1C1D2"/>
              </a:solidFill>
              <a:round/>
            </a:ln>
          </p:spPr>
        </p:cxnSp>
        <p:cxnSp>
          <p:nvCxnSpPr>
            <p:cNvPr id="116" name="No link"/>
            <p:cNvCxnSpPr/>
            <p:nvPr/>
          </p:nvCxnSpPr>
          <p:spPr>
            <a:xfrm>
              <a:off x="6496768" y="1985899"/>
              <a:ext cx="0" cy="59436"/>
            </a:xfrm>
            <a:prstGeom prst="straightConnector1">
              <a:avLst/>
            </a:prstGeom>
            <a:noFill/>
            <a:ln w="6350">
              <a:solidFill>
                <a:srgbClr val="B1C1D2"/>
              </a:solidFill>
              <a:round/>
            </a:ln>
          </p:spPr>
        </p:cxnSp>
        <p:cxnSp>
          <p:nvCxnSpPr>
            <p:cNvPr id="117" name="No link b"/>
            <p:cNvCxnSpPr/>
            <p:nvPr/>
          </p:nvCxnSpPr>
          <p:spPr>
            <a:xfrm flipH="1">
              <a:off x="6000850" y="2045335"/>
              <a:ext cx="495918" cy="0"/>
            </a:xfrm>
            <a:prstGeom prst="straightConnector1">
              <a:avLst/>
            </a:prstGeom>
            <a:noFill/>
            <a:ln w="6350">
              <a:solidFill>
                <a:srgbClr val="B1C1D2"/>
              </a:solidFill>
              <a:round/>
            </a:ln>
          </p:spPr>
        </p:cxnSp>
        <p:cxnSp>
          <p:nvCxnSpPr>
            <p:cNvPr id="118" name="No link c"/>
            <p:cNvCxnSpPr/>
            <p:nvPr/>
          </p:nvCxnSpPr>
          <p:spPr>
            <a:xfrm>
              <a:off x="6000850" y="2045335"/>
              <a:ext cx="0" cy="59436"/>
            </a:xfrm>
            <a:prstGeom prst="straightConnector1">
              <a:avLst/>
            </a:prstGeom>
            <a:noFill/>
            <a:ln w="6350">
              <a:solidFill>
                <a:srgbClr val="B1C1D2"/>
              </a:solidFill>
              <a:round/>
            </a:ln>
          </p:spPr>
        </p:cxnSp>
        <p:grpSp>
          <p:nvGrpSpPr>
            <p:cNvPr id="119" name="Chip Primary SPOC assigned"/>
            <p:cNvGrpSpPr/>
            <p:nvPr/>
          </p:nvGrpSpPr>
          <p:grpSpPr>
            <a:xfrm>
              <a:off x="4709160" y="2104771"/>
              <a:ext cx="1072234" cy="137160"/>
              <a:chOff x="4709160" y="2104771"/>
              <a:chExt cx="1072234" cy="137160"/>
            </a:xfrm>
          </p:grpSpPr>
          <p:sp>
            <p:nvSpPr>
              <p:cNvPr id="120" name="Chip fill"/>
              <p:cNvSpPr/>
              <p:nvPr/>
            </p:nvSpPr>
            <p:spPr>
              <a:xfrm>
                <a:off x="4709160" y="2104771"/>
                <a:ext cx="1072234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0A251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21" name="Icon circle-check"/>
              <p:cNvSpPr/>
              <p:nvPr/>
            </p:nvSpPr>
            <p:spPr>
              <a:xfrm>
                <a:off x="4768596" y="2130831"/>
                <a:ext cx="85039" cy="85039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7523"/>
                      <a:pt x="17523" y="22000"/>
                      <a:pt x="12000" y="22000"/>
                    </a:cubicBezTo>
                    <a:cubicBezTo>
                      <a:pt x="6477" y="22000"/>
                      <a:pt x="2000" y="17523"/>
                      <a:pt x="2000" y="12000"/>
                    </a:cubicBezTo>
                    <a:cubicBezTo>
                      <a:pt x="2000" y="6477"/>
                      <a:pt x="6477" y="2000"/>
                      <a:pt x="12000" y="2000"/>
                    </a:cubicBezTo>
                    <a:cubicBezTo>
                      <a:pt x="17523" y="2000"/>
                      <a:pt x="22000" y="6477"/>
                      <a:pt x="22000" y="12000"/>
                    </a:cubicBezTo>
                    <a:close/>
                  </a:path>
                  <a:path w="24000" h="24000" fill="none">
                    <a:moveTo>
                      <a:pt x="9000" y="12000"/>
                    </a:moveTo>
                    <a:lnTo>
                      <a:pt x="11000" y="14000"/>
                    </a:lnTo>
                    <a:lnTo>
                      <a:pt x="15000" y="10000"/>
                    </a:lnTo>
                  </a:path>
                </a:pathLst>
              </a:custGeom>
              <a:noFill/>
              <a:ln w="7795" cap="rnd">
                <a:solidFill>
                  <a:srgbClr val="008743"/>
                </a:solidFill>
                <a:round/>
              </a:ln>
            </p:spPr>
          </p:sp>
          <p:sp>
            <p:nvSpPr>
              <p:cNvPr id="122" name="Chip label"/>
              <p:cNvSpPr txBox="1"/>
              <p:nvPr/>
            </p:nvSpPr>
            <p:spPr>
              <a:xfrm>
                <a:off x="4881067" y="2104771"/>
                <a:ext cx="87289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0874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Primary SPOC assigned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23" name="Chip Mapping required"/>
            <p:cNvGrpSpPr/>
            <p:nvPr/>
          </p:nvGrpSpPr>
          <p:grpSpPr>
            <a:xfrm>
              <a:off x="5891122" y="2104771"/>
              <a:ext cx="856592" cy="137160"/>
              <a:chOff x="5891122" y="2104771"/>
              <a:chExt cx="856592" cy="137160"/>
            </a:xfrm>
          </p:grpSpPr>
          <p:sp>
            <p:nvSpPr>
              <p:cNvPr id="124" name="Chip fill"/>
              <p:cNvSpPr/>
              <p:nvPr/>
            </p:nvSpPr>
            <p:spPr>
              <a:xfrm>
                <a:off x="5891122" y="2104771"/>
                <a:ext cx="85659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E9690C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25" name="Icon circle-alert"/>
              <p:cNvSpPr/>
              <p:nvPr/>
            </p:nvSpPr>
            <p:spPr>
              <a:xfrm>
                <a:off x="5950558" y="2130831"/>
                <a:ext cx="85039" cy="85039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7523"/>
                      <a:pt x="17523" y="22000"/>
                      <a:pt x="12000" y="22000"/>
                    </a:cubicBezTo>
                    <a:cubicBezTo>
                      <a:pt x="6477" y="22000"/>
                      <a:pt x="2000" y="17523"/>
                      <a:pt x="2000" y="12000"/>
                    </a:cubicBezTo>
                    <a:cubicBezTo>
                      <a:pt x="2000" y="6477"/>
                      <a:pt x="6477" y="2000"/>
                      <a:pt x="12000" y="2000"/>
                    </a:cubicBezTo>
                    <a:cubicBezTo>
                      <a:pt x="17523" y="2000"/>
                      <a:pt x="22000" y="6477"/>
                      <a:pt x="22000" y="12000"/>
                    </a:cubicBezTo>
                    <a:close/>
                  </a:path>
                  <a:path w="24000" h="24000" fill="none">
                    <a:moveTo>
                      <a:pt x="12000" y="8000"/>
                    </a:moveTo>
                    <a:lnTo>
                      <a:pt x="12000" y="12000"/>
                    </a:lnTo>
                  </a:path>
                  <a:path w="24000" h="24000" fill="none">
                    <a:moveTo>
                      <a:pt x="12000" y="16000"/>
                    </a:moveTo>
                    <a:lnTo>
                      <a:pt x="12010" y="16000"/>
                    </a:lnTo>
                  </a:path>
                </a:pathLst>
              </a:custGeom>
              <a:noFill/>
              <a:ln w="7795" cap="rnd">
                <a:solidFill>
                  <a:srgbClr val="C65C10"/>
                </a:solidFill>
                <a:round/>
              </a:ln>
            </p:spPr>
          </p:sp>
          <p:sp>
            <p:nvSpPr>
              <p:cNvPr id="126" name="Chip label"/>
              <p:cNvSpPr txBox="1"/>
              <p:nvPr/>
            </p:nvSpPr>
            <p:spPr>
              <a:xfrm>
                <a:off x="6063029" y="2104771"/>
                <a:ext cx="657253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C65C1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Mapping required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127" name="Initial notification"/>
          <p:cNvGrpSpPr/>
          <p:nvPr/>
        </p:nvGrpSpPr>
        <p:grpSpPr>
          <a:xfrm>
            <a:off x="4636008" y="2379091"/>
            <a:ext cx="2157984" cy="382676"/>
            <a:chOff x="4636008" y="2379091"/>
            <a:chExt cx="2157984" cy="382676"/>
          </a:xfrm>
        </p:grpSpPr>
        <p:sp>
          <p:nvSpPr>
            <p:cNvPr id="128" name="Initial notification"/>
            <p:cNvSpPr/>
            <p:nvPr/>
          </p:nvSpPr>
          <p:spPr>
            <a:xfrm>
              <a:off x="4636008" y="2379091"/>
              <a:ext cx="2157984" cy="382676"/>
            </a:xfrm>
            <a:prstGeom prst="roundRect">
              <a:avLst>
                <a:gd name="adj" fmla="val 16726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29" name="Icon send"/>
            <p:cNvSpPr/>
            <p:nvPr/>
          </p:nvSpPr>
          <p:spPr>
            <a:xfrm>
              <a:off x="4709160" y="2456815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536" y="21686"/>
                  </a:moveTo>
                  <a:cubicBezTo>
                    <a:pt x="14614" y="21880"/>
                    <a:pt x="14804" y="22005"/>
                    <a:pt x="15013" y="22000"/>
                  </a:cubicBezTo>
                  <a:cubicBezTo>
                    <a:pt x="15222" y="21994"/>
                    <a:pt x="15405" y="21860"/>
                    <a:pt x="15473" y="21662"/>
                  </a:cubicBezTo>
                  <a:lnTo>
                    <a:pt x="21973" y="2662"/>
                  </a:lnTo>
                  <a:cubicBezTo>
                    <a:pt x="22038" y="2481"/>
                    <a:pt x="21993" y="2279"/>
                    <a:pt x="21857" y="2143"/>
                  </a:cubicBezTo>
                  <a:cubicBezTo>
                    <a:pt x="21721" y="2007"/>
                    <a:pt x="21519" y="1962"/>
                    <a:pt x="21338" y="2027"/>
                  </a:cubicBezTo>
                  <a:lnTo>
                    <a:pt x="2338" y="8527"/>
                  </a:lnTo>
                  <a:cubicBezTo>
                    <a:pt x="2140" y="8595"/>
                    <a:pt x="2006" y="8778"/>
                    <a:pt x="2000" y="8987"/>
                  </a:cubicBezTo>
                  <a:cubicBezTo>
                    <a:pt x="1995" y="9196"/>
                    <a:pt x="2120" y="9386"/>
                    <a:pt x="2314" y="9464"/>
                  </a:cubicBezTo>
                  <a:lnTo>
                    <a:pt x="10244" y="12644"/>
                  </a:lnTo>
                  <a:cubicBezTo>
                    <a:pt x="10751" y="12847"/>
                    <a:pt x="11152" y="13248"/>
                    <a:pt x="11356" y="13754"/>
                  </a:cubicBezTo>
                  <a:close/>
                </a:path>
                <a:path w="24000" h="24000" fill="none">
                  <a:moveTo>
                    <a:pt x="21854" y="2147"/>
                  </a:moveTo>
                  <a:lnTo>
                    <a:pt x="10914" y="13086"/>
                  </a:lnTo>
                </a:path>
              </a:pathLst>
            </a:custGeom>
            <a:noFill/>
            <a:ln w="12573" cap="rnd">
              <a:solidFill>
                <a:srgbClr val="165FF2"/>
              </a:solidFill>
              <a:round/>
            </a:ln>
          </p:spPr>
        </p:sp>
        <p:sp>
          <p:nvSpPr>
            <p:cNvPr id="130" name="Initial notification title"/>
            <p:cNvSpPr txBox="1"/>
            <p:nvPr/>
          </p:nvSpPr>
          <p:spPr>
            <a:xfrm>
              <a:off x="4928616" y="2452243"/>
              <a:ext cx="1792224" cy="1051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Initial notification</a:t>
              </a:r>
              <a:endParaRPr lang="en-US" sz="720" dirty="0">
                <a:latin typeface="Inter SemiBold"/>
              </a:endParaRPr>
            </a:p>
          </p:txBody>
        </p:sp>
        <p:sp>
          <p:nvSpPr>
            <p:cNvPr id="131" name="Initial notification desc"/>
            <p:cNvSpPr txBox="1"/>
            <p:nvPr/>
          </p:nvSpPr>
          <p:spPr>
            <a:xfrm>
              <a:off x="4709160" y="2589403"/>
              <a:ext cx="2011680" cy="99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1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Email · WhatsApp · in-app, as per access</a:t>
              </a:r>
              <a:endParaRPr lang="en-US" sz="630" dirty="0">
                <a:latin typeface="Inter"/>
              </a:endParaRPr>
            </a:p>
          </p:txBody>
        </p:sp>
      </p:grpSp>
      <p:grpSp>
        <p:nvGrpSpPr>
          <p:cNvPr id="132" name="Vendor execution"/>
          <p:cNvGrpSpPr/>
          <p:nvPr/>
        </p:nvGrpSpPr>
        <p:grpSpPr>
          <a:xfrm>
            <a:off x="4636008" y="2825775"/>
            <a:ext cx="2157984" cy="649224"/>
            <a:chOff x="4636008" y="2825775"/>
            <a:chExt cx="2157984" cy="649224"/>
          </a:xfrm>
        </p:grpSpPr>
        <p:sp>
          <p:nvSpPr>
            <p:cNvPr id="133" name="Vendor card"/>
            <p:cNvSpPr/>
            <p:nvPr/>
          </p:nvSpPr>
          <p:spPr>
            <a:xfrm>
              <a:off x="4636008" y="2825775"/>
              <a:ext cx="2157984" cy="649224"/>
            </a:xfrm>
            <a:prstGeom prst="roundRect">
              <a:avLst>
                <a:gd name="adj" fmla="val 9859"/>
              </a:avLst>
            </a:prstGeom>
            <a:solidFill>
              <a:srgbClr val="0C1927"/>
            </a:solidFill>
            <a:ln w="9525">
              <a:solidFill>
                <a:srgbClr val="0C1927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34" name="Icon user-check"/>
            <p:cNvSpPr/>
            <p:nvPr/>
          </p:nvSpPr>
          <p:spPr>
            <a:xfrm>
              <a:off x="4709160" y="2903499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16000" y="11000"/>
                  </a:moveTo>
                  <a:lnTo>
                    <a:pt x="18000" y="13000"/>
                  </a:lnTo>
                  <a:lnTo>
                    <a:pt x="22000" y="9000"/>
                  </a:lnTo>
                </a:path>
              </a:pathLst>
            </a:custGeom>
            <a:noFill/>
            <a:ln w="12573" cap="rnd">
              <a:solidFill>
                <a:srgbClr val="8AB1FB"/>
              </a:solidFill>
              <a:round/>
            </a:ln>
          </p:spPr>
        </p:sp>
        <p:sp>
          <p:nvSpPr>
            <p:cNvPr id="135" name="Vendor title"/>
            <p:cNvSpPr txBox="1"/>
            <p:nvPr/>
          </p:nvSpPr>
          <p:spPr>
            <a:xfrm>
              <a:off x="4928616" y="2898927"/>
              <a:ext cx="1792224" cy="1188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30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Vendor SPOC</a:t>
              </a:r>
              <a:r>
                <a:rPr lang="en-US" sz="640" b="0" i="0" spc="0" dirty="0">
                  <a:solidFill>
                    <a:srgbClr val="B1C1D2"/>
                  </a:solidFill>
                  <a:latin typeface="Inter"/>
                  <a:ea typeface="Inter"/>
                  <a:cs typeface="Inter"/>
                  <a:sym typeface="Inter"/>
                </a:rPr>
                <a:t>  ·  web portal</a:t>
              </a:r>
              <a:endParaRPr lang="en-US" sz="720" dirty="0">
                <a:latin typeface="Inter SemiBold"/>
              </a:endParaRPr>
            </a:p>
          </p:txBody>
        </p:sp>
        <p:grpSp>
          <p:nvGrpSpPr>
            <p:cNvPr id="136" name="Chip Acknowledge"/>
            <p:cNvGrpSpPr/>
            <p:nvPr/>
          </p:nvGrpSpPr>
          <p:grpSpPr>
            <a:xfrm>
              <a:off x="4709160" y="3081807"/>
              <a:ext cx="596118" cy="137160"/>
              <a:chOff x="4709160" y="3081807"/>
              <a:chExt cx="596118" cy="137160"/>
            </a:xfrm>
          </p:grpSpPr>
          <p:sp>
            <p:nvSpPr>
              <p:cNvPr id="137" name="Chip fill"/>
              <p:cNvSpPr/>
              <p:nvPr/>
            </p:nvSpPr>
            <p:spPr>
              <a:xfrm>
                <a:off x="4709160" y="3081807"/>
                <a:ext cx="596118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38" name="Chip label"/>
              <p:cNvSpPr txBox="1"/>
              <p:nvPr/>
            </p:nvSpPr>
            <p:spPr>
              <a:xfrm>
                <a:off x="4764024" y="3081807"/>
                <a:ext cx="51382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Acknowledge</a:t>
                </a:r>
                <a:endParaRPr lang="en-US" sz="580" dirty="0">
                  <a:latin typeface="Inter SemiBold"/>
                </a:endParaRPr>
              </a:p>
            </p:txBody>
          </p:sp>
        </p:grpSp>
        <p:sp>
          <p:nvSpPr>
            <p:cNvPr id="139" name="Icon chevron-right"/>
            <p:cNvSpPr/>
            <p:nvPr/>
          </p:nvSpPr>
          <p:spPr>
            <a:xfrm>
              <a:off x="5323566" y="3104667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9000" y="18000"/>
                  </a:moveTo>
                  <a:lnTo>
                    <a:pt x="15000" y="12000"/>
                  </a:lnTo>
                  <a:lnTo>
                    <a:pt x="9000" y="6000"/>
                  </a:lnTo>
                </a:path>
              </a:pathLst>
            </a:custGeom>
            <a:noFill/>
            <a:ln w="8382" cap="rnd">
              <a:solidFill>
                <a:srgbClr val="5A8DF7"/>
              </a:solidFill>
              <a:round/>
            </a:ln>
          </p:spPr>
        </p:sp>
        <p:grpSp>
          <p:nvGrpSpPr>
            <p:cNvPr id="140" name="Chip Refuel"/>
            <p:cNvGrpSpPr/>
            <p:nvPr/>
          </p:nvGrpSpPr>
          <p:grpSpPr>
            <a:xfrm>
              <a:off x="5442438" y="3081807"/>
              <a:ext cx="336998" cy="137160"/>
              <a:chOff x="5442438" y="3081807"/>
              <a:chExt cx="336998" cy="137160"/>
            </a:xfrm>
          </p:grpSpPr>
          <p:sp>
            <p:nvSpPr>
              <p:cNvPr id="141" name="Chip fill"/>
              <p:cNvSpPr/>
              <p:nvPr/>
            </p:nvSpPr>
            <p:spPr>
              <a:xfrm>
                <a:off x="5442438" y="3081807"/>
                <a:ext cx="336998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42" name="Chip label"/>
              <p:cNvSpPr txBox="1"/>
              <p:nvPr/>
            </p:nvSpPr>
            <p:spPr>
              <a:xfrm>
                <a:off x="5497302" y="3081807"/>
                <a:ext cx="25470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Refuel</a:t>
                </a:r>
                <a:endParaRPr lang="en-US" sz="580" dirty="0">
                  <a:latin typeface="Inter SemiBold"/>
                </a:endParaRPr>
              </a:p>
            </p:txBody>
          </p:sp>
        </p:grpSp>
        <p:sp>
          <p:nvSpPr>
            <p:cNvPr id="143" name="Icon chevron-right"/>
            <p:cNvSpPr/>
            <p:nvPr/>
          </p:nvSpPr>
          <p:spPr>
            <a:xfrm>
              <a:off x="5797725" y="3104667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9000" y="18000"/>
                  </a:moveTo>
                  <a:lnTo>
                    <a:pt x="15000" y="12000"/>
                  </a:lnTo>
                  <a:lnTo>
                    <a:pt x="9000" y="6000"/>
                  </a:lnTo>
                </a:path>
              </a:pathLst>
            </a:custGeom>
            <a:noFill/>
            <a:ln w="8382" cap="rnd">
              <a:solidFill>
                <a:srgbClr val="5A8DF7"/>
              </a:solidFill>
              <a:round/>
            </a:ln>
          </p:spPr>
        </p:sp>
        <p:grpSp>
          <p:nvGrpSpPr>
            <p:cNvPr id="144" name="Chip Enter litres"/>
            <p:cNvGrpSpPr/>
            <p:nvPr/>
          </p:nvGrpSpPr>
          <p:grpSpPr>
            <a:xfrm>
              <a:off x="5916597" y="3081807"/>
              <a:ext cx="492256" cy="137160"/>
              <a:chOff x="5916597" y="3081807"/>
              <a:chExt cx="492256" cy="137160"/>
            </a:xfrm>
          </p:grpSpPr>
          <p:sp>
            <p:nvSpPr>
              <p:cNvPr id="145" name="Chip fill"/>
              <p:cNvSpPr/>
              <p:nvPr/>
            </p:nvSpPr>
            <p:spPr>
              <a:xfrm>
                <a:off x="5916597" y="3081807"/>
                <a:ext cx="492256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46" name="Chip label"/>
              <p:cNvSpPr txBox="1"/>
              <p:nvPr/>
            </p:nvSpPr>
            <p:spPr>
              <a:xfrm>
                <a:off x="5971461" y="3081807"/>
                <a:ext cx="40996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Enter litres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47" name="Chip Proof"/>
            <p:cNvGrpSpPr/>
            <p:nvPr/>
          </p:nvGrpSpPr>
          <p:grpSpPr>
            <a:xfrm>
              <a:off x="4709160" y="3264687"/>
              <a:ext cx="303185" cy="137160"/>
              <a:chOff x="4709160" y="3264687"/>
              <a:chExt cx="303185" cy="137160"/>
            </a:xfrm>
          </p:grpSpPr>
          <p:sp>
            <p:nvSpPr>
              <p:cNvPr id="148" name="Chip fill"/>
              <p:cNvSpPr/>
              <p:nvPr/>
            </p:nvSpPr>
            <p:spPr>
              <a:xfrm>
                <a:off x="4709160" y="3264687"/>
                <a:ext cx="303185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49" name="Chip label"/>
              <p:cNvSpPr txBox="1"/>
              <p:nvPr/>
            </p:nvSpPr>
            <p:spPr>
              <a:xfrm>
                <a:off x="4764024" y="3264687"/>
                <a:ext cx="220889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Proof</a:t>
                </a:r>
                <a:endParaRPr lang="en-US" sz="580" dirty="0">
                  <a:latin typeface="Inter SemiBold"/>
                </a:endParaRPr>
              </a:p>
            </p:txBody>
          </p:sp>
        </p:grpSp>
        <p:sp>
          <p:nvSpPr>
            <p:cNvPr id="150" name="Icon chevron-right"/>
            <p:cNvSpPr/>
            <p:nvPr/>
          </p:nvSpPr>
          <p:spPr>
            <a:xfrm>
              <a:off x="5030633" y="3287547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9000" y="18000"/>
                  </a:moveTo>
                  <a:lnTo>
                    <a:pt x="15000" y="12000"/>
                  </a:lnTo>
                  <a:lnTo>
                    <a:pt x="9000" y="6000"/>
                  </a:lnTo>
                </a:path>
              </a:pathLst>
            </a:custGeom>
            <a:noFill/>
            <a:ln w="8382" cap="rnd">
              <a:solidFill>
                <a:srgbClr val="5A8DF7"/>
              </a:solidFill>
              <a:round/>
            </a:ln>
          </p:spPr>
        </p:sp>
        <p:grpSp>
          <p:nvGrpSpPr>
            <p:cNvPr id="151" name="Chip Submit"/>
            <p:cNvGrpSpPr/>
            <p:nvPr/>
          </p:nvGrpSpPr>
          <p:grpSpPr>
            <a:xfrm>
              <a:off x="5149505" y="3264687"/>
              <a:ext cx="360295" cy="137160"/>
              <a:chOff x="5149505" y="3264687"/>
              <a:chExt cx="360295" cy="137160"/>
            </a:xfrm>
          </p:grpSpPr>
          <p:sp>
            <p:nvSpPr>
              <p:cNvPr id="152" name="Chip fill"/>
              <p:cNvSpPr/>
              <p:nvPr/>
            </p:nvSpPr>
            <p:spPr>
              <a:xfrm>
                <a:off x="5149505" y="3264687"/>
                <a:ext cx="360295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53" name="Chip label"/>
              <p:cNvSpPr txBox="1"/>
              <p:nvPr/>
            </p:nvSpPr>
            <p:spPr>
              <a:xfrm>
                <a:off x="5204369" y="3264687"/>
                <a:ext cx="277999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Submit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sp>
        <p:nvSpPr>
          <p:cNvPr id="154" name="Status label"/>
          <p:cNvSpPr txBox="1"/>
          <p:nvPr/>
        </p:nvSpPr>
        <p:spPr>
          <a:xfrm>
            <a:off x="2395728" y="3557295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60" dirty="0">
                <a:solidFill>
                  <a:srgbClr val="40566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STATUS</a:t>
            </a:r>
            <a:endParaRPr lang="en-US" sz="560" dirty="0">
              <a:latin typeface="Inter SemiBold"/>
            </a:endParaRPr>
          </a:p>
        </p:txBody>
      </p:sp>
      <p:sp>
        <p:nvSpPr>
          <p:cNvPr id="155" name="Pill"/>
          <p:cNvSpPr/>
          <p:nvPr/>
        </p:nvSpPr>
        <p:spPr>
          <a:xfrm>
            <a:off x="2871216" y="3557295"/>
            <a:ext cx="402142" cy="155448"/>
          </a:xfrm>
          <a:prstGeom prst="roundRect">
            <a:avLst>
              <a:gd name="adj" fmla="val 20000"/>
            </a:avLst>
          </a:prstGeom>
          <a:solidFill>
            <a:srgbClr val="F4F8FF"/>
          </a:solidFill>
          <a:ln w="6350">
            <a:solidFill>
              <a:srgbClr val="B8D0FD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56" name="Pill label"/>
          <p:cNvSpPr txBox="1"/>
          <p:nvPr/>
        </p:nvSpPr>
        <p:spPr>
          <a:xfrm>
            <a:off x="2871216" y="3557295"/>
            <a:ext cx="402142" cy="155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Created</a:t>
            </a:r>
            <a:endParaRPr lang="en-US" sz="580" dirty="0">
              <a:latin typeface="Inter SemiBold"/>
            </a:endParaRPr>
          </a:p>
        </p:txBody>
      </p:sp>
      <p:sp>
        <p:nvSpPr>
          <p:cNvPr id="157" name="Icon chevron-right"/>
          <p:cNvSpPr/>
          <p:nvPr/>
        </p:nvSpPr>
        <p:spPr>
          <a:xfrm>
            <a:off x="3287074" y="3589299"/>
            <a:ext cx="91440" cy="9144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8382" cap="rnd">
            <a:solidFill>
              <a:srgbClr val="90A5BB"/>
            </a:solidFill>
            <a:round/>
          </a:ln>
        </p:spPr>
      </p:sp>
      <p:sp>
        <p:nvSpPr>
          <p:cNvPr id="158" name="Pill"/>
          <p:cNvSpPr/>
          <p:nvPr/>
        </p:nvSpPr>
        <p:spPr>
          <a:xfrm>
            <a:off x="3392230" y="3557295"/>
            <a:ext cx="452803" cy="155448"/>
          </a:xfrm>
          <a:prstGeom prst="roundRect">
            <a:avLst>
              <a:gd name="adj" fmla="val 20000"/>
            </a:avLst>
          </a:prstGeom>
          <a:solidFill>
            <a:srgbClr val="F4F8FF"/>
          </a:solidFill>
          <a:ln w="6350">
            <a:solidFill>
              <a:srgbClr val="B8D0FD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59" name="Pill label"/>
          <p:cNvSpPr txBox="1"/>
          <p:nvPr/>
        </p:nvSpPr>
        <p:spPr>
          <a:xfrm>
            <a:off x="3392230" y="3557295"/>
            <a:ext cx="452803" cy="155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Assigned</a:t>
            </a:r>
            <a:endParaRPr lang="en-US" sz="580" dirty="0">
              <a:latin typeface="Inter SemiBold"/>
            </a:endParaRPr>
          </a:p>
        </p:txBody>
      </p:sp>
      <p:sp>
        <p:nvSpPr>
          <p:cNvPr id="160" name="Icon chevron-right"/>
          <p:cNvSpPr/>
          <p:nvPr/>
        </p:nvSpPr>
        <p:spPr>
          <a:xfrm>
            <a:off x="3858748" y="3589299"/>
            <a:ext cx="91440" cy="9144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8382" cap="rnd">
            <a:solidFill>
              <a:srgbClr val="90A5BB"/>
            </a:solidFill>
            <a:round/>
          </a:ln>
        </p:spPr>
      </p:sp>
      <p:sp>
        <p:nvSpPr>
          <p:cNvPr id="161" name="Pill"/>
          <p:cNvSpPr/>
          <p:nvPr/>
        </p:nvSpPr>
        <p:spPr>
          <a:xfrm>
            <a:off x="3963904" y="3557295"/>
            <a:ext cx="651220" cy="155448"/>
          </a:xfrm>
          <a:prstGeom prst="roundRect">
            <a:avLst>
              <a:gd name="adj" fmla="val 20000"/>
            </a:avLst>
          </a:prstGeom>
          <a:solidFill>
            <a:srgbClr val="F4F8FF"/>
          </a:solidFill>
          <a:ln w="6350">
            <a:solidFill>
              <a:srgbClr val="B8D0FD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62" name="Pill label"/>
          <p:cNvSpPr txBox="1"/>
          <p:nvPr/>
        </p:nvSpPr>
        <p:spPr>
          <a:xfrm>
            <a:off x="3963904" y="3557295"/>
            <a:ext cx="651220" cy="155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Acknowledged</a:t>
            </a:r>
            <a:endParaRPr lang="en-US" sz="580" dirty="0">
              <a:latin typeface="Inter SemiBold"/>
            </a:endParaRPr>
          </a:p>
        </p:txBody>
      </p:sp>
      <p:sp>
        <p:nvSpPr>
          <p:cNvPr id="163" name="Icon chevron-right"/>
          <p:cNvSpPr/>
          <p:nvPr/>
        </p:nvSpPr>
        <p:spPr>
          <a:xfrm>
            <a:off x="4628840" y="3589299"/>
            <a:ext cx="91440" cy="9144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8382" cap="rnd">
            <a:solidFill>
              <a:srgbClr val="90A5BB"/>
            </a:solidFill>
            <a:round/>
          </a:ln>
        </p:spPr>
      </p:sp>
      <p:sp>
        <p:nvSpPr>
          <p:cNvPr id="164" name="Pill"/>
          <p:cNvSpPr/>
          <p:nvPr/>
        </p:nvSpPr>
        <p:spPr>
          <a:xfrm>
            <a:off x="4733996" y="3557295"/>
            <a:ext cx="456573" cy="155448"/>
          </a:xfrm>
          <a:prstGeom prst="roundRect">
            <a:avLst>
              <a:gd name="adj" fmla="val 20000"/>
            </a:avLst>
          </a:prstGeom>
          <a:solidFill>
            <a:srgbClr val="F4F8FF"/>
          </a:solidFill>
          <a:ln w="6350">
            <a:solidFill>
              <a:srgbClr val="B8D0FD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65" name="Pill label"/>
          <p:cNvSpPr txBox="1"/>
          <p:nvPr/>
        </p:nvSpPr>
        <p:spPr>
          <a:xfrm>
            <a:off x="4733996" y="3557295"/>
            <a:ext cx="456573" cy="155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Refueling</a:t>
            </a:r>
            <a:endParaRPr lang="en-US" sz="580" dirty="0">
              <a:latin typeface="Inter SemiBold"/>
            </a:endParaRPr>
          </a:p>
        </p:txBody>
      </p:sp>
      <p:sp>
        <p:nvSpPr>
          <p:cNvPr id="166" name="Icon chevron-right"/>
          <p:cNvSpPr/>
          <p:nvPr/>
        </p:nvSpPr>
        <p:spPr>
          <a:xfrm>
            <a:off x="5204285" y="3589299"/>
            <a:ext cx="91440" cy="9144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8382" cap="rnd">
            <a:solidFill>
              <a:srgbClr val="90A5BB"/>
            </a:solidFill>
            <a:round/>
          </a:ln>
        </p:spPr>
      </p:sp>
      <p:sp>
        <p:nvSpPr>
          <p:cNvPr id="167" name="Pill"/>
          <p:cNvSpPr/>
          <p:nvPr/>
        </p:nvSpPr>
        <p:spPr>
          <a:xfrm>
            <a:off x="5309441" y="3557295"/>
            <a:ext cx="483739" cy="155448"/>
          </a:xfrm>
          <a:prstGeom prst="roundRect">
            <a:avLst>
              <a:gd name="adj" fmla="val 20000"/>
            </a:avLst>
          </a:prstGeom>
          <a:solidFill>
            <a:srgbClr val="F4F8FF"/>
          </a:solidFill>
          <a:ln w="6350">
            <a:solidFill>
              <a:srgbClr val="B8D0FD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68" name="Pill label"/>
          <p:cNvSpPr txBox="1"/>
          <p:nvPr/>
        </p:nvSpPr>
        <p:spPr>
          <a:xfrm>
            <a:off x="5309441" y="3557295"/>
            <a:ext cx="483739" cy="155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Submitted</a:t>
            </a:r>
            <a:endParaRPr lang="en-US" sz="580" dirty="0">
              <a:latin typeface="Inter SemiBold"/>
            </a:endParaRPr>
          </a:p>
        </p:txBody>
      </p:sp>
      <p:sp>
        <p:nvSpPr>
          <p:cNvPr id="169" name="Icon chevron-right"/>
          <p:cNvSpPr/>
          <p:nvPr/>
        </p:nvSpPr>
        <p:spPr>
          <a:xfrm>
            <a:off x="5806896" y="3589299"/>
            <a:ext cx="91440" cy="9144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8382" cap="rnd">
            <a:solidFill>
              <a:srgbClr val="90A5BB"/>
            </a:solidFill>
            <a:round/>
          </a:ln>
        </p:spPr>
      </p:sp>
      <p:sp>
        <p:nvSpPr>
          <p:cNvPr id="170" name="Pill"/>
          <p:cNvSpPr/>
          <p:nvPr/>
        </p:nvSpPr>
        <p:spPr>
          <a:xfrm>
            <a:off x="5912052" y="3557295"/>
            <a:ext cx="507909" cy="155448"/>
          </a:xfrm>
          <a:prstGeom prst="roundRect">
            <a:avLst>
              <a:gd name="adj" fmla="val 20000"/>
            </a:avLst>
          </a:prstGeom>
          <a:solidFill>
            <a:srgbClr val="EBFAF3"/>
          </a:solidFill>
          <a:ln w="6350">
            <a:solidFill>
              <a:srgbClr val="B6ECD1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71" name="Pill label"/>
          <p:cNvSpPr txBox="1"/>
          <p:nvPr/>
        </p:nvSpPr>
        <p:spPr>
          <a:xfrm>
            <a:off x="5912052" y="3557295"/>
            <a:ext cx="507909" cy="155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00874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Completed</a:t>
            </a:r>
            <a:endParaRPr lang="en-US" sz="580" dirty="0">
              <a:latin typeface="Inter SemiBold"/>
            </a:endParaRPr>
          </a:p>
        </p:txBody>
      </p:sp>
      <p:cxnSp>
        <p:nvCxnSpPr>
          <p:cNvPr id="172" name="Output link"/>
          <p:cNvCxnSpPr/>
          <p:nvPr/>
        </p:nvCxnSpPr>
        <p:spPr>
          <a:xfrm>
            <a:off x="6903720" y="1517904"/>
            <a:ext cx="137160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grpSp>
        <p:nvGrpSpPr>
          <p:cNvPr id="173" name="Dashboards &amp; views"/>
          <p:cNvGrpSpPr/>
          <p:nvPr/>
        </p:nvGrpSpPr>
        <p:grpSpPr>
          <a:xfrm>
            <a:off x="7040880" y="1243584"/>
            <a:ext cx="1828800" cy="596722"/>
            <a:chOff x="7040880" y="1243584"/>
            <a:chExt cx="1828800" cy="596722"/>
          </a:xfrm>
        </p:grpSpPr>
        <p:sp>
          <p:nvSpPr>
            <p:cNvPr id="174" name="Dashboards &amp; views"/>
            <p:cNvSpPr/>
            <p:nvPr/>
          </p:nvSpPr>
          <p:spPr>
            <a:xfrm>
              <a:off x="7040880" y="1243584"/>
              <a:ext cx="1828800" cy="596722"/>
            </a:xfrm>
            <a:prstGeom prst="roundRect">
              <a:avLst>
                <a:gd name="adj" fmla="val 12259"/>
              </a:avLst>
            </a:prstGeom>
            <a:solidFill>
              <a:srgbClr val="165FF2"/>
            </a:solidFill>
            <a:ln w="9525">
              <a:solidFill>
                <a:srgbClr val="165FF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75" name="Icon layout-dashboard"/>
            <p:cNvSpPr/>
            <p:nvPr/>
          </p:nvSpPr>
          <p:spPr>
            <a:xfrm>
              <a:off x="7123176" y="1330452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3000"/>
                  </a:moveTo>
                  <a:lnTo>
                    <a:pt x="9000" y="3000"/>
                  </a:lnTo>
                  <a:cubicBezTo>
                    <a:pt x="9552" y="3000"/>
                    <a:pt x="10000" y="3448"/>
                    <a:pt x="10000" y="4000"/>
                  </a:cubicBezTo>
                  <a:lnTo>
                    <a:pt x="10000" y="11000"/>
                  </a:lnTo>
                  <a:cubicBezTo>
                    <a:pt x="10000" y="11552"/>
                    <a:pt x="9552" y="12000"/>
                    <a:pt x="9000" y="12000"/>
                  </a:cubicBezTo>
                  <a:lnTo>
                    <a:pt x="4000" y="12000"/>
                  </a:lnTo>
                  <a:cubicBezTo>
                    <a:pt x="3448" y="12000"/>
                    <a:pt x="3000" y="11552"/>
                    <a:pt x="3000" y="11000"/>
                  </a:cubicBezTo>
                  <a:lnTo>
                    <a:pt x="3000" y="4000"/>
                  </a:lnTo>
                  <a:cubicBezTo>
                    <a:pt x="3000" y="3448"/>
                    <a:pt x="3448" y="3000"/>
                    <a:pt x="4000" y="3000"/>
                  </a:cubicBezTo>
                  <a:close/>
                </a:path>
                <a:path w="24000" h="24000" fill="none">
                  <a:moveTo>
                    <a:pt x="15000" y="3000"/>
                  </a:moveTo>
                  <a:lnTo>
                    <a:pt x="20000" y="3000"/>
                  </a:lnTo>
                  <a:cubicBezTo>
                    <a:pt x="20552" y="3000"/>
                    <a:pt x="21000" y="3448"/>
                    <a:pt x="21000" y="4000"/>
                  </a:cubicBezTo>
                  <a:lnTo>
                    <a:pt x="21000" y="7000"/>
                  </a:lnTo>
                  <a:cubicBezTo>
                    <a:pt x="21000" y="7552"/>
                    <a:pt x="20552" y="8000"/>
                    <a:pt x="20000" y="8000"/>
                  </a:cubicBezTo>
                  <a:lnTo>
                    <a:pt x="15000" y="8000"/>
                  </a:lnTo>
                  <a:cubicBezTo>
                    <a:pt x="14448" y="8000"/>
                    <a:pt x="14000" y="7552"/>
                    <a:pt x="14000" y="7000"/>
                  </a:cubicBezTo>
                  <a:lnTo>
                    <a:pt x="14000" y="4000"/>
                  </a:lnTo>
                  <a:cubicBezTo>
                    <a:pt x="14000" y="3448"/>
                    <a:pt x="14448" y="3000"/>
                    <a:pt x="15000" y="3000"/>
                  </a:cubicBezTo>
                  <a:close/>
                </a:path>
                <a:path w="24000" h="24000" fill="none">
                  <a:moveTo>
                    <a:pt x="15000" y="12000"/>
                  </a:moveTo>
                  <a:lnTo>
                    <a:pt x="20000" y="12000"/>
                  </a:lnTo>
                  <a:cubicBezTo>
                    <a:pt x="20552" y="12000"/>
                    <a:pt x="21000" y="12448"/>
                    <a:pt x="21000" y="13000"/>
                  </a:cubicBezTo>
                  <a:lnTo>
                    <a:pt x="21000" y="20000"/>
                  </a:lnTo>
                  <a:cubicBezTo>
                    <a:pt x="21000" y="20552"/>
                    <a:pt x="20552" y="21000"/>
                    <a:pt x="20000" y="21000"/>
                  </a:cubicBezTo>
                  <a:lnTo>
                    <a:pt x="15000" y="21000"/>
                  </a:lnTo>
                  <a:cubicBezTo>
                    <a:pt x="14448" y="21000"/>
                    <a:pt x="14000" y="20552"/>
                    <a:pt x="14000" y="20000"/>
                  </a:cubicBezTo>
                  <a:lnTo>
                    <a:pt x="14000" y="13000"/>
                  </a:lnTo>
                  <a:cubicBezTo>
                    <a:pt x="14000" y="12448"/>
                    <a:pt x="14448" y="12000"/>
                    <a:pt x="15000" y="12000"/>
                  </a:cubicBezTo>
                  <a:close/>
                </a:path>
                <a:path w="24000" h="24000" fill="none">
                  <a:moveTo>
                    <a:pt x="4000" y="16000"/>
                  </a:moveTo>
                  <a:lnTo>
                    <a:pt x="9000" y="16000"/>
                  </a:lnTo>
                  <a:cubicBezTo>
                    <a:pt x="9552" y="16000"/>
                    <a:pt x="10000" y="16448"/>
                    <a:pt x="10000" y="17000"/>
                  </a:cubicBezTo>
                  <a:lnTo>
                    <a:pt x="10000" y="20000"/>
                  </a:lnTo>
                  <a:cubicBezTo>
                    <a:pt x="10000" y="20552"/>
                    <a:pt x="9552" y="21000"/>
                    <a:pt x="9000" y="21000"/>
                  </a:cubicBezTo>
                  <a:lnTo>
                    <a:pt x="4000" y="21000"/>
                  </a:lnTo>
                  <a:cubicBezTo>
                    <a:pt x="3448" y="21000"/>
                    <a:pt x="3000" y="20552"/>
                    <a:pt x="3000" y="20000"/>
                  </a:cubicBezTo>
                  <a:lnTo>
                    <a:pt x="3000" y="17000"/>
                  </a:lnTo>
                  <a:cubicBezTo>
                    <a:pt x="3000" y="16448"/>
                    <a:pt x="3448" y="16000"/>
                    <a:pt x="4000" y="16000"/>
                  </a:cubicBezTo>
                  <a:close/>
                </a:path>
              </a:pathLst>
            </a:custGeom>
            <a:noFill/>
            <a:ln w="13411" cap="rnd">
              <a:solidFill>
                <a:srgbClr val="FFFFFF"/>
              </a:solidFill>
              <a:round/>
            </a:ln>
          </p:spPr>
        </p:sp>
        <p:sp>
          <p:nvSpPr>
            <p:cNvPr id="176" name="Dashboards &amp; views title"/>
            <p:cNvSpPr txBox="1"/>
            <p:nvPr/>
          </p:nvSpPr>
          <p:spPr>
            <a:xfrm>
              <a:off x="7351776" y="1325880"/>
              <a:ext cx="1435608" cy="221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Dashboards &amp; views</a:t>
              </a:r>
              <a:endParaRPr lang="en-US" sz="720" dirty="0">
                <a:latin typeface="Inter SemiBold"/>
              </a:endParaRPr>
            </a:p>
            <a:p>
              <a:pPr algn="l">
                <a:lnSpc>
                  <a:spcPts val="769"/>
                </a:lnSpc>
                <a:spcBef>
                  <a:spcPts val="150"/>
                </a:spcBef>
                <a:buNone/>
              </a:pPr>
              <a:r>
                <a:rPr lang="en-US" sz="630" b="0" i="0" spc="0" dirty="0">
                  <a:solidFill>
                    <a:srgbClr val="DCE8FE"/>
                  </a:solidFill>
                  <a:latin typeface="Inter"/>
                  <a:ea typeface="Inter"/>
                  <a:cs typeface="Inter"/>
                  <a:sym typeface="Inter"/>
                </a:rPr>
                <a:t>Store, city and zone by access</a:t>
              </a:r>
              <a:endParaRPr lang="en-US" sz="630" dirty="0">
                <a:latin typeface="Inter"/>
              </a:endParaRPr>
            </a:p>
          </p:txBody>
        </p:sp>
        <p:grpSp>
          <p:nvGrpSpPr>
            <p:cNvPr id="177" name="Chip Fuel status"/>
            <p:cNvGrpSpPr/>
            <p:nvPr/>
          </p:nvGrpSpPr>
          <p:grpSpPr>
            <a:xfrm>
              <a:off x="7123176" y="1620850"/>
              <a:ext cx="497733" cy="137160"/>
              <a:chOff x="7123176" y="1620850"/>
              <a:chExt cx="497733" cy="137160"/>
            </a:xfrm>
          </p:grpSpPr>
          <p:sp>
            <p:nvSpPr>
              <p:cNvPr id="178" name="Chip fill"/>
              <p:cNvSpPr/>
              <p:nvPr/>
            </p:nvSpPr>
            <p:spPr>
              <a:xfrm>
                <a:off x="7123176" y="1620850"/>
                <a:ext cx="497733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79" name="Chip label"/>
              <p:cNvSpPr txBox="1"/>
              <p:nvPr/>
            </p:nvSpPr>
            <p:spPr>
              <a:xfrm>
                <a:off x="7178040" y="1620850"/>
                <a:ext cx="415437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Fuel status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80" name="Chip Alerts"/>
            <p:cNvGrpSpPr/>
            <p:nvPr/>
          </p:nvGrpSpPr>
          <p:grpSpPr>
            <a:xfrm>
              <a:off x="7666629" y="1620850"/>
              <a:ext cx="322592" cy="137160"/>
              <a:chOff x="7666629" y="1620850"/>
              <a:chExt cx="322592" cy="137160"/>
            </a:xfrm>
          </p:grpSpPr>
          <p:sp>
            <p:nvSpPr>
              <p:cNvPr id="181" name="Chip fill"/>
              <p:cNvSpPr/>
              <p:nvPr/>
            </p:nvSpPr>
            <p:spPr>
              <a:xfrm>
                <a:off x="7666629" y="1620850"/>
                <a:ext cx="32259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82" name="Chip label"/>
              <p:cNvSpPr txBox="1"/>
              <p:nvPr/>
            </p:nvSpPr>
            <p:spPr>
              <a:xfrm>
                <a:off x="7721493" y="1620850"/>
                <a:ext cx="24029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Alerts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83" name="Chip Work orders"/>
            <p:cNvGrpSpPr/>
            <p:nvPr/>
          </p:nvGrpSpPr>
          <p:grpSpPr>
            <a:xfrm>
              <a:off x="8034941" y="1620850"/>
              <a:ext cx="548573" cy="137160"/>
              <a:chOff x="8034941" y="1620850"/>
              <a:chExt cx="548573" cy="137160"/>
            </a:xfrm>
          </p:grpSpPr>
          <p:sp>
            <p:nvSpPr>
              <p:cNvPr id="184" name="Chip fill"/>
              <p:cNvSpPr/>
              <p:nvPr/>
            </p:nvSpPr>
            <p:spPr>
              <a:xfrm>
                <a:off x="8034941" y="1620850"/>
                <a:ext cx="548573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85" name="Chip label"/>
              <p:cNvSpPr txBox="1"/>
              <p:nvPr/>
            </p:nvSpPr>
            <p:spPr>
              <a:xfrm>
                <a:off x="8089805" y="1620850"/>
                <a:ext cx="466277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Work orders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186" name="Billing &amp; Oracle Fusion"/>
          <p:cNvGrpSpPr/>
          <p:nvPr/>
        </p:nvGrpSpPr>
        <p:grpSpPr>
          <a:xfrm>
            <a:off x="7040880" y="1904314"/>
            <a:ext cx="1828800" cy="770458"/>
            <a:chOff x="7040880" y="1904314"/>
            <a:chExt cx="1828800" cy="770458"/>
          </a:xfrm>
        </p:grpSpPr>
        <p:sp>
          <p:nvSpPr>
            <p:cNvPr id="187" name="Billing &amp; Oracle Fusion"/>
            <p:cNvSpPr/>
            <p:nvPr/>
          </p:nvSpPr>
          <p:spPr>
            <a:xfrm>
              <a:off x="7040880" y="1904314"/>
              <a:ext cx="1828800" cy="770458"/>
            </a:xfrm>
            <a:prstGeom prst="roundRect">
              <a:avLst>
                <a:gd name="adj" fmla="val 9495"/>
              </a:avLst>
            </a:prstGeom>
            <a:solidFill>
              <a:srgbClr val="0C1927"/>
            </a:solidFill>
            <a:ln w="9525">
              <a:solidFill>
                <a:srgbClr val="0C1927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88" name="Icon receipt"/>
            <p:cNvSpPr/>
            <p:nvPr/>
          </p:nvSpPr>
          <p:spPr>
            <a:xfrm>
              <a:off x="7123176" y="1991182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2000"/>
                  </a:moveTo>
                  <a:lnTo>
                    <a:pt x="4000" y="22000"/>
                  </a:lnTo>
                  <a:lnTo>
                    <a:pt x="6000" y="21000"/>
                  </a:lnTo>
                  <a:lnTo>
                    <a:pt x="8000" y="22000"/>
                  </a:lnTo>
                  <a:lnTo>
                    <a:pt x="10000" y="21000"/>
                  </a:lnTo>
                  <a:lnTo>
                    <a:pt x="12000" y="22000"/>
                  </a:lnTo>
                  <a:lnTo>
                    <a:pt x="14000" y="21000"/>
                  </a:lnTo>
                  <a:lnTo>
                    <a:pt x="16000" y="22000"/>
                  </a:lnTo>
                  <a:lnTo>
                    <a:pt x="18000" y="21000"/>
                  </a:lnTo>
                  <a:lnTo>
                    <a:pt x="20000" y="22000"/>
                  </a:lnTo>
                  <a:lnTo>
                    <a:pt x="20000" y="2000"/>
                  </a:lnTo>
                  <a:lnTo>
                    <a:pt x="18000" y="3000"/>
                  </a:lnTo>
                  <a:lnTo>
                    <a:pt x="16000" y="2000"/>
                  </a:lnTo>
                  <a:lnTo>
                    <a:pt x="14000" y="3000"/>
                  </a:lnTo>
                  <a:lnTo>
                    <a:pt x="12000" y="2000"/>
                  </a:lnTo>
                  <a:lnTo>
                    <a:pt x="10000" y="3000"/>
                  </a:lnTo>
                  <a:lnTo>
                    <a:pt x="8000" y="2000"/>
                  </a:lnTo>
                  <a:lnTo>
                    <a:pt x="6000" y="3000"/>
                  </a:lnTo>
                  <a:close/>
                </a:path>
                <a:path w="24000" h="24000" fill="none">
                  <a:moveTo>
                    <a:pt x="16000" y="8000"/>
                  </a:moveTo>
                  <a:lnTo>
                    <a:pt x="10000" y="8000"/>
                  </a:lnTo>
                  <a:cubicBezTo>
                    <a:pt x="8895" y="8000"/>
                    <a:pt x="8000" y="8895"/>
                    <a:pt x="8000" y="10000"/>
                  </a:cubicBezTo>
                  <a:cubicBezTo>
                    <a:pt x="8000" y="11105"/>
                    <a:pt x="8895" y="12000"/>
                    <a:pt x="10000" y="12000"/>
                  </a:cubicBezTo>
                  <a:lnTo>
                    <a:pt x="14000" y="12000"/>
                  </a:lnTo>
                  <a:cubicBezTo>
                    <a:pt x="15105" y="12000"/>
                    <a:pt x="16000" y="12895"/>
                    <a:pt x="16000" y="14000"/>
                  </a:cubicBezTo>
                  <a:cubicBezTo>
                    <a:pt x="16000" y="15105"/>
                    <a:pt x="15105" y="16000"/>
                    <a:pt x="14000" y="16000"/>
                  </a:cubicBezTo>
                  <a:lnTo>
                    <a:pt x="8000" y="16000"/>
                  </a:lnTo>
                </a:path>
                <a:path w="24000" h="24000" fill="none">
                  <a:moveTo>
                    <a:pt x="12000" y="17500"/>
                  </a:moveTo>
                  <a:lnTo>
                    <a:pt x="12000" y="6500"/>
                  </a:lnTo>
                </a:path>
              </a:pathLst>
            </a:custGeom>
            <a:noFill/>
            <a:ln w="13411" cap="rnd">
              <a:solidFill>
                <a:srgbClr val="FFFFFF"/>
              </a:solidFill>
              <a:round/>
            </a:ln>
          </p:spPr>
        </p:sp>
        <p:sp>
          <p:nvSpPr>
            <p:cNvPr id="189" name="Billing &amp; Oracle Fusion title"/>
            <p:cNvSpPr txBox="1"/>
            <p:nvPr/>
          </p:nvSpPr>
          <p:spPr>
            <a:xfrm>
              <a:off x="7351776" y="1986610"/>
              <a:ext cx="1435608" cy="221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Billing &amp; Oracle Fusion</a:t>
              </a:r>
              <a:endParaRPr lang="en-US" sz="720" dirty="0">
                <a:latin typeface="Inter SemiBold"/>
              </a:endParaRPr>
            </a:p>
            <a:p>
              <a:pPr algn="l">
                <a:lnSpc>
                  <a:spcPts val="769"/>
                </a:lnSpc>
                <a:spcBef>
                  <a:spcPts val="150"/>
                </a:spcBef>
                <a:buNone/>
              </a:pPr>
              <a:r>
                <a:rPr lang="en-US" sz="630" b="0" i="0" spc="0" dirty="0">
                  <a:solidFill>
                    <a:srgbClr val="B1C1D2"/>
                  </a:solidFill>
                  <a:latin typeface="Inter"/>
                  <a:ea typeface="Inter"/>
                  <a:cs typeface="Inter"/>
                  <a:sym typeface="Inter"/>
                </a:rPr>
                <a:t>Line items → invoice → Fusion</a:t>
              </a:r>
              <a:endParaRPr lang="en-US" sz="630" dirty="0">
                <a:latin typeface="Inter"/>
              </a:endParaRPr>
            </a:p>
          </p:txBody>
        </p:sp>
        <p:grpSp>
          <p:nvGrpSpPr>
            <p:cNvPr id="190" name="Chip Refill charge"/>
            <p:cNvGrpSpPr/>
            <p:nvPr/>
          </p:nvGrpSpPr>
          <p:grpSpPr>
            <a:xfrm>
              <a:off x="7123176" y="2281580"/>
              <a:ext cx="553474" cy="137160"/>
              <a:chOff x="7123176" y="2281580"/>
              <a:chExt cx="553474" cy="137160"/>
            </a:xfrm>
          </p:grpSpPr>
          <p:sp>
            <p:nvSpPr>
              <p:cNvPr id="191" name="Chip fill"/>
              <p:cNvSpPr/>
              <p:nvPr/>
            </p:nvSpPr>
            <p:spPr>
              <a:xfrm>
                <a:off x="7123176" y="2281580"/>
                <a:ext cx="553474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92" name="Chip label"/>
              <p:cNvSpPr txBox="1"/>
              <p:nvPr/>
            </p:nvSpPr>
            <p:spPr>
              <a:xfrm>
                <a:off x="7178040" y="2281580"/>
                <a:ext cx="47117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Refill charge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93" name="Chip Fuel / hours"/>
            <p:cNvGrpSpPr/>
            <p:nvPr/>
          </p:nvGrpSpPr>
          <p:grpSpPr>
            <a:xfrm>
              <a:off x="7722370" y="2281580"/>
              <a:ext cx="528292" cy="137160"/>
              <a:chOff x="7722370" y="2281580"/>
              <a:chExt cx="528292" cy="137160"/>
            </a:xfrm>
          </p:grpSpPr>
          <p:sp>
            <p:nvSpPr>
              <p:cNvPr id="194" name="Chip fill"/>
              <p:cNvSpPr/>
              <p:nvPr/>
            </p:nvSpPr>
            <p:spPr>
              <a:xfrm>
                <a:off x="7722370" y="2281580"/>
                <a:ext cx="52829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95" name="Chip label"/>
              <p:cNvSpPr txBox="1"/>
              <p:nvPr/>
            </p:nvSpPr>
            <p:spPr>
              <a:xfrm>
                <a:off x="7777234" y="2281580"/>
                <a:ext cx="44599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Fuel / hours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96" name="Chip Invoice locked"/>
            <p:cNvGrpSpPr/>
            <p:nvPr/>
          </p:nvGrpSpPr>
          <p:grpSpPr>
            <a:xfrm>
              <a:off x="7123176" y="2455316"/>
              <a:ext cx="621816" cy="137160"/>
              <a:chOff x="7123176" y="2455316"/>
              <a:chExt cx="621816" cy="137160"/>
            </a:xfrm>
          </p:grpSpPr>
          <p:sp>
            <p:nvSpPr>
              <p:cNvPr id="197" name="Chip fill"/>
              <p:cNvSpPr/>
              <p:nvPr/>
            </p:nvSpPr>
            <p:spPr>
              <a:xfrm>
                <a:off x="7123176" y="2455316"/>
                <a:ext cx="621816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98" name="Chip label"/>
              <p:cNvSpPr txBox="1"/>
              <p:nvPr/>
            </p:nvSpPr>
            <p:spPr>
              <a:xfrm>
                <a:off x="7178040" y="2455316"/>
                <a:ext cx="53952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Invoice locked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199" name="Transactions &amp; downloads"/>
          <p:cNvGrpSpPr/>
          <p:nvPr/>
        </p:nvGrpSpPr>
        <p:grpSpPr>
          <a:xfrm>
            <a:off x="7040880" y="2738780"/>
            <a:ext cx="1828800" cy="386410"/>
            <a:chOff x="7040880" y="2738780"/>
            <a:chExt cx="1828800" cy="386410"/>
          </a:xfrm>
        </p:grpSpPr>
        <p:sp>
          <p:nvSpPr>
            <p:cNvPr id="200" name="Transactions &amp; downloads"/>
            <p:cNvSpPr/>
            <p:nvPr/>
          </p:nvSpPr>
          <p:spPr>
            <a:xfrm>
              <a:off x="7040880" y="2738780"/>
              <a:ext cx="1828800" cy="386410"/>
            </a:xfrm>
            <a:prstGeom prst="roundRect">
              <a:avLst>
                <a:gd name="adj" fmla="val 18931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01" name="Icon download"/>
            <p:cNvSpPr/>
            <p:nvPr/>
          </p:nvSpPr>
          <p:spPr>
            <a:xfrm>
              <a:off x="7123176" y="2825648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15000"/>
                  </a:moveTo>
                  <a:lnTo>
                    <a:pt x="21000" y="19000"/>
                  </a:lnTo>
                  <a:cubicBezTo>
                    <a:pt x="21000" y="20105"/>
                    <a:pt x="20105" y="21000"/>
                    <a:pt x="19000" y="21000"/>
                  </a:cubicBezTo>
                  <a:lnTo>
                    <a:pt x="5000" y="21000"/>
                  </a:lnTo>
                  <a:cubicBezTo>
                    <a:pt x="3895" y="21000"/>
                    <a:pt x="3000" y="20105"/>
                    <a:pt x="3000" y="19000"/>
                  </a:cubicBezTo>
                  <a:lnTo>
                    <a:pt x="3000" y="15000"/>
                  </a:lnTo>
                </a:path>
                <a:path w="24000" h="24000" fill="none">
                  <a:moveTo>
                    <a:pt x="7000" y="10000"/>
                  </a:moveTo>
                  <a:lnTo>
                    <a:pt x="12000" y="15000"/>
                  </a:lnTo>
                  <a:lnTo>
                    <a:pt x="17000" y="10000"/>
                  </a:lnTo>
                </a:path>
                <a:path w="24000" h="24000" fill="none">
                  <a:moveTo>
                    <a:pt x="12000" y="15000"/>
                  </a:moveTo>
                  <a:lnTo>
                    <a:pt x="12000" y="3000"/>
                  </a:lnTo>
                </a:path>
              </a:pathLst>
            </a:custGeom>
            <a:noFill/>
            <a:ln w="13411" cap="rnd">
              <a:solidFill>
                <a:srgbClr val="165FF2"/>
              </a:solidFill>
              <a:round/>
            </a:ln>
          </p:spPr>
        </p:sp>
        <p:sp>
          <p:nvSpPr>
            <p:cNvPr id="202" name="Transactions &amp; downloads title"/>
            <p:cNvSpPr txBox="1"/>
            <p:nvPr/>
          </p:nvSpPr>
          <p:spPr>
            <a:xfrm>
              <a:off x="7351776" y="2821076"/>
              <a:ext cx="1435608" cy="221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Transactions &amp; downloads</a:t>
              </a:r>
              <a:endParaRPr lang="en-US" sz="720" dirty="0">
                <a:latin typeface="Inter SemiBold"/>
              </a:endParaRPr>
            </a:p>
            <a:p>
              <a:pPr algn="l">
                <a:lnSpc>
                  <a:spcPts val="769"/>
                </a:lnSpc>
                <a:spcBef>
                  <a:spcPts val="150"/>
                </a:spcBef>
                <a:buNone/>
              </a:pPr>
              <a:r>
                <a:rPr lang="en-US" sz="63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Filter by zone, city, store, vendor</a:t>
              </a:r>
              <a:endParaRPr lang="en-US" sz="630" dirty="0">
                <a:latin typeface="Inter"/>
              </a:endParaRPr>
            </a:p>
          </p:txBody>
        </p:sp>
      </p:grpSp>
      <p:grpSp>
        <p:nvGrpSpPr>
          <p:cNvPr id="203" name="Audit history"/>
          <p:cNvGrpSpPr/>
          <p:nvPr/>
        </p:nvGrpSpPr>
        <p:grpSpPr>
          <a:xfrm>
            <a:off x="7040880" y="3189199"/>
            <a:ext cx="1828800" cy="386410"/>
            <a:chOff x="7040880" y="3189199"/>
            <a:chExt cx="1828800" cy="386410"/>
          </a:xfrm>
        </p:grpSpPr>
        <p:sp>
          <p:nvSpPr>
            <p:cNvPr id="204" name="Audit history"/>
            <p:cNvSpPr/>
            <p:nvPr/>
          </p:nvSpPr>
          <p:spPr>
            <a:xfrm>
              <a:off x="7040880" y="3189199"/>
              <a:ext cx="1828800" cy="386410"/>
            </a:xfrm>
            <a:prstGeom prst="roundRect">
              <a:avLst>
                <a:gd name="adj" fmla="val 18931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05" name="Icon history"/>
            <p:cNvSpPr/>
            <p:nvPr/>
          </p:nvSpPr>
          <p:spPr>
            <a:xfrm>
              <a:off x="7123176" y="3276067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2000"/>
                  </a:moveTo>
                  <a:cubicBezTo>
                    <a:pt x="3000" y="16971"/>
                    <a:pt x="7029" y="21000"/>
                    <a:pt x="12000" y="21000"/>
                  </a:cubicBezTo>
                  <a:cubicBezTo>
                    <a:pt x="16971" y="21000"/>
                    <a:pt x="21000" y="16971"/>
                    <a:pt x="21000" y="12000"/>
                  </a:cubicBezTo>
                  <a:cubicBezTo>
                    <a:pt x="21000" y="7029"/>
                    <a:pt x="16971" y="3000"/>
                    <a:pt x="12000" y="3000"/>
                  </a:cubicBezTo>
                  <a:cubicBezTo>
                    <a:pt x="9484" y="3009"/>
                    <a:pt x="7069" y="3991"/>
                    <a:pt x="5260" y="5740"/>
                  </a:cubicBezTo>
                  <a:lnTo>
                    <a:pt x="3000" y="8000"/>
                  </a:lnTo>
                </a:path>
                <a:path w="24000" h="24000" fill="none">
                  <a:moveTo>
                    <a:pt x="3000" y="3000"/>
                  </a:moveTo>
                  <a:lnTo>
                    <a:pt x="3000" y="8000"/>
                  </a:lnTo>
                  <a:lnTo>
                    <a:pt x="8000" y="8000"/>
                  </a:lnTo>
                </a:path>
                <a:path w="24000" h="24000" fill="none">
                  <a:moveTo>
                    <a:pt x="12000" y="7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13411" cap="rnd">
              <a:solidFill>
                <a:srgbClr val="165FF2"/>
              </a:solidFill>
              <a:round/>
            </a:ln>
          </p:spPr>
        </p:sp>
        <p:sp>
          <p:nvSpPr>
            <p:cNvPr id="206" name="Audit history title"/>
            <p:cNvSpPr txBox="1"/>
            <p:nvPr/>
          </p:nvSpPr>
          <p:spPr>
            <a:xfrm>
              <a:off x="7351776" y="3271495"/>
              <a:ext cx="1435608" cy="221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Audit history</a:t>
              </a:r>
              <a:endParaRPr lang="en-US" sz="720" dirty="0">
                <a:latin typeface="Inter SemiBold"/>
              </a:endParaRPr>
            </a:p>
            <a:p>
              <a:pPr algn="l">
                <a:lnSpc>
                  <a:spcPts val="769"/>
                </a:lnSpc>
                <a:spcBef>
                  <a:spcPts val="150"/>
                </a:spcBef>
                <a:buNone/>
              </a:pPr>
              <a:r>
                <a:rPr lang="en-US" sz="63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Alerts, actions and transactions</a:t>
              </a:r>
              <a:endParaRPr lang="en-US" sz="630" dirty="0">
                <a:latin typeface="Inter"/>
              </a:endParaRPr>
            </a:p>
          </p:txBody>
        </p:sp>
      </p:grpSp>
      <p:grpSp>
        <p:nvGrpSpPr>
          <p:cNvPr id="207" name="Band"/>
          <p:cNvGrpSpPr/>
          <p:nvPr/>
        </p:nvGrpSpPr>
        <p:grpSpPr>
          <a:xfrm>
            <a:off x="274320" y="3913911"/>
            <a:ext cx="8595360" cy="886689"/>
            <a:chOff x="274320" y="3913911"/>
            <a:chExt cx="8595360" cy="886689"/>
          </a:xfrm>
        </p:grpSpPr>
        <p:sp>
          <p:nvSpPr>
            <p:cNvPr id="208" name="Band"/>
            <p:cNvSpPr/>
            <p:nvPr/>
          </p:nvSpPr>
          <p:spPr>
            <a:xfrm>
              <a:off x="274320" y="3913911"/>
              <a:ext cx="8595360" cy="886689"/>
            </a:xfrm>
            <a:prstGeom prst="roundRect">
              <a:avLst>
                <a:gd name="adj" fmla="val 825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09" name="Icon shield-check"/>
            <p:cNvSpPr/>
            <p:nvPr/>
          </p:nvSpPr>
          <p:spPr>
            <a:xfrm>
              <a:off x="393192" y="4014495"/>
              <a:ext cx="173736" cy="17373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13000"/>
                  </a:moveTo>
                  <a:cubicBezTo>
                    <a:pt x="20000" y="18000"/>
                    <a:pt x="16500" y="20500"/>
                    <a:pt x="12340" y="21950"/>
                  </a:cubicBezTo>
                  <a:cubicBezTo>
                    <a:pt x="12122" y="22024"/>
                    <a:pt x="11886" y="22020"/>
                    <a:pt x="11670" y="21940"/>
                  </a:cubicBezTo>
                  <a:cubicBezTo>
                    <a:pt x="7500" y="20500"/>
                    <a:pt x="4000" y="18000"/>
                    <a:pt x="4000" y="13000"/>
                  </a:cubicBezTo>
                  <a:lnTo>
                    <a:pt x="4000" y="6000"/>
                  </a:lnTo>
                  <a:cubicBezTo>
                    <a:pt x="4000" y="5448"/>
                    <a:pt x="4448" y="5000"/>
                    <a:pt x="5000" y="5000"/>
                  </a:cubicBezTo>
                  <a:cubicBezTo>
                    <a:pt x="7000" y="5000"/>
                    <a:pt x="9500" y="3800"/>
                    <a:pt x="11240" y="2280"/>
                  </a:cubicBezTo>
                  <a:cubicBezTo>
                    <a:pt x="11678" y="1906"/>
                    <a:pt x="12322" y="1906"/>
                    <a:pt x="12760" y="2280"/>
                  </a:cubicBezTo>
                  <a:cubicBezTo>
                    <a:pt x="14510" y="3810"/>
                    <a:pt x="17000" y="5000"/>
                    <a:pt x="19000" y="5000"/>
                  </a:cubicBezTo>
                  <a:cubicBezTo>
                    <a:pt x="19552" y="5000"/>
                    <a:pt x="20000" y="5448"/>
                    <a:pt x="20000" y="6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5926" cap="rnd">
              <a:solidFill>
                <a:srgbClr val="165FF2"/>
              </a:solidFill>
              <a:round/>
            </a:ln>
          </p:spPr>
        </p:sp>
        <p:sp>
          <p:nvSpPr>
            <p:cNvPr id="210" name="Band title"/>
            <p:cNvSpPr txBox="1"/>
            <p:nvPr/>
          </p:nvSpPr>
          <p:spPr>
            <a:xfrm>
              <a:off x="393192" y="4233951"/>
              <a:ext cx="960120" cy="5209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4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Built-in rules &amp; safeguards</a:t>
              </a:r>
              <a:endParaRPr lang="en-US" sz="700" dirty="0">
                <a:latin typeface="Inter SemiBold"/>
              </a:endParaRPr>
            </a:p>
            <a:p>
              <a:pPr algn="l">
                <a:lnSpc>
                  <a:spcPts val="740"/>
                </a:lnSpc>
                <a:spcBef>
                  <a:spcPts val="100"/>
                </a:spcBef>
                <a:buNone/>
              </a:pPr>
              <a:r>
                <a:rPr lang="en-US" sz="62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as per the SRS</a:t>
              </a:r>
              <a:endParaRPr lang="en-US" sz="620" dirty="0">
                <a:latin typeface="Inter"/>
              </a:endParaRPr>
            </a:p>
          </p:txBody>
        </p:sp>
        <p:sp>
          <p:nvSpPr>
            <p:cNvPr id="211" name="Icon copy-x"/>
            <p:cNvSpPr/>
            <p:nvPr/>
          </p:nvSpPr>
          <p:spPr>
            <a:xfrm>
              <a:off x="1417320" y="4032783"/>
              <a:ext cx="118872" cy="11887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2000"/>
                  </a:moveTo>
                  <a:lnTo>
                    <a:pt x="18000" y="18000"/>
                  </a:lnTo>
                </a:path>
                <a:path w="24000" h="24000" fill="none">
                  <a:moveTo>
                    <a:pt x="12000" y="18000"/>
                  </a:moveTo>
                  <a:lnTo>
                    <a:pt x="18000" y="12000"/>
                  </a:lnTo>
                </a:path>
                <a:path w="24000" h="24000" fill="none">
                  <a:moveTo>
                    <a:pt x="10000" y="8000"/>
                  </a:moveTo>
                  <a:lnTo>
                    <a:pt x="20000" y="8000"/>
                  </a:lnTo>
                  <a:cubicBezTo>
                    <a:pt x="21105" y="8000"/>
                    <a:pt x="22000" y="8895"/>
                    <a:pt x="22000" y="10000"/>
                  </a:cubicBezTo>
                  <a:lnTo>
                    <a:pt x="22000" y="20000"/>
                  </a:lnTo>
                  <a:cubicBezTo>
                    <a:pt x="22000" y="21105"/>
                    <a:pt x="21105" y="22000"/>
                    <a:pt x="20000" y="22000"/>
                  </a:cubicBezTo>
                  <a:lnTo>
                    <a:pt x="10000" y="22000"/>
                  </a:lnTo>
                  <a:cubicBezTo>
                    <a:pt x="8895" y="22000"/>
                    <a:pt x="8000" y="21105"/>
                    <a:pt x="8000" y="20000"/>
                  </a:cubicBezTo>
                  <a:lnTo>
                    <a:pt x="8000" y="10000"/>
                  </a:lnTo>
                  <a:cubicBezTo>
                    <a:pt x="8000" y="8895"/>
                    <a:pt x="8895" y="8000"/>
                    <a:pt x="10000" y="8000"/>
                  </a:cubicBezTo>
                  <a:close/>
                </a:path>
                <a:path w="24000" h="24000" fill="none">
                  <a:moveTo>
                    <a:pt x="4000" y="16000"/>
                  </a:moveTo>
                  <a:cubicBezTo>
                    <a:pt x="2900" y="16000"/>
                    <a:pt x="2000" y="15100"/>
                    <a:pt x="2000" y="14000"/>
                  </a:cubicBezTo>
                  <a:lnTo>
                    <a:pt x="2000" y="4000"/>
                  </a:lnTo>
                  <a:cubicBezTo>
                    <a:pt x="2000" y="2900"/>
                    <a:pt x="2900" y="2000"/>
                    <a:pt x="4000" y="2000"/>
                  </a:cubicBezTo>
                  <a:lnTo>
                    <a:pt x="14000" y="2000"/>
                  </a:lnTo>
                  <a:cubicBezTo>
                    <a:pt x="15100" y="2000"/>
                    <a:pt x="16000" y="2900"/>
                    <a:pt x="16000" y="4000"/>
                  </a:cubicBezTo>
                </a:path>
              </a:pathLst>
            </a:custGeom>
            <a:noFill/>
            <a:ln w="10897" cap="rnd">
              <a:solidFill>
                <a:srgbClr val="165FF2"/>
              </a:solidFill>
              <a:round/>
            </a:ln>
          </p:spPr>
        </p:sp>
        <p:sp>
          <p:nvSpPr>
            <p:cNvPr id="212" name="Tile title"/>
            <p:cNvSpPr txBox="1"/>
            <p:nvPr/>
          </p:nvSpPr>
          <p:spPr>
            <a:xfrm>
              <a:off x="1591056" y="4014495"/>
              <a:ext cx="952500" cy="96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Duplicate prevention</a:t>
              </a:r>
              <a:endParaRPr lang="en-US" sz="660" dirty="0">
                <a:latin typeface="Inter SemiBold"/>
              </a:endParaRPr>
            </a:p>
          </p:txBody>
        </p:sp>
        <p:sp>
          <p:nvSpPr>
            <p:cNvPr id="213" name="Tile description"/>
            <p:cNvSpPr txBox="1"/>
            <p:nvPr/>
          </p:nvSpPr>
          <p:spPr>
            <a:xfrm>
              <a:off x="1417320" y="4147591"/>
              <a:ext cx="1080516" cy="1952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No second alert for the same condition</a:t>
              </a:r>
              <a:endParaRPr lang="en-US" sz="620" dirty="0">
                <a:latin typeface="Inter"/>
              </a:endParaRPr>
            </a:p>
          </p:txBody>
        </p:sp>
        <p:cxnSp>
          <p:nvCxnSpPr>
            <p:cNvPr id="214" name="Divider"/>
            <p:cNvCxnSpPr/>
            <p:nvPr/>
          </p:nvCxnSpPr>
          <p:spPr>
            <a:xfrm>
              <a:off x="2589276" y="4041927"/>
              <a:ext cx="0" cy="630657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215" name="Icon user-x"/>
            <p:cNvSpPr/>
            <p:nvPr/>
          </p:nvSpPr>
          <p:spPr>
            <a:xfrm>
              <a:off x="2644140" y="4032783"/>
              <a:ext cx="118872" cy="11887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17000" y="8000"/>
                  </a:moveTo>
                  <a:lnTo>
                    <a:pt x="22000" y="13000"/>
                  </a:lnTo>
                </a:path>
                <a:path w="24000" h="24000" fill="none">
                  <a:moveTo>
                    <a:pt x="22000" y="8000"/>
                  </a:moveTo>
                  <a:lnTo>
                    <a:pt x="17000" y="13000"/>
                  </a:lnTo>
                </a:path>
              </a:pathLst>
            </a:custGeom>
            <a:noFill/>
            <a:ln w="10897" cap="rnd">
              <a:solidFill>
                <a:srgbClr val="165FF2"/>
              </a:solidFill>
              <a:round/>
            </a:ln>
          </p:spPr>
        </p:sp>
        <p:sp>
          <p:nvSpPr>
            <p:cNvPr id="216" name="Tile title"/>
            <p:cNvSpPr txBox="1"/>
            <p:nvPr/>
          </p:nvSpPr>
          <p:spPr>
            <a:xfrm>
              <a:off x="2817876" y="4014495"/>
              <a:ext cx="952500" cy="96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No valid vendor</a:t>
              </a:r>
              <a:endParaRPr lang="en-US" sz="660" dirty="0">
                <a:latin typeface="Inter SemiBold"/>
              </a:endParaRPr>
            </a:p>
          </p:txBody>
        </p:sp>
        <p:sp>
          <p:nvSpPr>
            <p:cNvPr id="217" name="Tile description"/>
            <p:cNvSpPr txBox="1"/>
            <p:nvPr/>
          </p:nvSpPr>
          <p:spPr>
            <a:xfrm>
              <a:off x="2644140" y="4147591"/>
              <a:ext cx="1080516" cy="1952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Work order held; DG flagged for mapping</a:t>
              </a:r>
              <a:endParaRPr lang="en-US" sz="620" dirty="0">
                <a:latin typeface="Inter"/>
              </a:endParaRPr>
            </a:p>
          </p:txBody>
        </p:sp>
        <p:cxnSp>
          <p:nvCxnSpPr>
            <p:cNvPr id="218" name="Divider"/>
            <p:cNvCxnSpPr/>
            <p:nvPr/>
          </p:nvCxnSpPr>
          <p:spPr>
            <a:xfrm>
              <a:off x="3816096" y="4041927"/>
              <a:ext cx="0" cy="630657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219" name="Icon arrow-right-left"/>
            <p:cNvSpPr/>
            <p:nvPr/>
          </p:nvSpPr>
          <p:spPr>
            <a:xfrm>
              <a:off x="3870960" y="4032783"/>
              <a:ext cx="118872" cy="11887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3000"/>
                  </a:moveTo>
                  <a:lnTo>
                    <a:pt x="20000" y="7000"/>
                  </a:lnTo>
                  <a:lnTo>
                    <a:pt x="16000" y="11000"/>
                  </a:lnTo>
                </a:path>
                <a:path w="24000" h="24000" fill="none">
                  <a:moveTo>
                    <a:pt x="20000" y="7000"/>
                  </a:moveTo>
                  <a:lnTo>
                    <a:pt x="4000" y="7000"/>
                  </a:lnTo>
                </a:path>
                <a:path w="24000" h="24000" fill="none">
                  <a:moveTo>
                    <a:pt x="8000" y="21000"/>
                  </a:moveTo>
                  <a:lnTo>
                    <a:pt x="4000" y="17000"/>
                  </a:lnTo>
                  <a:lnTo>
                    <a:pt x="8000" y="13000"/>
                  </a:lnTo>
                </a:path>
                <a:path w="24000" h="24000" fill="none">
                  <a:moveTo>
                    <a:pt x="4000" y="17000"/>
                  </a:moveTo>
                  <a:lnTo>
                    <a:pt x="20000" y="17000"/>
                  </a:lnTo>
                </a:path>
              </a:pathLst>
            </a:custGeom>
            <a:noFill/>
            <a:ln w="10897" cap="rnd">
              <a:solidFill>
                <a:srgbClr val="165FF2"/>
              </a:solidFill>
              <a:round/>
            </a:ln>
          </p:spPr>
        </p:sp>
        <p:sp>
          <p:nvSpPr>
            <p:cNvPr id="220" name="Tile title"/>
            <p:cNvSpPr txBox="1"/>
            <p:nvPr/>
          </p:nvSpPr>
          <p:spPr>
            <a:xfrm>
              <a:off x="4044696" y="4014495"/>
              <a:ext cx="952500" cy="96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Reassignment</a:t>
              </a:r>
              <a:endParaRPr lang="en-US" sz="660" dirty="0">
                <a:latin typeface="Inter SemiBold"/>
              </a:endParaRPr>
            </a:p>
          </p:txBody>
        </p:sp>
        <p:sp>
          <p:nvSpPr>
            <p:cNvPr id="221" name="Tile description"/>
            <p:cNvSpPr txBox="1"/>
            <p:nvPr/>
          </p:nvSpPr>
          <p:spPr>
            <a:xfrm>
              <a:off x="3870960" y="4147591"/>
              <a:ext cx="1080516" cy="1952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Moved to another mapped vendor; same ID</a:t>
              </a:r>
              <a:endParaRPr lang="en-US" sz="620" dirty="0">
                <a:latin typeface="Inter"/>
              </a:endParaRPr>
            </a:p>
          </p:txBody>
        </p:sp>
        <p:cxnSp>
          <p:nvCxnSpPr>
            <p:cNvPr id="222" name="Divider"/>
            <p:cNvCxnSpPr/>
            <p:nvPr/>
          </p:nvCxnSpPr>
          <p:spPr>
            <a:xfrm>
              <a:off x="5042916" y="4041927"/>
              <a:ext cx="0" cy="630657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223" name="Icon power-off"/>
            <p:cNvSpPr/>
            <p:nvPr/>
          </p:nvSpPr>
          <p:spPr>
            <a:xfrm>
              <a:off x="5097780" y="4032783"/>
              <a:ext cx="118872" cy="11887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8360" y="6640"/>
                  </a:moveTo>
                  <a:cubicBezTo>
                    <a:pt x="20546" y="8827"/>
                    <a:pt x="21456" y="11984"/>
                    <a:pt x="20770" y="15000"/>
                  </a:cubicBezTo>
                </a:path>
                <a:path w="24000" h="24000" fill="none">
                  <a:moveTo>
                    <a:pt x="6160" y="6160"/>
                  </a:moveTo>
                  <a:cubicBezTo>
                    <a:pt x="3555" y="8348"/>
                    <a:pt x="2406" y="11818"/>
                    <a:pt x="3191" y="15129"/>
                  </a:cubicBezTo>
                  <a:cubicBezTo>
                    <a:pt x="3976" y="18439"/>
                    <a:pt x="6561" y="21024"/>
                    <a:pt x="9871" y="21809"/>
                  </a:cubicBezTo>
                  <a:cubicBezTo>
                    <a:pt x="13182" y="22594"/>
                    <a:pt x="16652" y="21445"/>
                    <a:pt x="18840" y="18840"/>
                  </a:cubicBezTo>
                </a:path>
                <a:path w="24000" h="24000" fill="none">
                  <a:moveTo>
                    <a:pt x="12000" y="2000"/>
                  </a:moveTo>
                  <a:lnTo>
                    <a:pt x="12000" y="6000"/>
                  </a:lnTo>
                </a:path>
                <a:path w="24000" h="24000" fill="none">
                  <a:moveTo>
                    <a:pt x="2000" y="2000"/>
                  </a:moveTo>
                  <a:lnTo>
                    <a:pt x="22000" y="22000"/>
                  </a:lnTo>
                </a:path>
              </a:pathLst>
            </a:custGeom>
            <a:noFill/>
            <a:ln w="10897" cap="rnd">
              <a:solidFill>
                <a:srgbClr val="165FF2"/>
              </a:solidFill>
              <a:round/>
            </a:ln>
          </p:spPr>
        </p:sp>
        <p:sp>
          <p:nvSpPr>
            <p:cNvPr id="224" name="Tile title"/>
            <p:cNvSpPr txBox="1"/>
            <p:nvPr/>
          </p:nvSpPr>
          <p:spPr>
            <a:xfrm>
              <a:off x="5271516" y="4014495"/>
              <a:ext cx="952500" cy="96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Inactive DG</a:t>
              </a:r>
              <a:endParaRPr lang="en-US" sz="660" dirty="0">
                <a:latin typeface="Inter SemiBold"/>
              </a:endParaRPr>
            </a:p>
          </p:txBody>
        </p:sp>
        <p:sp>
          <p:nvSpPr>
            <p:cNvPr id="225" name="Tile description"/>
            <p:cNvSpPr txBox="1"/>
            <p:nvPr/>
          </p:nvSpPr>
          <p:spPr>
            <a:xfrm>
              <a:off x="5097780" y="4147591"/>
              <a:ext cx="1080516" cy="1952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No new work orders; history kept</a:t>
              </a:r>
              <a:endParaRPr lang="en-US" sz="620" dirty="0">
                <a:latin typeface="Inter"/>
              </a:endParaRPr>
            </a:p>
          </p:txBody>
        </p:sp>
        <p:cxnSp>
          <p:nvCxnSpPr>
            <p:cNvPr id="226" name="Divider"/>
            <p:cNvCxnSpPr/>
            <p:nvPr/>
          </p:nvCxnSpPr>
          <p:spPr>
            <a:xfrm>
              <a:off x="6269736" y="4041927"/>
              <a:ext cx="0" cy="630657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227" name="Icon text-cursor-input"/>
            <p:cNvSpPr/>
            <p:nvPr/>
          </p:nvSpPr>
          <p:spPr>
            <a:xfrm>
              <a:off x="6324600" y="4032783"/>
              <a:ext cx="118872" cy="11887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4000"/>
                  </a:moveTo>
                  <a:lnTo>
                    <a:pt x="6000" y="4000"/>
                  </a:lnTo>
                  <a:cubicBezTo>
                    <a:pt x="7657" y="4000"/>
                    <a:pt x="9000" y="5343"/>
                    <a:pt x="9000" y="7000"/>
                  </a:cubicBezTo>
                  <a:cubicBezTo>
                    <a:pt x="9000" y="5343"/>
                    <a:pt x="10343" y="4000"/>
                    <a:pt x="12000" y="4000"/>
                  </a:cubicBezTo>
                  <a:lnTo>
                    <a:pt x="13000" y="4000"/>
                  </a:lnTo>
                </a:path>
                <a:path w="24000" h="24000" fill="none">
                  <a:moveTo>
                    <a:pt x="13000" y="20000"/>
                  </a:moveTo>
                  <a:lnTo>
                    <a:pt x="12000" y="20000"/>
                  </a:lnTo>
                  <a:cubicBezTo>
                    <a:pt x="10343" y="20000"/>
                    <a:pt x="9000" y="18657"/>
                    <a:pt x="9000" y="17000"/>
                  </a:cubicBezTo>
                  <a:cubicBezTo>
                    <a:pt x="9000" y="18657"/>
                    <a:pt x="7657" y="20000"/>
                    <a:pt x="6000" y="20000"/>
                  </a:cubicBezTo>
                  <a:lnTo>
                    <a:pt x="5000" y="20000"/>
                  </a:lnTo>
                </a:path>
                <a:path w="24000" h="24000" fill="none">
                  <a:moveTo>
                    <a:pt x="5000" y="16000"/>
                  </a:moveTo>
                  <a:lnTo>
                    <a:pt x="4000" y="16000"/>
                  </a:lnTo>
                  <a:cubicBezTo>
                    <a:pt x="2895" y="16000"/>
                    <a:pt x="2000" y="15105"/>
                    <a:pt x="2000" y="14000"/>
                  </a:cubicBezTo>
                  <a:lnTo>
                    <a:pt x="2000" y="10000"/>
                  </a:lnTo>
                  <a:cubicBezTo>
                    <a:pt x="2000" y="8895"/>
                    <a:pt x="2895" y="8000"/>
                    <a:pt x="4000" y="8000"/>
                  </a:cubicBezTo>
                  <a:lnTo>
                    <a:pt x="5000" y="8000"/>
                  </a:lnTo>
                </a:path>
                <a:path w="24000" h="24000" fill="none">
                  <a:moveTo>
                    <a:pt x="13000" y="8000"/>
                  </a:moveTo>
                  <a:lnTo>
                    <a:pt x="20000" y="8000"/>
                  </a:lnTo>
                  <a:cubicBezTo>
                    <a:pt x="21105" y="8000"/>
                    <a:pt x="22000" y="8895"/>
                    <a:pt x="22000" y="10000"/>
                  </a:cubicBezTo>
                  <a:lnTo>
                    <a:pt x="22000" y="14000"/>
                  </a:lnTo>
                  <a:cubicBezTo>
                    <a:pt x="22000" y="15105"/>
                    <a:pt x="21105" y="16000"/>
                    <a:pt x="20000" y="16000"/>
                  </a:cubicBezTo>
                  <a:lnTo>
                    <a:pt x="13000" y="16000"/>
                  </a:lnTo>
                </a:path>
                <a:path w="24000" h="24000" fill="none">
                  <a:moveTo>
                    <a:pt x="9000" y="7000"/>
                  </a:moveTo>
                  <a:lnTo>
                    <a:pt x="9000" y="17000"/>
                  </a:lnTo>
                </a:path>
              </a:pathLst>
            </a:custGeom>
            <a:noFill/>
            <a:ln w="10897" cap="rnd">
              <a:solidFill>
                <a:srgbClr val="165FF2"/>
              </a:solidFill>
              <a:round/>
            </a:ln>
          </p:spPr>
        </p:sp>
        <p:sp>
          <p:nvSpPr>
            <p:cNvPr id="228" name="Tile title"/>
            <p:cNvSpPr txBox="1"/>
            <p:nvPr/>
          </p:nvSpPr>
          <p:spPr>
            <a:xfrm>
              <a:off x="6498336" y="4014495"/>
              <a:ext cx="952500" cy="96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Litres by vendor</a:t>
              </a:r>
              <a:endParaRPr lang="en-US" sz="660" dirty="0">
                <a:latin typeface="Inter SemiBold"/>
              </a:endParaRPr>
            </a:p>
          </p:txBody>
        </p:sp>
        <p:sp>
          <p:nvSpPr>
            <p:cNvPr id="229" name="Tile description"/>
            <p:cNvSpPr txBox="1"/>
            <p:nvPr/>
          </p:nvSpPr>
          <p:spPr>
            <a:xfrm>
              <a:off x="6324600" y="4147591"/>
              <a:ext cx="1080516" cy="1952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Entered, not derived from IoT readings</a:t>
              </a:r>
              <a:endParaRPr lang="en-US" sz="620" dirty="0">
                <a:latin typeface="Inter"/>
              </a:endParaRPr>
            </a:p>
          </p:txBody>
        </p:sp>
        <p:cxnSp>
          <p:nvCxnSpPr>
            <p:cNvPr id="230" name="Divider"/>
            <p:cNvCxnSpPr/>
            <p:nvPr/>
          </p:nvCxnSpPr>
          <p:spPr>
            <a:xfrm>
              <a:off x="7496556" y="4041927"/>
              <a:ext cx="0" cy="630657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231" name="Icon timer"/>
            <p:cNvSpPr/>
            <p:nvPr/>
          </p:nvSpPr>
          <p:spPr>
            <a:xfrm>
              <a:off x="7551420" y="4032783"/>
              <a:ext cx="118872" cy="11887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2000"/>
                  </a:moveTo>
                  <a:lnTo>
                    <a:pt x="14000" y="2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5000" y="11000"/>
                  </a:lnTo>
                </a:path>
                <a:path w="24000" h="24000" fill="none">
                  <a:moveTo>
                    <a:pt x="20000" y="14000"/>
                  </a:moveTo>
                  <a:cubicBezTo>
                    <a:pt x="20000" y="18418"/>
                    <a:pt x="16418" y="22000"/>
                    <a:pt x="12000" y="22000"/>
                  </a:cubicBezTo>
                  <a:cubicBezTo>
                    <a:pt x="7582" y="22000"/>
                    <a:pt x="4000" y="18418"/>
                    <a:pt x="4000" y="14000"/>
                  </a:cubicBezTo>
                  <a:cubicBezTo>
                    <a:pt x="4000" y="9582"/>
                    <a:pt x="7582" y="6000"/>
                    <a:pt x="12000" y="6000"/>
                  </a:cubicBezTo>
                  <a:cubicBezTo>
                    <a:pt x="16418" y="6000"/>
                    <a:pt x="20000" y="9582"/>
                    <a:pt x="20000" y="14000"/>
                  </a:cubicBezTo>
                  <a:close/>
                </a:path>
              </a:pathLst>
            </a:custGeom>
            <a:noFill/>
            <a:ln w="10897" cap="rnd">
              <a:solidFill>
                <a:srgbClr val="165FF2"/>
              </a:solidFill>
              <a:round/>
            </a:ln>
          </p:spPr>
        </p:sp>
        <p:sp>
          <p:nvSpPr>
            <p:cNvPr id="232" name="Tile title"/>
            <p:cNvSpPr txBox="1"/>
            <p:nvPr/>
          </p:nvSpPr>
          <p:spPr>
            <a:xfrm>
              <a:off x="7725156" y="4014495"/>
              <a:ext cx="952500" cy="96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Waiting time</a:t>
              </a:r>
              <a:endParaRPr lang="en-US" sz="660" dirty="0">
                <a:latin typeface="Inter SemiBold"/>
              </a:endParaRPr>
            </a:p>
          </p:txBody>
        </p:sp>
        <p:sp>
          <p:nvSpPr>
            <p:cNvPr id="233" name="Tile description"/>
            <p:cNvSpPr txBox="1"/>
            <p:nvPr/>
          </p:nvSpPr>
          <p:spPr>
            <a:xfrm>
              <a:off x="7551420" y="4147591"/>
              <a:ext cx="1080516" cy="1952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Set on the DG data frequency</a:t>
              </a:r>
              <a:endParaRPr lang="en-US" sz="620" dirty="0">
                <a:latin typeface="Inter"/>
              </a:endParaRPr>
            </a:p>
          </p:txBody>
        </p:sp>
        <p:grpSp>
          <p:nvGrpSpPr>
            <p:cNvPr id="234" name="Chip TBC"/>
            <p:cNvGrpSpPr/>
            <p:nvPr/>
          </p:nvGrpSpPr>
          <p:grpSpPr>
            <a:xfrm>
              <a:off x="7551420" y="4388587"/>
              <a:ext cx="261195" cy="137160"/>
              <a:chOff x="7551420" y="4388587"/>
              <a:chExt cx="261195" cy="137160"/>
            </a:xfrm>
          </p:grpSpPr>
          <p:sp>
            <p:nvSpPr>
              <p:cNvPr id="235" name="Chip fill"/>
              <p:cNvSpPr/>
              <p:nvPr/>
            </p:nvSpPr>
            <p:spPr>
              <a:xfrm>
                <a:off x="7551420" y="4388587"/>
                <a:ext cx="261195" cy="137160"/>
              </a:xfrm>
              <a:prstGeom prst="roundRect">
                <a:avLst>
                  <a:gd name="adj" fmla="val 20000"/>
                </a:avLst>
              </a:prstGeom>
              <a:solidFill>
                <a:srgbClr val="E9690C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236" name="Chip label"/>
              <p:cNvSpPr txBox="1"/>
              <p:nvPr/>
            </p:nvSpPr>
            <p:spPr>
              <a:xfrm>
                <a:off x="7606284" y="4388587"/>
                <a:ext cx="178899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C65C1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TBC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237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238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DG Online Monitoring Proposal  ·  Flipkart Minutes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239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52565E84-F7FD-44CD-AD8C-A4BF191F1343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9456"/>
            <a:ext cx="8650224" cy="722376"/>
            <a:chOff x="274320" y="219456"/>
            <a:chExt cx="8650224" cy="722376"/>
          </a:xfrm>
        </p:grpSpPr>
        <p:grpSp>
          <p:nvGrpSpPr>
            <p:cNvPr id="4" name="Badge 01"/>
            <p:cNvGrpSpPr/>
            <p:nvPr/>
          </p:nvGrpSpPr>
          <p:grpSpPr>
            <a:xfrm>
              <a:off x="274320" y="228600"/>
              <a:ext cx="192024" cy="192024"/>
              <a:chOff x="274320" y="228600"/>
              <a:chExt cx="192024" cy="192024"/>
            </a:xfrm>
          </p:grpSpPr>
          <p:sp>
            <p:nvSpPr>
              <p:cNvPr id="5" name="Badge"/>
              <p:cNvSpPr/>
              <p:nvPr/>
            </p:nvSpPr>
            <p:spPr>
              <a:xfrm>
                <a:off x="274320" y="228600"/>
                <a:ext cx="192024" cy="192024"/>
              </a:xfrm>
              <a:prstGeom prst="roundRect">
                <a:avLst>
                  <a:gd name="adj" fmla="val 22000"/>
                </a:avLst>
              </a:prstGeom>
              <a:solidFill>
                <a:srgbClr val="165FF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6" name="Badge number"/>
              <p:cNvSpPr txBox="1"/>
              <p:nvPr/>
            </p:nvSpPr>
            <p:spPr>
              <a:xfrm>
                <a:off x="274320" y="228600"/>
                <a:ext cx="192024" cy="1920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75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01</a:t>
                </a:r>
                <a:endParaRPr lang="en-US" sz="750" dirty="0">
                  <a:latin typeface="TASA Orbiter SemiBold"/>
                </a:endParaRPr>
              </a:p>
            </p:txBody>
          </p:sp>
        </p:grpSp>
        <p:sp>
          <p:nvSpPr>
            <p:cNvPr id="7" name="Eyebrow"/>
            <p:cNvSpPr txBox="1"/>
            <p:nvPr/>
          </p:nvSpPr>
          <p:spPr>
            <a:xfrm>
              <a:off x="530352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WORKFLOW 01  ·  FUEL MONITORING &amp; VENDOR REFILLING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8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How It Works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9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Three screens: the alert the store sees, the work order the system raises, and the vendor closing it on a phone.</a:t>
              </a:r>
              <a:endParaRPr lang="en-US" sz="850" dirty="0">
                <a:latin typeface="Inter"/>
              </a:endParaRPr>
            </a:p>
          </p:txBody>
        </p:sp>
        <p:grpSp>
          <p:nvGrpSpPr>
            <p:cNvPr id="10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11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" name="Chip Sample data  ·  illustrative values"/>
          <p:cNvGrpSpPr/>
          <p:nvPr/>
        </p:nvGrpSpPr>
        <p:grpSpPr>
          <a:xfrm>
            <a:off x="7521519" y="772668"/>
            <a:ext cx="1348161" cy="137160"/>
            <a:chOff x="7521519" y="772668"/>
            <a:chExt cx="1348161" cy="137160"/>
          </a:xfrm>
        </p:grpSpPr>
        <p:sp>
          <p:nvSpPr>
            <p:cNvPr id="23" name="Chip fill"/>
            <p:cNvSpPr/>
            <p:nvPr/>
          </p:nvSpPr>
          <p:spPr>
            <a:xfrm>
              <a:off x="7521519" y="772668"/>
              <a:ext cx="1348161" cy="137160"/>
            </a:xfrm>
            <a:prstGeom prst="roundRect">
              <a:avLst>
                <a:gd name="adj" fmla="val 20000"/>
              </a:avLst>
            </a:prstGeom>
            <a:solidFill>
              <a:srgbClr val="E9690C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4" name="Icon info"/>
            <p:cNvSpPr/>
            <p:nvPr/>
          </p:nvSpPr>
          <p:spPr>
            <a:xfrm>
              <a:off x="7580955" y="798728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16000"/>
                  </a:moveTo>
                  <a:lnTo>
                    <a:pt x="12000" y="12000"/>
                  </a:lnTo>
                </a:path>
                <a:path w="24000" h="24000" fill="none">
                  <a:moveTo>
                    <a:pt x="12000" y="8000"/>
                  </a:moveTo>
                  <a:lnTo>
                    <a:pt x="12010" y="8000"/>
                  </a:lnTo>
                </a:path>
              </a:pathLst>
            </a:custGeom>
            <a:noFill/>
            <a:ln w="7795" cap="rnd">
              <a:solidFill>
                <a:srgbClr val="C65C10"/>
              </a:solidFill>
              <a:round/>
            </a:ln>
          </p:spPr>
        </p:sp>
        <p:sp>
          <p:nvSpPr>
            <p:cNvPr id="25" name="Chip label"/>
            <p:cNvSpPr txBox="1"/>
            <p:nvPr/>
          </p:nvSpPr>
          <p:spPr>
            <a:xfrm>
              <a:off x="7693426" y="772668"/>
              <a:ext cx="114882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60"/>
                </a:lnSpc>
                <a:spcBef>
                  <a:spcPts val="0"/>
                </a:spcBef>
                <a:buNone/>
              </a:pPr>
              <a:r>
                <a:rPr lang="en-US" sz="560" b="0" i="0" spc="0" dirty="0">
                  <a:solidFill>
                    <a:srgbClr val="C65C1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Sample data  ·  illustrative values</a:t>
              </a:r>
              <a:endParaRPr lang="en-US" sz="560" dirty="0">
                <a:latin typeface="Inter SemiBold"/>
              </a:endParaRPr>
            </a:p>
          </p:txBody>
        </p:sp>
      </p:grpSp>
      <p:grpSp>
        <p:nvGrpSpPr>
          <p:cNvPr id="26" name="Badge 1"/>
          <p:cNvGrpSpPr/>
          <p:nvPr/>
        </p:nvGrpSpPr>
        <p:grpSpPr>
          <a:xfrm>
            <a:off x="274320" y="1005840"/>
            <a:ext cx="192024" cy="192024"/>
            <a:chOff x="274320" y="1005840"/>
            <a:chExt cx="192024" cy="192024"/>
          </a:xfrm>
        </p:grpSpPr>
        <p:sp>
          <p:nvSpPr>
            <p:cNvPr id="27" name="Badge"/>
            <p:cNvSpPr/>
            <p:nvPr/>
          </p:nvSpPr>
          <p:spPr>
            <a:xfrm>
              <a:off x="274320" y="1005840"/>
              <a:ext cx="192024" cy="19202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8" name="Badge number"/>
            <p:cNvSpPr txBox="1"/>
            <p:nvPr/>
          </p:nvSpPr>
          <p:spPr>
            <a:xfrm>
              <a:off x="274320" y="100584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</a:t>
              </a:r>
              <a:endParaRPr lang="en-US" sz="700" dirty="0">
                <a:latin typeface="TASA Orbiter SemiBold"/>
              </a:endParaRPr>
            </a:p>
          </p:txBody>
        </p:sp>
      </p:grpSp>
      <p:sp>
        <p:nvSpPr>
          <p:cNvPr id="29" name="Step title"/>
          <p:cNvSpPr txBox="1"/>
          <p:nvPr/>
        </p:nvSpPr>
        <p:spPr>
          <a:xfrm>
            <a:off x="530352" y="996696"/>
            <a:ext cx="1709928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8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Low-fuel alert</a:t>
            </a:r>
            <a:endParaRPr lang="en-US" sz="800" dirty="0">
              <a:latin typeface="Inter SemiBold"/>
            </a:endParaRPr>
          </a:p>
        </p:txBody>
      </p:sp>
      <p:grpSp>
        <p:nvGrpSpPr>
          <p:cNvPr id="30" name="Chip Store User"/>
          <p:cNvGrpSpPr/>
          <p:nvPr/>
        </p:nvGrpSpPr>
        <p:grpSpPr>
          <a:xfrm>
            <a:off x="2336702" y="1033272"/>
            <a:ext cx="607666" cy="146304"/>
            <a:chOff x="2336702" y="1033272"/>
            <a:chExt cx="607666" cy="146304"/>
          </a:xfrm>
        </p:grpSpPr>
        <p:sp>
          <p:nvSpPr>
            <p:cNvPr id="31" name="Chip fill"/>
            <p:cNvSpPr/>
            <p:nvPr/>
          </p:nvSpPr>
          <p:spPr>
            <a:xfrm>
              <a:off x="2336702" y="1033272"/>
              <a:ext cx="607666" cy="146304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2" name="Icon circle-user"/>
            <p:cNvSpPr/>
            <p:nvPr/>
          </p:nvSpPr>
          <p:spPr>
            <a:xfrm>
              <a:off x="2396138" y="1061070"/>
              <a:ext cx="90708" cy="9070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5000" y="10000"/>
                  </a:moveTo>
                  <a:cubicBezTo>
                    <a:pt x="15000" y="11657"/>
                    <a:pt x="13657" y="13000"/>
                    <a:pt x="12000" y="13000"/>
                  </a:cubicBezTo>
                  <a:cubicBezTo>
                    <a:pt x="10343" y="13000"/>
                    <a:pt x="9000" y="11657"/>
                    <a:pt x="9000" y="10000"/>
                  </a:cubicBezTo>
                  <a:cubicBezTo>
                    <a:pt x="9000" y="8343"/>
                    <a:pt x="10343" y="7000"/>
                    <a:pt x="12000" y="7000"/>
                  </a:cubicBezTo>
                  <a:cubicBezTo>
                    <a:pt x="13657" y="7000"/>
                    <a:pt x="15000" y="8343"/>
                    <a:pt x="15000" y="10000"/>
                  </a:cubicBezTo>
                  <a:close/>
                </a:path>
                <a:path w="24000" h="24000" fill="none">
                  <a:moveTo>
                    <a:pt x="7000" y="20662"/>
                  </a:moveTo>
                  <a:lnTo>
                    <a:pt x="7000" y="19000"/>
                  </a:lnTo>
                  <a:cubicBezTo>
                    <a:pt x="7000" y="17895"/>
                    <a:pt x="7895" y="17000"/>
                    <a:pt x="9000" y="17000"/>
                  </a:cubicBezTo>
                  <a:lnTo>
                    <a:pt x="15000" y="17000"/>
                  </a:lnTo>
                  <a:cubicBezTo>
                    <a:pt x="16105" y="17000"/>
                    <a:pt x="17000" y="17895"/>
                    <a:pt x="17000" y="19000"/>
                  </a:cubicBezTo>
                  <a:lnTo>
                    <a:pt x="17000" y="20662"/>
                  </a:lnTo>
                </a:path>
              </a:pathLst>
            </a:custGeom>
            <a:noFill/>
            <a:ln w="8315" cap="rnd">
              <a:solidFill>
                <a:srgbClr val="40566D"/>
              </a:solidFill>
              <a:round/>
            </a:ln>
          </p:spPr>
        </p:sp>
        <p:sp>
          <p:nvSpPr>
            <p:cNvPr id="33" name="Chip label"/>
            <p:cNvSpPr txBox="1"/>
            <p:nvPr/>
          </p:nvSpPr>
          <p:spPr>
            <a:xfrm>
              <a:off x="2514279" y="1033272"/>
              <a:ext cx="40265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Store User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34" name="Badge 2"/>
          <p:cNvGrpSpPr/>
          <p:nvPr/>
        </p:nvGrpSpPr>
        <p:grpSpPr>
          <a:xfrm>
            <a:off x="3236976" y="1005840"/>
            <a:ext cx="192024" cy="192024"/>
            <a:chOff x="3236976" y="1005840"/>
            <a:chExt cx="192024" cy="192024"/>
          </a:xfrm>
        </p:grpSpPr>
        <p:sp>
          <p:nvSpPr>
            <p:cNvPr id="35" name="Badge"/>
            <p:cNvSpPr/>
            <p:nvPr/>
          </p:nvSpPr>
          <p:spPr>
            <a:xfrm>
              <a:off x="3236976" y="1005840"/>
              <a:ext cx="192024" cy="19202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6" name="Badge number"/>
            <p:cNvSpPr txBox="1"/>
            <p:nvPr/>
          </p:nvSpPr>
          <p:spPr>
            <a:xfrm>
              <a:off x="3236976" y="100584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2</a:t>
              </a:r>
              <a:endParaRPr lang="en-US" sz="700" dirty="0">
                <a:latin typeface="TASA Orbiter SemiBold"/>
              </a:endParaRPr>
            </a:p>
          </p:txBody>
        </p:sp>
      </p:grpSp>
      <p:sp>
        <p:nvSpPr>
          <p:cNvPr id="37" name="Step title"/>
          <p:cNvSpPr txBox="1"/>
          <p:nvPr/>
        </p:nvSpPr>
        <p:spPr>
          <a:xfrm>
            <a:off x="3493008" y="996696"/>
            <a:ext cx="1709928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8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Work order assigned</a:t>
            </a:r>
            <a:endParaRPr lang="en-US" sz="800" dirty="0">
              <a:latin typeface="Inter SemiBold"/>
            </a:endParaRPr>
          </a:p>
        </p:txBody>
      </p:sp>
      <p:grpSp>
        <p:nvGrpSpPr>
          <p:cNvPr id="38" name="Chip System"/>
          <p:cNvGrpSpPr/>
          <p:nvPr/>
        </p:nvGrpSpPr>
        <p:grpSpPr>
          <a:xfrm>
            <a:off x="5407725" y="1033272"/>
            <a:ext cx="499299" cy="146304"/>
            <a:chOff x="5407725" y="1033272"/>
            <a:chExt cx="499299" cy="146304"/>
          </a:xfrm>
        </p:grpSpPr>
        <p:sp>
          <p:nvSpPr>
            <p:cNvPr id="39" name="Chip fill"/>
            <p:cNvSpPr/>
            <p:nvPr/>
          </p:nvSpPr>
          <p:spPr>
            <a:xfrm>
              <a:off x="5407725" y="1033272"/>
              <a:ext cx="499299" cy="146304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0" name="Icon cpu"/>
            <p:cNvSpPr/>
            <p:nvPr/>
          </p:nvSpPr>
          <p:spPr>
            <a:xfrm>
              <a:off x="5467161" y="1061070"/>
              <a:ext cx="90708" cy="9070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4000"/>
                  </a:moveTo>
                  <a:lnTo>
                    <a:pt x="18000" y="4000"/>
                  </a:lnTo>
                  <a:cubicBezTo>
                    <a:pt x="19105" y="4000"/>
                    <a:pt x="20000" y="4895"/>
                    <a:pt x="20000" y="6000"/>
                  </a:cubicBezTo>
                  <a:lnTo>
                    <a:pt x="20000" y="18000"/>
                  </a:lnTo>
                  <a:cubicBezTo>
                    <a:pt x="20000" y="19105"/>
                    <a:pt x="19105" y="20000"/>
                    <a:pt x="18000" y="20000"/>
                  </a:cubicBezTo>
                  <a:lnTo>
                    <a:pt x="6000" y="20000"/>
                  </a:lnTo>
                  <a:cubicBezTo>
                    <a:pt x="4895" y="20000"/>
                    <a:pt x="4000" y="19105"/>
                    <a:pt x="4000" y="18000"/>
                  </a:cubicBezTo>
                  <a:lnTo>
                    <a:pt x="4000" y="6000"/>
                  </a:lnTo>
                  <a:cubicBezTo>
                    <a:pt x="4000" y="4895"/>
                    <a:pt x="4895" y="4000"/>
                    <a:pt x="6000" y="4000"/>
                  </a:cubicBezTo>
                  <a:close/>
                </a:path>
                <a:path w="24000" h="24000" fill="none">
                  <a:moveTo>
                    <a:pt x="10000" y="9000"/>
                  </a:moveTo>
                  <a:lnTo>
                    <a:pt x="14000" y="9000"/>
                  </a:lnTo>
                  <a:cubicBezTo>
                    <a:pt x="14552" y="9000"/>
                    <a:pt x="15000" y="9448"/>
                    <a:pt x="15000" y="10000"/>
                  </a:cubicBezTo>
                  <a:lnTo>
                    <a:pt x="15000" y="14000"/>
                  </a:lnTo>
                  <a:cubicBezTo>
                    <a:pt x="15000" y="14552"/>
                    <a:pt x="14552" y="15000"/>
                    <a:pt x="14000" y="15000"/>
                  </a:cubicBezTo>
                  <a:lnTo>
                    <a:pt x="10000" y="15000"/>
                  </a:lnTo>
                  <a:cubicBezTo>
                    <a:pt x="9448" y="15000"/>
                    <a:pt x="9000" y="14552"/>
                    <a:pt x="9000" y="14000"/>
                  </a:cubicBezTo>
                  <a:lnTo>
                    <a:pt x="9000" y="10000"/>
                  </a:lnTo>
                  <a:cubicBezTo>
                    <a:pt x="9000" y="9448"/>
                    <a:pt x="9448" y="9000"/>
                    <a:pt x="10000" y="9000"/>
                  </a:cubicBezTo>
                  <a:close/>
                </a:path>
                <a:path w="24000" h="24000" fill="none">
                  <a:moveTo>
                    <a:pt x="15000" y="2000"/>
                  </a:moveTo>
                  <a:lnTo>
                    <a:pt x="15000" y="4000"/>
                  </a:lnTo>
                </a:path>
                <a:path w="24000" h="24000" fill="none">
                  <a:moveTo>
                    <a:pt x="15000" y="20000"/>
                  </a:moveTo>
                  <a:lnTo>
                    <a:pt x="15000" y="22000"/>
                  </a:lnTo>
                </a:path>
                <a:path w="24000" h="24000" fill="none">
                  <a:moveTo>
                    <a:pt x="2000" y="15000"/>
                  </a:moveTo>
                  <a:lnTo>
                    <a:pt x="4000" y="15000"/>
                  </a:lnTo>
                </a:path>
                <a:path w="24000" h="24000" fill="none">
                  <a:moveTo>
                    <a:pt x="2000" y="9000"/>
                  </a:moveTo>
                  <a:lnTo>
                    <a:pt x="4000" y="9000"/>
                  </a:lnTo>
                </a:path>
                <a:path w="24000" h="24000" fill="none">
                  <a:moveTo>
                    <a:pt x="20000" y="15000"/>
                  </a:moveTo>
                  <a:lnTo>
                    <a:pt x="22000" y="15000"/>
                  </a:lnTo>
                </a:path>
                <a:path w="24000" h="24000" fill="none">
                  <a:moveTo>
                    <a:pt x="20000" y="9000"/>
                  </a:moveTo>
                  <a:lnTo>
                    <a:pt x="22000" y="9000"/>
                  </a:lnTo>
                </a:path>
                <a:path w="24000" h="24000" fill="none">
                  <a:moveTo>
                    <a:pt x="9000" y="2000"/>
                  </a:moveTo>
                  <a:lnTo>
                    <a:pt x="9000" y="4000"/>
                  </a:lnTo>
                </a:path>
                <a:path w="24000" h="24000" fill="none">
                  <a:moveTo>
                    <a:pt x="9000" y="20000"/>
                  </a:moveTo>
                  <a:lnTo>
                    <a:pt x="9000" y="22000"/>
                  </a:lnTo>
                </a:path>
              </a:pathLst>
            </a:custGeom>
            <a:noFill/>
            <a:ln w="8315" cap="rnd">
              <a:solidFill>
                <a:srgbClr val="40566D"/>
              </a:solidFill>
              <a:round/>
            </a:ln>
          </p:spPr>
        </p:sp>
        <p:sp>
          <p:nvSpPr>
            <p:cNvPr id="41" name="Chip label"/>
            <p:cNvSpPr txBox="1"/>
            <p:nvPr/>
          </p:nvSpPr>
          <p:spPr>
            <a:xfrm>
              <a:off x="5585301" y="1033272"/>
              <a:ext cx="29429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42" name="Badge 3"/>
          <p:cNvGrpSpPr/>
          <p:nvPr/>
        </p:nvGrpSpPr>
        <p:grpSpPr>
          <a:xfrm>
            <a:off x="6199632" y="1005840"/>
            <a:ext cx="192024" cy="192024"/>
            <a:chOff x="6199632" y="1005840"/>
            <a:chExt cx="192024" cy="192024"/>
          </a:xfrm>
        </p:grpSpPr>
        <p:sp>
          <p:nvSpPr>
            <p:cNvPr id="43" name="Badge"/>
            <p:cNvSpPr/>
            <p:nvPr/>
          </p:nvSpPr>
          <p:spPr>
            <a:xfrm>
              <a:off x="6199632" y="1005840"/>
              <a:ext cx="192024" cy="19202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4" name="Badge number"/>
            <p:cNvSpPr txBox="1"/>
            <p:nvPr/>
          </p:nvSpPr>
          <p:spPr>
            <a:xfrm>
              <a:off x="6199632" y="100584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3</a:t>
              </a:r>
              <a:endParaRPr lang="en-US" sz="700" dirty="0">
                <a:latin typeface="TASA Orbiter SemiBold"/>
              </a:endParaRPr>
            </a:p>
          </p:txBody>
        </p:sp>
      </p:grpSp>
      <p:sp>
        <p:nvSpPr>
          <p:cNvPr id="45" name="Step title"/>
          <p:cNvSpPr txBox="1"/>
          <p:nvPr/>
        </p:nvSpPr>
        <p:spPr>
          <a:xfrm>
            <a:off x="6455664" y="996696"/>
            <a:ext cx="1709928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8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Vendor submits</a:t>
            </a:r>
            <a:endParaRPr lang="en-US" sz="800" dirty="0">
              <a:latin typeface="Inter SemiBold"/>
            </a:endParaRPr>
          </a:p>
        </p:txBody>
      </p:sp>
      <p:grpSp>
        <p:nvGrpSpPr>
          <p:cNvPr id="46" name="Chip Vendor SPOC"/>
          <p:cNvGrpSpPr/>
          <p:nvPr/>
        </p:nvGrpSpPr>
        <p:grpSpPr>
          <a:xfrm>
            <a:off x="8154362" y="1033272"/>
            <a:ext cx="715318" cy="146304"/>
            <a:chOff x="8154362" y="1033272"/>
            <a:chExt cx="715318" cy="146304"/>
          </a:xfrm>
        </p:grpSpPr>
        <p:sp>
          <p:nvSpPr>
            <p:cNvPr id="47" name="Chip fill"/>
            <p:cNvSpPr/>
            <p:nvPr/>
          </p:nvSpPr>
          <p:spPr>
            <a:xfrm>
              <a:off x="8154362" y="1033272"/>
              <a:ext cx="715318" cy="146304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8" name="Icon user-check"/>
            <p:cNvSpPr/>
            <p:nvPr/>
          </p:nvSpPr>
          <p:spPr>
            <a:xfrm>
              <a:off x="8213798" y="1061070"/>
              <a:ext cx="90708" cy="9070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16000" y="11000"/>
                  </a:moveTo>
                  <a:lnTo>
                    <a:pt x="18000" y="13000"/>
                  </a:lnTo>
                  <a:lnTo>
                    <a:pt x="22000" y="9000"/>
                  </a:lnTo>
                </a:path>
              </a:pathLst>
            </a:custGeom>
            <a:noFill/>
            <a:ln w="8315" cap="rnd">
              <a:solidFill>
                <a:srgbClr val="40566D"/>
              </a:solidFill>
              <a:round/>
            </a:ln>
          </p:spPr>
        </p:sp>
        <p:sp>
          <p:nvSpPr>
            <p:cNvPr id="49" name="Chip label"/>
            <p:cNvSpPr txBox="1"/>
            <p:nvPr/>
          </p:nvSpPr>
          <p:spPr>
            <a:xfrm>
              <a:off x="8331938" y="1033272"/>
              <a:ext cx="51031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Vendor SPOC</a:t>
              </a:r>
              <a:endParaRPr lang="en-US" sz="580" dirty="0">
                <a:latin typeface="Inter SemiBold"/>
              </a:endParaRPr>
            </a:p>
          </p:txBody>
        </p:sp>
      </p:grpSp>
      <p:sp>
        <p:nvSpPr>
          <p:cNvPr id="50" name="Icon chevron-right"/>
          <p:cNvSpPr/>
          <p:nvPr/>
        </p:nvSpPr>
        <p:spPr>
          <a:xfrm>
            <a:off x="3008376" y="259689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5088" cap="rnd">
            <a:solidFill>
              <a:srgbClr val="B1C1D2"/>
            </a:solidFill>
            <a:round/>
          </a:ln>
        </p:spPr>
      </p:sp>
      <p:sp>
        <p:nvSpPr>
          <p:cNvPr id="51" name="Icon chevron-right"/>
          <p:cNvSpPr/>
          <p:nvPr/>
        </p:nvSpPr>
        <p:spPr>
          <a:xfrm>
            <a:off x="5971032" y="259689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5088" cap="rnd">
            <a:solidFill>
              <a:srgbClr val="B1C1D2"/>
            </a:solidFill>
            <a:round/>
          </a:ln>
        </p:spPr>
      </p:sp>
      <p:sp>
        <p:nvSpPr>
          <p:cNvPr id="52" name="Browser"/>
          <p:cNvSpPr/>
          <p:nvPr/>
        </p:nvSpPr>
        <p:spPr>
          <a:xfrm>
            <a:off x="274320" y="1298448"/>
            <a:ext cx="2670048" cy="2761488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  <a:effectLst>
            <a:outerShdw blurRad="152400" dist="19050" dir="5400000" algn="t" rotWithShape="0">
              <a:srgbClr val="192839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3" name="Window bar"/>
          <p:cNvSpPr/>
          <p:nvPr/>
        </p:nvSpPr>
        <p:spPr>
          <a:xfrm>
            <a:off x="274320" y="1298448"/>
            <a:ext cx="2670048" cy="173736"/>
          </a:xfrm>
          <a:prstGeom prst="roundRect">
            <a:avLst>
              <a:gd name="adj" fmla="val 36842"/>
            </a:avLst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4" name="Window bar square"/>
          <p:cNvSpPr/>
          <p:nvPr/>
        </p:nvSpPr>
        <p:spPr>
          <a:xfrm>
            <a:off x="274320" y="1389888"/>
            <a:ext cx="2670048" cy="8229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5" name="Dot"/>
          <p:cNvSpPr/>
          <p:nvPr/>
        </p:nvSpPr>
        <p:spPr>
          <a:xfrm>
            <a:off x="347472" y="1362456"/>
            <a:ext cx="45720" cy="45720"/>
          </a:xfrm>
          <a:prstGeom prst="ellipse">
            <a:avLst/>
          </a:prstGeom>
          <a:solidFill>
            <a:srgbClr val="F96C6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6" name="Dot"/>
          <p:cNvSpPr/>
          <p:nvPr/>
        </p:nvSpPr>
        <p:spPr>
          <a:xfrm>
            <a:off x="429768" y="1362456"/>
            <a:ext cx="45720" cy="4572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7" name="Dot"/>
          <p:cNvSpPr/>
          <p:nvPr/>
        </p:nvSpPr>
        <p:spPr>
          <a:xfrm>
            <a:off x="512064" y="1362456"/>
            <a:ext cx="45720" cy="45720"/>
          </a:xfrm>
          <a:prstGeom prst="ellipse">
            <a:avLst/>
          </a:prstGeom>
          <a:solidFill>
            <a:srgbClr val="48D08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8" name="URL"/>
          <p:cNvSpPr/>
          <p:nvPr/>
        </p:nvSpPr>
        <p:spPr>
          <a:xfrm>
            <a:off x="640080" y="1335024"/>
            <a:ext cx="2212848" cy="10058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9" name="UI text"/>
          <p:cNvSpPr txBox="1"/>
          <p:nvPr/>
        </p:nvSpPr>
        <p:spPr>
          <a:xfrm>
            <a:off x="694944" y="1335024"/>
            <a:ext cx="2121408" cy="1005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buNone/>
            </a:pPr>
            <a:r>
              <a:rPr lang="en-US" sz="400" b="0" i="0" spc="0" dirty="0">
                <a:solidFill>
                  <a:srgbClr val="90A5BB"/>
                </a:solidFill>
                <a:latin typeface="Inter"/>
                <a:ea typeface="Inter"/>
                <a:cs typeface="Inter"/>
                <a:sym typeface="Inter"/>
              </a:rPr>
              <a:t>app.iosense.io/dg/blr-014</a:t>
            </a:r>
            <a:endParaRPr lang="en-US" sz="400" dirty="0">
              <a:latin typeface="Inter"/>
            </a:endParaRPr>
          </a:p>
        </p:txBody>
      </p:sp>
      <p:sp>
        <p:nvSpPr>
          <p:cNvPr id="60" name="App bar"/>
          <p:cNvSpPr/>
          <p:nvPr/>
        </p:nvSpPr>
        <p:spPr>
          <a:xfrm>
            <a:off x="274320" y="1472184"/>
            <a:ext cx="267004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cxnSp>
        <p:nvCxnSpPr>
          <p:cNvPr id="61" name="Divider"/>
          <p:cNvCxnSpPr/>
          <p:nvPr/>
        </p:nvCxnSpPr>
        <p:spPr>
          <a:xfrm>
            <a:off x="274320" y="1691640"/>
            <a:ext cx="2670048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grpSp>
        <p:nvGrpSpPr>
          <p:cNvPr id="62" name="IOsense mark"/>
          <p:cNvGrpSpPr/>
          <p:nvPr/>
        </p:nvGrpSpPr>
        <p:grpSpPr>
          <a:xfrm>
            <a:off x="347472" y="1517904"/>
            <a:ext cx="128016" cy="128016"/>
            <a:chOff x="347472" y="1517904"/>
            <a:chExt cx="128016" cy="128016"/>
          </a:xfrm>
        </p:grpSpPr>
        <p:sp>
          <p:nvSpPr>
            <p:cNvPr id="63" name="IOsense tile"/>
            <p:cNvSpPr/>
            <p:nvPr/>
          </p:nvSpPr>
          <p:spPr>
            <a:xfrm>
              <a:off x="347472" y="1517904"/>
              <a:ext cx="128016" cy="128016"/>
            </a:xfrm>
            <a:prstGeom prst="roundRect">
              <a:avLst>
                <a:gd name="adj" fmla="val 8601"/>
              </a:avLst>
            </a:prstGeom>
            <a:solidFill>
              <a:srgbClr val="342DF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64" name="IOsense monogram"/>
            <p:cNvSpPr/>
            <p:nvPr/>
          </p:nvSpPr>
          <p:spPr>
            <a:xfrm>
              <a:off x="347472" y="1517904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82000" h="182000">
                  <a:moveTo>
                    <a:pt x="64203" y="108445"/>
                  </a:moveTo>
                  <a:lnTo>
                    <a:pt x="45789" y="56179"/>
                  </a:lnTo>
                  <a:lnTo>
                    <a:pt x="38955" y="77205"/>
                  </a:lnTo>
                  <a:lnTo>
                    <a:pt x="50047" y="85556"/>
                  </a:lnTo>
                  <a:lnTo>
                    <a:pt x="52025" y="94299"/>
                  </a:lnTo>
                  <a:lnTo>
                    <a:pt x="31889" y="79753"/>
                  </a:lnTo>
                  <a:lnTo>
                    <a:pt x="46378" y="36445"/>
                  </a:lnTo>
                  <a:lnTo>
                    <a:pt x="64203" y="88988"/>
                  </a:lnTo>
                  <a:lnTo>
                    <a:pt x="81834" y="37215"/>
                  </a:lnTo>
                  <a:lnTo>
                    <a:pt x="95889" y="80938"/>
                  </a:lnTo>
                  <a:lnTo>
                    <a:pt x="75792" y="95376"/>
                  </a:lnTo>
                  <a:lnTo>
                    <a:pt x="77971" y="85948"/>
                  </a:lnTo>
                  <a:lnTo>
                    <a:pt x="88660" y="77890"/>
                  </a:lnTo>
                  <a:lnTo>
                    <a:pt x="81531" y="57064"/>
                  </a:lnTo>
                  <a:lnTo>
                    <a:pt x="64203" y="1084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5" name="UI text"/>
          <p:cNvSpPr txBox="1"/>
          <p:nvPr/>
        </p:nvSpPr>
        <p:spPr>
          <a:xfrm>
            <a:off x="512064" y="1472184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buNone/>
            </a:pPr>
            <a:r>
              <a:rPr lang="en-US" sz="5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IOsense</a:t>
            </a:r>
            <a:r>
              <a:rPr lang="en-US" sz="50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·  DG Monitoring</a:t>
            </a:r>
            <a:endParaRPr lang="en-US" sz="500" dirty="0">
              <a:latin typeface="Inter SemiBold"/>
            </a:endParaRPr>
          </a:p>
        </p:txBody>
      </p:sp>
      <p:sp>
        <p:nvSpPr>
          <p:cNvPr id="66" name="Icon circle-user"/>
          <p:cNvSpPr/>
          <p:nvPr/>
        </p:nvSpPr>
        <p:spPr>
          <a:xfrm>
            <a:off x="2408122" y="1527048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</a:path>
              <a:path w="24000" h="24000" fill="none"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  <a:path w="24000" h="24000" fill="none">
                <a:moveTo>
                  <a:pt x="7000" y="20662"/>
                </a:moveTo>
                <a:lnTo>
                  <a:pt x="7000" y="19000"/>
                </a:lnTo>
                <a:cubicBezTo>
                  <a:pt x="7000" y="17895"/>
                  <a:pt x="7895" y="17000"/>
                  <a:pt x="9000" y="17000"/>
                </a:cubicBezTo>
                <a:lnTo>
                  <a:pt x="15000" y="17000"/>
                </a:lnTo>
                <a:cubicBezTo>
                  <a:pt x="16105" y="17000"/>
                  <a:pt x="17000" y="17895"/>
                  <a:pt x="17000" y="19000"/>
                </a:cubicBezTo>
                <a:lnTo>
                  <a:pt x="17000" y="20662"/>
                </a:lnTo>
              </a:path>
            </a:pathLst>
          </a:custGeom>
          <a:noFill/>
          <a:ln w="10058" cap="rnd">
            <a:solidFill>
              <a:srgbClr val="40566D"/>
            </a:solidFill>
            <a:round/>
          </a:ln>
        </p:spPr>
      </p:sp>
      <p:sp>
        <p:nvSpPr>
          <p:cNvPr id="67" name="UI text"/>
          <p:cNvSpPr txBox="1"/>
          <p:nvPr/>
        </p:nvSpPr>
        <p:spPr>
          <a:xfrm>
            <a:off x="2545282" y="1472184"/>
            <a:ext cx="399086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528"/>
              </a:lnSpc>
              <a:spcBef>
                <a:spcPts val="0"/>
              </a:spcBef>
              <a:buNone/>
            </a:pPr>
            <a:r>
              <a:rPr lang="en-US" sz="44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Store User</a:t>
            </a:r>
            <a:endParaRPr lang="en-US" sz="440" dirty="0">
              <a:latin typeface="Inter"/>
            </a:endParaRPr>
          </a:p>
        </p:txBody>
      </p:sp>
      <p:sp>
        <p:nvSpPr>
          <p:cNvPr id="68" name="Page"/>
          <p:cNvSpPr/>
          <p:nvPr/>
        </p:nvSpPr>
        <p:spPr>
          <a:xfrm>
            <a:off x="278892" y="1700784"/>
            <a:ext cx="2660904" cy="23545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69" name="Page corner"/>
          <p:cNvSpPr/>
          <p:nvPr/>
        </p:nvSpPr>
        <p:spPr>
          <a:xfrm>
            <a:off x="274320" y="3950208"/>
            <a:ext cx="2670048" cy="10972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0" name="Page corner square"/>
          <p:cNvSpPr/>
          <p:nvPr/>
        </p:nvSpPr>
        <p:spPr>
          <a:xfrm>
            <a:off x="274320" y="3950208"/>
            <a:ext cx="2670048" cy="548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1" name="Card"/>
          <p:cNvSpPr/>
          <p:nvPr/>
        </p:nvSpPr>
        <p:spPr>
          <a:xfrm>
            <a:off x="365760" y="1783080"/>
            <a:ext cx="2487168" cy="1161288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2" name="UI text"/>
          <p:cNvSpPr txBox="1"/>
          <p:nvPr/>
        </p:nvSpPr>
        <p:spPr>
          <a:xfrm>
            <a:off x="475488" y="1874520"/>
            <a:ext cx="157276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buNone/>
            </a:pPr>
            <a:r>
              <a:rPr lang="en-US" sz="7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DG-01</a:t>
            </a:r>
            <a:r>
              <a:rPr lang="en-US" sz="70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 BLR-014 · Bengaluru</a:t>
            </a:r>
            <a:endParaRPr lang="en-US" sz="700" dirty="0">
              <a:latin typeface="Inter SemiBold"/>
            </a:endParaRPr>
          </a:p>
        </p:txBody>
      </p:sp>
      <p:grpSp>
        <p:nvGrpSpPr>
          <p:cNvPr id="73" name="Badge"/>
          <p:cNvGrpSpPr/>
          <p:nvPr/>
        </p:nvGrpSpPr>
        <p:grpSpPr>
          <a:xfrm>
            <a:off x="2257612" y="1892808"/>
            <a:ext cx="485588" cy="155448"/>
            <a:chOff x="2257612" y="1892808"/>
            <a:chExt cx="485588" cy="155448"/>
          </a:xfrm>
        </p:grpSpPr>
        <p:sp>
          <p:nvSpPr>
            <p:cNvPr id="74" name="Badge"/>
            <p:cNvSpPr/>
            <p:nvPr/>
          </p:nvSpPr>
          <p:spPr>
            <a:xfrm>
              <a:off x="2257612" y="1892808"/>
              <a:ext cx="485588" cy="155448"/>
            </a:xfrm>
            <a:prstGeom prst="roundRect">
              <a:avLst>
                <a:gd name="adj" fmla="val 25000"/>
              </a:avLst>
            </a:prstGeom>
            <a:solidFill>
              <a:srgbClr val="EBFAF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75" name="Icon circle-dot"/>
            <p:cNvSpPr/>
            <p:nvPr/>
          </p:nvSpPr>
          <p:spPr>
            <a:xfrm>
              <a:off x="2303332" y="1923898"/>
              <a:ext cx="93269" cy="9326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3000" y="12000"/>
                  </a:moveTo>
                  <a:cubicBezTo>
                    <a:pt x="13000" y="12552"/>
                    <a:pt x="12552" y="13000"/>
                    <a:pt x="12000" y="13000"/>
                  </a:cubicBezTo>
                  <a:cubicBezTo>
                    <a:pt x="11448" y="13000"/>
                    <a:pt x="11000" y="12552"/>
                    <a:pt x="11000" y="12000"/>
                  </a:cubicBezTo>
                  <a:cubicBezTo>
                    <a:pt x="11000" y="11448"/>
                    <a:pt x="11448" y="11000"/>
                    <a:pt x="12000" y="11000"/>
                  </a:cubicBezTo>
                  <a:cubicBezTo>
                    <a:pt x="12552" y="11000"/>
                    <a:pt x="13000" y="11448"/>
                    <a:pt x="13000" y="12000"/>
                  </a:cubicBezTo>
                  <a:close/>
                </a:path>
              </a:pathLst>
            </a:custGeom>
            <a:noFill/>
            <a:ln w="8550" cap="rnd">
              <a:solidFill>
                <a:srgbClr val="008743"/>
              </a:solidFill>
              <a:round/>
            </a:ln>
          </p:spPr>
        </p:sp>
        <p:sp>
          <p:nvSpPr>
            <p:cNvPr id="76" name="Badge label"/>
            <p:cNvSpPr txBox="1"/>
            <p:nvPr/>
          </p:nvSpPr>
          <p:spPr>
            <a:xfrm>
              <a:off x="2424033" y="1892808"/>
              <a:ext cx="291735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00874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Running</a:t>
              </a:r>
              <a:endParaRPr lang="en-US" sz="540" dirty="0">
                <a:latin typeface="Inter SemiBold"/>
              </a:endParaRPr>
            </a:p>
          </p:txBody>
        </p:sp>
      </p:grpSp>
      <p:cxnSp>
        <p:nvCxnSpPr>
          <p:cNvPr id="77" name="Divider"/>
          <p:cNvCxnSpPr/>
          <p:nvPr/>
        </p:nvCxnSpPr>
        <p:spPr>
          <a:xfrm>
            <a:off x="475488" y="2112264"/>
            <a:ext cx="2267712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grpSp>
        <p:nvGrpSpPr>
          <p:cNvPr id="78" name="KPI Fuel level"/>
          <p:cNvGrpSpPr/>
          <p:nvPr/>
        </p:nvGrpSpPr>
        <p:grpSpPr>
          <a:xfrm>
            <a:off x="475488" y="2203704"/>
            <a:ext cx="1088136" cy="603504"/>
            <a:chOff x="475488" y="2203704"/>
            <a:chExt cx="1088136" cy="603504"/>
          </a:xfrm>
        </p:grpSpPr>
        <p:sp>
          <p:nvSpPr>
            <p:cNvPr id="79" name="KPI tile"/>
            <p:cNvSpPr/>
            <p:nvPr/>
          </p:nvSpPr>
          <p:spPr>
            <a:xfrm>
              <a:off x="475488" y="2203704"/>
              <a:ext cx="1088136" cy="603504"/>
            </a:xfrm>
            <a:prstGeom prst="roundRect">
              <a:avLst>
                <a:gd name="adj" fmla="val 6061"/>
              </a:avLst>
            </a:prstGeom>
            <a:solidFill>
              <a:srgbClr val="F8FAF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0" name="UI text"/>
            <p:cNvSpPr txBox="1"/>
            <p:nvPr/>
          </p:nvSpPr>
          <p:spPr>
            <a:xfrm>
              <a:off x="530352" y="2240280"/>
              <a:ext cx="978408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450"/>
                </a:lnSpc>
                <a:spcBef>
                  <a:spcPts val="0"/>
                </a:spcBef>
                <a:buNone/>
              </a:pPr>
              <a:r>
                <a:rPr lang="en-US" sz="430" b="0" i="0" spc="0" dirty="0">
                  <a:solidFill>
                    <a:srgbClr val="768EA7"/>
                  </a:solidFill>
                  <a:latin typeface="Inter"/>
                  <a:ea typeface="Inter"/>
                  <a:cs typeface="Inter"/>
                  <a:sym typeface="Inter"/>
                </a:rPr>
                <a:t>Fuel level</a:t>
              </a:r>
              <a:endParaRPr lang="en-US" sz="430" dirty="0">
                <a:latin typeface="Inter"/>
              </a:endParaRPr>
            </a:p>
          </p:txBody>
        </p:sp>
        <p:sp>
          <p:nvSpPr>
            <p:cNvPr id="81" name="UI text"/>
            <p:cNvSpPr txBox="1"/>
            <p:nvPr/>
          </p:nvSpPr>
          <p:spPr>
            <a:xfrm>
              <a:off x="530352" y="2331720"/>
              <a:ext cx="97840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D92D2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14</a:t>
              </a:r>
              <a:r>
                <a:rPr lang="en-US" sz="720" b="0" i="0" spc="0" dirty="0">
                  <a:solidFill>
                    <a:srgbClr val="768EA7"/>
                  </a:solidFill>
                  <a:latin typeface="Inter"/>
                  <a:ea typeface="Inter"/>
                  <a:cs typeface="Inter"/>
                  <a:sym typeface="Inter"/>
                </a:rPr>
                <a:t> %</a:t>
              </a:r>
              <a:endParaRPr lang="en-US" sz="720" dirty="0">
                <a:latin typeface="Inter SemiBold"/>
              </a:endParaRPr>
            </a:p>
          </p:txBody>
        </p:sp>
        <p:sp>
          <p:nvSpPr>
            <p:cNvPr id="82" name="Bar track"/>
            <p:cNvSpPr/>
            <p:nvPr/>
          </p:nvSpPr>
          <p:spPr>
            <a:xfrm>
              <a:off x="530352" y="2734056"/>
              <a:ext cx="978408" cy="36576"/>
            </a:xfrm>
            <a:prstGeom prst="roundRect">
              <a:avLst>
                <a:gd name="adj" fmla="val 50000"/>
              </a:avLst>
            </a:prstGeom>
            <a:solidFill>
              <a:srgbClr val="E3EAF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3" name="Bar fill"/>
            <p:cNvSpPr/>
            <p:nvPr/>
          </p:nvSpPr>
          <p:spPr>
            <a:xfrm>
              <a:off x="530352" y="2734056"/>
              <a:ext cx="136977" cy="36576"/>
            </a:xfrm>
            <a:prstGeom prst="roundRect">
              <a:avLst>
                <a:gd name="adj" fmla="val 50000"/>
              </a:avLst>
            </a:prstGeom>
            <a:solidFill>
              <a:srgbClr val="D92D20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</p:grpSp>
      <p:grpSp>
        <p:nvGrpSpPr>
          <p:cNvPr id="84" name="KPI Estimated fuel"/>
          <p:cNvGrpSpPr/>
          <p:nvPr/>
        </p:nvGrpSpPr>
        <p:grpSpPr>
          <a:xfrm>
            <a:off x="1655064" y="2203704"/>
            <a:ext cx="1088136" cy="603504"/>
            <a:chOff x="1655064" y="2203704"/>
            <a:chExt cx="1088136" cy="603504"/>
          </a:xfrm>
        </p:grpSpPr>
        <p:sp>
          <p:nvSpPr>
            <p:cNvPr id="85" name="KPI tile"/>
            <p:cNvSpPr/>
            <p:nvPr/>
          </p:nvSpPr>
          <p:spPr>
            <a:xfrm>
              <a:off x="1655064" y="2203704"/>
              <a:ext cx="1088136" cy="603504"/>
            </a:xfrm>
            <a:prstGeom prst="roundRect">
              <a:avLst>
                <a:gd name="adj" fmla="val 6061"/>
              </a:avLst>
            </a:prstGeom>
            <a:solidFill>
              <a:srgbClr val="F8FAF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6" name="UI text"/>
            <p:cNvSpPr txBox="1"/>
            <p:nvPr/>
          </p:nvSpPr>
          <p:spPr>
            <a:xfrm>
              <a:off x="1709928" y="2240280"/>
              <a:ext cx="978408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450"/>
                </a:lnSpc>
                <a:spcBef>
                  <a:spcPts val="0"/>
                </a:spcBef>
                <a:buNone/>
              </a:pPr>
              <a:r>
                <a:rPr lang="en-US" sz="430" b="0" i="0" spc="0" dirty="0">
                  <a:solidFill>
                    <a:srgbClr val="768EA7"/>
                  </a:solidFill>
                  <a:latin typeface="Inter"/>
                  <a:ea typeface="Inter"/>
                  <a:cs typeface="Inter"/>
                  <a:sym typeface="Inter"/>
                </a:rPr>
                <a:t>Estimated fuel</a:t>
              </a:r>
              <a:endParaRPr lang="en-US" sz="430" dirty="0">
                <a:latin typeface="Inter"/>
              </a:endParaRPr>
            </a:p>
          </p:txBody>
        </p:sp>
        <p:sp>
          <p:nvSpPr>
            <p:cNvPr id="87" name="UI text"/>
            <p:cNvSpPr txBox="1"/>
            <p:nvPr/>
          </p:nvSpPr>
          <p:spPr>
            <a:xfrm>
              <a:off x="1709928" y="2331720"/>
              <a:ext cx="97840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19283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168</a:t>
              </a:r>
              <a:r>
                <a:rPr lang="en-US" sz="720" b="0" i="0" spc="0" dirty="0">
                  <a:solidFill>
                    <a:srgbClr val="768EA7"/>
                  </a:solidFill>
                  <a:latin typeface="Inter"/>
                  <a:ea typeface="Inter"/>
                  <a:cs typeface="Inter"/>
                  <a:sym typeface="Inter"/>
                </a:rPr>
                <a:t> L</a:t>
              </a:r>
              <a:endParaRPr lang="en-US" sz="720" dirty="0">
                <a:latin typeface="Inter SemiBold"/>
              </a:endParaRPr>
            </a:p>
          </p:txBody>
        </p:sp>
      </p:grpSp>
      <p:grpSp>
        <p:nvGrpSpPr>
          <p:cNvPr id="88" name="Alert"/>
          <p:cNvGrpSpPr/>
          <p:nvPr/>
        </p:nvGrpSpPr>
        <p:grpSpPr>
          <a:xfrm>
            <a:off x="365760" y="3127248"/>
            <a:ext cx="2487168" cy="312928"/>
            <a:chOff x="365760" y="3127248"/>
            <a:chExt cx="2487168" cy="312928"/>
          </a:xfrm>
        </p:grpSpPr>
        <p:sp>
          <p:nvSpPr>
            <p:cNvPr id="89" name="Alert"/>
            <p:cNvSpPr/>
            <p:nvPr/>
          </p:nvSpPr>
          <p:spPr>
            <a:xfrm>
              <a:off x="365760" y="3127248"/>
              <a:ext cx="2487168" cy="312928"/>
            </a:xfrm>
            <a:prstGeom prst="roundRect">
              <a:avLst>
                <a:gd name="adj" fmla="val 11688"/>
              </a:avLst>
            </a:prstGeom>
            <a:solidFill>
              <a:srgbClr val="FFF5F5"/>
            </a:solidFill>
            <a:ln w="6350">
              <a:solidFill>
                <a:srgbClr val="D92D20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0" name="Icon triangle-alert"/>
            <p:cNvSpPr/>
            <p:nvPr/>
          </p:nvSpPr>
          <p:spPr>
            <a:xfrm>
              <a:off x="438912" y="3191256"/>
              <a:ext cx="118872" cy="11887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730" y="18000"/>
                  </a:moveTo>
                  <a:lnTo>
                    <a:pt x="13730" y="4000"/>
                  </a:lnTo>
                  <a:cubicBezTo>
                    <a:pt x="13375" y="3373"/>
                    <a:pt x="12710" y="2986"/>
                    <a:pt x="11990" y="2986"/>
                  </a:cubicBezTo>
                  <a:cubicBezTo>
                    <a:pt x="11270" y="2986"/>
                    <a:pt x="10605" y="3373"/>
                    <a:pt x="10250" y="4000"/>
                  </a:cubicBezTo>
                  <a:lnTo>
                    <a:pt x="2250" y="18000"/>
                  </a:lnTo>
                  <a:cubicBezTo>
                    <a:pt x="1891" y="18622"/>
                    <a:pt x="1893" y="19388"/>
                    <a:pt x="2254" y="20008"/>
                  </a:cubicBezTo>
                  <a:cubicBezTo>
                    <a:pt x="2616" y="20628"/>
                    <a:pt x="3282" y="21006"/>
                    <a:pt x="4000" y="21000"/>
                  </a:cubicBezTo>
                  <a:lnTo>
                    <a:pt x="20000" y="21000"/>
                  </a:lnTo>
                  <a:cubicBezTo>
                    <a:pt x="20714" y="20999"/>
                    <a:pt x="21374" y="20618"/>
                    <a:pt x="21731" y="19999"/>
                  </a:cubicBezTo>
                  <a:cubicBezTo>
                    <a:pt x="22087" y="19380"/>
                    <a:pt x="22087" y="18618"/>
                    <a:pt x="21730" y="18000"/>
                  </a:cubicBezTo>
                </a:path>
                <a:path w="24000" h="24000" fill="none">
                  <a:moveTo>
                    <a:pt x="12000" y="9000"/>
                  </a:moveTo>
                  <a:lnTo>
                    <a:pt x="12000" y="13000"/>
                  </a:ln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10897" cap="rnd">
              <a:solidFill>
                <a:srgbClr val="D92D20"/>
              </a:solidFill>
              <a:round/>
            </a:ln>
          </p:spPr>
        </p:sp>
        <p:sp>
          <p:nvSpPr>
            <p:cNvPr id="91" name="Alert text"/>
            <p:cNvSpPr txBox="1"/>
            <p:nvPr/>
          </p:nvSpPr>
          <p:spPr>
            <a:xfrm>
              <a:off x="621792" y="3182112"/>
              <a:ext cx="2157984" cy="221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8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B4231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Low fuel — below the 20 % limit for 15 minutes</a:t>
              </a:r>
              <a:endParaRPr lang="en-US" sz="640" dirty="0">
                <a:latin typeface="Inter SemiBold"/>
              </a:endParaRPr>
            </a:p>
            <a:p>
              <a:pPr algn="l">
                <a:lnSpc>
                  <a:spcPts val="732"/>
                </a:lnSpc>
                <a:spcBef>
                  <a:spcPts val="100"/>
                </a:spcBef>
                <a:buNone/>
              </a:pPr>
              <a:r>
                <a:rPr lang="en-US" sz="61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Alert raised · refill work order WO-1042 created</a:t>
              </a:r>
              <a:endParaRPr lang="en-US" sz="610" dirty="0">
                <a:latin typeface="Inter"/>
              </a:endParaRPr>
            </a:p>
          </p:txBody>
        </p:sp>
      </p:grpSp>
      <p:grpSp>
        <p:nvGrpSpPr>
          <p:cNvPr id="92" name="Button Raise refill work order"/>
          <p:cNvGrpSpPr/>
          <p:nvPr/>
        </p:nvGrpSpPr>
        <p:grpSpPr>
          <a:xfrm>
            <a:off x="365760" y="3623056"/>
            <a:ext cx="1417320" cy="219456"/>
            <a:chOff x="365760" y="3623056"/>
            <a:chExt cx="1417320" cy="219456"/>
          </a:xfrm>
        </p:grpSpPr>
        <p:sp>
          <p:nvSpPr>
            <p:cNvPr id="93" name="Button"/>
            <p:cNvSpPr/>
            <p:nvPr/>
          </p:nvSpPr>
          <p:spPr>
            <a:xfrm>
              <a:off x="365760" y="3623056"/>
              <a:ext cx="1417320" cy="219456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4" name="Icon square-pen"/>
            <p:cNvSpPr/>
            <p:nvPr/>
          </p:nvSpPr>
          <p:spPr>
            <a:xfrm>
              <a:off x="631130" y="3682492"/>
              <a:ext cx="100584" cy="10058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3000"/>
                  </a:moveTo>
                  <a:lnTo>
                    <a:pt x="5000" y="3000"/>
                  </a:lnTo>
                  <a:cubicBezTo>
                    <a:pt x="3895" y="3000"/>
                    <a:pt x="3000" y="3895"/>
                    <a:pt x="3000" y="5000"/>
                  </a:cubicBez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19000" y="21000"/>
                  </a:lnTo>
                  <a:cubicBezTo>
                    <a:pt x="20105" y="21000"/>
                    <a:pt x="21000" y="20105"/>
                    <a:pt x="21000" y="19000"/>
                  </a:cubicBezTo>
                  <a:lnTo>
                    <a:pt x="21000" y="12000"/>
                  </a:lnTo>
                </a:path>
                <a:path w="24000" h="24000" fill="none">
                  <a:moveTo>
                    <a:pt x="18375" y="2625"/>
                  </a:moveTo>
                  <a:cubicBezTo>
                    <a:pt x="19203" y="1797"/>
                    <a:pt x="20547" y="1797"/>
                    <a:pt x="21375" y="2625"/>
                  </a:cubicBezTo>
                  <a:cubicBezTo>
                    <a:pt x="22203" y="3453"/>
                    <a:pt x="22203" y="4797"/>
                    <a:pt x="21375" y="5625"/>
                  </a:cubicBezTo>
                  <a:lnTo>
                    <a:pt x="12362" y="14639"/>
                  </a:lnTo>
                  <a:cubicBezTo>
                    <a:pt x="12125" y="14876"/>
                    <a:pt x="11831" y="15050"/>
                    <a:pt x="11509" y="15144"/>
                  </a:cubicBezTo>
                  <a:lnTo>
                    <a:pt x="8636" y="15984"/>
                  </a:lnTo>
                  <a:cubicBezTo>
                    <a:pt x="8461" y="16035"/>
                    <a:pt x="8272" y="15987"/>
                    <a:pt x="8142" y="15858"/>
                  </a:cubicBezTo>
                  <a:cubicBezTo>
                    <a:pt x="8013" y="15728"/>
                    <a:pt x="7965" y="15539"/>
                    <a:pt x="8016" y="15364"/>
                  </a:cubicBezTo>
                  <a:lnTo>
                    <a:pt x="8856" y="12491"/>
                  </a:lnTo>
                  <a:cubicBezTo>
                    <a:pt x="8951" y="12169"/>
                    <a:pt x="9125" y="11876"/>
                    <a:pt x="9362" y="11639"/>
                  </a:cubicBezTo>
                  <a:close/>
                </a:path>
              </a:pathLst>
            </a:custGeom>
            <a:noFill/>
            <a:ln w="9220" cap="rnd">
              <a:solidFill>
                <a:srgbClr val="192839"/>
              </a:solidFill>
              <a:round/>
            </a:ln>
          </p:spPr>
        </p:sp>
        <p:sp>
          <p:nvSpPr>
            <p:cNvPr id="95" name="Button label"/>
            <p:cNvSpPr txBox="1"/>
            <p:nvPr/>
          </p:nvSpPr>
          <p:spPr>
            <a:xfrm>
              <a:off x="768290" y="3623056"/>
              <a:ext cx="785995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60"/>
                </a:lnSpc>
                <a:spcBef>
                  <a:spcPts val="0"/>
                </a:spcBef>
                <a:buNone/>
              </a:pPr>
              <a:r>
                <a:rPr lang="en-US" sz="560" b="0" i="0" spc="0" dirty="0">
                  <a:solidFill>
                    <a:srgbClr val="19283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Raise refill work order</a:t>
              </a:r>
              <a:endParaRPr lang="en-US" sz="560" dirty="0">
                <a:latin typeface="Inter SemiBold"/>
              </a:endParaRPr>
            </a:p>
          </p:txBody>
        </p:sp>
      </p:grpSp>
      <p:sp>
        <p:nvSpPr>
          <p:cNvPr id="96" name="UI text"/>
          <p:cNvSpPr txBox="1"/>
          <p:nvPr/>
        </p:nvSpPr>
        <p:spPr>
          <a:xfrm>
            <a:off x="1865376" y="3623056"/>
            <a:ext cx="98755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buNone/>
            </a:pPr>
            <a:r>
              <a:rPr lang="en-US" sz="54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Manual trigger, any time</a:t>
            </a:r>
            <a:endParaRPr lang="en-US" sz="540" dirty="0">
              <a:latin typeface="Inter"/>
            </a:endParaRPr>
          </a:p>
        </p:txBody>
      </p:sp>
      <p:sp>
        <p:nvSpPr>
          <p:cNvPr id="97" name="Browser"/>
          <p:cNvSpPr/>
          <p:nvPr/>
        </p:nvSpPr>
        <p:spPr>
          <a:xfrm>
            <a:off x="3236976" y="1298448"/>
            <a:ext cx="2670048" cy="2761488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  <a:effectLst>
            <a:outerShdw blurRad="152400" dist="19050" dir="5400000" algn="t" rotWithShape="0">
              <a:srgbClr val="192839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98" name="Window bar"/>
          <p:cNvSpPr/>
          <p:nvPr/>
        </p:nvSpPr>
        <p:spPr>
          <a:xfrm>
            <a:off x="3236976" y="1298448"/>
            <a:ext cx="2670048" cy="173736"/>
          </a:xfrm>
          <a:prstGeom prst="roundRect">
            <a:avLst>
              <a:gd name="adj" fmla="val 36842"/>
            </a:avLst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99" name="Window bar square"/>
          <p:cNvSpPr/>
          <p:nvPr/>
        </p:nvSpPr>
        <p:spPr>
          <a:xfrm>
            <a:off x="3236976" y="1389888"/>
            <a:ext cx="2670048" cy="8229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0" name="Dot"/>
          <p:cNvSpPr/>
          <p:nvPr/>
        </p:nvSpPr>
        <p:spPr>
          <a:xfrm>
            <a:off x="3310128" y="1362456"/>
            <a:ext cx="45720" cy="45720"/>
          </a:xfrm>
          <a:prstGeom prst="ellipse">
            <a:avLst/>
          </a:prstGeom>
          <a:solidFill>
            <a:srgbClr val="F96C6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1" name="Dot"/>
          <p:cNvSpPr/>
          <p:nvPr/>
        </p:nvSpPr>
        <p:spPr>
          <a:xfrm>
            <a:off x="3392424" y="1362456"/>
            <a:ext cx="45720" cy="4572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2" name="Dot"/>
          <p:cNvSpPr/>
          <p:nvPr/>
        </p:nvSpPr>
        <p:spPr>
          <a:xfrm>
            <a:off x="3474720" y="1362456"/>
            <a:ext cx="45720" cy="45720"/>
          </a:xfrm>
          <a:prstGeom prst="ellipse">
            <a:avLst/>
          </a:prstGeom>
          <a:solidFill>
            <a:srgbClr val="48D08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3" name="URL"/>
          <p:cNvSpPr/>
          <p:nvPr/>
        </p:nvSpPr>
        <p:spPr>
          <a:xfrm>
            <a:off x="3602736" y="1335024"/>
            <a:ext cx="2212848" cy="10058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4" name="UI text"/>
          <p:cNvSpPr txBox="1"/>
          <p:nvPr/>
        </p:nvSpPr>
        <p:spPr>
          <a:xfrm>
            <a:off x="3657600" y="1335024"/>
            <a:ext cx="2121408" cy="1005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buNone/>
            </a:pPr>
            <a:r>
              <a:rPr lang="en-US" sz="400" b="0" i="0" spc="0" dirty="0">
                <a:solidFill>
                  <a:srgbClr val="90A5BB"/>
                </a:solidFill>
                <a:latin typeface="Inter"/>
                <a:ea typeface="Inter"/>
                <a:cs typeface="Inter"/>
                <a:sym typeface="Inter"/>
              </a:rPr>
              <a:t>app.iosense.io/work-orders/WO-1042</a:t>
            </a:r>
            <a:endParaRPr lang="en-US" sz="400" dirty="0">
              <a:latin typeface="Inter"/>
            </a:endParaRPr>
          </a:p>
        </p:txBody>
      </p:sp>
      <p:sp>
        <p:nvSpPr>
          <p:cNvPr id="105" name="App bar"/>
          <p:cNvSpPr/>
          <p:nvPr/>
        </p:nvSpPr>
        <p:spPr>
          <a:xfrm>
            <a:off x="3236976" y="1472184"/>
            <a:ext cx="267004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cxnSp>
        <p:nvCxnSpPr>
          <p:cNvPr id="106" name="Divider"/>
          <p:cNvCxnSpPr/>
          <p:nvPr/>
        </p:nvCxnSpPr>
        <p:spPr>
          <a:xfrm>
            <a:off x="3236976" y="1691640"/>
            <a:ext cx="2670048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grpSp>
        <p:nvGrpSpPr>
          <p:cNvPr id="107" name="IOsense mark"/>
          <p:cNvGrpSpPr/>
          <p:nvPr/>
        </p:nvGrpSpPr>
        <p:grpSpPr>
          <a:xfrm>
            <a:off x="3310128" y="1517904"/>
            <a:ext cx="128016" cy="128016"/>
            <a:chOff x="3310128" y="1517904"/>
            <a:chExt cx="128016" cy="128016"/>
          </a:xfrm>
        </p:grpSpPr>
        <p:sp>
          <p:nvSpPr>
            <p:cNvPr id="108" name="IOsense tile"/>
            <p:cNvSpPr/>
            <p:nvPr/>
          </p:nvSpPr>
          <p:spPr>
            <a:xfrm>
              <a:off x="3310128" y="1517904"/>
              <a:ext cx="128016" cy="128016"/>
            </a:xfrm>
            <a:prstGeom prst="roundRect">
              <a:avLst>
                <a:gd name="adj" fmla="val 8601"/>
              </a:avLst>
            </a:prstGeom>
            <a:solidFill>
              <a:srgbClr val="342DF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09" name="IOsense monogram"/>
            <p:cNvSpPr/>
            <p:nvPr/>
          </p:nvSpPr>
          <p:spPr>
            <a:xfrm>
              <a:off x="3310128" y="1517904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82000" h="182000">
                  <a:moveTo>
                    <a:pt x="64203" y="108445"/>
                  </a:moveTo>
                  <a:lnTo>
                    <a:pt x="45789" y="56179"/>
                  </a:lnTo>
                  <a:lnTo>
                    <a:pt x="38955" y="77205"/>
                  </a:lnTo>
                  <a:lnTo>
                    <a:pt x="50047" y="85556"/>
                  </a:lnTo>
                  <a:lnTo>
                    <a:pt x="52025" y="94299"/>
                  </a:lnTo>
                  <a:lnTo>
                    <a:pt x="31889" y="79753"/>
                  </a:lnTo>
                  <a:lnTo>
                    <a:pt x="46378" y="36445"/>
                  </a:lnTo>
                  <a:lnTo>
                    <a:pt x="64203" y="88988"/>
                  </a:lnTo>
                  <a:lnTo>
                    <a:pt x="81834" y="37215"/>
                  </a:lnTo>
                  <a:lnTo>
                    <a:pt x="95889" y="80938"/>
                  </a:lnTo>
                  <a:lnTo>
                    <a:pt x="75792" y="95376"/>
                  </a:lnTo>
                  <a:lnTo>
                    <a:pt x="77971" y="85948"/>
                  </a:lnTo>
                  <a:lnTo>
                    <a:pt x="88660" y="77890"/>
                  </a:lnTo>
                  <a:lnTo>
                    <a:pt x="81531" y="57064"/>
                  </a:lnTo>
                  <a:lnTo>
                    <a:pt x="64203" y="1084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10" name="UI text"/>
          <p:cNvSpPr txBox="1"/>
          <p:nvPr/>
        </p:nvSpPr>
        <p:spPr>
          <a:xfrm>
            <a:off x="3474720" y="1472184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buNone/>
            </a:pPr>
            <a:r>
              <a:rPr lang="en-US" sz="5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IOsense</a:t>
            </a:r>
            <a:r>
              <a:rPr lang="en-US" sz="50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·  Work orders</a:t>
            </a:r>
            <a:endParaRPr lang="en-US" sz="500" dirty="0">
              <a:latin typeface="Inter SemiBold"/>
            </a:endParaRPr>
          </a:p>
        </p:txBody>
      </p:sp>
      <p:sp>
        <p:nvSpPr>
          <p:cNvPr id="111" name="Icon circle-user"/>
          <p:cNvSpPr/>
          <p:nvPr/>
        </p:nvSpPr>
        <p:spPr>
          <a:xfrm>
            <a:off x="5319939" y="1527048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</a:path>
              <a:path w="24000" h="24000" fill="none"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  <a:path w="24000" h="24000" fill="none">
                <a:moveTo>
                  <a:pt x="7000" y="20662"/>
                </a:moveTo>
                <a:lnTo>
                  <a:pt x="7000" y="19000"/>
                </a:lnTo>
                <a:cubicBezTo>
                  <a:pt x="7000" y="17895"/>
                  <a:pt x="7895" y="17000"/>
                  <a:pt x="9000" y="17000"/>
                </a:cubicBezTo>
                <a:lnTo>
                  <a:pt x="15000" y="17000"/>
                </a:lnTo>
                <a:cubicBezTo>
                  <a:pt x="16105" y="17000"/>
                  <a:pt x="17000" y="17895"/>
                  <a:pt x="17000" y="19000"/>
                </a:cubicBezTo>
                <a:lnTo>
                  <a:pt x="17000" y="20662"/>
                </a:lnTo>
              </a:path>
            </a:pathLst>
          </a:custGeom>
          <a:noFill/>
          <a:ln w="10058" cap="rnd">
            <a:solidFill>
              <a:srgbClr val="40566D"/>
            </a:solidFill>
            <a:round/>
          </a:ln>
        </p:spPr>
      </p:sp>
      <p:sp>
        <p:nvSpPr>
          <p:cNvPr id="112" name="UI text"/>
          <p:cNvSpPr txBox="1"/>
          <p:nvPr/>
        </p:nvSpPr>
        <p:spPr>
          <a:xfrm>
            <a:off x="5457099" y="1472184"/>
            <a:ext cx="449925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528"/>
              </a:lnSpc>
              <a:spcBef>
                <a:spcPts val="0"/>
              </a:spcBef>
              <a:buNone/>
            </a:pPr>
            <a:r>
              <a:rPr lang="en-US" sz="44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Central User</a:t>
            </a:r>
            <a:endParaRPr lang="en-US" sz="440" dirty="0">
              <a:latin typeface="Inter"/>
            </a:endParaRPr>
          </a:p>
        </p:txBody>
      </p:sp>
      <p:sp>
        <p:nvSpPr>
          <p:cNvPr id="113" name="Page"/>
          <p:cNvSpPr/>
          <p:nvPr/>
        </p:nvSpPr>
        <p:spPr>
          <a:xfrm>
            <a:off x="3241548" y="1700784"/>
            <a:ext cx="2660904" cy="23545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14" name="Page corner"/>
          <p:cNvSpPr/>
          <p:nvPr/>
        </p:nvSpPr>
        <p:spPr>
          <a:xfrm>
            <a:off x="3236976" y="3950208"/>
            <a:ext cx="2670048" cy="10972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15" name="Page corner square"/>
          <p:cNvSpPr/>
          <p:nvPr/>
        </p:nvSpPr>
        <p:spPr>
          <a:xfrm>
            <a:off x="3236976" y="3950208"/>
            <a:ext cx="2670048" cy="548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16" name="UI text"/>
          <p:cNvSpPr txBox="1"/>
          <p:nvPr/>
        </p:nvSpPr>
        <p:spPr>
          <a:xfrm>
            <a:off x="3328416" y="1801368"/>
            <a:ext cx="170992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8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WO-1042</a:t>
            </a:r>
            <a:r>
              <a:rPr lang="en-US" sz="80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 Refill</a:t>
            </a:r>
            <a:endParaRPr lang="en-US" sz="800" dirty="0">
              <a:latin typeface="Inter SemiBold"/>
            </a:endParaRPr>
          </a:p>
        </p:txBody>
      </p:sp>
      <p:grpSp>
        <p:nvGrpSpPr>
          <p:cNvPr id="117" name="Badge"/>
          <p:cNvGrpSpPr/>
          <p:nvPr/>
        </p:nvGrpSpPr>
        <p:grpSpPr>
          <a:xfrm>
            <a:off x="5413252" y="1828800"/>
            <a:ext cx="402332" cy="155448"/>
            <a:chOff x="5413252" y="1828800"/>
            <a:chExt cx="402332" cy="155448"/>
          </a:xfrm>
        </p:grpSpPr>
        <p:sp>
          <p:nvSpPr>
            <p:cNvPr id="118" name="Badge"/>
            <p:cNvSpPr/>
            <p:nvPr/>
          </p:nvSpPr>
          <p:spPr>
            <a:xfrm>
              <a:off x="5413252" y="1828800"/>
              <a:ext cx="402332" cy="155448"/>
            </a:xfrm>
            <a:prstGeom prst="roundRect">
              <a:avLst>
                <a:gd name="adj" fmla="val 25000"/>
              </a:avLst>
            </a:prstGeom>
            <a:solidFill>
              <a:srgbClr val="305E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19" name="Badge label"/>
            <p:cNvSpPr txBox="1"/>
            <p:nvPr/>
          </p:nvSpPr>
          <p:spPr>
            <a:xfrm>
              <a:off x="5458972" y="1828800"/>
              <a:ext cx="329180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Assigned</a:t>
              </a:r>
              <a:endParaRPr lang="en-US" sz="540" dirty="0">
                <a:latin typeface="Inter SemiBold"/>
              </a:endParaRPr>
            </a:p>
          </p:txBody>
        </p:sp>
      </p:grpSp>
      <p:sp>
        <p:nvSpPr>
          <p:cNvPr id="120" name="Card"/>
          <p:cNvSpPr/>
          <p:nvPr/>
        </p:nvSpPr>
        <p:spPr>
          <a:xfrm>
            <a:off x="3328416" y="207568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21" name="UI text"/>
          <p:cNvSpPr txBox="1"/>
          <p:nvPr/>
        </p:nvSpPr>
        <p:spPr>
          <a:xfrm>
            <a:off x="3438144" y="2185416"/>
            <a:ext cx="1088136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40"/>
              </a:lnSpc>
              <a:spcBef>
                <a:spcPts val="0"/>
              </a:spcBef>
              <a:buNone/>
            </a:pPr>
            <a:r>
              <a:rPr lang="en-US" sz="52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DG &amp; store</a:t>
            </a:r>
            <a:endParaRPr lang="en-US" sz="520" dirty="0">
              <a:latin typeface="Inter"/>
            </a:endParaRPr>
          </a:p>
        </p:txBody>
      </p:sp>
      <p:sp>
        <p:nvSpPr>
          <p:cNvPr id="122" name="UI text"/>
          <p:cNvSpPr txBox="1"/>
          <p:nvPr/>
        </p:nvSpPr>
        <p:spPr>
          <a:xfrm>
            <a:off x="3438144" y="2313432"/>
            <a:ext cx="108813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68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DG-01 · BLR-014</a:t>
            </a:r>
            <a:endParaRPr lang="en-US" sz="640" dirty="0">
              <a:latin typeface="Inter SemiBold"/>
            </a:endParaRPr>
          </a:p>
        </p:txBody>
      </p:sp>
      <p:sp>
        <p:nvSpPr>
          <p:cNvPr id="123" name="UI text"/>
          <p:cNvSpPr txBox="1"/>
          <p:nvPr/>
        </p:nvSpPr>
        <p:spPr>
          <a:xfrm>
            <a:off x="4617720" y="2185416"/>
            <a:ext cx="1088136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40"/>
              </a:lnSpc>
              <a:spcBef>
                <a:spcPts val="0"/>
              </a:spcBef>
              <a:buNone/>
            </a:pPr>
            <a:r>
              <a:rPr lang="en-US" sz="52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Trigger</a:t>
            </a:r>
            <a:endParaRPr lang="en-US" sz="520" dirty="0">
              <a:latin typeface="Inter"/>
            </a:endParaRPr>
          </a:p>
        </p:txBody>
      </p:sp>
      <p:sp>
        <p:nvSpPr>
          <p:cNvPr id="124" name="UI text"/>
          <p:cNvSpPr txBox="1"/>
          <p:nvPr/>
        </p:nvSpPr>
        <p:spPr>
          <a:xfrm>
            <a:off x="4617720" y="2313432"/>
            <a:ext cx="108813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68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Low fuel · 14 %</a:t>
            </a:r>
            <a:endParaRPr lang="en-US" sz="640" dirty="0">
              <a:latin typeface="Inter SemiBold"/>
            </a:endParaRPr>
          </a:p>
        </p:txBody>
      </p:sp>
      <p:sp>
        <p:nvSpPr>
          <p:cNvPr id="125" name="UI text"/>
          <p:cNvSpPr txBox="1"/>
          <p:nvPr/>
        </p:nvSpPr>
        <p:spPr>
          <a:xfrm>
            <a:off x="3438144" y="2532888"/>
            <a:ext cx="1088136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40"/>
              </a:lnSpc>
              <a:spcBef>
                <a:spcPts val="0"/>
              </a:spcBef>
              <a:buNone/>
            </a:pPr>
            <a:r>
              <a:rPr lang="en-US" sz="52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Vendor</a:t>
            </a:r>
            <a:endParaRPr lang="en-US" sz="520" dirty="0">
              <a:latin typeface="Inter"/>
            </a:endParaRPr>
          </a:p>
        </p:txBody>
      </p:sp>
      <p:sp>
        <p:nvSpPr>
          <p:cNvPr id="126" name="UI text"/>
          <p:cNvSpPr txBox="1"/>
          <p:nvPr/>
        </p:nvSpPr>
        <p:spPr>
          <a:xfrm>
            <a:off x="3438144" y="2660904"/>
            <a:ext cx="108813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68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FuelCo Logistics</a:t>
            </a:r>
            <a:endParaRPr lang="en-US" sz="640" dirty="0">
              <a:latin typeface="Inter SemiBold"/>
            </a:endParaRPr>
          </a:p>
        </p:txBody>
      </p:sp>
      <p:sp>
        <p:nvSpPr>
          <p:cNvPr id="127" name="UI text"/>
          <p:cNvSpPr txBox="1"/>
          <p:nvPr/>
        </p:nvSpPr>
        <p:spPr>
          <a:xfrm>
            <a:off x="4617720" y="2532888"/>
            <a:ext cx="1088136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40"/>
              </a:lnSpc>
              <a:spcBef>
                <a:spcPts val="0"/>
              </a:spcBef>
              <a:buNone/>
            </a:pPr>
            <a:r>
              <a:rPr lang="en-US" sz="52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SPOC</a:t>
            </a:r>
            <a:endParaRPr lang="en-US" sz="520" dirty="0">
              <a:latin typeface="Inter"/>
            </a:endParaRPr>
          </a:p>
        </p:txBody>
      </p:sp>
      <p:sp>
        <p:nvSpPr>
          <p:cNvPr id="128" name="UI text"/>
          <p:cNvSpPr txBox="1"/>
          <p:nvPr/>
        </p:nvSpPr>
        <p:spPr>
          <a:xfrm>
            <a:off x="4617720" y="2660904"/>
            <a:ext cx="108813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68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R. Kumar</a:t>
            </a:r>
            <a:endParaRPr lang="en-US" sz="640" dirty="0">
              <a:latin typeface="Inter SemiBold"/>
            </a:endParaRPr>
          </a:p>
        </p:txBody>
      </p:sp>
      <p:grpSp>
        <p:nvGrpSpPr>
          <p:cNvPr id="129" name="Stepper"/>
          <p:cNvGrpSpPr/>
          <p:nvPr/>
        </p:nvGrpSpPr>
        <p:grpSpPr>
          <a:xfrm>
            <a:off x="3383280" y="3118104"/>
            <a:ext cx="2377440" cy="228600"/>
            <a:chOff x="3383280" y="3118104"/>
            <a:chExt cx="2377440" cy="228600"/>
          </a:xfrm>
        </p:grpSpPr>
        <p:cxnSp>
          <p:nvCxnSpPr>
            <p:cNvPr id="130" name="Step link"/>
            <p:cNvCxnSpPr/>
            <p:nvPr/>
          </p:nvCxnSpPr>
          <p:spPr>
            <a:xfrm>
              <a:off x="3483864" y="3168396"/>
              <a:ext cx="405079" cy="0"/>
            </a:xfrm>
            <a:prstGeom prst="straightConnector1">
              <a:avLst/>
            </a:prstGeom>
            <a:noFill/>
            <a:ln w="9525">
              <a:solidFill>
                <a:srgbClr val="305EFF"/>
              </a:solidFill>
              <a:round/>
            </a:ln>
          </p:spPr>
        </p:cxnSp>
        <p:cxnSp>
          <p:nvCxnSpPr>
            <p:cNvPr id="131" name="Step link"/>
            <p:cNvCxnSpPr/>
            <p:nvPr/>
          </p:nvCxnSpPr>
          <p:spPr>
            <a:xfrm>
              <a:off x="3939235" y="3168396"/>
              <a:ext cx="405079" cy="0"/>
            </a:xfrm>
            <a:prstGeom prst="straightConnector1">
              <a:avLst/>
            </a:prstGeom>
            <a:noFill/>
            <a:ln w="9525">
              <a:solidFill>
                <a:srgbClr val="305EFF"/>
              </a:solidFill>
              <a:round/>
            </a:ln>
          </p:spPr>
        </p:cxnSp>
        <p:cxnSp>
          <p:nvCxnSpPr>
            <p:cNvPr id="132" name="Step link"/>
            <p:cNvCxnSpPr/>
            <p:nvPr/>
          </p:nvCxnSpPr>
          <p:spPr>
            <a:xfrm>
              <a:off x="4394606" y="3168396"/>
              <a:ext cx="405079" cy="0"/>
            </a:xfrm>
            <a:prstGeom prst="straightConnector1">
              <a:avLst/>
            </a:prstGeom>
            <a:noFill/>
            <a:ln w="9525">
              <a:solidFill>
                <a:srgbClr val="CBD5E2"/>
              </a:solidFill>
              <a:round/>
            </a:ln>
          </p:spPr>
        </p:cxnSp>
        <p:cxnSp>
          <p:nvCxnSpPr>
            <p:cNvPr id="133" name="Step link"/>
            <p:cNvCxnSpPr/>
            <p:nvPr/>
          </p:nvCxnSpPr>
          <p:spPr>
            <a:xfrm>
              <a:off x="4849978" y="3168396"/>
              <a:ext cx="405079" cy="0"/>
            </a:xfrm>
            <a:prstGeom prst="straightConnector1">
              <a:avLst/>
            </a:prstGeom>
            <a:noFill/>
            <a:ln w="9525">
              <a:solidFill>
                <a:srgbClr val="CBD5E2"/>
              </a:solidFill>
              <a:round/>
            </a:ln>
          </p:spPr>
        </p:cxnSp>
        <p:cxnSp>
          <p:nvCxnSpPr>
            <p:cNvPr id="134" name="Step link"/>
            <p:cNvCxnSpPr/>
            <p:nvPr/>
          </p:nvCxnSpPr>
          <p:spPr>
            <a:xfrm>
              <a:off x="5305349" y="3168396"/>
              <a:ext cx="405079" cy="0"/>
            </a:xfrm>
            <a:prstGeom prst="straightConnector1">
              <a:avLst/>
            </a:prstGeom>
            <a:noFill/>
            <a:ln w="9525">
              <a:solidFill>
                <a:srgbClr val="CBD5E2"/>
              </a:solidFill>
              <a:round/>
            </a:ln>
          </p:spPr>
        </p:cxnSp>
        <p:sp>
          <p:nvSpPr>
            <p:cNvPr id="135" name="Step"/>
            <p:cNvSpPr/>
            <p:nvPr/>
          </p:nvSpPr>
          <p:spPr>
            <a:xfrm>
              <a:off x="3383280" y="3118104"/>
              <a:ext cx="100584" cy="100584"/>
            </a:xfrm>
            <a:prstGeom prst="ellipse">
              <a:avLst/>
            </a:prstGeom>
            <a:solidFill>
              <a:srgbClr val="305E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36" name="Icon check"/>
            <p:cNvSpPr/>
            <p:nvPr/>
          </p:nvSpPr>
          <p:spPr>
            <a:xfrm>
              <a:off x="3406140" y="3140964"/>
              <a:ext cx="54864" cy="5486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6000"/>
                  </a:moveTo>
                  <a:lnTo>
                    <a:pt x="9000" y="17000"/>
                  </a:lnTo>
                  <a:lnTo>
                    <a:pt x="4000" y="12000"/>
                  </a:lnTo>
                </a:path>
              </a:pathLst>
            </a:custGeom>
            <a:noFill/>
            <a:ln w="7620" cap="rnd">
              <a:solidFill>
                <a:srgbClr val="FFFFFF"/>
              </a:solidFill>
              <a:round/>
            </a:ln>
          </p:spPr>
        </p:sp>
        <p:sp>
          <p:nvSpPr>
            <p:cNvPr id="137" name="UI text"/>
            <p:cNvSpPr txBox="1"/>
            <p:nvPr/>
          </p:nvSpPr>
          <p:spPr>
            <a:xfrm>
              <a:off x="3204972" y="3246120"/>
              <a:ext cx="457200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440"/>
                </a:lnSpc>
                <a:spcBef>
                  <a:spcPts val="0"/>
                </a:spcBef>
                <a:buNone/>
              </a:pPr>
              <a:r>
                <a:rPr lang="en-US" sz="440" b="0" i="0" spc="0" dirty="0">
                  <a:solidFill>
                    <a:srgbClr val="192839"/>
                  </a:solidFill>
                  <a:latin typeface="Inter"/>
                  <a:ea typeface="Inter"/>
                  <a:cs typeface="Inter"/>
                  <a:sym typeface="Inter"/>
                </a:rPr>
                <a:t>Created</a:t>
              </a:r>
              <a:endParaRPr lang="en-US" sz="440" dirty="0">
                <a:latin typeface="Inter"/>
              </a:endParaRPr>
            </a:p>
          </p:txBody>
        </p:sp>
        <p:sp>
          <p:nvSpPr>
            <p:cNvPr id="138" name="Step"/>
            <p:cNvSpPr/>
            <p:nvPr/>
          </p:nvSpPr>
          <p:spPr>
            <a:xfrm>
              <a:off x="3838651" y="3118104"/>
              <a:ext cx="100584" cy="100584"/>
            </a:xfrm>
            <a:prstGeom prst="ellipse">
              <a:avLst/>
            </a:prstGeom>
            <a:solidFill>
              <a:srgbClr val="305E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39" name="Icon check"/>
            <p:cNvSpPr/>
            <p:nvPr/>
          </p:nvSpPr>
          <p:spPr>
            <a:xfrm>
              <a:off x="3861511" y="3140964"/>
              <a:ext cx="54864" cy="5486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6000"/>
                  </a:moveTo>
                  <a:lnTo>
                    <a:pt x="9000" y="17000"/>
                  </a:lnTo>
                  <a:lnTo>
                    <a:pt x="4000" y="12000"/>
                  </a:lnTo>
                </a:path>
              </a:pathLst>
            </a:custGeom>
            <a:noFill/>
            <a:ln w="7620" cap="rnd">
              <a:solidFill>
                <a:srgbClr val="FFFFFF"/>
              </a:solidFill>
              <a:round/>
            </a:ln>
          </p:spPr>
        </p:sp>
        <p:sp>
          <p:nvSpPr>
            <p:cNvPr id="140" name="UI text"/>
            <p:cNvSpPr txBox="1"/>
            <p:nvPr/>
          </p:nvSpPr>
          <p:spPr>
            <a:xfrm>
              <a:off x="3660343" y="3246120"/>
              <a:ext cx="457200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440"/>
                </a:lnSpc>
                <a:spcBef>
                  <a:spcPts val="0"/>
                </a:spcBef>
                <a:buNone/>
              </a:pPr>
              <a:r>
                <a:rPr lang="en-US" sz="440" b="0" i="0" spc="0" dirty="0">
                  <a:solidFill>
                    <a:srgbClr val="192839"/>
                  </a:solidFill>
                  <a:latin typeface="Inter"/>
                  <a:ea typeface="Inter"/>
                  <a:cs typeface="Inter"/>
                  <a:sym typeface="Inter"/>
                </a:rPr>
                <a:t>Assigned</a:t>
              </a:r>
              <a:endParaRPr lang="en-US" sz="440" dirty="0">
                <a:latin typeface="Inter"/>
              </a:endParaRPr>
            </a:p>
          </p:txBody>
        </p:sp>
        <p:sp>
          <p:nvSpPr>
            <p:cNvPr id="141" name="Step"/>
            <p:cNvSpPr/>
            <p:nvPr/>
          </p:nvSpPr>
          <p:spPr>
            <a:xfrm>
              <a:off x="4294022" y="3118104"/>
              <a:ext cx="100584" cy="10058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305EFF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2" name="Step dot"/>
            <p:cNvSpPr/>
            <p:nvPr/>
          </p:nvSpPr>
          <p:spPr>
            <a:xfrm>
              <a:off x="4326026" y="3150108"/>
              <a:ext cx="36576" cy="36576"/>
            </a:xfrm>
            <a:prstGeom prst="ellipse">
              <a:avLst/>
            </a:prstGeom>
            <a:solidFill>
              <a:srgbClr val="305E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3" name="UI text"/>
            <p:cNvSpPr txBox="1"/>
            <p:nvPr/>
          </p:nvSpPr>
          <p:spPr>
            <a:xfrm>
              <a:off x="4115714" y="3246120"/>
              <a:ext cx="457200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440"/>
                </a:lnSpc>
                <a:spcBef>
                  <a:spcPts val="0"/>
                </a:spcBef>
                <a:buNone/>
              </a:pPr>
              <a:r>
                <a:rPr lang="en-US" sz="440" b="0" i="0" spc="0" dirty="0">
                  <a:solidFill>
                    <a:srgbClr val="19283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Acknowledged</a:t>
              </a:r>
              <a:endParaRPr lang="en-US" sz="440" dirty="0">
                <a:latin typeface="Inter SemiBold"/>
              </a:endParaRPr>
            </a:p>
          </p:txBody>
        </p:sp>
        <p:sp>
          <p:nvSpPr>
            <p:cNvPr id="144" name="Step"/>
            <p:cNvSpPr/>
            <p:nvPr/>
          </p:nvSpPr>
          <p:spPr>
            <a:xfrm>
              <a:off x="4749394" y="3118104"/>
              <a:ext cx="100584" cy="1005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5" name="UI text"/>
            <p:cNvSpPr txBox="1"/>
            <p:nvPr/>
          </p:nvSpPr>
          <p:spPr>
            <a:xfrm>
              <a:off x="4571086" y="3246120"/>
              <a:ext cx="457200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440"/>
                </a:lnSpc>
                <a:spcBef>
                  <a:spcPts val="0"/>
                </a:spcBef>
                <a:buNone/>
              </a:pPr>
              <a:r>
                <a:rPr lang="en-US" sz="44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Refueling</a:t>
              </a:r>
              <a:endParaRPr lang="en-US" sz="440" dirty="0">
                <a:latin typeface="Inter"/>
              </a:endParaRPr>
            </a:p>
          </p:txBody>
        </p:sp>
        <p:sp>
          <p:nvSpPr>
            <p:cNvPr id="146" name="Step"/>
            <p:cNvSpPr/>
            <p:nvPr/>
          </p:nvSpPr>
          <p:spPr>
            <a:xfrm>
              <a:off x="5204765" y="3118104"/>
              <a:ext cx="100584" cy="1005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7" name="UI text"/>
            <p:cNvSpPr txBox="1"/>
            <p:nvPr/>
          </p:nvSpPr>
          <p:spPr>
            <a:xfrm>
              <a:off x="5026457" y="3246120"/>
              <a:ext cx="457200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440"/>
                </a:lnSpc>
                <a:spcBef>
                  <a:spcPts val="0"/>
                </a:spcBef>
                <a:buNone/>
              </a:pPr>
              <a:r>
                <a:rPr lang="en-US" sz="44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Submitted</a:t>
              </a:r>
              <a:endParaRPr lang="en-US" sz="440" dirty="0">
                <a:latin typeface="Inter"/>
              </a:endParaRPr>
            </a:p>
          </p:txBody>
        </p:sp>
        <p:sp>
          <p:nvSpPr>
            <p:cNvPr id="148" name="Step"/>
            <p:cNvSpPr/>
            <p:nvPr/>
          </p:nvSpPr>
          <p:spPr>
            <a:xfrm>
              <a:off x="5660136" y="3118104"/>
              <a:ext cx="100584" cy="1005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9" name="UI text"/>
            <p:cNvSpPr txBox="1"/>
            <p:nvPr/>
          </p:nvSpPr>
          <p:spPr>
            <a:xfrm>
              <a:off x="5481828" y="3246120"/>
              <a:ext cx="457200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440"/>
                </a:lnSpc>
                <a:spcBef>
                  <a:spcPts val="0"/>
                </a:spcBef>
                <a:buNone/>
              </a:pPr>
              <a:r>
                <a:rPr lang="en-US" sz="44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Completed</a:t>
              </a:r>
              <a:endParaRPr lang="en-US" sz="440" dirty="0">
                <a:latin typeface="Inter"/>
              </a:endParaRPr>
            </a:p>
          </p:txBody>
        </p:sp>
      </p:grpSp>
      <p:sp>
        <p:nvSpPr>
          <p:cNvPr id="150" name="Icon send"/>
          <p:cNvSpPr/>
          <p:nvPr/>
        </p:nvSpPr>
        <p:spPr>
          <a:xfrm>
            <a:off x="3328416" y="3561588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536" y="21686"/>
                </a:moveTo>
                <a:cubicBezTo>
                  <a:pt x="14614" y="21880"/>
                  <a:pt x="14804" y="22005"/>
                  <a:pt x="15013" y="22000"/>
                </a:cubicBezTo>
                <a:cubicBezTo>
                  <a:pt x="15222" y="21994"/>
                  <a:pt x="15405" y="21860"/>
                  <a:pt x="15473" y="21662"/>
                </a:cubicBezTo>
                <a:lnTo>
                  <a:pt x="21973" y="2662"/>
                </a:lnTo>
                <a:cubicBezTo>
                  <a:pt x="22038" y="2481"/>
                  <a:pt x="21993" y="2279"/>
                  <a:pt x="21857" y="2143"/>
                </a:cubicBezTo>
                <a:cubicBezTo>
                  <a:pt x="21721" y="2007"/>
                  <a:pt x="21519" y="1962"/>
                  <a:pt x="21338" y="2027"/>
                </a:cubicBezTo>
                <a:lnTo>
                  <a:pt x="2338" y="8527"/>
                </a:lnTo>
                <a:cubicBezTo>
                  <a:pt x="2140" y="8595"/>
                  <a:pt x="2006" y="8778"/>
                  <a:pt x="2000" y="8987"/>
                </a:cubicBezTo>
                <a:cubicBezTo>
                  <a:pt x="1995" y="9196"/>
                  <a:pt x="2120" y="9386"/>
                  <a:pt x="2314" y="9464"/>
                </a:cubicBezTo>
                <a:lnTo>
                  <a:pt x="10244" y="12644"/>
                </a:lnTo>
                <a:cubicBezTo>
                  <a:pt x="10751" y="12847"/>
                  <a:pt x="11152" y="13248"/>
                  <a:pt x="11356" y="13754"/>
                </a:cubicBezTo>
                <a:close/>
              </a:path>
              <a:path w="24000" h="24000" fill="none">
                <a:moveTo>
                  <a:pt x="21854" y="2147"/>
                </a:moveTo>
                <a:lnTo>
                  <a:pt x="10914" y="13086"/>
                </a:lnTo>
              </a:path>
            </a:pathLst>
          </a:custGeom>
          <a:noFill/>
          <a:ln w="11735" cap="rnd">
            <a:solidFill>
              <a:srgbClr val="305EFF"/>
            </a:solidFill>
            <a:round/>
          </a:ln>
        </p:spPr>
      </p:sp>
      <p:sp>
        <p:nvSpPr>
          <p:cNvPr id="151" name="UI text"/>
          <p:cNvSpPr txBox="1"/>
          <p:nvPr/>
        </p:nvSpPr>
        <p:spPr>
          <a:xfrm>
            <a:off x="3511296" y="3547872"/>
            <a:ext cx="230428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20"/>
              </a:lnSpc>
              <a:spcBef>
                <a:spcPts val="0"/>
              </a:spcBef>
              <a:buNone/>
            </a:pPr>
            <a:r>
              <a:rPr lang="en-US" sz="6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Notified  </a:t>
            </a:r>
            <a:r>
              <a:rPr lang="en-US" sz="60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email · WhatsApp · in-app</a:t>
            </a:r>
            <a:endParaRPr lang="en-US" sz="600" dirty="0">
              <a:latin typeface="Inter SemiBold"/>
            </a:endParaRPr>
          </a:p>
        </p:txBody>
      </p:sp>
      <p:sp>
        <p:nvSpPr>
          <p:cNvPr id="152" name="Next strip"/>
          <p:cNvSpPr/>
          <p:nvPr/>
        </p:nvSpPr>
        <p:spPr>
          <a:xfrm>
            <a:off x="3328416" y="3767328"/>
            <a:ext cx="2487168" cy="237744"/>
          </a:xfrm>
          <a:prstGeom prst="roundRect">
            <a:avLst>
              <a:gd name="adj" fmla="val 15385"/>
            </a:avLst>
          </a:prstGeom>
          <a:solidFill>
            <a:srgbClr val="E7F6FE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53" name="Icon move-right"/>
          <p:cNvSpPr/>
          <p:nvPr/>
        </p:nvSpPr>
        <p:spPr>
          <a:xfrm>
            <a:off x="3419856" y="3822192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8000" y="8000"/>
                </a:moveTo>
                <a:lnTo>
                  <a:pt x="22000" y="12000"/>
                </a:lnTo>
                <a:lnTo>
                  <a:pt x="18000" y="16000"/>
                </a:lnTo>
              </a:path>
              <a:path w="24000" h="24000" fill="none">
                <a:moveTo>
                  <a:pt x="2000" y="12000"/>
                </a:moveTo>
                <a:lnTo>
                  <a:pt x="22000" y="12000"/>
                </a:lnTo>
              </a:path>
            </a:pathLst>
          </a:custGeom>
          <a:noFill/>
          <a:ln w="11735" cap="rnd">
            <a:solidFill>
              <a:srgbClr val="0F78AD"/>
            </a:solidFill>
            <a:round/>
          </a:ln>
        </p:spPr>
      </p:sp>
      <p:sp>
        <p:nvSpPr>
          <p:cNvPr id="154" name="UI text"/>
          <p:cNvSpPr txBox="1"/>
          <p:nvPr/>
        </p:nvSpPr>
        <p:spPr>
          <a:xfrm>
            <a:off x="3602736" y="3767328"/>
            <a:ext cx="2121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20"/>
              </a:lnSpc>
              <a:spcBef>
                <a:spcPts val="0"/>
              </a:spcBef>
              <a:buNone/>
            </a:pPr>
            <a:r>
              <a:rPr lang="en-US" sz="600" b="0" i="0" spc="0" dirty="0">
                <a:solidFill>
                  <a:srgbClr val="0F78AD"/>
                </a:solidFill>
                <a:latin typeface="Inter"/>
                <a:ea typeface="Inter"/>
                <a:cs typeface="Inter"/>
                <a:sym typeface="Inter"/>
              </a:rPr>
              <a:t>Next: the vendor SPOC acknowledges and refuels</a:t>
            </a:r>
            <a:endParaRPr lang="en-US" sz="600" dirty="0">
              <a:latin typeface="Inter"/>
            </a:endParaRPr>
          </a:p>
        </p:txBody>
      </p:sp>
      <p:sp>
        <p:nvSpPr>
          <p:cNvPr id="155" name="Phone"/>
          <p:cNvSpPr/>
          <p:nvPr/>
        </p:nvSpPr>
        <p:spPr>
          <a:xfrm>
            <a:off x="6793992" y="1298448"/>
            <a:ext cx="1481328" cy="2761488"/>
          </a:xfrm>
          <a:prstGeom prst="roundRect">
            <a:avLst>
              <a:gd name="adj" fmla="val 12346"/>
            </a:avLst>
          </a:prstGeom>
          <a:solidFill>
            <a:srgbClr val="192839"/>
          </a:solidFill>
          <a:ln>
            <a:noFill/>
          </a:ln>
          <a:effectLst>
            <a:outerShdw blurRad="152400" dist="19050" dir="5400000" algn="t" rotWithShape="0">
              <a:srgbClr val="192839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56" name="Screen"/>
          <p:cNvSpPr/>
          <p:nvPr/>
        </p:nvSpPr>
        <p:spPr>
          <a:xfrm>
            <a:off x="6839712" y="1344168"/>
            <a:ext cx="1389888" cy="2670048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57" name="UI text"/>
          <p:cNvSpPr txBox="1"/>
          <p:nvPr/>
        </p:nvSpPr>
        <p:spPr>
          <a:xfrm>
            <a:off x="6967728" y="1380744"/>
            <a:ext cx="36576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52"/>
              </a:lnSpc>
              <a:spcBef>
                <a:spcPts val="0"/>
              </a:spcBef>
              <a:buNone/>
            </a:pPr>
            <a:r>
              <a:rPr lang="en-US" sz="46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9:41</a:t>
            </a:r>
            <a:endParaRPr lang="en-US" sz="460" dirty="0">
              <a:latin typeface="Inter SemiBold"/>
            </a:endParaRPr>
          </a:p>
        </p:txBody>
      </p:sp>
      <p:sp>
        <p:nvSpPr>
          <p:cNvPr id="158" name="Icon signal"/>
          <p:cNvSpPr/>
          <p:nvPr/>
        </p:nvSpPr>
        <p:spPr>
          <a:xfrm>
            <a:off x="7827264" y="1399032"/>
            <a:ext cx="82296" cy="822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" y="20000"/>
                </a:moveTo>
                <a:lnTo>
                  <a:pt x="2010" y="20000"/>
                </a:lnTo>
              </a:path>
              <a:path w="24000" h="24000" fill="none">
                <a:moveTo>
                  <a:pt x="7000" y="20000"/>
                </a:moveTo>
                <a:lnTo>
                  <a:pt x="7000" y="16000"/>
                </a:lnTo>
              </a:path>
              <a:path w="24000" h="24000" fill="none">
                <a:moveTo>
                  <a:pt x="12000" y="20000"/>
                </a:moveTo>
                <a:lnTo>
                  <a:pt x="12000" y="12000"/>
                </a:lnTo>
              </a:path>
              <a:path w="24000" h="24000" fill="none">
                <a:moveTo>
                  <a:pt x="17000" y="20000"/>
                </a:moveTo>
                <a:lnTo>
                  <a:pt x="17000" y="8000"/>
                </a:lnTo>
              </a:path>
              <a:path w="24000" h="24000" fill="none">
                <a:moveTo>
                  <a:pt x="22000" y="4000"/>
                </a:moveTo>
                <a:lnTo>
                  <a:pt x="22000" y="20000"/>
                </a:lnTo>
              </a:path>
            </a:pathLst>
          </a:custGeom>
          <a:noFill/>
          <a:ln w="7544" cap="rnd">
            <a:solidFill>
              <a:srgbClr val="192839"/>
            </a:solidFill>
            <a:round/>
          </a:ln>
        </p:spPr>
      </p:sp>
      <p:sp>
        <p:nvSpPr>
          <p:cNvPr id="159" name="Icon wifi"/>
          <p:cNvSpPr/>
          <p:nvPr/>
        </p:nvSpPr>
        <p:spPr>
          <a:xfrm>
            <a:off x="7936992" y="1399032"/>
            <a:ext cx="82296" cy="822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0000"/>
                </a:moveTo>
                <a:lnTo>
                  <a:pt x="12010" y="20000"/>
                </a:lnTo>
              </a:path>
              <a:path w="24000" h="24000" fill="none">
                <a:moveTo>
                  <a:pt x="2000" y="8820"/>
                </a:moveTo>
                <a:cubicBezTo>
                  <a:pt x="7694" y="3727"/>
                  <a:pt x="16306" y="3727"/>
                  <a:pt x="22000" y="8820"/>
                </a:cubicBezTo>
              </a:path>
              <a:path w="24000" h="24000" fill="none">
                <a:moveTo>
                  <a:pt x="5000" y="12859"/>
                </a:moveTo>
                <a:cubicBezTo>
                  <a:pt x="8888" y="9048"/>
                  <a:pt x="15112" y="9048"/>
                  <a:pt x="19000" y="12859"/>
                </a:cubicBezTo>
              </a:path>
              <a:path w="24000" h="24000" fill="none">
                <a:moveTo>
                  <a:pt x="8500" y="16429"/>
                </a:moveTo>
                <a:cubicBezTo>
                  <a:pt x="10444" y="14523"/>
                  <a:pt x="13556" y="14523"/>
                  <a:pt x="15500" y="16429"/>
                </a:cubicBezTo>
              </a:path>
            </a:pathLst>
          </a:custGeom>
          <a:noFill/>
          <a:ln w="7544" cap="rnd">
            <a:solidFill>
              <a:srgbClr val="192839"/>
            </a:solidFill>
            <a:round/>
          </a:ln>
        </p:spPr>
      </p:sp>
      <p:sp>
        <p:nvSpPr>
          <p:cNvPr id="160" name="Icon battery-medium"/>
          <p:cNvSpPr/>
          <p:nvPr/>
        </p:nvSpPr>
        <p:spPr>
          <a:xfrm>
            <a:off x="8046720" y="1399032"/>
            <a:ext cx="82296" cy="822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7000"/>
                </a:moveTo>
                <a:lnTo>
                  <a:pt x="16000" y="7000"/>
                </a:lnTo>
                <a:cubicBezTo>
                  <a:pt x="17105" y="7000"/>
                  <a:pt x="18000" y="7895"/>
                  <a:pt x="18000" y="9000"/>
                </a:cubicBezTo>
                <a:lnTo>
                  <a:pt x="18000" y="15000"/>
                </a:lnTo>
                <a:cubicBezTo>
                  <a:pt x="18000" y="16105"/>
                  <a:pt x="17105" y="17000"/>
                  <a:pt x="16000" y="17000"/>
                </a:cubicBezTo>
                <a:lnTo>
                  <a:pt x="4000" y="17000"/>
                </a:lnTo>
                <a:cubicBezTo>
                  <a:pt x="2895" y="17000"/>
                  <a:pt x="2000" y="16105"/>
                  <a:pt x="2000" y="15000"/>
                </a:cubicBezTo>
                <a:lnTo>
                  <a:pt x="2000" y="9000"/>
                </a:lnTo>
                <a:cubicBezTo>
                  <a:pt x="2000" y="7895"/>
                  <a:pt x="2895" y="7000"/>
                  <a:pt x="4000" y="7000"/>
                </a:cubicBezTo>
                <a:close/>
              </a:path>
              <a:path w="24000" h="24000" fill="none">
                <a:moveTo>
                  <a:pt x="22000" y="11000"/>
                </a:moveTo>
                <a:lnTo>
                  <a:pt x="22000" y="13000"/>
                </a:lnTo>
              </a:path>
              <a:path w="24000" h="24000" fill="none">
                <a:moveTo>
                  <a:pt x="6000" y="11000"/>
                </a:moveTo>
                <a:lnTo>
                  <a:pt x="6000" y="13000"/>
                </a:lnTo>
              </a:path>
              <a:path w="24000" h="24000" fill="none">
                <a:moveTo>
                  <a:pt x="10000" y="11000"/>
                </a:moveTo>
                <a:lnTo>
                  <a:pt x="10000" y="13000"/>
                </a:lnTo>
              </a:path>
            </a:pathLst>
          </a:custGeom>
          <a:noFill/>
          <a:ln w="7544" cap="rnd">
            <a:solidFill>
              <a:srgbClr val="192839"/>
            </a:solidFill>
            <a:round/>
          </a:ln>
        </p:spPr>
      </p:sp>
      <p:sp>
        <p:nvSpPr>
          <p:cNvPr id="161" name="Notch"/>
          <p:cNvSpPr/>
          <p:nvPr/>
        </p:nvSpPr>
        <p:spPr>
          <a:xfrm>
            <a:off x="7370064" y="1344168"/>
            <a:ext cx="329184" cy="64008"/>
          </a:xfrm>
          <a:prstGeom prst="roundRect">
            <a:avLst>
              <a:gd name="adj" fmla="val 50000"/>
            </a:avLst>
          </a:prstGeom>
          <a:solidFill>
            <a:srgbClr val="192839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62" name="App header"/>
          <p:cNvSpPr/>
          <p:nvPr/>
        </p:nvSpPr>
        <p:spPr>
          <a:xfrm>
            <a:off x="6839712" y="1527048"/>
            <a:ext cx="1389888" cy="237744"/>
          </a:xfrm>
          <a:prstGeom prst="rect">
            <a:avLst/>
          </a:prstGeom>
          <a:solidFill>
            <a:srgbClr val="305E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grpSp>
        <p:nvGrpSpPr>
          <p:cNvPr id="163" name="IOsense mark"/>
          <p:cNvGrpSpPr/>
          <p:nvPr/>
        </p:nvGrpSpPr>
        <p:grpSpPr>
          <a:xfrm>
            <a:off x="6931152" y="1581912"/>
            <a:ext cx="128016" cy="128016"/>
            <a:chOff x="6931152" y="1581912"/>
            <a:chExt cx="128016" cy="128016"/>
          </a:xfrm>
        </p:grpSpPr>
        <p:sp>
          <p:nvSpPr>
            <p:cNvPr id="164" name="IOsense tile"/>
            <p:cNvSpPr/>
            <p:nvPr/>
          </p:nvSpPr>
          <p:spPr>
            <a:xfrm>
              <a:off x="6931152" y="1581912"/>
              <a:ext cx="128016" cy="128016"/>
            </a:xfrm>
            <a:prstGeom prst="roundRect">
              <a:avLst>
                <a:gd name="adj" fmla="val 8601"/>
              </a:avLst>
            </a:prstGeom>
            <a:solidFill>
              <a:srgbClr val="342DF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65" name="IOsense monogram"/>
            <p:cNvSpPr/>
            <p:nvPr/>
          </p:nvSpPr>
          <p:spPr>
            <a:xfrm>
              <a:off x="6931152" y="1581912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82000" h="182000">
                  <a:moveTo>
                    <a:pt x="64203" y="108445"/>
                  </a:moveTo>
                  <a:lnTo>
                    <a:pt x="45789" y="56179"/>
                  </a:lnTo>
                  <a:lnTo>
                    <a:pt x="38955" y="77205"/>
                  </a:lnTo>
                  <a:lnTo>
                    <a:pt x="50047" y="85556"/>
                  </a:lnTo>
                  <a:lnTo>
                    <a:pt x="52025" y="94299"/>
                  </a:lnTo>
                  <a:lnTo>
                    <a:pt x="31889" y="79753"/>
                  </a:lnTo>
                  <a:lnTo>
                    <a:pt x="46378" y="36445"/>
                  </a:lnTo>
                  <a:lnTo>
                    <a:pt x="64203" y="88988"/>
                  </a:lnTo>
                  <a:lnTo>
                    <a:pt x="81834" y="37215"/>
                  </a:lnTo>
                  <a:lnTo>
                    <a:pt x="95889" y="80938"/>
                  </a:lnTo>
                  <a:lnTo>
                    <a:pt x="75792" y="95376"/>
                  </a:lnTo>
                  <a:lnTo>
                    <a:pt x="77971" y="85948"/>
                  </a:lnTo>
                  <a:lnTo>
                    <a:pt x="88660" y="77890"/>
                  </a:lnTo>
                  <a:lnTo>
                    <a:pt x="81531" y="57064"/>
                  </a:lnTo>
                  <a:lnTo>
                    <a:pt x="64203" y="1084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66" name="UI text"/>
          <p:cNvSpPr txBox="1"/>
          <p:nvPr/>
        </p:nvSpPr>
        <p:spPr>
          <a:xfrm>
            <a:off x="7104888" y="1527048"/>
            <a:ext cx="841248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buNone/>
            </a:pPr>
            <a:r>
              <a:rPr lang="en-US" sz="540" b="0" i="0" spc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My work orders</a:t>
            </a:r>
            <a:endParaRPr lang="en-US" sz="540" dirty="0">
              <a:latin typeface="Inter SemiBold"/>
            </a:endParaRPr>
          </a:p>
        </p:txBody>
      </p:sp>
      <p:sp>
        <p:nvSpPr>
          <p:cNvPr id="167" name="Icon circle-user"/>
          <p:cNvSpPr/>
          <p:nvPr/>
        </p:nvSpPr>
        <p:spPr>
          <a:xfrm>
            <a:off x="8010144" y="1591056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</a:path>
              <a:path w="24000" h="24000" fill="none"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  <a:path w="24000" h="24000" fill="none">
                <a:moveTo>
                  <a:pt x="7000" y="20662"/>
                </a:moveTo>
                <a:lnTo>
                  <a:pt x="7000" y="19000"/>
                </a:lnTo>
                <a:cubicBezTo>
                  <a:pt x="7000" y="17895"/>
                  <a:pt x="7895" y="17000"/>
                  <a:pt x="9000" y="17000"/>
                </a:cubicBezTo>
                <a:lnTo>
                  <a:pt x="15000" y="17000"/>
                </a:lnTo>
                <a:cubicBezTo>
                  <a:pt x="16105" y="17000"/>
                  <a:pt x="17000" y="17895"/>
                  <a:pt x="17000" y="19000"/>
                </a:cubicBezTo>
                <a:lnTo>
                  <a:pt x="17000" y="20662"/>
                </a:lnTo>
              </a:path>
            </a:pathLst>
          </a:custGeom>
          <a:noFill/>
          <a:ln w="10058" cap="rnd">
            <a:solidFill>
              <a:srgbClr val="FFFFFF"/>
            </a:solidFill>
            <a:round/>
          </a:ln>
        </p:spPr>
      </p:sp>
      <p:sp>
        <p:nvSpPr>
          <p:cNvPr id="168" name="UI text"/>
          <p:cNvSpPr txBox="1"/>
          <p:nvPr/>
        </p:nvSpPr>
        <p:spPr>
          <a:xfrm>
            <a:off x="6931152" y="1783080"/>
            <a:ext cx="1207008" cy="100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40"/>
              </a:lnSpc>
              <a:spcBef>
                <a:spcPts val="0"/>
              </a:spcBef>
              <a:buNone/>
            </a:pPr>
            <a:r>
              <a:rPr lang="en-US" sz="42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Vendor SPOC · FuelCo Logistics</a:t>
            </a:r>
            <a:endParaRPr lang="en-US" sz="420" dirty="0">
              <a:latin typeface="Inter"/>
            </a:endParaRPr>
          </a:p>
        </p:txBody>
      </p:sp>
      <p:sp>
        <p:nvSpPr>
          <p:cNvPr id="169" name="Home indicator"/>
          <p:cNvSpPr/>
          <p:nvPr/>
        </p:nvSpPr>
        <p:spPr>
          <a:xfrm>
            <a:off x="7351776" y="3968496"/>
            <a:ext cx="365760" cy="27432"/>
          </a:xfrm>
          <a:prstGeom prst="roundRect">
            <a:avLst>
              <a:gd name="adj" fmla="val 50000"/>
            </a:avLst>
          </a:prstGeom>
          <a:solidFill>
            <a:srgbClr val="90A5BB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70" name="Card"/>
          <p:cNvSpPr/>
          <p:nvPr/>
        </p:nvSpPr>
        <p:spPr>
          <a:xfrm>
            <a:off x="6922008" y="1911096"/>
            <a:ext cx="1225296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71" name="UI text"/>
          <p:cNvSpPr txBox="1"/>
          <p:nvPr/>
        </p:nvSpPr>
        <p:spPr>
          <a:xfrm>
            <a:off x="7004304" y="1975104"/>
            <a:ext cx="1060704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2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WO-1042</a:t>
            </a:r>
            <a:r>
              <a:rPr lang="en-US" sz="5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·  Refill</a:t>
            </a:r>
            <a:endParaRPr lang="en-US" sz="580" dirty="0">
              <a:latin typeface="Inter SemiBold"/>
            </a:endParaRPr>
          </a:p>
        </p:txBody>
      </p:sp>
      <p:sp>
        <p:nvSpPr>
          <p:cNvPr id="172" name="UI text"/>
          <p:cNvSpPr txBox="1"/>
          <p:nvPr/>
        </p:nvSpPr>
        <p:spPr>
          <a:xfrm>
            <a:off x="7004304" y="2112264"/>
            <a:ext cx="1060704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20"/>
              </a:lnSpc>
              <a:spcBef>
                <a:spcPts val="0"/>
              </a:spcBef>
              <a:buNone/>
            </a:pPr>
            <a:r>
              <a:rPr lang="en-US" sz="4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DG-01 · BLR-014, Bengaluru</a:t>
            </a:r>
            <a:endParaRPr lang="en-US" sz="480" dirty="0">
              <a:latin typeface="Inter"/>
            </a:endParaRPr>
          </a:p>
        </p:txBody>
      </p:sp>
      <p:grpSp>
        <p:nvGrpSpPr>
          <p:cNvPr id="173" name="Badge"/>
          <p:cNvGrpSpPr/>
          <p:nvPr/>
        </p:nvGrpSpPr>
        <p:grpSpPr>
          <a:xfrm>
            <a:off x="7004304" y="2249424"/>
            <a:ext cx="612391" cy="118872"/>
            <a:chOff x="7004304" y="2249424"/>
            <a:chExt cx="612391" cy="118872"/>
          </a:xfrm>
        </p:grpSpPr>
        <p:sp>
          <p:nvSpPr>
            <p:cNvPr id="174" name="Badge"/>
            <p:cNvSpPr/>
            <p:nvPr/>
          </p:nvSpPr>
          <p:spPr>
            <a:xfrm>
              <a:off x="7004304" y="2249424"/>
              <a:ext cx="612391" cy="118872"/>
            </a:xfrm>
            <a:prstGeom prst="roundRect">
              <a:avLst>
                <a:gd name="adj" fmla="val 25000"/>
              </a:avLst>
            </a:prstGeom>
            <a:solidFill>
              <a:srgbClr val="EBFAF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75" name="Icon check"/>
            <p:cNvSpPr/>
            <p:nvPr/>
          </p:nvSpPr>
          <p:spPr>
            <a:xfrm>
              <a:off x="7050024" y="2273198"/>
              <a:ext cx="71323" cy="71323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6000"/>
                  </a:moveTo>
                  <a:lnTo>
                    <a:pt x="9000" y="17000"/>
                  </a:lnTo>
                  <a:lnTo>
                    <a:pt x="4000" y="12000"/>
                  </a:lnTo>
                </a:path>
              </a:pathLst>
            </a:custGeom>
            <a:noFill/>
            <a:ln w="6538" cap="rnd">
              <a:solidFill>
                <a:srgbClr val="008743"/>
              </a:solidFill>
              <a:round/>
            </a:ln>
          </p:spPr>
        </p:sp>
        <p:sp>
          <p:nvSpPr>
            <p:cNvPr id="176" name="Badge label"/>
            <p:cNvSpPr txBox="1"/>
            <p:nvPr/>
          </p:nvSpPr>
          <p:spPr>
            <a:xfrm>
              <a:off x="7148779" y="2249424"/>
              <a:ext cx="440484" cy="1188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60"/>
                </a:lnSpc>
                <a:spcBef>
                  <a:spcPts val="0"/>
                </a:spcBef>
                <a:buNone/>
              </a:pPr>
              <a:r>
                <a:rPr lang="en-US" sz="460" b="0" i="0" spc="0" dirty="0">
                  <a:solidFill>
                    <a:srgbClr val="00874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Acknowledged</a:t>
              </a:r>
              <a:endParaRPr lang="en-US" sz="460" dirty="0">
                <a:latin typeface="Inter SemiBold"/>
              </a:endParaRPr>
            </a:p>
          </p:txBody>
        </p:sp>
      </p:grpSp>
      <p:sp>
        <p:nvSpPr>
          <p:cNvPr id="177" name="UI text"/>
          <p:cNvSpPr txBox="1"/>
          <p:nvPr/>
        </p:nvSpPr>
        <p:spPr>
          <a:xfrm>
            <a:off x="6922008" y="2478024"/>
            <a:ext cx="1225296" cy="100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60"/>
              </a:lnSpc>
              <a:spcBef>
                <a:spcPts val="0"/>
              </a:spcBef>
              <a:buNone/>
            </a:pPr>
            <a:r>
              <a:rPr lang="en-US" sz="440" b="0" i="0" spc="0" dirty="0">
                <a:solidFill>
                  <a:srgbClr val="40566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Litres added *</a:t>
            </a:r>
            <a:endParaRPr lang="en-US" sz="440" dirty="0">
              <a:latin typeface="Inter SemiBold"/>
            </a:endParaRPr>
          </a:p>
        </p:txBody>
      </p:sp>
      <p:sp>
        <p:nvSpPr>
          <p:cNvPr id="178" name="Input"/>
          <p:cNvSpPr/>
          <p:nvPr/>
        </p:nvSpPr>
        <p:spPr>
          <a:xfrm>
            <a:off x="6922008" y="2587752"/>
            <a:ext cx="122529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79" name="UI text"/>
          <p:cNvSpPr txBox="1"/>
          <p:nvPr/>
        </p:nvSpPr>
        <p:spPr>
          <a:xfrm>
            <a:off x="6976872" y="2587752"/>
            <a:ext cx="11155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00" b="0" i="0" spc="0" dirty="0">
                <a:solidFill>
                  <a:srgbClr val="192839"/>
                </a:solidFill>
                <a:latin typeface="Inter"/>
                <a:ea typeface="Inter"/>
                <a:cs typeface="Inter"/>
                <a:sym typeface="Inter"/>
              </a:rPr>
              <a:t>380</a:t>
            </a:r>
            <a:endParaRPr lang="en-US" sz="500" dirty="0">
              <a:latin typeface="Inter"/>
            </a:endParaRPr>
          </a:p>
        </p:txBody>
      </p:sp>
      <p:sp>
        <p:nvSpPr>
          <p:cNvPr id="180" name="UI text"/>
          <p:cNvSpPr txBox="1"/>
          <p:nvPr/>
        </p:nvSpPr>
        <p:spPr>
          <a:xfrm>
            <a:off x="6922008" y="2862072"/>
            <a:ext cx="1225296" cy="100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60"/>
              </a:lnSpc>
              <a:spcBef>
                <a:spcPts val="0"/>
              </a:spcBef>
              <a:buNone/>
            </a:pPr>
            <a:r>
              <a:rPr lang="en-US" sz="440" b="0" i="0" spc="0" dirty="0">
                <a:solidFill>
                  <a:srgbClr val="40566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Refuelling date</a:t>
            </a:r>
            <a:endParaRPr lang="en-US" sz="440" dirty="0">
              <a:latin typeface="Inter SemiBold"/>
            </a:endParaRPr>
          </a:p>
        </p:txBody>
      </p:sp>
      <p:sp>
        <p:nvSpPr>
          <p:cNvPr id="181" name="Input"/>
          <p:cNvSpPr/>
          <p:nvPr/>
        </p:nvSpPr>
        <p:spPr>
          <a:xfrm>
            <a:off x="6922008" y="2971800"/>
            <a:ext cx="122529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82" name="UI text"/>
          <p:cNvSpPr txBox="1"/>
          <p:nvPr/>
        </p:nvSpPr>
        <p:spPr>
          <a:xfrm>
            <a:off x="6976872" y="2971800"/>
            <a:ext cx="9692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00" b="0" i="0" spc="0" dirty="0">
                <a:solidFill>
                  <a:srgbClr val="192839"/>
                </a:solidFill>
                <a:latin typeface="Inter"/>
                <a:ea typeface="Inter"/>
                <a:cs typeface="Inter"/>
                <a:sym typeface="Inter"/>
              </a:rPr>
              <a:t>12 Sep 2026</a:t>
            </a:r>
            <a:endParaRPr lang="en-US" sz="500" dirty="0">
              <a:latin typeface="Inter"/>
            </a:endParaRPr>
          </a:p>
        </p:txBody>
      </p:sp>
      <p:sp>
        <p:nvSpPr>
          <p:cNvPr id="183" name="Icon calendar"/>
          <p:cNvSpPr/>
          <p:nvPr/>
        </p:nvSpPr>
        <p:spPr>
          <a:xfrm>
            <a:off x="7991856" y="3022092"/>
            <a:ext cx="100584" cy="1005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6000"/>
                </a:lnTo>
              </a:path>
              <a:path w="24000" h="24000" fill="none">
                <a:moveTo>
                  <a:pt x="16000" y="2000"/>
                </a:moveTo>
                <a:lnTo>
                  <a:pt x="16000" y="6000"/>
                </a:lnTo>
              </a:path>
              <a:path w="24000" h="24000" fill="none">
                <a:moveTo>
                  <a:pt x="5000" y="4000"/>
                </a:moveTo>
                <a:lnTo>
                  <a:pt x="19000" y="4000"/>
                </a:lnTo>
                <a:cubicBezTo>
                  <a:pt x="20105" y="4000"/>
                  <a:pt x="21000" y="4895"/>
                  <a:pt x="21000" y="6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6000"/>
                </a:lnTo>
                <a:cubicBezTo>
                  <a:pt x="3000" y="4895"/>
                  <a:pt x="3895" y="4000"/>
                  <a:pt x="5000" y="4000"/>
                </a:cubicBezTo>
                <a:close/>
              </a:path>
              <a:path w="24000" h="24000" fill="none">
                <a:moveTo>
                  <a:pt x="3000" y="10000"/>
                </a:moveTo>
                <a:lnTo>
                  <a:pt x="21000" y="10000"/>
                </a:lnTo>
              </a:path>
            </a:pathLst>
          </a:custGeom>
          <a:noFill/>
          <a:ln w="9220" cap="rnd">
            <a:solidFill>
              <a:srgbClr val="768EA7"/>
            </a:solidFill>
            <a:round/>
          </a:ln>
        </p:spPr>
      </p:sp>
      <p:grpSp>
        <p:nvGrpSpPr>
          <p:cNvPr id="184" name="Upload"/>
          <p:cNvGrpSpPr/>
          <p:nvPr/>
        </p:nvGrpSpPr>
        <p:grpSpPr>
          <a:xfrm>
            <a:off x="6922008" y="3246120"/>
            <a:ext cx="1225296" cy="274320"/>
            <a:chOff x="6922008" y="3246120"/>
            <a:chExt cx="1225296" cy="274320"/>
          </a:xfrm>
        </p:grpSpPr>
        <p:sp>
          <p:nvSpPr>
            <p:cNvPr id="185" name="Upload zone"/>
            <p:cNvSpPr/>
            <p:nvPr/>
          </p:nvSpPr>
          <p:spPr>
            <a:xfrm>
              <a:off x="6922008" y="3246120"/>
              <a:ext cx="1225296" cy="27432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6350">
              <a:solidFill>
                <a:srgbClr val="CBD5E2"/>
              </a:solidFill>
              <a:prstDash val="dash"/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86" name="Icon upload"/>
            <p:cNvSpPr/>
            <p:nvPr/>
          </p:nvSpPr>
          <p:spPr>
            <a:xfrm>
              <a:off x="6995160" y="3291840"/>
              <a:ext cx="100584" cy="10058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15000"/>
                  </a:moveTo>
                  <a:lnTo>
                    <a:pt x="21000" y="19000"/>
                  </a:lnTo>
                  <a:cubicBezTo>
                    <a:pt x="21000" y="20105"/>
                    <a:pt x="20105" y="21000"/>
                    <a:pt x="19000" y="21000"/>
                  </a:cubicBezTo>
                  <a:lnTo>
                    <a:pt x="5000" y="21000"/>
                  </a:lnTo>
                  <a:cubicBezTo>
                    <a:pt x="3895" y="21000"/>
                    <a:pt x="3000" y="20105"/>
                    <a:pt x="3000" y="19000"/>
                  </a:cubicBezTo>
                  <a:lnTo>
                    <a:pt x="3000" y="15000"/>
                  </a:lnTo>
                </a:path>
                <a:path w="24000" h="24000" fill="none">
                  <a:moveTo>
                    <a:pt x="17000" y="8000"/>
                  </a:moveTo>
                  <a:lnTo>
                    <a:pt x="12000" y="3000"/>
                  </a:lnTo>
                  <a:lnTo>
                    <a:pt x="7000" y="8000"/>
                  </a:lnTo>
                </a:path>
                <a:path w="24000" h="24000" fill="none">
                  <a:moveTo>
                    <a:pt x="12000" y="3000"/>
                  </a:moveTo>
                  <a:lnTo>
                    <a:pt x="12000" y="15000"/>
                  </a:lnTo>
                </a:path>
              </a:pathLst>
            </a:custGeom>
            <a:noFill/>
            <a:ln w="9220" cap="rnd">
              <a:solidFill>
                <a:srgbClr val="305EFF"/>
              </a:solidFill>
              <a:round/>
            </a:ln>
          </p:spPr>
        </p:sp>
        <p:sp>
          <p:nvSpPr>
            <p:cNvPr id="187" name="UI text"/>
            <p:cNvSpPr txBox="1"/>
            <p:nvPr/>
          </p:nvSpPr>
          <p:spPr>
            <a:xfrm>
              <a:off x="7141464" y="3273552"/>
              <a:ext cx="950976" cy="1188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552"/>
                </a:lnSpc>
                <a:spcBef>
                  <a:spcPts val="0"/>
                </a:spcBef>
                <a:buNone/>
              </a:pPr>
              <a:r>
                <a:rPr lang="en-US" sz="46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Add proof (optional)</a:t>
              </a:r>
              <a:endParaRPr lang="en-US" sz="460" dirty="0">
                <a:latin typeface="Inter"/>
              </a:endParaRPr>
            </a:p>
          </p:txBody>
        </p:sp>
        <p:grpSp>
          <p:nvGrpSpPr>
            <p:cNvPr id="188" name="Badge"/>
            <p:cNvGrpSpPr/>
            <p:nvPr/>
          </p:nvGrpSpPr>
          <p:grpSpPr>
            <a:xfrm>
              <a:off x="7141464" y="3392424"/>
              <a:ext cx="461936" cy="100584"/>
              <a:chOff x="7141464" y="3392424"/>
              <a:chExt cx="461936" cy="100584"/>
            </a:xfrm>
          </p:grpSpPr>
          <p:sp>
            <p:nvSpPr>
              <p:cNvPr id="189" name="Badge"/>
              <p:cNvSpPr/>
              <p:nvPr/>
            </p:nvSpPr>
            <p:spPr>
              <a:xfrm>
                <a:off x="7141464" y="3392424"/>
                <a:ext cx="461936" cy="100584"/>
              </a:xfrm>
              <a:prstGeom prst="roundRect">
                <a:avLst>
                  <a:gd name="adj" fmla="val 25000"/>
                </a:avLst>
              </a:prstGeom>
              <a:solidFill>
                <a:srgbClr val="EBFAF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90" name="Icon paperclip"/>
              <p:cNvSpPr/>
              <p:nvPr/>
            </p:nvSpPr>
            <p:spPr>
              <a:xfrm>
                <a:off x="7187184" y="3412541"/>
                <a:ext cx="60350" cy="603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3234" y="20252"/>
                    </a:moveTo>
                    <a:lnTo>
                      <a:pt x="21000" y="12300"/>
                    </a:lnTo>
                  </a:path>
                  <a:path w="24000" h="24000" fill="none">
                    <a:moveTo>
                      <a:pt x="16000" y="6000"/>
                    </a:moveTo>
                    <a:lnTo>
                      <a:pt x="7586" y="14586"/>
                    </a:lnTo>
                    <a:cubicBezTo>
                      <a:pt x="6805" y="15367"/>
                      <a:pt x="6805" y="16633"/>
                      <a:pt x="7586" y="17414"/>
                    </a:cubicBezTo>
                    <a:cubicBezTo>
                      <a:pt x="8367" y="18195"/>
                      <a:pt x="9633" y="18195"/>
                      <a:pt x="10414" y="17414"/>
                    </a:cubicBezTo>
                    <a:lnTo>
                      <a:pt x="18828" y="8828"/>
                    </a:lnTo>
                    <a:cubicBezTo>
                      <a:pt x="20390" y="7266"/>
                      <a:pt x="20390" y="4734"/>
                      <a:pt x="18828" y="3172"/>
                    </a:cubicBezTo>
                    <a:cubicBezTo>
                      <a:pt x="17266" y="1610"/>
                      <a:pt x="14734" y="1610"/>
                      <a:pt x="13172" y="3172"/>
                    </a:cubicBezTo>
                    <a:lnTo>
                      <a:pt x="4757" y="11757"/>
                    </a:lnTo>
                    <a:cubicBezTo>
                      <a:pt x="2414" y="14100"/>
                      <a:pt x="2414" y="17900"/>
                      <a:pt x="4757" y="20243"/>
                    </a:cubicBezTo>
                    <a:cubicBezTo>
                      <a:pt x="7100" y="22586"/>
                      <a:pt x="10900" y="22586"/>
                      <a:pt x="13243" y="20243"/>
                    </a:cubicBezTo>
                  </a:path>
                </a:pathLst>
              </a:custGeom>
              <a:noFill/>
              <a:ln w="6350" cap="rnd">
                <a:solidFill>
                  <a:srgbClr val="008743"/>
                </a:solidFill>
                <a:round/>
              </a:ln>
            </p:spPr>
          </p:sp>
          <p:sp>
            <p:nvSpPr>
              <p:cNvPr id="191" name="Badge label"/>
              <p:cNvSpPr txBox="1"/>
              <p:nvPr/>
            </p:nvSpPr>
            <p:spPr>
              <a:xfrm>
                <a:off x="7274966" y="3392424"/>
                <a:ext cx="301002" cy="100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420"/>
                  </a:lnSpc>
                  <a:spcBef>
                    <a:spcPts val="0"/>
                  </a:spcBef>
                  <a:buNone/>
                </a:pPr>
                <a:r>
                  <a:rPr lang="en-US" sz="420" b="0" i="0" spc="0" dirty="0">
                    <a:solidFill>
                      <a:srgbClr val="00874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invoice.jpg</a:t>
                </a:r>
                <a:endParaRPr lang="en-US" sz="420" dirty="0">
                  <a:latin typeface="Inter SemiBold"/>
                </a:endParaRPr>
              </a:p>
            </p:txBody>
          </p:sp>
        </p:grpSp>
      </p:grpSp>
      <p:grpSp>
        <p:nvGrpSpPr>
          <p:cNvPr id="192" name="Button Submit refuelling"/>
          <p:cNvGrpSpPr/>
          <p:nvPr/>
        </p:nvGrpSpPr>
        <p:grpSpPr>
          <a:xfrm>
            <a:off x="6922008" y="3602736"/>
            <a:ext cx="1225296" cy="219456"/>
            <a:chOff x="6922008" y="3602736"/>
            <a:chExt cx="1225296" cy="219456"/>
          </a:xfrm>
        </p:grpSpPr>
        <p:sp>
          <p:nvSpPr>
            <p:cNvPr id="193" name="Button"/>
            <p:cNvSpPr/>
            <p:nvPr/>
          </p:nvSpPr>
          <p:spPr>
            <a:xfrm>
              <a:off x="6922008" y="3602736"/>
              <a:ext cx="1225296" cy="219456"/>
            </a:xfrm>
            <a:prstGeom prst="roundRect">
              <a:avLst>
                <a:gd name="adj" fmla="val 12500"/>
              </a:avLst>
            </a:prstGeom>
            <a:solidFill>
              <a:srgbClr val="305E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94" name="Icon send"/>
            <p:cNvSpPr/>
            <p:nvPr/>
          </p:nvSpPr>
          <p:spPr>
            <a:xfrm>
              <a:off x="7173232" y="3662172"/>
              <a:ext cx="100584" cy="10058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536" y="21686"/>
                  </a:moveTo>
                  <a:cubicBezTo>
                    <a:pt x="14614" y="21880"/>
                    <a:pt x="14804" y="22005"/>
                    <a:pt x="15013" y="22000"/>
                  </a:cubicBezTo>
                  <a:cubicBezTo>
                    <a:pt x="15222" y="21994"/>
                    <a:pt x="15405" y="21860"/>
                    <a:pt x="15473" y="21662"/>
                  </a:cubicBezTo>
                  <a:lnTo>
                    <a:pt x="21973" y="2662"/>
                  </a:lnTo>
                  <a:cubicBezTo>
                    <a:pt x="22038" y="2481"/>
                    <a:pt x="21993" y="2279"/>
                    <a:pt x="21857" y="2143"/>
                  </a:cubicBezTo>
                  <a:cubicBezTo>
                    <a:pt x="21721" y="2007"/>
                    <a:pt x="21519" y="1962"/>
                    <a:pt x="21338" y="2027"/>
                  </a:cubicBezTo>
                  <a:lnTo>
                    <a:pt x="2338" y="8527"/>
                  </a:lnTo>
                  <a:cubicBezTo>
                    <a:pt x="2140" y="8595"/>
                    <a:pt x="2006" y="8778"/>
                    <a:pt x="2000" y="8987"/>
                  </a:cubicBezTo>
                  <a:cubicBezTo>
                    <a:pt x="1995" y="9196"/>
                    <a:pt x="2120" y="9386"/>
                    <a:pt x="2314" y="9464"/>
                  </a:cubicBezTo>
                  <a:lnTo>
                    <a:pt x="10244" y="12644"/>
                  </a:lnTo>
                  <a:cubicBezTo>
                    <a:pt x="10751" y="12847"/>
                    <a:pt x="11152" y="13248"/>
                    <a:pt x="11356" y="13754"/>
                  </a:cubicBezTo>
                  <a:close/>
                </a:path>
                <a:path w="24000" h="24000" fill="none">
                  <a:moveTo>
                    <a:pt x="21854" y="2147"/>
                  </a:moveTo>
                  <a:lnTo>
                    <a:pt x="10914" y="13086"/>
                  </a:lnTo>
                </a:path>
              </a:pathLst>
            </a:custGeom>
            <a:noFill/>
            <a:ln w="9220" cap="rnd">
              <a:solidFill>
                <a:srgbClr val="FFFFFF"/>
              </a:solidFill>
              <a:round/>
            </a:ln>
          </p:spPr>
        </p:sp>
        <p:sp>
          <p:nvSpPr>
            <p:cNvPr id="195" name="Button label"/>
            <p:cNvSpPr txBox="1"/>
            <p:nvPr/>
          </p:nvSpPr>
          <p:spPr>
            <a:xfrm>
              <a:off x="7310392" y="3602736"/>
              <a:ext cx="622264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60"/>
                </a:lnSpc>
                <a:spcBef>
                  <a:spcPts val="0"/>
                </a:spcBef>
                <a:buNone/>
              </a:pPr>
              <a:r>
                <a:rPr lang="en-US" sz="56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Submit refuelling</a:t>
              </a:r>
              <a:endParaRPr lang="en-US" sz="560" dirty="0">
                <a:latin typeface="Inter SemiBold"/>
              </a:endParaRPr>
            </a:p>
          </p:txBody>
        </p:sp>
      </p:grpSp>
      <p:sp>
        <p:nvSpPr>
          <p:cNvPr id="196" name="Caption"/>
          <p:cNvSpPr txBox="1"/>
          <p:nvPr/>
        </p:nvSpPr>
        <p:spPr>
          <a:xfrm>
            <a:off x="274320" y="4169664"/>
            <a:ext cx="2670048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buNone/>
            </a:pPr>
            <a:r>
              <a:rPr lang="en-US" sz="7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Fuel drops below the limit. </a:t>
            </a:r>
            <a:r>
              <a:rPr lang="en-US" sz="70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One alert and one refill work order — or the store raises one on demand.</a:t>
            </a:r>
            <a:endParaRPr lang="en-US" sz="700" dirty="0">
              <a:latin typeface="Inter SemiBold"/>
            </a:endParaRPr>
          </a:p>
        </p:txBody>
      </p:sp>
      <p:sp>
        <p:nvSpPr>
          <p:cNvPr id="197" name="Caption"/>
          <p:cNvSpPr txBox="1"/>
          <p:nvPr/>
        </p:nvSpPr>
        <p:spPr>
          <a:xfrm>
            <a:off x="3236976" y="4169664"/>
            <a:ext cx="2670048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buNone/>
            </a:pPr>
            <a:r>
              <a:rPr lang="en-US" sz="7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Assigned automatically. </a:t>
            </a:r>
            <a:r>
              <a:rPr lang="en-US" sz="70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Unique work order ID, routed to the mapped vendor SPOC and notified.</a:t>
            </a:r>
            <a:endParaRPr lang="en-US" sz="700" dirty="0">
              <a:latin typeface="Inter SemiBold"/>
            </a:endParaRPr>
          </a:p>
        </p:txBody>
      </p:sp>
      <p:sp>
        <p:nvSpPr>
          <p:cNvPr id="198" name="Caption"/>
          <p:cNvSpPr txBox="1"/>
          <p:nvPr/>
        </p:nvSpPr>
        <p:spPr>
          <a:xfrm>
            <a:off x="6199632" y="4169664"/>
            <a:ext cx="2670048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buNone/>
            </a:pPr>
            <a:r>
              <a:rPr lang="en-US" sz="7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Vendor closes it. </a:t>
            </a:r>
            <a:r>
              <a:rPr lang="en-US" sz="70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Acknowledge, refuel, enter litres and submit with proof from a phone.</a:t>
            </a:r>
            <a:endParaRPr lang="en-US" sz="700" dirty="0">
              <a:latin typeface="Inter SemiBold"/>
            </a:endParaRPr>
          </a:p>
        </p:txBody>
      </p:sp>
      <p:grpSp>
        <p:nvGrpSpPr>
          <p:cNvPr id="199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200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DG Online Monitoring Proposal  ·  Flipkart Minutes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201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7C45C0F7-6E15-4BFB-A56B-5EE9852AD8DD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9456"/>
            <a:ext cx="8650224" cy="722376"/>
            <a:chOff x="274320" y="219456"/>
            <a:chExt cx="8650224" cy="722376"/>
          </a:xfrm>
        </p:grpSpPr>
        <p:grpSp>
          <p:nvGrpSpPr>
            <p:cNvPr id="4" name="Badge 01"/>
            <p:cNvGrpSpPr/>
            <p:nvPr/>
          </p:nvGrpSpPr>
          <p:grpSpPr>
            <a:xfrm>
              <a:off x="274320" y="228600"/>
              <a:ext cx="192024" cy="192024"/>
              <a:chOff x="274320" y="228600"/>
              <a:chExt cx="192024" cy="192024"/>
            </a:xfrm>
          </p:grpSpPr>
          <p:sp>
            <p:nvSpPr>
              <p:cNvPr id="5" name="Badge"/>
              <p:cNvSpPr/>
              <p:nvPr/>
            </p:nvSpPr>
            <p:spPr>
              <a:xfrm>
                <a:off x="274320" y="228600"/>
                <a:ext cx="192024" cy="192024"/>
              </a:xfrm>
              <a:prstGeom prst="roundRect">
                <a:avLst>
                  <a:gd name="adj" fmla="val 22000"/>
                </a:avLst>
              </a:prstGeom>
              <a:solidFill>
                <a:srgbClr val="165FF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6" name="Badge number"/>
              <p:cNvSpPr txBox="1"/>
              <p:nvPr/>
            </p:nvSpPr>
            <p:spPr>
              <a:xfrm>
                <a:off x="274320" y="228600"/>
                <a:ext cx="192024" cy="1920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75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01</a:t>
                </a:r>
                <a:endParaRPr lang="en-US" sz="750" dirty="0">
                  <a:latin typeface="TASA Orbiter SemiBold"/>
                </a:endParaRPr>
              </a:p>
            </p:txBody>
          </p:sp>
        </p:grpSp>
        <p:sp>
          <p:nvSpPr>
            <p:cNvPr id="7" name="Eyebrow"/>
            <p:cNvSpPr txBox="1"/>
            <p:nvPr/>
          </p:nvSpPr>
          <p:spPr>
            <a:xfrm>
              <a:off x="530352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WORKFLOW 01  ·  TRANSACTIONS, BILLING &amp; ORACLE FUSION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8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Invoicing Walk-through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9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Every completed work order becomes a billable transaction; the vendor raises one invoice against them and it posts to Oracle Fusion.</a:t>
              </a:r>
              <a:endParaRPr lang="en-US" sz="850" dirty="0">
                <a:latin typeface="Inter"/>
              </a:endParaRPr>
            </a:p>
          </p:txBody>
        </p:sp>
        <p:grpSp>
          <p:nvGrpSpPr>
            <p:cNvPr id="10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11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" name="Chip Sample data  ·  illustrative values"/>
          <p:cNvGrpSpPr/>
          <p:nvPr/>
        </p:nvGrpSpPr>
        <p:grpSpPr>
          <a:xfrm>
            <a:off x="7521519" y="772668"/>
            <a:ext cx="1348161" cy="137160"/>
            <a:chOff x="7521519" y="772668"/>
            <a:chExt cx="1348161" cy="137160"/>
          </a:xfrm>
        </p:grpSpPr>
        <p:sp>
          <p:nvSpPr>
            <p:cNvPr id="23" name="Chip fill"/>
            <p:cNvSpPr/>
            <p:nvPr/>
          </p:nvSpPr>
          <p:spPr>
            <a:xfrm>
              <a:off x="7521519" y="772668"/>
              <a:ext cx="1348161" cy="137160"/>
            </a:xfrm>
            <a:prstGeom prst="roundRect">
              <a:avLst>
                <a:gd name="adj" fmla="val 20000"/>
              </a:avLst>
            </a:prstGeom>
            <a:solidFill>
              <a:srgbClr val="E9690C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4" name="Icon info"/>
            <p:cNvSpPr/>
            <p:nvPr/>
          </p:nvSpPr>
          <p:spPr>
            <a:xfrm>
              <a:off x="7580955" y="798728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16000"/>
                  </a:moveTo>
                  <a:lnTo>
                    <a:pt x="12000" y="12000"/>
                  </a:lnTo>
                </a:path>
                <a:path w="24000" h="24000" fill="none">
                  <a:moveTo>
                    <a:pt x="12000" y="8000"/>
                  </a:moveTo>
                  <a:lnTo>
                    <a:pt x="12010" y="8000"/>
                  </a:lnTo>
                </a:path>
              </a:pathLst>
            </a:custGeom>
            <a:noFill/>
            <a:ln w="7795" cap="rnd">
              <a:solidFill>
                <a:srgbClr val="C65C10"/>
              </a:solidFill>
              <a:round/>
            </a:ln>
          </p:spPr>
        </p:sp>
        <p:sp>
          <p:nvSpPr>
            <p:cNvPr id="25" name="Chip label"/>
            <p:cNvSpPr txBox="1"/>
            <p:nvPr/>
          </p:nvSpPr>
          <p:spPr>
            <a:xfrm>
              <a:off x="7693426" y="772668"/>
              <a:ext cx="114882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60"/>
                </a:lnSpc>
                <a:spcBef>
                  <a:spcPts val="0"/>
                </a:spcBef>
                <a:buNone/>
              </a:pPr>
              <a:r>
                <a:rPr lang="en-US" sz="560" b="0" i="0" spc="0" dirty="0">
                  <a:solidFill>
                    <a:srgbClr val="C65C1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Sample data  ·  illustrative values</a:t>
              </a:r>
              <a:endParaRPr lang="en-US" sz="560" dirty="0">
                <a:latin typeface="Inter SemiBold"/>
              </a:endParaRPr>
            </a:p>
          </p:txBody>
        </p:sp>
      </p:grpSp>
      <p:grpSp>
        <p:nvGrpSpPr>
          <p:cNvPr id="26" name="Badge 1"/>
          <p:cNvGrpSpPr/>
          <p:nvPr/>
        </p:nvGrpSpPr>
        <p:grpSpPr>
          <a:xfrm>
            <a:off x="274320" y="1005840"/>
            <a:ext cx="192024" cy="192024"/>
            <a:chOff x="274320" y="1005840"/>
            <a:chExt cx="192024" cy="192024"/>
          </a:xfrm>
        </p:grpSpPr>
        <p:sp>
          <p:nvSpPr>
            <p:cNvPr id="27" name="Badge"/>
            <p:cNvSpPr/>
            <p:nvPr/>
          </p:nvSpPr>
          <p:spPr>
            <a:xfrm>
              <a:off x="274320" y="1005840"/>
              <a:ext cx="192024" cy="19202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8" name="Badge number"/>
            <p:cNvSpPr txBox="1"/>
            <p:nvPr/>
          </p:nvSpPr>
          <p:spPr>
            <a:xfrm>
              <a:off x="274320" y="100584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</a:t>
              </a:r>
              <a:endParaRPr lang="en-US" sz="700" dirty="0">
                <a:latin typeface="TASA Orbiter SemiBold"/>
              </a:endParaRPr>
            </a:p>
          </p:txBody>
        </p:sp>
      </p:grpSp>
      <p:sp>
        <p:nvSpPr>
          <p:cNvPr id="29" name="Step title"/>
          <p:cNvSpPr txBox="1"/>
          <p:nvPr/>
        </p:nvSpPr>
        <p:spPr>
          <a:xfrm>
            <a:off x="530352" y="996696"/>
            <a:ext cx="1709928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8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Eligible transactions</a:t>
            </a:r>
            <a:endParaRPr lang="en-US" sz="800" dirty="0">
              <a:latin typeface="Inter SemiBold"/>
            </a:endParaRPr>
          </a:p>
        </p:txBody>
      </p:sp>
      <p:grpSp>
        <p:nvGrpSpPr>
          <p:cNvPr id="30" name="Chip Vendor SPOC"/>
          <p:cNvGrpSpPr/>
          <p:nvPr/>
        </p:nvGrpSpPr>
        <p:grpSpPr>
          <a:xfrm>
            <a:off x="2229050" y="1033272"/>
            <a:ext cx="715318" cy="146304"/>
            <a:chOff x="2229050" y="1033272"/>
            <a:chExt cx="715318" cy="146304"/>
          </a:xfrm>
        </p:grpSpPr>
        <p:sp>
          <p:nvSpPr>
            <p:cNvPr id="31" name="Chip fill"/>
            <p:cNvSpPr/>
            <p:nvPr/>
          </p:nvSpPr>
          <p:spPr>
            <a:xfrm>
              <a:off x="2229050" y="1033272"/>
              <a:ext cx="715318" cy="146304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2" name="Icon user-check"/>
            <p:cNvSpPr/>
            <p:nvPr/>
          </p:nvSpPr>
          <p:spPr>
            <a:xfrm>
              <a:off x="2288486" y="1061070"/>
              <a:ext cx="90708" cy="9070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16000" y="11000"/>
                  </a:moveTo>
                  <a:lnTo>
                    <a:pt x="18000" y="13000"/>
                  </a:lnTo>
                  <a:lnTo>
                    <a:pt x="22000" y="9000"/>
                  </a:lnTo>
                </a:path>
              </a:pathLst>
            </a:custGeom>
            <a:noFill/>
            <a:ln w="8315" cap="rnd">
              <a:solidFill>
                <a:srgbClr val="40566D"/>
              </a:solidFill>
              <a:round/>
            </a:ln>
          </p:spPr>
        </p:sp>
        <p:sp>
          <p:nvSpPr>
            <p:cNvPr id="33" name="Chip label"/>
            <p:cNvSpPr txBox="1"/>
            <p:nvPr/>
          </p:nvSpPr>
          <p:spPr>
            <a:xfrm>
              <a:off x="2406626" y="1033272"/>
              <a:ext cx="51031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Vendor SPOC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34" name="Badge 2"/>
          <p:cNvGrpSpPr/>
          <p:nvPr/>
        </p:nvGrpSpPr>
        <p:grpSpPr>
          <a:xfrm>
            <a:off x="3236976" y="1005840"/>
            <a:ext cx="192024" cy="192024"/>
            <a:chOff x="3236976" y="1005840"/>
            <a:chExt cx="192024" cy="192024"/>
          </a:xfrm>
        </p:grpSpPr>
        <p:sp>
          <p:nvSpPr>
            <p:cNvPr id="35" name="Badge"/>
            <p:cNvSpPr/>
            <p:nvPr/>
          </p:nvSpPr>
          <p:spPr>
            <a:xfrm>
              <a:off x="3236976" y="1005840"/>
              <a:ext cx="192024" cy="19202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6" name="Badge number"/>
            <p:cNvSpPr txBox="1"/>
            <p:nvPr/>
          </p:nvSpPr>
          <p:spPr>
            <a:xfrm>
              <a:off x="3236976" y="100584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2</a:t>
              </a:r>
              <a:endParaRPr lang="en-US" sz="700" dirty="0">
                <a:latin typeface="TASA Orbiter SemiBold"/>
              </a:endParaRPr>
            </a:p>
          </p:txBody>
        </p:sp>
      </p:grpSp>
      <p:sp>
        <p:nvSpPr>
          <p:cNvPr id="37" name="Step title"/>
          <p:cNvSpPr txBox="1"/>
          <p:nvPr/>
        </p:nvSpPr>
        <p:spPr>
          <a:xfrm>
            <a:off x="3493008" y="996696"/>
            <a:ext cx="1709928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8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Invoice raised</a:t>
            </a:r>
            <a:endParaRPr lang="en-US" sz="800" dirty="0">
              <a:latin typeface="Inter SemiBold"/>
            </a:endParaRPr>
          </a:p>
        </p:txBody>
      </p:sp>
      <p:grpSp>
        <p:nvGrpSpPr>
          <p:cNvPr id="38" name="Chip Vendor SPOC"/>
          <p:cNvGrpSpPr/>
          <p:nvPr/>
        </p:nvGrpSpPr>
        <p:grpSpPr>
          <a:xfrm>
            <a:off x="5191706" y="1033272"/>
            <a:ext cx="715318" cy="146304"/>
            <a:chOff x="5191706" y="1033272"/>
            <a:chExt cx="715318" cy="146304"/>
          </a:xfrm>
        </p:grpSpPr>
        <p:sp>
          <p:nvSpPr>
            <p:cNvPr id="39" name="Chip fill"/>
            <p:cNvSpPr/>
            <p:nvPr/>
          </p:nvSpPr>
          <p:spPr>
            <a:xfrm>
              <a:off x="5191706" y="1033272"/>
              <a:ext cx="715318" cy="146304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0" name="Icon receipt"/>
            <p:cNvSpPr/>
            <p:nvPr/>
          </p:nvSpPr>
          <p:spPr>
            <a:xfrm>
              <a:off x="5251142" y="1061070"/>
              <a:ext cx="90708" cy="9070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2000"/>
                  </a:moveTo>
                  <a:lnTo>
                    <a:pt x="4000" y="22000"/>
                  </a:lnTo>
                  <a:lnTo>
                    <a:pt x="6000" y="21000"/>
                  </a:lnTo>
                  <a:lnTo>
                    <a:pt x="8000" y="22000"/>
                  </a:lnTo>
                  <a:lnTo>
                    <a:pt x="10000" y="21000"/>
                  </a:lnTo>
                  <a:lnTo>
                    <a:pt x="12000" y="22000"/>
                  </a:lnTo>
                  <a:lnTo>
                    <a:pt x="14000" y="21000"/>
                  </a:lnTo>
                  <a:lnTo>
                    <a:pt x="16000" y="22000"/>
                  </a:lnTo>
                  <a:lnTo>
                    <a:pt x="18000" y="21000"/>
                  </a:lnTo>
                  <a:lnTo>
                    <a:pt x="20000" y="22000"/>
                  </a:lnTo>
                  <a:lnTo>
                    <a:pt x="20000" y="2000"/>
                  </a:lnTo>
                  <a:lnTo>
                    <a:pt x="18000" y="3000"/>
                  </a:lnTo>
                  <a:lnTo>
                    <a:pt x="16000" y="2000"/>
                  </a:lnTo>
                  <a:lnTo>
                    <a:pt x="14000" y="3000"/>
                  </a:lnTo>
                  <a:lnTo>
                    <a:pt x="12000" y="2000"/>
                  </a:lnTo>
                  <a:lnTo>
                    <a:pt x="10000" y="3000"/>
                  </a:lnTo>
                  <a:lnTo>
                    <a:pt x="8000" y="2000"/>
                  </a:lnTo>
                  <a:lnTo>
                    <a:pt x="6000" y="3000"/>
                  </a:lnTo>
                  <a:close/>
                </a:path>
                <a:path w="24000" h="24000" fill="none">
                  <a:moveTo>
                    <a:pt x="16000" y="8000"/>
                  </a:moveTo>
                  <a:lnTo>
                    <a:pt x="10000" y="8000"/>
                  </a:lnTo>
                  <a:cubicBezTo>
                    <a:pt x="8895" y="8000"/>
                    <a:pt x="8000" y="8895"/>
                    <a:pt x="8000" y="10000"/>
                  </a:cubicBezTo>
                  <a:cubicBezTo>
                    <a:pt x="8000" y="11105"/>
                    <a:pt x="8895" y="12000"/>
                    <a:pt x="10000" y="12000"/>
                  </a:cubicBezTo>
                  <a:lnTo>
                    <a:pt x="14000" y="12000"/>
                  </a:lnTo>
                  <a:cubicBezTo>
                    <a:pt x="15105" y="12000"/>
                    <a:pt x="16000" y="12895"/>
                    <a:pt x="16000" y="14000"/>
                  </a:cubicBezTo>
                  <a:cubicBezTo>
                    <a:pt x="16000" y="15105"/>
                    <a:pt x="15105" y="16000"/>
                    <a:pt x="14000" y="16000"/>
                  </a:cubicBezTo>
                  <a:lnTo>
                    <a:pt x="8000" y="16000"/>
                  </a:lnTo>
                </a:path>
                <a:path w="24000" h="24000" fill="none">
                  <a:moveTo>
                    <a:pt x="12000" y="17500"/>
                  </a:moveTo>
                  <a:lnTo>
                    <a:pt x="12000" y="6500"/>
                  </a:lnTo>
                </a:path>
              </a:pathLst>
            </a:custGeom>
            <a:noFill/>
            <a:ln w="8315" cap="rnd">
              <a:solidFill>
                <a:srgbClr val="40566D"/>
              </a:solidFill>
              <a:round/>
            </a:ln>
          </p:spPr>
        </p:sp>
        <p:sp>
          <p:nvSpPr>
            <p:cNvPr id="41" name="Chip label"/>
            <p:cNvSpPr txBox="1"/>
            <p:nvPr/>
          </p:nvSpPr>
          <p:spPr>
            <a:xfrm>
              <a:off x="5369282" y="1033272"/>
              <a:ext cx="51031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Vendor SPOC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42" name="Badge 3"/>
          <p:cNvGrpSpPr/>
          <p:nvPr/>
        </p:nvGrpSpPr>
        <p:grpSpPr>
          <a:xfrm>
            <a:off x="6199632" y="1005840"/>
            <a:ext cx="192024" cy="192024"/>
            <a:chOff x="6199632" y="1005840"/>
            <a:chExt cx="192024" cy="192024"/>
          </a:xfrm>
        </p:grpSpPr>
        <p:sp>
          <p:nvSpPr>
            <p:cNvPr id="43" name="Badge"/>
            <p:cNvSpPr/>
            <p:nvPr/>
          </p:nvSpPr>
          <p:spPr>
            <a:xfrm>
              <a:off x="6199632" y="1005840"/>
              <a:ext cx="192024" cy="19202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4" name="Badge number"/>
            <p:cNvSpPr txBox="1"/>
            <p:nvPr/>
          </p:nvSpPr>
          <p:spPr>
            <a:xfrm>
              <a:off x="6199632" y="100584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3</a:t>
              </a:r>
              <a:endParaRPr lang="en-US" sz="700" dirty="0">
                <a:latin typeface="TASA Orbiter SemiBold"/>
              </a:endParaRPr>
            </a:p>
          </p:txBody>
        </p:sp>
      </p:grpSp>
      <p:sp>
        <p:nvSpPr>
          <p:cNvPr id="45" name="Step title"/>
          <p:cNvSpPr txBox="1"/>
          <p:nvPr/>
        </p:nvSpPr>
        <p:spPr>
          <a:xfrm>
            <a:off x="6455664" y="996696"/>
            <a:ext cx="1709928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8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Locked &amp; posted</a:t>
            </a:r>
            <a:endParaRPr lang="en-US" sz="800" dirty="0">
              <a:latin typeface="Inter SemiBold"/>
            </a:endParaRPr>
          </a:p>
        </p:txBody>
      </p:sp>
      <p:grpSp>
        <p:nvGrpSpPr>
          <p:cNvPr id="46" name="Chip System"/>
          <p:cNvGrpSpPr/>
          <p:nvPr/>
        </p:nvGrpSpPr>
        <p:grpSpPr>
          <a:xfrm>
            <a:off x="8370381" y="1033272"/>
            <a:ext cx="499299" cy="146304"/>
            <a:chOff x="8370381" y="1033272"/>
            <a:chExt cx="499299" cy="146304"/>
          </a:xfrm>
        </p:grpSpPr>
        <p:sp>
          <p:nvSpPr>
            <p:cNvPr id="47" name="Chip fill"/>
            <p:cNvSpPr/>
            <p:nvPr/>
          </p:nvSpPr>
          <p:spPr>
            <a:xfrm>
              <a:off x="8370381" y="1033272"/>
              <a:ext cx="499299" cy="146304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8" name="Icon cpu"/>
            <p:cNvSpPr/>
            <p:nvPr/>
          </p:nvSpPr>
          <p:spPr>
            <a:xfrm>
              <a:off x="8429817" y="1061070"/>
              <a:ext cx="90708" cy="9070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4000"/>
                  </a:moveTo>
                  <a:lnTo>
                    <a:pt x="18000" y="4000"/>
                  </a:lnTo>
                  <a:cubicBezTo>
                    <a:pt x="19105" y="4000"/>
                    <a:pt x="20000" y="4895"/>
                    <a:pt x="20000" y="6000"/>
                  </a:cubicBezTo>
                  <a:lnTo>
                    <a:pt x="20000" y="18000"/>
                  </a:lnTo>
                  <a:cubicBezTo>
                    <a:pt x="20000" y="19105"/>
                    <a:pt x="19105" y="20000"/>
                    <a:pt x="18000" y="20000"/>
                  </a:cubicBezTo>
                  <a:lnTo>
                    <a:pt x="6000" y="20000"/>
                  </a:lnTo>
                  <a:cubicBezTo>
                    <a:pt x="4895" y="20000"/>
                    <a:pt x="4000" y="19105"/>
                    <a:pt x="4000" y="18000"/>
                  </a:cubicBezTo>
                  <a:lnTo>
                    <a:pt x="4000" y="6000"/>
                  </a:lnTo>
                  <a:cubicBezTo>
                    <a:pt x="4000" y="4895"/>
                    <a:pt x="4895" y="4000"/>
                    <a:pt x="6000" y="4000"/>
                  </a:cubicBezTo>
                  <a:close/>
                </a:path>
                <a:path w="24000" h="24000" fill="none">
                  <a:moveTo>
                    <a:pt x="10000" y="9000"/>
                  </a:moveTo>
                  <a:lnTo>
                    <a:pt x="14000" y="9000"/>
                  </a:lnTo>
                  <a:cubicBezTo>
                    <a:pt x="14552" y="9000"/>
                    <a:pt x="15000" y="9448"/>
                    <a:pt x="15000" y="10000"/>
                  </a:cubicBezTo>
                  <a:lnTo>
                    <a:pt x="15000" y="14000"/>
                  </a:lnTo>
                  <a:cubicBezTo>
                    <a:pt x="15000" y="14552"/>
                    <a:pt x="14552" y="15000"/>
                    <a:pt x="14000" y="15000"/>
                  </a:cubicBezTo>
                  <a:lnTo>
                    <a:pt x="10000" y="15000"/>
                  </a:lnTo>
                  <a:cubicBezTo>
                    <a:pt x="9448" y="15000"/>
                    <a:pt x="9000" y="14552"/>
                    <a:pt x="9000" y="14000"/>
                  </a:cubicBezTo>
                  <a:lnTo>
                    <a:pt x="9000" y="10000"/>
                  </a:lnTo>
                  <a:cubicBezTo>
                    <a:pt x="9000" y="9448"/>
                    <a:pt x="9448" y="9000"/>
                    <a:pt x="10000" y="9000"/>
                  </a:cubicBezTo>
                  <a:close/>
                </a:path>
                <a:path w="24000" h="24000" fill="none">
                  <a:moveTo>
                    <a:pt x="15000" y="2000"/>
                  </a:moveTo>
                  <a:lnTo>
                    <a:pt x="15000" y="4000"/>
                  </a:lnTo>
                </a:path>
                <a:path w="24000" h="24000" fill="none">
                  <a:moveTo>
                    <a:pt x="15000" y="20000"/>
                  </a:moveTo>
                  <a:lnTo>
                    <a:pt x="15000" y="22000"/>
                  </a:lnTo>
                </a:path>
                <a:path w="24000" h="24000" fill="none">
                  <a:moveTo>
                    <a:pt x="2000" y="15000"/>
                  </a:moveTo>
                  <a:lnTo>
                    <a:pt x="4000" y="15000"/>
                  </a:lnTo>
                </a:path>
                <a:path w="24000" h="24000" fill="none">
                  <a:moveTo>
                    <a:pt x="2000" y="9000"/>
                  </a:moveTo>
                  <a:lnTo>
                    <a:pt x="4000" y="9000"/>
                  </a:lnTo>
                </a:path>
                <a:path w="24000" h="24000" fill="none">
                  <a:moveTo>
                    <a:pt x="20000" y="15000"/>
                  </a:moveTo>
                  <a:lnTo>
                    <a:pt x="22000" y="15000"/>
                  </a:lnTo>
                </a:path>
                <a:path w="24000" h="24000" fill="none">
                  <a:moveTo>
                    <a:pt x="20000" y="9000"/>
                  </a:moveTo>
                  <a:lnTo>
                    <a:pt x="22000" y="9000"/>
                  </a:lnTo>
                </a:path>
                <a:path w="24000" h="24000" fill="none">
                  <a:moveTo>
                    <a:pt x="9000" y="2000"/>
                  </a:moveTo>
                  <a:lnTo>
                    <a:pt x="9000" y="4000"/>
                  </a:lnTo>
                </a:path>
                <a:path w="24000" h="24000" fill="none">
                  <a:moveTo>
                    <a:pt x="9000" y="20000"/>
                  </a:moveTo>
                  <a:lnTo>
                    <a:pt x="9000" y="22000"/>
                  </a:lnTo>
                </a:path>
              </a:pathLst>
            </a:custGeom>
            <a:noFill/>
            <a:ln w="8315" cap="rnd">
              <a:solidFill>
                <a:srgbClr val="40566D"/>
              </a:solidFill>
              <a:round/>
            </a:ln>
          </p:spPr>
        </p:sp>
        <p:sp>
          <p:nvSpPr>
            <p:cNvPr id="49" name="Chip label"/>
            <p:cNvSpPr txBox="1"/>
            <p:nvPr/>
          </p:nvSpPr>
          <p:spPr>
            <a:xfrm>
              <a:off x="8547957" y="1033272"/>
              <a:ext cx="29429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</a:t>
              </a:r>
              <a:endParaRPr lang="en-US" sz="580" dirty="0">
                <a:latin typeface="Inter SemiBold"/>
              </a:endParaRPr>
            </a:p>
          </p:txBody>
        </p:sp>
      </p:grpSp>
      <p:sp>
        <p:nvSpPr>
          <p:cNvPr id="50" name="Icon chevron-right"/>
          <p:cNvSpPr/>
          <p:nvPr/>
        </p:nvSpPr>
        <p:spPr>
          <a:xfrm>
            <a:off x="3008376" y="244144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5088" cap="rnd">
            <a:solidFill>
              <a:srgbClr val="B1C1D2"/>
            </a:solidFill>
            <a:round/>
          </a:ln>
        </p:spPr>
      </p:sp>
      <p:sp>
        <p:nvSpPr>
          <p:cNvPr id="51" name="Icon chevron-right"/>
          <p:cNvSpPr/>
          <p:nvPr/>
        </p:nvSpPr>
        <p:spPr>
          <a:xfrm>
            <a:off x="5971032" y="244144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5088" cap="rnd">
            <a:solidFill>
              <a:srgbClr val="B1C1D2"/>
            </a:solidFill>
            <a:round/>
          </a:ln>
        </p:spPr>
      </p:sp>
      <p:sp>
        <p:nvSpPr>
          <p:cNvPr id="52" name="Browser"/>
          <p:cNvSpPr/>
          <p:nvPr/>
        </p:nvSpPr>
        <p:spPr>
          <a:xfrm>
            <a:off x="274320" y="1280160"/>
            <a:ext cx="2670048" cy="2487168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  <a:effectLst>
            <a:outerShdw blurRad="152400" dist="19050" dir="5400000" algn="t" rotWithShape="0">
              <a:srgbClr val="192839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3" name="Window bar"/>
          <p:cNvSpPr/>
          <p:nvPr/>
        </p:nvSpPr>
        <p:spPr>
          <a:xfrm>
            <a:off x="274320" y="1280160"/>
            <a:ext cx="2670048" cy="173736"/>
          </a:xfrm>
          <a:prstGeom prst="roundRect">
            <a:avLst>
              <a:gd name="adj" fmla="val 36842"/>
            </a:avLst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4" name="Window bar square"/>
          <p:cNvSpPr/>
          <p:nvPr/>
        </p:nvSpPr>
        <p:spPr>
          <a:xfrm>
            <a:off x="274320" y="1371600"/>
            <a:ext cx="2670048" cy="8229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5" name="Dot"/>
          <p:cNvSpPr/>
          <p:nvPr/>
        </p:nvSpPr>
        <p:spPr>
          <a:xfrm>
            <a:off x="347472" y="1344168"/>
            <a:ext cx="45720" cy="45720"/>
          </a:xfrm>
          <a:prstGeom prst="ellipse">
            <a:avLst/>
          </a:prstGeom>
          <a:solidFill>
            <a:srgbClr val="F96C6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6" name="Dot"/>
          <p:cNvSpPr/>
          <p:nvPr/>
        </p:nvSpPr>
        <p:spPr>
          <a:xfrm>
            <a:off x="429768" y="1344168"/>
            <a:ext cx="45720" cy="4572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7" name="Dot"/>
          <p:cNvSpPr/>
          <p:nvPr/>
        </p:nvSpPr>
        <p:spPr>
          <a:xfrm>
            <a:off x="512064" y="1344168"/>
            <a:ext cx="45720" cy="45720"/>
          </a:xfrm>
          <a:prstGeom prst="ellipse">
            <a:avLst/>
          </a:prstGeom>
          <a:solidFill>
            <a:srgbClr val="48D08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8" name="URL"/>
          <p:cNvSpPr/>
          <p:nvPr/>
        </p:nvSpPr>
        <p:spPr>
          <a:xfrm>
            <a:off x="640080" y="1316736"/>
            <a:ext cx="2212848" cy="10058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9" name="UI text"/>
          <p:cNvSpPr txBox="1"/>
          <p:nvPr/>
        </p:nvSpPr>
        <p:spPr>
          <a:xfrm>
            <a:off x="694944" y="1316736"/>
            <a:ext cx="2121408" cy="1005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buNone/>
            </a:pPr>
            <a:r>
              <a:rPr lang="en-US" sz="400" b="0" i="0" spc="0" dirty="0">
                <a:solidFill>
                  <a:srgbClr val="90A5BB"/>
                </a:solidFill>
                <a:latin typeface="Inter"/>
                <a:ea typeface="Inter"/>
                <a:cs typeface="Inter"/>
                <a:sym typeface="Inter"/>
              </a:rPr>
              <a:t>app.iosense.io/billing/new</a:t>
            </a:r>
            <a:endParaRPr lang="en-US" sz="400" dirty="0">
              <a:latin typeface="Inter"/>
            </a:endParaRPr>
          </a:p>
        </p:txBody>
      </p:sp>
      <p:sp>
        <p:nvSpPr>
          <p:cNvPr id="60" name="App bar"/>
          <p:cNvSpPr/>
          <p:nvPr/>
        </p:nvSpPr>
        <p:spPr>
          <a:xfrm>
            <a:off x="274320" y="1453896"/>
            <a:ext cx="267004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cxnSp>
        <p:nvCxnSpPr>
          <p:cNvPr id="61" name="Divider"/>
          <p:cNvCxnSpPr/>
          <p:nvPr/>
        </p:nvCxnSpPr>
        <p:spPr>
          <a:xfrm>
            <a:off x="274320" y="1673352"/>
            <a:ext cx="2670048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grpSp>
        <p:nvGrpSpPr>
          <p:cNvPr id="62" name="IOsense mark"/>
          <p:cNvGrpSpPr/>
          <p:nvPr/>
        </p:nvGrpSpPr>
        <p:grpSpPr>
          <a:xfrm>
            <a:off x="347472" y="1499616"/>
            <a:ext cx="128016" cy="128016"/>
            <a:chOff x="347472" y="1499616"/>
            <a:chExt cx="128016" cy="128016"/>
          </a:xfrm>
        </p:grpSpPr>
        <p:sp>
          <p:nvSpPr>
            <p:cNvPr id="63" name="IOsense tile"/>
            <p:cNvSpPr/>
            <p:nvPr/>
          </p:nvSpPr>
          <p:spPr>
            <a:xfrm>
              <a:off x="347472" y="1499616"/>
              <a:ext cx="128016" cy="128016"/>
            </a:xfrm>
            <a:prstGeom prst="roundRect">
              <a:avLst>
                <a:gd name="adj" fmla="val 8601"/>
              </a:avLst>
            </a:prstGeom>
            <a:solidFill>
              <a:srgbClr val="342DF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64" name="IOsense monogram"/>
            <p:cNvSpPr/>
            <p:nvPr/>
          </p:nvSpPr>
          <p:spPr>
            <a:xfrm>
              <a:off x="347472" y="1499616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82000" h="182000">
                  <a:moveTo>
                    <a:pt x="64203" y="108445"/>
                  </a:moveTo>
                  <a:lnTo>
                    <a:pt x="45789" y="56179"/>
                  </a:lnTo>
                  <a:lnTo>
                    <a:pt x="38955" y="77205"/>
                  </a:lnTo>
                  <a:lnTo>
                    <a:pt x="50047" y="85556"/>
                  </a:lnTo>
                  <a:lnTo>
                    <a:pt x="52025" y="94299"/>
                  </a:lnTo>
                  <a:lnTo>
                    <a:pt x="31889" y="79753"/>
                  </a:lnTo>
                  <a:lnTo>
                    <a:pt x="46378" y="36445"/>
                  </a:lnTo>
                  <a:lnTo>
                    <a:pt x="64203" y="88988"/>
                  </a:lnTo>
                  <a:lnTo>
                    <a:pt x="81834" y="37215"/>
                  </a:lnTo>
                  <a:lnTo>
                    <a:pt x="95889" y="80938"/>
                  </a:lnTo>
                  <a:lnTo>
                    <a:pt x="75792" y="95376"/>
                  </a:lnTo>
                  <a:lnTo>
                    <a:pt x="77971" y="85948"/>
                  </a:lnTo>
                  <a:lnTo>
                    <a:pt x="88660" y="77890"/>
                  </a:lnTo>
                  <a:lnTo>
                    <a:pt x="81531" y="57064"/>
                  </a:lnTo>
                  <a:lnTo>
                    <a:pt x="64203" y="1084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5" name="UI text"/>
          <p:cNvSpPr txBox="1"/>
          <p:nvPr/>
        </p:nvSpPr>
        <p:spPr>
          <a:xfrm>
            <a:off x="512064" y="1453896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buNone/>
            </a:pPr>
            <a:r>
              <a:rPr lang="en-US" sz="5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IOsense</a:t>
            </a:r>
            <a:r>
              <a:rPr lang="en-US" sz="50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·  Billing</a:t>
            </a:r>
            <a:endParaRPr lang="en-US" sz="500" dirty="0">
              <a:latin typeface="Inter SemiBold"/>
            </a:endParaRPr>
          </a:p>
        </p:txBody>
      </p:sp>
      <p:sp>
        <p:nvSpPr>
          <p:cNvPr id="66" name="Icon circle-user"/>
          <p:cNvSpPr/>
          <p:nvPr/>
        </p:nvSpPr>
        <p:spPr>
          <a:xfrm>
            <a:off x="2327438" y="1508760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</a:path>
              <a:path w="24000" h="24000" fill="none"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  <a:path w="24000" h="24000" fill="none">
                <a:moveTo>
                  <a:pt x="7000" y="20662"/>
                </a:moveTo>
                <a:lnTo>
                  <a:pt x="7000" y="19000"/>
                </a:lnTo>
                <a:cubicBezTo>
                  <a:pt x="7000" y="17895"/>
                  <a:pt x="7895" y="17000"/>
                  <a:pt x="9000" y="17000"/>
                </a:cubicBezTo>
                <a:lnTo>
                  <a:pt x="15000" y="17000"/>
                </a:lnTo>
                <a:cubicBezTo>
                  <a:pt x="16105" y="17000"/>
                  <a:pt x="17000" y="17895"/>
                  <a:pt x="17000" y="19000"/>
                </a:cubicBezTo>
                <a:lnTo>
                  <a:pt x="17000" y="20662"/>
                </a:lnTo>
              </a:path>
            </a:pathLst>
          </a:custGeom>
          <a:noFill/>
          <a:ln w="10058" cap="rnd">
            <a:solidFill>
              <a:srgbClr val="40566D"/>
            </a:solidFill>
            <a:round/>
          </a:ln>
        </p:spPr>
      </p:sp>
      <p:sp>
        <p:nvSpPr>
          <p:cNvPr id="67" name="UI text"/>
          <p:cNvSpPr txBox="1"/>
          <p:nvPr/>
        </p:nvSpPr>
        <p:spPr>
          <a:xfrm>
            <a:off x="2464598" y="1453896"/>
            <a:ext cx="4797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528"/>
              </a:lnSpc>
              <a:spcBef>
                <a:spcPts val="0"/>
              </a:spcBef>
              <a:buNone/>
            </a:pPr>
            <a:r>
              <a:rPr lang="en-US" sz="44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Vendor SPOC</a:t>
            </a:r>
            <a:endParaRPr lang="en-US" sz="440" dirty="0">
              <a:latin typeface="Inter"/>
            </a:endParaRPr>
          </a:p>
        </p:txBody>
      </p:sp>
      <p:sp>
        <p:nvSpPr>
          <p:cNvPr id="68" name="Page"/>
          <p:cNvSpPr/>
          <p:nvPr/>
        </p:nvSpPr>
        <p:spPr>
          <a:xfrm>
            <a:off x="278892" y="1682496"/>
            <a:ext cx="2660904" cy="20802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69" name="Page corner"/>
          <p:cNvSpPr/>
          <p:nvPr/>
        </p:nvSpPr>
        <p:spPr>
          <a:xfrm>
            <a:off x="274320" y="3657600"/>
            <a:ext cx="2670048" cy="10972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0" name="Page corner square"/>
          <p:cNvSpPr/>
          <p:nvPr/>
        </p:nvSpPr>
        <p:spPr>
          <a:xfrm>
            <a:off x="274320" y="3657600"/>
            <a:ext cx="2670048" cy="548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grpSp>
        <p:nvGrpSpPr>
          <p:cNvPr id="71" name="Tabs"/>
          <p:cNvGrpSpPr/>
          <p:nvPr/>
        </p:nvGrpSpPr>
        <p:grpSpPr>
          <a:xfrm>
            <a:off x="365760" y="1764792"/>
            <a:ext cx="2487168" cy="192024"/>
            <a:chOff x="365760" y="1764792"/>
            <a:chExt cx="2487168" cy="192024"/>
          </a:xfrm>
        </p:grpSpPr>
        <p:cxnSp>
          <p:nvCxnSpPr>
            <p:cNvPr id="72" name="Divider"/>
            <p:cNvCxnSpPr/>
            <p:nvPr/>
          </p:nvCxnSpPr>
          <p:spPr>
            <a:xfrm>
              <a:off x="365760" y="1947672"/>
              <a:ext cx="248716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73" name="UI text"/>
            <p:cNvSpPr txBox="1"/>
            <p:nvPr/>
          </p:nvSpPr>
          <p:spPr>
            <a:xfrm>
              <a:off x="365760" y="1764792"/>
              <a:ext cx="414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648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305E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Refilling</a:t>
              </a:r>
              <a:endParaRPr lang="en-US" sz="540" dirty="0">
                <a:latin typeface="Inter SemiBold"/>
              </a:endParaRPr>
            </a:p>
          </p:txBody>
        </p:sp>
        <p:cxnSp>
          <p:nvCxnSpPr>
            <p:cNvPr id="74" name="Tab indicator"/>
            <p:cNvCxnSpPr/>
            <p:nvPr/>
          </p:nvCxnSpPr>
          <p:spPr>
            <a:xfrm>
              <a:off x="402336" y="1947672"/>
              <a:ext cx="341320" cy="0"/>
            </a:xfrm>
            <a:prstGeom prst="straightConnector1">
              <a:avLst/>
            </a:prstGeom>
            <a:noFill/>
            <a:ln w="19050">
              <a:solidFill>
                <a:srgbClr val="305EFF"/>
              </a:solidFill>
              <a:round/>
            </a:ln>
          </p:spPr>
        </p:cxnSp>
        <p:sp>
          <p:nvSpPr>
            <p:cNvPr id="75" name="UI text"/>
            <p:cNvSpPr txBox="1"/>
            <p:nvPr/>
          </p:nvSpPr>
          <p:spPr>
            <a:xfrm>
              <a:off x="816808" y="1764792"/>
              <a:ext cx="309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ts val="648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AMC</a:t>
              </a:r>
              <a:endParaRPr lang="en-US" sz="540" dirty="0">
                <a:latin typeface="Inter"/>
              </a:endParaRPr>
            </a:p>
          </p:txBody>
        </p:sp>
      </p:grpSp>
      <p:grpSp>
        <p:nvGrpSpPr>
          <p:cNvPr id="76" name="Filter Period: Sep 2026"/>
          <p:cNvGrpSpPr/>
          <p:nvPr/>
        </p:nvGrpSpPr>
        <p:grpSpPr>
          <a:xfrm>
            <a:off x="365760" y="2066544"/>
            <a:ext cx="720273" cy="164592"/>
            <a:chOff x="365760" y="2066544"/>
            <a:chExt cx="720273" cy="164592"/>
          </a:xfrm>
        </p:grpSpPr>
        <p:sp>
          <p:nvSpPr>
            <p:cNvPr id="77" name="Filter chip"/>
            <p:cNvSpPr/>
            <p:nvPr/>
          </p:nvSpPr>
          <p:spPr>
            <a:xfrm>
              <a:off x="365760" y="2066544"/>
              <a:ext cx="720273" cy="16459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78" name="UI text"/>
            <p:cNvSpPr txBox="1"/>
            <p:nvPr/>
          </p:nvSpPr>
          <p:spPr>
            <a:xfrm>
              <a:off x="420624" y="2066544"/>
              <a:ext cx="537393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76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Period: Sep 2026</a:t>
              </a:r>
              <a:endParaRPr lang="en-US" sz="480" dirty="0">
                <a:latin typeface="Inter"/>
              </a:endParaRPr>
            </a:p>
          </p:txBody>
        </p:sp>
        <p:sp>
          <p:nvSpPr>
            <p:cNvPr id="79" name="Icon chevron-down"/>
            <p:cNvSpPr/>
            <p:nvPr/>
          </p:nvSpPr>
          <p:spPr>
            <a:xfrm>
              <a:off x="958017" y="2107692"/>
              <a:ext cx="82296" cy="8229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12000" y="15000"/>
                  </a:lnTo>
                  <a:lnTo>
                    <a:pt x="18000" y="9000"/>
                  </a:lnTo>
                </a:path>
              </a:pathLst>
            </a:custGeom>
            <a:noFill/>
            <a:ln w="7544" cap="rnd">
              <a:solidFill>
                <a:srgbClr val="768EA7"/>
              </a:solidFill>
              <a:round/>
            </a:ln>
          </p:spPr>
        </p:sp>
      </p:grpSp>
      <p:grpSp>
        <p:nvGrpSpPr>
          <p:cNvPr id="80" name="Filter Method: Per litre"/>
          <p:cNvGrpSpPr/>
          <p:nvPr/>
        </p:nvGrpSpPr>
        <p:grpSpPr>
          <a:xfrm>
            <a:off x="1159185" y="2066544"/>
            <a:ext cx="695865" cy="164592"/>
            <a:chOff x="1159185" y="2066544"/>
            <a:chExt cx="695865" cy="164592"/>
          </a:xfrm>
        </p:grpSpPr>
        <p:sp>
          <p:nvSpPr>
            <p:cNvPr id="81" name="Filter chip"/>
            <p:cNvSpPr/>
            <p:nvPr/>
          </p:nvSpPr>
          <p:spPr>
            <a:xfrm>
              <a:off x="1159185" y="2066544"/>
              <a:ext cx="695865" cy="16459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2" name="UI text"/>
            <p:cNvSpPr txBox="1"/>
            <p:nvPr/>
          </p:nvSpPr>
          <p:spPr>
            <a:xfrm>
              <a:off x="1214049" y="2066544"/>
              <a:ext cx="512985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76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Method: Per litre</a:t>
              </a:r>
              <a:endParaRPr lang="en-US" sz="480" dirty="0">
                <a:latin typeface="Inter"/>
              </a:endParaRPr>
            </a:p>
          </p:txBody>
        </p:sp>
        <p:sp>
          <p:nvSpPr>
            <p:cNvPr id="83" name="Icon chevron-down"/>
            <p:cNvSpPr/>
            <p:nvPr/>
          </p:nvSpPr>
          <p:spPr>
            <a:xfrm>
              <a:off x="1727033" y="2107692"/>
              <a:ext cx="82296" cy="8229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12000" y="15000"/>
                  </a:lnTo>
                  <a:lnTo>
                    <a:pt x="18000" y="9000"/>
                  </a:lnTo>
                </a:path>
              </a:pathLst>
            </a:custGeom>
            <a:noFill/>
            <a:ln w="7544" cap="rnd">
              <a:solidFill>
                <a:srgbClr val="768EA7"/>
              </a:solidFill>
              <a:round/>
            </a:ln>
          </p:spPr>
        </p:sp>
      </p:grpSp>
      <p:grpSp>
        <p:nvGrpSpPr>
          <p:cNvPr id="84" name="Table"/>
          <p:cNvGrpSpPr/>
          <p:nvPr/>
        </p:nvGrpSpPr>
        <p:grpSpPr>
          <a:xfrm>
            <a:off x="365760" y="2286000"/>
            <a:ext cx="2487168" cy="868680"/>
            <a:chOff x="365760" y="2286000"/>
            <a:chExt cx="2487168" cy="868680"/>
          </a:xfrm>
        </p:grpSpPr>
        <p:sp>
          <p:nvSpPr>
            <p:cNvPr id="85" name="Table header"/>
            <p:cNvSpPr/>
            <p:nvPr/>
          </p:nvSpPr>
          <p:spPr>
            <a:xfrm>
              <a:off x="365760" y="2286000"/>
              <a:ext cx="2487168" cy="173736"/>
            </a:xfrm>
            <a:prstGeom prst="roundRect">
              <a:avLst>
                <a:gd name="adj" fmla="val 10526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6" name="UI text"/>
            <p:cNvSpPr txBox="1"/>
            <p:nvPr/>
          </p:nvSpPr>
          <p:spPr>
            <a:xfrm>
              <a:off x="402336" y="2286000"/>
              <a:ext cx="516263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60" b="0" i="0" spc="0" dirty="0">
                  <a:solidFill>
                    <a:srgbClr val="768EA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WORK ORDER</a:t>
              </a:r>
              <a:endParaRPr lang="en-US" sz="460" dirty="0">
                <a:latin typeface="Inter SemiBold"/>
              </a:endParaRPr>
            </a:p>
          </p:txBody>
        </p:sp>
        <p:sp>
          <p:nvSpPr>
            <p:cNvPr id="87" name="UI text"/>
            <p:cNvSpPr txBox="1"/>
            <p:nvPr/>
          </p:nvSpPr>
          <p:spPr>
            <a:xfrm>
              <a:off x="973463" y="2286000"/>
              <a:ext cx="424146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60" b="0" i="0" spc="0" dirty="0">
                  <a:solidFill>
                    <a:srgbClr val="768EA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STORE</a:t>
              </a:r>
              <a:endParaRPr lang="en-US" sz="460" dirty="0">
                <a:latin typeface="Inter SemiBold"/>
              </a:endParaRPr>
            </a:p>
          </p:txBody>
        </p:sp>
        <p:sp>
          <p:nvSpPr>
            <p:cNvPr id="88" name="UI text"/>
            <p:cNvSpPr txBox="1"/>
            <p:nvPr/>
          </p:nvSpPr>
          <p:spPr>
            <a:xfrm>
              <a:off x="1452474" y="2286000"/>
              <a:ext cx="332029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60" b="0" i="0" spc="0" dirty="0">
                  <a:solidFill>
                    <a:srgbClr val="768EA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LITRES</a:t>
              </a:r>
              <a:endParaRPr lang="en-US" sz="460" dirty="0">
                <a:latin typeface="Inter SemiBold"/>
              </a:endParaRPr>
            </a:p>
          </p:txBody>
        </p:sp>
        <p:sp>
          <p:nvSpPr>
            <p:cNvPr id="89" name="UI text"/>
            <p:cNvSpPr txBox="1"/>
            <p:nvPr/>
          </p:nvSpPr>
          <p:spPr>
            <a:xfrm>
              <a:off x="1839366" y="2286000"/>
              <a:ext cx="424146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60" b="0" i="0" spc="0" dirty="0">
                  <a:solidFill>
                    <a:srgbClr val="768EA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BASIS</a:t>
              </a:r>
              <a:endParaRPr lang="en-US" sz="460" dirty="0">
                <a:latin typeface="Inter SemiBold"/>
              </a:endParaRPr>
            </a:p>
          </p:txBody>
        </p:sp>
        <p:sp>
          <p:nvSpPr>
            <p:cNvPr id="90" name="UI text"/>
            <p:cNvSpPr txBox="1"/>
            <p:nvPr/>
          </p:nvSpPr>
          <p:spPr>
            <a:xfrm>
              <a:off x="2318377" y="2286000"/>
              <a:ext cx="516263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60" b="0" i="0" spc="0" dirty="0">
                  <a:solidFill>
                    <a:srgbClr val="768EA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DATE</a:t>
              </a:r>
              <a:endParaRPr lang="en-US" sz="460" dirty="0">
                <a:latin typeface="Inter SemiBold"/>
              </a:endParaRPr>
            </a:p>
          </p:txBody>
        </p:sp>
        <p:sp>
          <p:nvSpPr>
            <p:cNvPr id="91" name="UI text"/>
            <p:cNvSpPr txBox="1"/>
            <p:nvPr/>
          </p:nvSpPr>
          <p:spPr>
            <a:xfrm>
              <a:off x="402336" y="2459736"/>
              <a:ext cx="516263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19283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WO-1042</a:t>
              </a:r>
              <a:endParaRPr lang="en-US" sz="480" dirty="0">
                <a:latin typeface="Inter SemiBold"/>
              </a:endParaRPr>
            </a:p>
          </p:txBody>
        </p:sp>
        <p:sp>
          <p:nvSpPr>
            <p:cNvPr id="92" name="UI text"/>
            <p:cNvSpPr txBox="1"/>
            <p:nvPr/>
          </p:nvSpPr>
          <p:spPr>
            <a:xfrm>
              <a:off x="973463" y="2459736"/>
              <a:ext cx="424146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BLR-014</a:t>
              </a:r>
              <a:endParaRPr lang="en-US" sz="480" dirty="0">
                <a:latin typeface="Inter"/>
              </a:endParaRPr>
            </a:p>
          </p:txBody>
        </p:sp>
        <p:sp>
          <p:nvSpPr>
            <p:cNvPr id="93" name="UI text"/>
            <p:cNvSpPr txBox="1"/>
            <p:nvPr/>
          </p:nvSpPr>
          <p:spPr>
            <a:xfrm>
              <a:off x="1452474" y="2459736"/>
              <a:ext cx="332029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380 L</a:t>
              </a:r>
              <a:endParaRPr lang="en-US" sz="480" dirty="0">
                <a:latin typeface="Inter"/>
              </a:endParaRPr>
            </a:p>
          </p:txBody>
        </p:sp>
        <p:sp>
          <p:nvSpPr>
            <p:cNvPr id="94" name="UI text"/>
            <p:cNvSpPr txBox="1"/>
            <p:nvPr/>
          </p:nvSpPr>
          <p:spPr>
            <a:xfrm>
              <a:off x="1839366" y="2459736"/>
              <a:ext cx="424146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Per litre</a:t>
              </a:r>
              <a:endParaRPr lang="en-US" sz="480" dirty="0">
                <a:latin typeface="Inter"/>
              </a:endParaRPr>
            </a:p>
          </p:txBody>
        </p:sp>
        <p:sp>
          <p:nvSpPr>
            <p:cNvPr id="95" name="UI text"/>
            <p:cNvSpPr txBox="1"/>
            <p:nvPr/>
          </p:nvSpPr>
          <p:spPr>
            <a:xfrm>
              <a:off x="2318377" y="2459736"/>
              <a:ext cx="516263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12 Sep</a:t>
              </a:r>
              <a:endParaRPr lang="en-US" sz="480" dirty="0">
                <a:latin typeface="Inter"/>
              </a:endParaRPr>
            </a:p>
          </p:txBody>
        </p:sp>
        <p:cxnSp>
          <p:nvCxnSpPr>
            <p:cNvPr id="96" name="Divider"/>
            <p:cNvCxnSpPr/>
            <p:nvPr/>
          </p:nvCxnSpPr>
          <p:spPr>
            <a:xfrm>
              <a:off x="365760" y="2633472"/>
              <a:ext cx="248716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97" name="UI text"/>
            <p:cNvSpPr txBox="1"/>
            <p:nvPr/>
          </p:nvSpPr>
          <p:spPr>
            <a:xfrm>
              <a:off x="402336" y="2633472"/>
              <a:ext cx="516263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19283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WO-1039</a:t>
              </a:r>
              <a:endParaRPr lang="en-US" sz="480" dirty="0">
                <a:latin typeface="Inter SemiBold"/>
              </a:endParaRPr>
            </a:p>
          </p:txBody>
        </p:sp>
        <p:sp>
          <p:nvSpPr>
            <p:cNvPr id="98" name="UI text"/>
            <p:cNvSpPr txBox="1"/>
            <p:nvPr/>
          </p:nvSpPr>
          <p:spPr>
            <a:xfrm>
              <a:off x="973463" y="2633472"/>
              <a:ext cx="424146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BLR-021</a:t>
              </a:r>
              <a:endParaRPr lang="en-US" sz="480" dirty="0">
                <a:latin typeface="Inter"/>
              </a:endParaRPr>
            </a:p>
          </p:txBody>
        </p:sp>
        <p:sp>
          <p:nvSpPr>
            <p:cNvPr id="99" name="UI text"/>
            <p:cNvSpPr txBox="1"/>
            <p:nvPr/>
          </p:nvSpPr>
          <p:spPr>
            <a:xfrm>
              <a:off x="1452474" y="2633472"/>
              <a:ext cx="332029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420 L</a:t>
              </a:r>
              <a:endParaRPr lang="en-US" sz="480" dirty="0">
                <a:latin typeface="Inter"/>
              </a:endParaRPr>
            </a:p>
          </p:txBody>
        </p:sp>
        <p:sp>
          <p:nvSpPr>
            <p:cNvPr id="100" name="UI text"/>
            <p:cNvSpPr txBox="1"/>
            <p:nvPr/>
          </p:nvSpPr>
          <p:spPr>
            <a:xfrm>
              <a:off x="1839366" y="2633472"/>
              <a:ext cx="424146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Per litre</a:t>
              </a:r>
              <a:endParaRPr lang="en-US" sz="480" dirty="0">
                <a:latin typeface="Inter"/>
              </a:endParaRPr>
            </a:p>
          </p:txBody>
        </p:sp>
        <p:sp>
          <p:nvSpPr>
            <p:cNvPr id="101" name="UI text"/>
            <p:cNvSpPr txBox="1"/>
            <p:nvPr/>
          </p:nvSpPr>
          <p:spPr>
            <a:xfrm>
              <a:off x="2318377" y="2633472"/>
              <a:ext cx="516263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11 Sep</a:t>
              </a:r>
              <a:endParaRPr lang="en-US" sz="480" dirty="0">
                <a:latin typeface="Inter"/>
              </a:endParaRPr>
            </a:p>
          </p:txBody>
        </p:sp>
        <p:cxnSp>
          <p:nvCxnSpPr>
            <p:cNvPr id="102" name="Divider"/>
            <p:cNvCxnSpPr/>
            <p:nvPr/>
          </p:nvCxnSpPr>
          <p:spPr>
            <a:xfrm>
              <a:off x="365760" y="2807208"/>
              <a:ext cx="248716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103" name="UI text"/>
            <p:cNvSpPr txBox="1"/>
            <p:nvPr/>
          </p:nvSpPr>
          <p:spPr>
            <a:xfrm>
              <a:off x="402336" y="2807208"/>
              <a:ext cx="516263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19283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WO-1036</a:t>
              </a:r>
              <a:endParaRPr lang="en-US" sz="480" dirty="0">
                <a:latin typeface="Inter SemiBold"/>
              </a:endParaRPr>
            </a:p>
          </p:txBody>
        </p:sp>
        <p:sp>
          <p:nvSpPr>
            <p:cNvPr id="104" name="UI text"/>
            <p:cNvSpPr txBox="1"/>
            <p:nvPr/>
          </p:nvSpPr>
          <p:spPr>
            <a:xfrm>
              <a:off x="973463" y="2807208"/>
              <a:ext cx="424146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BLR-007</a:t>
              </a:r>
              <a:endParaRPr lang="en-US" sz="480" dirty="0">
                <a:latin typeface="Inter"/>
              </a:endParaRPr>
            </a:p>
          </p:txBody>
        </p:sp>
        <p:sp>
          <p:nvSpPr>
            <p:cNvPr id="105" name="UI text"/>
            <p:cNvSpPr txBox="1"/>
            <p:nvPr/>
          </p:nvSpPr>
          <p:spPr>
            <a:xfrm>
              <a:off x="1452474" y="2807208"/>
              <a:ext cx="332029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300 L</a:t>
              </a:r>
              <a:endParaRPr lang="en-US" sz="480" dirty="0">
                <a:latin typeface="Inter"/>
              </a:endParaRPr>
            </a:p>
          </p:txBody>
        </p:sp>
        <p:sp>
          <p:nvSpPr>
            <p:cNvPr id="106" name="UI text"/>
            <p:cNvSpPr txBox="1"/>
            <p:nvPr/>
          </p:nvSpPr>
          <p:spPr>
            <a:xfrm>
              <a:off x="1839366" y="2807208"/>
              <a:ext cx="424146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Per litre</a:t>
              </a:r>
              <a:endParaRPr lang="en-US" sz="480" dirty="0">
                <a:latin typeface="Inter"/>
              </a:endParaRPr>
            </a:p>
          </p:txBody>
        </p:sp>
        <p:sp>
          <p:nvSpPr>
            <p:cNvPr id="107" name="UI text"/>
            <p:cNvSpPr txBox="1"/>
            <p:nvPr/>
          </p:nvSpPr>
          <p:spPr>
            <a:xfrm>
              <a:off x="2318377" y="2807208"/>
              <a:ext cx="516263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10 Sep</a:t>
              </a:r>
              <a:endParaRPr lang="en-US" sz="480" dirty="0">
                <a:latin typeface="Inter"/>
              </a:endParaRPr>
            </a:p>
          </p:txBody>
        </p:sp>
        <p:cxnSp>
          <p:nvCxnSpPr>
            <p:cNvPr id="108" name="Divider"/>
            <p:cNvCxnSpPr/>
            <p:nvPr/>
          </p:nvCxnSpPr>
          <p:spPr>
            <a:xfrm>
              <a:off x="365760" y="2980944"/>
              <a:ext cx="248716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109" name="UI text"/>
            <p:cNvSpPr txBox="1"/>
            <p:nvPr/>
          </p:nvSpPr>
          <p:spPr>
            <a:xfrm>
              <a:off x="402336" y="2980944"/>
              <a:ext cx="516263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19283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WO-1031</a:t>
              </a:r>
              <a:endParaRPr lang="en-US" sz="480" dirty="0">
                <a:latin typeface="Inter SemiBold"/>
              </a:endParaRPr>
            </a:p>
          </p:txBody>
        </p:sp>
        <p:sp>
          <p:nvSpPr>
            <p:cNvPr id="110" name="UI text"/>
            <p:cNvSpPr txBox="1"/>
            <p:nvPr/>
          </p:nvSpPr>
          <p:spPr>
            <a:xfrm>
              <a:off x="973463" y="2980944"/>
              <a:ext cx="424146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HYD-002</a:t>
              </a:r>
              <a:endParaRPr lang="en-US" sz="480" dirty="0">
                <a:latin typeface="Inter"/>
              </a:endParaRPr>
            </a:p>
          </p:txBody>
        </p:sp>
        <p:sp>
          <p:nvSpPr>
            <p:cNvPr id="111" name="UI text"/>
            <p:cNvSpPr txBox="1"/>
            <p:nvPr/>
          </p:nvSpPr>
          <p:spPr>
            <a:xfrm>
              <a:off x="1452474" y="2980944"/>
              <a:ext cx="332029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360 L</a:t>
              </a:r>
              <a:endParaRPr lang="en-US" sz="480" dirty="0">
                <a:latin typeface="Inter"/>
              </a:endParaRPr>
            </a:p>
          </p:txBody>
        </p:sp>
        <p:sp>
          <p:nvSpPr>
            <p:cNvPr id="112" name="UI text"/>
            <p:cNvSpPr txBox="1"/>
            <p:nvPr/>
          </p:nvSpPr>
          <p:spPr>
            <a:xfrm>
              <a:off x="1839366" y="2980944"/>
              <a:ext cx="424146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Per litre</a:t>
              </a:r>
              <a:endParaRPr lang="en-US" sz="480" dirty="0">
                <a:latin typeface="Inter"/>
              </a:endParaRPr>
            </a:p>
          </p:txBody>
        </p:sp>
        <p:sp>
          <p:nvSpPr>
            <p:cNvPr id="113" name="UI text"/>
            <p:cNvSpPr txBox="1"/>
            <p:nvPr/>
          </p:nvSpPr>
          <p:spPr>
            <a:xfrm>
              <a:off x="2318377" y="2980944"/>
              <a:ext cx="516263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80"/>
                </a:lnSpc>
                <a:spcBef>
                  <a:spcPts val="0"/>
                </a:spcBef>
                <a:buNone/>
              </a:pPr>
              <a:r>
                <a:rPr lang="en-US" sz="48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09 Sep</a:t>
              </a:r>
              <a:endParaRPr lang="en-US" sz="480" dirty="0">
                <a:latin typeface="Inter"/>
              </a:endParaRPr>
            </a:p>
          </p:txBody>
        </p:sp>
        <p:cxnSp>
          <p:nvCxnSpPr>
            <p:cNvPr id="114" name="Divider"/>
            <p:cNvCxnSpPr/>
            <p:nvPr/>
          </p:nvCxnSpPr>
          <p:spPr>
            <a:xfrm>
              <a:off x="365760" y="3154680"/>
              <a:ext cx="2487168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</p:grpSp>
      <p:sp>
        <p:nvSpPr>
          <p:cNvPr id="115" name="Icon filter"/>
          <p:cNvSpPr/>
          <p:nvPr/>
        </p:nvSpPr>
        <p:spPr>
          <a:xfrm>
            <a:off x="365760" y="3236976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3000"/>
                </a:moveTo>
                <a:lnTo>
                  <a:pt x="2000" y="3000"/>
                </a:lnTo>
                <a:lnTo>
                  <a:pt x="10000" y="12460"/>
                </a:lnTo>
                <a:lnTo>
                  <a:pt x="10000" y="19000"/>
                </a:lnTo>
                <a:lnTo>
                  <a:pt x="14000" y="21000"/>
                </a:lnTo>
                <a:lnTo>
                  <a:pt x="14000" y="12460"/>
                </a:lnTo>
                <a:lnTo>
                  <a:pt x="22000" y="3000"/>
                </a:lnTo>
                <a:close/>
              </a:path>
            </a:pathLst>
          </a:custGeom>
          <a:noFill/>
          <a:ln w="10058" cap="rnd">
            <a:solidFill>
              <a:srgbClr val="768EA7"/>
            </a:solidFill>
            <a:round/>
          </a:ln>
        </p:spPr>
      </p:sp>
      <p:sp>
        <p:nvSpPr>
          <p:cNvPr id="116" name="UI text"/>
          <p:cNvSpPr txBox="1"/>
          <p:nvPr/>
        </p:nvSpPr>
        <p:spPr>
          <a:xfrm>
            <a:off x="530352" y="3218688"/>
            <a:ext cx="232257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24"/>
              </a:lnSpc>
              <a:spcBef>
                <a:spcPts val="0"/>
              </a:spcBef>
              <a:buNone/>
            </a:pPr>
            <a:r>
              <a:rPr lang="en-US" sz="52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Already-billed work orders are excluded automatically</a:t>
            </a:r>
            <a:endParaRPr lang="en-US" sz="520" dirty="0">
              <a:latin typeface="Inter"/>
            </a:endParaRPr>
          </a:p>
        </p:txBody>
      </p:sp>
      <p:grpSp>
        <p:nvGrpSpPr>
          <p:cNvPr id="117" name="Button Review line items"/>
          <p:cNvGrpSpPr/>
          <p:nvPr/>
        </p:nvGrpSpPr>
        <p:grpSpPr>
          <a:xfrm>
            <a:off x="365760" y="3410712"/>
            <a:ext cx="2487168" cy="201168"/>
            <a:chOff x="365760" y="3410712"/>
            <a:chExt cx="2487168" cy="201168"/>
          </a:xfrm>
        </p:grpSpPr>
        <p:sp>
          <p:nvSpPr>
            <p:cNvPr id="118" name="Button"/>
            <p:cNvSpPr/>
            <p:nvPr/>
          </p:nvSpPr>
          <p:spPr>
            <a:xfrm>
              <a:off x="365760" y="3410712"/>
              <a:ext cx="2487168" cy="201168"/>
            </a:xfrm>
            <a:prstGeom prst="roundRect">
              <a:avLst>
                <a:gd name="adj" fmla="val 13636"/>
              </a:avLst>
            </a:prstGeom>
            <a:solidFill>
              <a:srgbClr val="305E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19" name="Icon arrow-right"/>
            <p:cNvSpPr/>
            <p:nvPr/>
          </p:nvSpPr>
          <p:spPr>
            <a:xfrm>
              <a:off x="1243723" y="3461004"/>
              <a:ext cx="100584" cy="10058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12000"/>
                  </a:moveTo>
                  <a:lnTo>
                    <a:pt x="19000" y="12000"/>
                  </a:lnTo>
                </a:path>
                <a:path w="24000" h="24000" fill="none">
                  <a:moveTo>
                    <a:pt x="12000" y="5000"/>
                  </a:moveTo>
                  <a:lnTo>
                    <a:pt x="19000" y="12000"/>
                  </a:lnTo>
                  <a:lnTo>
                    <a:pt x="12000" y="19000"/>
                  </a:lnTo>
                </a:path>
              </a:pathLst>
            </a:custGeom>
            <a:noFill/>
            <a:ln w="9220" cap="rnd">
              <a:solidFill>
                <a:srgbClr val="FFFFFF"/>
              </a:solidFill>
              <a:round/>
            </a:ln>
          </p:spPr>
        </p:sp>
        <p:sp>
          <p:nvSpPr>
            <p:cNvPr id="120" name="Button label"/>
            <p:cNvSpPr txBox="1"/>
            <p:nvPr/>
          </p:nvSpPr>
          <p:spPr>
            <a:xfrm>
              <a:off x="1380883" y="3410712"/>
              <a:ext cx="630658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60"/>
                </a:lnSpc>
                <a:spcBef>
                  <a:spcPts val="0"/>
                </a:spcBef>
                <a:buNone/>
              </a:pPr>
              <a:r>
                <a:rPr lang="en-US" sz="56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Review line items</a:t>
              </a:r>
              <a:endParaRPr lang="en-US" sz="560" dirty="0">
                <a:latin typeface="Inter SemiBold"/>
              </a:endParaRPr>
            </a:p>
          </p:txBody>
        </p:sp>
      </p:grpSp>
      <p:sp>
        <p:nvSpPr>
          <p:cNvPr id="121" name="Browser"/>
          <p:cNvSpPr/>
          <p:nvPr/>
        </p:nvSpPr>
        <p:spPr>
          <a:xfrm>
            <a:off x="3236976" y="1280160"/>
            <a:ext cx="2670048" cy="2487168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  <a:effectLst>
            <a:outerShdw blurRad="152400" dist="19050" dir="5400000" algn="t" rotWithShape="0">
              <a:srgbClr val="192839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22" name="Window bar"/>
          <p:cNvSpPr/>
          <p:nvPr/>
        </p:nvSpPr>
        <p:spPr>
          <a:xfrm>
            <a:off x="3236976" y="1280160"/>
            <a:ext cx="2670048" cy="173736"/>
          </a:xfrm>
          <a:prstGeom prst="roundRect">
            <a:avLst>
              <a:gd name="adj" fmla="val 36842"/>
            </a:avLst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23" name="Window bar square"/>
          <p:cNvSpPr/>
          <p:nvPr/>
        </p:nvSpPr>
        <p:spPr>
          <a:xfrm>
            <a:off x="3236976" y="1371600"/>
            <a:ext cx="2670048" cy="8229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24" name="Dot"/>
          <p:cNvSpPr/>
          <p:nvPr/>
        </p:nvSpPr>
        <p:spPr>
          <a:xfrm>
            <a:off x="3310128" y="1344168"/>
            <a:ext cx="45720" cy="45720"/>
          </a:xfrm>
          <a:prstGeom prst="ellipse">
            <a:avLst/>
          </a:prstGeom>
          <a:solidFill>
            <a:srgbClr val="F96C6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25" name="Dot"/>
          <p:cNvSpPr/>
          <p:nvPr/>
        </p:nvSpPr>
        <p:spPr>
          <a:xfrm>
            <a:off x="3392424" y="1344168"/>
            <a:ext cx="45720" cy="4572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26" name="Dot"/>
          <p:cNvSpPr/>
          <p:nvPr/>
        </p:nvSpPr>
        <p:spPr>
          <a:xfrm>
            <a:off x="3474720" y="1344168"/>
            <a:ext cx="45720" cy="45720"/>
          </a:xfrm>
          <a:prstGeom prst="ellipse">
            <a:avLst/>
          </a:prstGeom>
          <a:solidFill>
            <a:srgbClr val="48D08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27" name="URL"/>
          <p:cNvSpPr/>
          <p:nvPr/>
        </p:nvSpPr>
        <p:spPr>
          <a:xfrm>
            <a:off x="3602736" y="1316736"/>
            <a:ext cx="2212848" cy="10058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28" name="UI text"/>
          <p:cNvSpPr txBox="1"/>
          <p:nvPr/>
        </p:nvSpPr>
        <p:spPr>
          <a:xfrm>
            <a:off x="3657600" y="1316736"/>
            <a:ext cx="2121408" cy="1005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buNone/>
            </a:pPr>
            <a:r>
              <a:rPr lang="en-US" sz="400" b="0" i="0" spc="0" dirty="0">
                <a:solidFill>
                  <a:srgbClr val="90A5BB"/>
                </a:solidFill>
                <a:latin typeface="Inter"/>
                <a:ea typeface="Inter"/>
                <a:cs typeface="Inter"/>
                <a:sym typeface="Inter"/>
              </a:rPr>
              <a:t>app.iosense.io/billing/INV-2026-204</a:t>
            </a:r>
            <a:endParaRPr lang="en-US" sz="400" dirty="0">
              <a:latin typeface="Inter"/>
            </a:endParaRPr>
          </a:p>
        </p:txBody>
      </p:sp>
      <p:sp>
        <p:nvSpPr>
          <p:cNvPr id="129" name="App bar"/>
          <p:cNvSpPr/>
          <p:nvPr/>
        </p:nvSpPr>
        <p:spPr>
          <a:xfrm>
            <a:off x="3236976" y="1453896"/>
            <a:ext cx="267004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cxnSp>
        <p:nvCxnSpPr>
          <p:cNvPr id="130" name="Divider"/>
          <p:cNvCxnSpPr/>
          <p:nvPr/>
        </p:nvCxnSpPr>
        <p:spPr>
          <a:xfrm>
            <a:off x="3236976" y="1673352"/>
            <a:ext cx="2670048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grpSp>
        <p:nvGrpSpPr>
          <p:cNvPr id="131" name="IOsense mark"/>
          <p:cNvGrpSpPr/>
          <p:nvPr/>
        </p:nvGrpSpPr>
        <p:grpSpPr>
          <a:xfrm>
            <a:off x="3310128" y="1499616"/>
            <a:ext cx="128016" cy="128016"/>
            <a:chOff x="3310128" y="1499616"/>
            <a:chExt cx="128016" cy="128016"/>
          </a:xfrm>
        </p:grpSpPr>
        <p:sp>
          <p:nvSpPr>
            <p:cNvPr id="132" name="IOsense tile"/>
            <p:cNvSpPr/>
            <p:nvPr/>
          </p:nvSpPr>
          <p:spPr>
            <a:xfrm>
              <a:off x="3310128" y="1499616"/>
              <a:ext cx="128016" cy="128016"/>
            </a:xfrm>
            <a:prstGeom prst="roundRect">
              <a:avLst>
                <a:gd name="adj" fmla="val 8601"/>
              </a:avLst>
            </a:prstGeom>
            <a:solidFill>
              <a:srgbClr val="342DF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33" name="IOsense monogram"/>
            <p:cNvSpPr/>
            <p:nvPr/>
          </p:nvSpPr>
          <p:spPr>
            <a:xfrm>
              <a:off x="3310128" y="1499616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82000" h="182000">
                  <a:moveTo>
                    <a:pt x="64203" y="108445"/>
                  </a:moveTo>
                  <a:lnTo>
                    <a:pt x="45789" y="56179"/>
                  </a:lnTo>
                  <a:lnTo>
                    <a:pt x="38955" y="77205"/>
                  </a:lnTo>
                  <a:lnTo>
                    <a:pt x="50047" y="85556"/>
                  </a:lnTo>
                  <a:lnTo>
                    <a:pt x="52025" y="94299"/>
                  </a:lnTo>
                  <a:lnTo>
                    <a:pt x="31889" y="79753"/>
                  </a:lnTo>
                  <a:lnTo>
                    <a:pt x="46378" y="36445"/>
                  </a:lnTo>
                  <a:lnTo>
                    <a:pt x="64203" y="88988"/>
                  </a:lnTo>
                  <a:lnTo>
                    <a:pt x="81834" y="37215"/>
                  </a:lnTo>
                  <a:lnTo>
                    <a:pt x="95889" y="80938"/>
                  </a:lnTo>
                  <a:lnTo>
                    <a:pt x="75792" y="95376"/>
                  </a:lnTo>
                  <a:lnTo>
                    <a:pt x="77971" y="85948"/>
                  </a:lnTo>
                  <a:lnTo>
                    <a:pt x="88660" y="77890"/>
                  </a:lnTo>
                  <a:lnTo>
                    <a:pt x="81531" y="57064"/>
                  </a:lnTo>
                  <a:lnTo>
                    <a:pt x="64203" y="1084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34" name="UI text"/>
          <p:cNvSpPr txBox="1"/>
          <p:nvPr/>
        </p:nvSpPr>
        <p:spPr>
          <a:xfrm>
            <a:off x="3474720" y="1453896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buNone/>
            </a:pPr>
            <a:r>
              <a:rPr lang="en-US" sz="5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IOsense</a:t>
            </a:r>
            <a:r>
              <a:rPr lang="en-US" sz="50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·  Billing</a:t>
            </a:r>
            <a:endParaRPr lang="en-US" sz="500" dirty="0">
              <a:latin typeface="Inter SemiBold"/>
            </a:endParaRPr>
          </a:p>
        </p:txBody>
      </p:sp>
      <p:sp>
        <p:nvSpPr>
          <p:cNvPr id="135" name="Icon circle-user"/>
          <p:cNvSpPr/>
          <p:nvPr/>
        </p:nvSpPr>
        <p:spPr>
          <a:xfrm>
            <a:off x="5290094" y="1508760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</a:path>
              <a:path w="24000" h="24000" fill="none"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  <a:path w="24000" h="24000" fill="none">
                <a:moveTo>
                  <a:pt x="7000" y="20662"/>
                </a:moveTo>
                <a:lnTo>
                  <a:pt x="7000" y="19000"/>
                </a:lnTo>
                <a:cubicBezTo>
                  <a:pt x="7000" y="17895"/>
                  <a:pt x="7895" y="17000"/>
                  <a:pt x="9000" y="17000"/>
                </a:cubicBezTo>
                <a:lnTo>
                  <a:pt x="15000" y="17000"/>
                </a:lnTo>
                <a:cubicBezTo>
                  <a:pt x="16105" y="17000"/>
                  <a:pt x="17000" y="17895"/>
                  <a:pt x="17000" y="19000"/>
                </a:cubicBezTo>
                <a:lnTo>
                  <a:pt x="17000" y="20662"/>
                </a:lnTo>
              </a:path>
            </a:pathLst>
          </a:custGeom>
          <a:noFill/>
          <a:ln w="10058" cap="rnd">
            <a:solidFill>
              <a:srgbClr val="40566D"/>
            </a:solidFill>
            <a:round/>
          </a:ln>
        </p:spPr>
      </p:sp>
      <p:sp>
        <p:nvSpPr>
          <p:cNvPr id="136" name="UI text"/>
          <p:cNvSpPr txBox="1"/>
          <p:nvPr/>
        </p:nvSpPr>
        <p:spPr>
          <a:xfrm>
            <a:off x="5427254" y="1453896"/>
            <a:ext cx="4797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528"/>
              </a:lnSpc>
              <a:spcBef>
                <a:spcPts val="0"/>
              </a:spcBef>
              <a:buNone/>
            </a:pPr>
            <a:r>
              <a:rPr lang="en-US" sz="44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Vendor SPOC</a:t>
            </a:r>
            <a:endParaRPr lang="en-US" sz="440" dirty="0">
              <a:latin typeface="Inter"/>
            </a:endParaRPr>
          </a:p>
        </p:txBody>
      </p:sp>
      <p:sp>
        <p:nvSpPr>
          <p:cNvPr id="137" name="Page"/>
          <p:cNvSpPr/>
          <p:nvPr/>
        </p:nvSpPr>
        <p:spPr>
          <a:xfrm>
            <a:off x="3241548" y="1682496"/>
            <a:ext cx="2660904" cy="20802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38" name="Page corner"/>
          <p:cNvSpPr/>
          <p:nvPr/>
        </p:nvSpPr>
        <p:spPr>
          <a:xfrm>
            <a:off x="3236976" y="3657600"/>
            <a:ext cx="2670048" cy="10972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39" name="Page corner square"/>
          <p:cNvSpPr/>
          <p:nvPr/>
        </p:nvSpPr>
        <p:spPr>
          <a:xfrm>
            <a:off x="3236976" y="3657600"/>
            <a:ext cx="2670048" cy="548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40" name="UI text"/>
          <p:cNvSpPr txBox="1"/>
          <p:nvPr/>
        </p:nvSpPr>
        <p:spPr>
          <a:xfrm>
            <a:off x="3328416" y="1783080"/>
            <a:ext cx="170992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20"/>
              </a:lnSpc>
              <a:spcBef>
                <a:spcPts val="0"/>
              </a:spcBef>
              <a:buNone/>
            </a:pPr>
            <a:r>
              <a:rPr lang="en-US" sz="76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Invoice</a:t>
            </a:r>
            <a:r>
              <a:rPr lang="en-US" sz="76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 Sep 2026 · 4 work orders</a:t>
            </a:r>
            <a:endParaRPr lang="en-US" sz="760" dirty="0">
              <a:latin typeface="Inter SemiBold"/>
            </a:endParaRPr>
          </a:p>
        </p:txBody>
      </p:sp>
      <p:grpSp>
        <p:nvGrpSpPr>
          <p:cNvPr id="141" name="Badge"/>
          <p:cNvGrpSpPr/>
          <p:nvPr/>
        </p:nvGrpSpPr>
        <p:grpSpPr>
          <a:xfrm>
            <a:off x="5560354" y="1810512"/>
            <a:ext cx="255230" cy="155448"/>
            <a:chOff x="5560354" y="1810512"/>
            <a:chExt cx="255230" cy="155448"/>
          </a:xfrm>
        </p:grpSpPr>
        <p:sp>
          <p:nvSpPr>
            <p:cNvPr id="142" name="Badge"/>
            <p:cNvSpPr/>
            <p:nvPr/>
          </p:nvSpPr>
          <p:spPr>
            <a:xfrm>
              <a:off x="5560354" y="1810512"/>
              <a:ext cx="255230" cy="155448"/>
            </a:xfrm>
            <a:prstGeom prst="roundRect">
              <a:avLst>
                <a:gd name="adj" fmla="val 25000"/>
              </a:avLst>
            </a:prstGeom>
            <a:solidFill>
              <a:srgbClr val="FFF3E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3" name="Badge label"/>
            <p:cNvSpPr txBox="1"/>
            <p:nvPr/>
          </p:nvSpPr>
          <p:spPr>
            <a:xfrm>
              <a:off x="5606074" y="1810512"/>
              <a:ext cx="182078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C65C1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Draft</a:t>
              </a:r>
              <a:endParaRPr lang="en-US" sz="540" dirty="0">
                <a:latin typeface="Inter SemiBold"/>
              </a:endParaRPr>
            </a:p>
          </p:txBody>
        </p:sp>
      </p:grpSp>
      <p:sp>
        <p:nvSpPr>
          <p:cNvPr id="144" name="Card"/>
          <p:cNvSpPr/>
          <p:nvPr/>
        </p:nvSpPr>
        <p:spPr>
          <a:xfrm>
            <a:off x="3328416" y="2002536"/>
            <a:ext cx="248716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45" name="UI text"/>
          <p:cNvSpPr txBox="1"/>
          <p:nvPr/>
        </p:nvSpPr>
        <p:spPr>
          <a:xfrm>
            <a:off x="3419856" y="2048256"/>
            <a:ext cx="138988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buNone/>
            </a:pPr>
            <a:r>
              <a:rPr lang="en-US" sz="56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Refilling charges</a:t>
            </a:r>
            <a:endParaRPr lang="en-US" sz="560" dirty="0">
              <a:latin typeface="Inter SemiBold"/>
            </a:endParaRPr>
          </a:p>
        </p:txBody>
      </p:sp>
      <p:sp>
        <p:nvSpPr>
          <p:cNvPr id="146" name="UI text"/>
          <p:cNvSpPr txBox="1"/>
          <p:nvPr/>
        </p:nvSpPr>
        <p:spPr>
          <a:xfrm>
            <a:off x="3419856" y="2176272"/>
            <a:ext cx="138988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20"/>
              </a:lnSpc>
              <a:spcBef>
                <a:spcPts val="0"/>
              </a:spcBef>
              <a:buNone/>
            </a:pPr>
            <a:r>
              <a:rPr lang="en-US" sz="48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4 refuelling events</a:t>
            </a:r>
            <a:endParaRPr lang="en-US" sz="480" dirty="0">
              <a:latin typeface="Inter"/>
            </a:endParaRPr>
          </a:p>
        </p:txBody>
      </p:sp>
      <p:sp>
        <p:nvSpPr>
          <p:cNvPr id="147" name="UI text"/>
          <p:cNvSpPr txBox="1"/>
          <p:nvPr/>
        </p:nvSpPr>
        <p:spPr>
          <a:xfrm>
            <a:off x="4809744" y="2002536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768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₹ 4,800</a:t>
            </a:r>
            <a:endParaRPr lang="en-US" sz="640" dirty="0">
              <a:latin typeface="Inter SemiBold"/>
            </a:endParaRPr>
          </a:p>
        </p:txBody>
      </p:sp>
      <p:sp>
        <p:nvSpPr>
          <p:cNvPr id="148" name="Card"/>
          <p:cNvSpPr/>
          <p:nvPr/>
        </p:nvSpPr>
        <p:spPr>
          <a:xfrm>
            <a:off x="3328416" y="2377440"/>
            <a:ext cx="248716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49" name="UI text"/>
          <p:cNvSpPr txBox="1"/>
          <p:nvPr/>
        </p:nvSpPr>
        <p:spPr>
          <a:xfrm>
            <a:off x="3419856" y="2423160"/>
            <a:ext cx="138988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buNone/>
            </a:pPr>
            <a:r>
              <a:rPr lang="en-US" sz="56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Fuel charges</a:t>
            </a:r>
            <a:endParaRPr lang="en-US" sz="560" dirty="0">
              <a:latin typeface="Inter SemiBold"/>
            </a:endParaRPr>
          </a:p>
        </p:txBody>
      </p:sp>
      <p:sp>
        <p:nvSpPr>
          <p:cNvPr id="150" name="UI text"/>
          <p:cNvSpPr txBox="1"/>
          <p:nvPr/>
        </p:nvSpPr>
        <p:spPr>
          <a:xfrm>
            <a:off x="3419856" y="2551176"/>
            <a:ext cx="138988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20"/>
              </a:lnSpc>
              <a:spcBef>
                <a:spcPts val="0"/>
              </a:spcBef>
              <a:buNone/>
            </a:pPr>
            <a:r>
              <a:rPr lang="en-US" sz="48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1,460 L × rate per litre</a:t>
            </a:r>
            <a:endParaRPr lang="en-US" sz="480" dirty="0">
              <a:latin typeface="Inter"/>
            </a:endParaRPr>
          </a:p>
        </p:txBody>
      </p:sp>
      <p:sp>
        <p:nvSpPr>
          <p:cNvPr id="151" name="UI text"/>
          <p:cNvSpPr txBox="1"/>
          <p:nvPr/>
        </p:nvSpPr>
        <p:spPr>
          <a:xfrm>
            <a:off x="4809744" y="237744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768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₹ 1,40,890</a:t>
            </a:r>
            <a:endParaRPr lang="en-US" sz="640" dirty="0">
              <a:latin typeface="Inter SemiBold"/>
            </a:endParaRPr>
          </a:p>
        </p:txBody>
      </p:sp>
      <p:sp>
        <p:nvSpPr>
          <p:cNvPr id="152" name="Total row"/>
          <p:cNvSpPr/>
          <p:nvPr/>
        </p:nvSpPr>
        <p:spPr>
          <a:xfrm>
            <a:off x="3328416" y="2752344"/>
            <a:ext cx="2487168" cy="292608"/>
          </a:xfrm>
          <a:prstGeom prst="roundRect">
            <a:avLst>
              <a:gd name="adj" fmla="val 12500"/>
            </a:avLst>
          </a:prstGeom>
          <a:solidFill>
            <a:srgbClr val="ECF0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53" name="UI text"/>
          <p:cNvSpPr txBox="1"/>
          <p:nvPr/>
        </p:nvSpPr>
        <p:spPr>
          <a:xfrm>
            <a:off x="3419856" y="2752344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96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305E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Invoice amount</a:t>
            </a:r>
            <a:endParaRPr lang="en-US" sz="580" dirty="0">
              <a:latin typeface="Inter SemiBold"/>
            </a:endParaRPr>
          </a:p>
        </p:txBody>
      </p:sp>
      <p:sp>
        <p:nvSpPr>
          <p:cNvPr id="154" name="UI text"/>
          <p:cNvSpPr txBox="1"/>
          <p:nvPr/>
        </p:nvSpPr>
        <p:spPr>
          <a:xfrm>
            <a:off x="4809744" y="275234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840"/>
              </a:lnSpc>
              <a:spcBef>
                <a:spcPts val="0"/>
              </a:spcBef>
              <a:buNone/>
            </a:pPr>
            <a:r>
              <a:rPr lang="en-US" sz="700" b="0" i="0" spc="0" dirty="0">
                <a:solidFill>
                  <a:srgbClr val="305E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₹ 1,45,690</a:t>
            </a:r>
            <a:endParaRPr lang="en-US" sz="700" dirty="0">
              <a:latin typeface="Inter SemiBold"/>
            </a:endParaRPr>
          </a:p>
        </p:txBody>
      </p:sp>
      <p:sp>
        <p:nvSpPr>
          <p:cNvPr id="155" name="UI text"/>
          <p:cNvSpPr txBox="1"/>
          <p:nvPr/>
        </p:nvSpPr>
        <p:spPr>
          <a:xfrm>
            <a:off x="3328416" y="3118104"/>
            <a:ext cx="1144097" cy="100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60"/>
              </a:lnSpc>
              <a:spcBef>
                <a:spcPts val="0"/>
              </a:spcBef>
              <a:buNone/>
            </a:pPr>
            <a:r>
              <a:rPr lang="en-US" sz="440" b="0" i="0" spc="0" dirty="0">
                <a:solidFill>
                  <a:srgbClr val="40566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Invoice number *</a:t>
            </a:r>
            <a:endParaRPr lang="en-US" sz="440" dirty="0">
              <a:latin typeface="Inter SemiBold"/>
            </a:endParaRPr>
          </a:p>
        </p:txBody>
      </p:sp>
      <p:sp>
        <p:nvSpPr>
          <p:cNvPr id="156" name="Input"/>
          <p:cNvSpPr/>
          <p:nvPr/>
        </p:nvSpPr>
        <p:spPr>
          <a:xfrm>
            <a:off x="3328416" y="3227832"/>
            <a:ext cx="1144097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57" name="UI text"/>
          <p:cNvSpPr txBox="1"/>
          <p:nvPr/>
        </p:nvSpPr>
        <p:spPr>
          <a:xfrm>
            <a:off x="3383280" y="3227832"/>
            <a:ext cx="1034369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00" b="0" i="0" spc="0" dirty="0">
                <a:solidFill>
                  <a:srgbClr val="192839"/>
                </a:solidFill>
                <a:latin typeface="Inter"/>
                <a:ea typeface="Inter"/>
                <a:cs typeface="Inter"/>
                <a:sym typeface="Inter"/>
              </a:rPr>
              <a:t>FC/26-27/0412</a:t>
            </a:r>
            <a:endParaRPr lang="en-US" sz="500" dirty="0">
              <a:latin typeface="Inter"/>
            </a:endParaRPr>
          </a:p>
        </p:txBody>
      </p:sp>
      <p:grpSp>
        <p:nvGrpSpPr>
          <p:cNvPr id="158" name="Upload"/>
          <p:cNvGrpSpPr/>
          <p:nvPr/>
        </p:nvGrpSpPr>
        <p:grpSpPr>
          <a:xfrm>
            <a:off x="4572000" y="3227832"/>
            <a:ext cx="1243584" cy="182880"/>
            <a:chOff x="4572000" y="3227832"/>
            <a:chExt cx="1243584" cy="182880"/>
          </a:xfrm>
        </p:grpSpPr>
        <p:sp>
          <p:nvSpPr>
            <p:cNvPr id="159" name="Upload zone"/>
            <p:cNvSpPr/>
            <p:nvPr/>
          </p:nvSpPr>
          <p:spPr>
            <a:xfrm>
              <a:off x="4572000" y="3227832"/>
              <a:ext cx="1243584" cy="182880"/>
            </a:xfrm>
            <a:prstGeom prst="roundRect">
              <a:avLst>
                <a:gd name="adj" fmla="val 15000"/>
              </a:avLst>
            </a:prstGeom>
            <a:solidFill>
              <a:srgbClr val="F8FAFC"/>
            </a:solidFill>
            <a:ln w="6350">
              <a:solidFill>
                <a:srgbClr val="CBD5E2"/>
              </a:solidFill>
              <a:prstDash val="dash"/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60" name="Icon upload"/>
            <p:cNvSpPr/>
            <p:nvPr/>
          </p:nvSpPr>
          <p:spPr>
            <a:xfrm>
              <a:off x="4645152" y="3273552"/>
              <a:ext cx="100584" cy="10058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15000"/>
                  </a:moveTo>
                  <a:lnTo>
                    <a:pt x="21000" y="19000"/>
                  </a:lnTo>
                  <a:cubicBezTo>
                    <a:pt x="21000" y="20105"/>
                    <a:pt x="20105" y="21000"/>
                    <a:pt x="19000" y="21000"/>
                  </a:cubicBezTo>
                  <a:lnTo>
                    <a:pt x="5000" y="21000"/>
                  </a:lnTo>
                  <a:cubicBezTo>
                    <a:pt x="3895" y="21000"/>
                    <a:pt x="3000" y="20105"/>
                    <a:pt x="3000" y="19000"/>
                  </a:cubicBezTo>
                  <a:lnTo>
                    <a:pt x="3000" y="15000"/>
                  </a:lnTo>
                </a:path>
                <a:path w="24000" h="24000" fill="none">
                  <a:moveTo>
                    <a:pt x="17000" y="8000"/>
                  </a:moveTo>
                  <a:lnTo>
                    <a:pt x="12000" y="3000"/>
                  </a:lnTo>
                  <a:lnTo>
                    <a:pt x="7000" y="8000"/>
                  </a:lnTo>
                </a:path>
                <a:path w="24000" h="24000" fill="none">
                  <a:moveTo>
                    <a:pt x="12000" y="3000"/>
                  </a:moveTo>
                  <a:lnTo>
                    <a:pt x="12000" y="15000"/>
                  </a:lnTo>
                </a:path>
              </a:pathLst>
            </a:custGeom>
            <a:noFill/>
            <a:ln w="9220" cap="rnd">
              <a:solidFill>
                <a:srgbClr val="305EFF"/>
              </a:solidFill>
              <a:round/>
            </a:ln>
          </p:spPr>
        </p:sp>
        <p:sp>
          <p:nvSpPr>
            <p:cNvPr id="161" name="UI text"/>
            <p:cNvSpPr txBox="1"/>
            <p:nvPr/>
          </p:nvSpPr>
          <p:spPr>
            <a:xfrm>
              <a:off x="4791456" y="3255264"/>
              <a:ext cx="969264" cy="1188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552"/>
                </a:lnSpc>
                <a:spcBef>
                  <a:spcPts val="0"/>
                </a:spcBef>
                <a:buNone/>
              </a:pPr>
              <a:r>
                <a:rPr lang="en-US" sz="46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Attach invoice PDF</a:t>
              </a:r>
              <a:endParaRPr lang="en-US" sz="460" dirty="0">
                <a:latin typeface="Inter"/>
              </a:endParaRPr>
            </a:p>
          </p:txBody>
        </p:sp>
        <p:grpSp>
          <p:nvGrpSpPr>
            <p:cNvPr id="162" name="Badge"/>
            <p:cNvGrpSpPr/>
            <p:nvPr/>
          </p:nvGrpSpPr>
          <p:grpSpPr>
            <a:xfrm>
              <a:off x="4791456" y="3374136"/>
              <a:ext cx="500274" cy="100584"/>
              <a:chOff x="4791456" y="3374136"/>
              <a:chExt cx="500274" cy="100584"/>
            </a:xfrm>
          </p:grpSpPr>
          <p:sp>
            <p:nvSpPr>
              <p:cNvPr id="163" name="Badge"/>
              <p:cNvSpPr/>
              <p:nvPr/>
            </p:nvSpPr>
            <p:spPr>
              <a:xfrm>
                <a:off x="4791456" y="3374136"/>
                <a:ext cx="500274" cy="100584"/>
              </a:xfrm>
              <a:prstGeom prst="roundRect">
                <a:avLst>
                  <a:gd name="adj" fmla="val 25000"/>
                </a:avLst>
              </a:prstGeom>
              <a:solidFill>
                <a:srgbClr val="EBFAF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64" name="Icon paperclip"/>
              <p:cNvSpPr/>
              <p:nvPr/>
            </p:nvSpPr>
            <p:spPr>
              <a:xfrm>
                <a:off x="4837176" y="3394253"/>
                <a:ext cx="60350" cy="603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3234" y="20252"/>
                    </a:moveTo>
                    <a:lnTo>
                      <a:pt x="21000" y="12300"/>
                    </a:lnTo>
                  </a:path>
                  <a:path w="24000" h="24000" fill="none">
                    <a:moveTo>
                      <a:pt x="16000" y="6000"/>
                    </a:moveTo>
                    <a:lnTo>
                      <a:pt x="7586" y="14586"/>
                    </a:lnTo>
                    <a:cubicBezTo>
                      <a:pt x="6805" y="15367"/>
                      <a:pt x="6805" y="16633"/>
                      <a:pt x="7586" y="17414"/>
                    </a:cubicBezTo>
                    <a:cubicBezTo>
                      <a:pt x="8367" y="18195"/>
                      <a:pt x="9633" y="18195"/>
                      <a:pt x="10414" y="17414"/>
                    </a:cubicBezTo>
                    <a:lnTo>
                      <a:pt x="18828" y="8828"/>
                    </a:lnTo>
                    <a:cubicBezTo>
                      <a:pt x="20390" y="7266"/>
                      <a:pt x="20390" y="4734"/>
                      <a:pt x="18828" y="3172"/>
                    </a:cubicBezTo>
                    <a:cubicBezTo>
                      <a:pt x="17266" y="1610"/>
                      <a:pt x="14734" y="1610"/>
                      <a:pt x="13172" y="3172"/>
                    </a:cubicBezTo>
                    <a:lnTo>
                      <a:pt x="4757" y="11757"/>
                    </a:lnTo>
                    <a:cubicBezTo>
                      <a:pt x="2414" y="14100"/>
                      <a:pt x="2414" y="17900"/>
                      <a:pt x="4757" y="20243"/>
                    </a:cubicBezTo>
                    <a:cubicBezTo>
                      <a:pt x="7100" y="22586"/>
                      <a:pt x="10900" y="22586"/>
                      <a:pt x="13243" y="20243"/>
                    </a:cubicBezTo>
                  </a:path>
                </a:pathLst>
              </a:custGeom>
              <a:noFill/>
              <a:ln w="6350" cap="rnd">
                <a:solidFill>
                  <a:srgbClr val="008743"/>
                </a:solidFill>
                <a:round/>
              </a:ln>
            </p:spPr>
          </p:sp>
          <p:sp>
            <p:nvSpPr>
              <p:cNvPr id="165" name="Badge label"/>
              <p:cNvSpPr txBox="1"/>
              <p:nvPr/>
            </p:nvSpPr>
            <p:spPr>
              <a:xfrm>
                <a:off x="4924958" y="3374136"/>
                <a:ext cx="339340" cy="100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420"/>
                  </a:lnSpc>
                  <a:spcBef>
                    <a:spcPts val="0"/>
                  </a:spcBef>
                  <a:buNone/>
                </a:pPr>
                <a:r>
                  <a:rPr lang="en-US" sz="420" b="0" i="0" spc="0" dirty="0">
                    <a:solidFill>
                      <a:srgbClr val="00874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INV-204.pdf</a:t>
                </a:r>
                <a:endParaRPr lang="en-US" sz="420" dirty="0">
                  <a:latin typeface="Inter SemiBold"/>
                </a:endParaRPr>
              </a:p>
            </p:txBody>
          </p:sp>
        </p:grpSp>
      </p:grpSp>
      <p:grpSp>
        <p:nvGrpSpPr>
          <p:cNvPr id="166" name="Button Submit invoice"/>
          <p:cNvGrpSpPr/>
          <p:nvPr/>
        </p:nvGrpSpPr>
        <p:grpSpPr>
          <a:xfrm>
            <a:off x="3328416" y="3465576"/>
            <a:ext cx="2487168" cy="201168"/>
            <a:chOff x="3328416" y="3465576"/>
            <a:chExt cx="2487168" cy="201168"/>
          </a:xfrm>
        </p:grpSpPr>
        <p:sp>
          <p:nvSpPr>
            <p:cNvPr id="167" name="Button"/>
            <p:cNvSpPr/>
            <p:nvPr/>
          </p:nvSpPr>
          <p:spPr>
            <a:xfrm>
              <a:off x="3328416" y="3465576"/>
              <a:ext cx="2487168" cy="201168"/>
            </a:xfrm>
            <a:prstGeom prst="roundRect">
              <a:avLst>
                <a:gd name="adj" fmla="val 13636"/>
              </a:avLst>
            </a:prstGeom>
            <a:solidFill>
              <a:srgbClr val="305E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68" name="Icon send"/>
            <p:cNvSpPr/>
            <p:nvPr/>
          </p:nvSpPr>
          <p:spPr>
            <a:xfrm>
              <a:off x="4250085" y="3515868"/>
              <a:ext cx="100584" cy="10058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536" y="21686"/>
                  </a:moveTo>
                  <a:cubicBezTo>
                    <a:pt x="14614" y="21880"/>
                    <a:pt x="14804" y="22005"/>
                    <a:pt x="15013" y="22000"/>
                  </a:cubicBezTo>
                  <a:cubicBezTo>
                    <a:pt x="15222" y="21994"/>
                    <a:pt x="15405" y="21860"/>
                    <a:pt x="15473" y="21662"/>
                  </a:cubicBezTo>
                  <a:lnTo>
                    <a:pt x="21973" y="2662"/>
                  </a:lnTo>
                  <a:cubicBezTo>
                    <a:pt x="22038" y="2481"/>
                    <a:pt x="21993" y="2279"/>
                    <a:pt x="21857" y="2143"/>
                  </a:cubicBezTo>
                  <a:cubicBezTo>
                    <a:pt x="21721" y="2007"/>
                    <a:pt x="21519" y="1962"/>
                    <a:pt x="21338" y="2027"/>
                  </a:cubicBezTo>
                  <a:lnTo>
                    <a:pt x="2338" y="8527"/>
                  </a:lnTo>
                  <a:cubicBezTo>
                    <a:pt x="2140" y="8595"/>
                    <a:pt x="2006" y="8778"/>
                    <a:pt x="2000" y="8987"/>
                  </a:cubicBezTo>
                  <a:cubicBezTo>
                    <a:pt x="1995" y="9196"/>
                    <a:pt x="2120" y="9386"/>
                    <a:pt x="2314" y="9464"/>
                  </a:cubicBezTo>
                  <a:lnTo>
                    <a:pt x="10244" y="12644"/>
                  </a:lnTo>
                  <a:cubicBezTo>
                    <a:pt x="10751" y="12847"/>
                    <a:pt x="11152" y="13248"/>
                    <a:pt x="11356" y="13754"/>
                  </a:cubicBezTo>
                  <a:close/>
                </a:path>
                <a:path w="24000" h="24000" fill="none">
                  <a:moveTo>
                    <a:pt x="21854" y="2147"/>
                  </a:moveTo>
                  <a:lnTo>
                    <a:pt x="10914" y="13086"/>
                  </a:lnTo>
                </a:path>
              </a:pathLst>
            </a:custGeom>
            <a:noFill/>
            <a:ln w="9220" cap="rnd">
              <a:solidFill>
                <a:srgbClr val="FFFFFF"/>
              </a:solidFill>
              <a:round/>
            </a:ln>
          </p:spPr>
        </p:sp>
        <p:sp>
          <p:nvSpPr>
            <p:cNvPr id="169" name="Button label"/>
            <p:cNvSpPr txBox="1"/>
            <p:nvPr/>
          </p:nvSpPr>
          <p:spPr>
            <a:xfrm>
              <a:off x="4387245" y="3465576"/>
              <a:ext cx="543246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60"/>
                </a:lnSpc>
                <a:spcBef>
                  <a:spcPts val="0"/>
                </a:spcBef>
                <a:buNone/>
              </a:pPr>
              <a:r>
                <a:rPr lang="en-US" sz="56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Submit invoice</a:t>
              </a:r>
              <a:endParaRPr lang="en-US" sz="560" dirty="0">
                <a:latin typeface="Inter SemiBold"/>
              </a:endParaRPr>
            </a:p>
          </p:txBody>
        </p:sp>
      </p:grpSp>
      <p:sp>
        <p:nvSpPr>
          <p:cNvPr id="170" name="Browser"/>
          <p:cNvSpPr/>
          <p:nvPr/>
        </p:nvSpPr>
        <p:spPr>
          <a:xfrm>
            <a:off x="6199632" y="1280160"/>
            <a:ext cx="2670048" cy="2487168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  <a:effectLst>
            <a:outerShdw blurRad="152400" dist="19050" dir="5400000" algn="t" rotWithShape="0">
              <a:srgbClr val="192839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71" name="Window bar"/>
          <p:cNvSpPr/>
          <p:nvPr/>
        </p:nvSpPr>
        <p:spPr>
          <a:xfrm>
            <a:off x="6199632" y="1280160"/>
            <a:ext cx="2670048" cy="173736"/>
          </a:xfrm>
          <a:prstGeom prst="roundRect">
            <a:avLst>
              <a:gd name="adj" fmla="val 36842"/>
            </a:avLst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72" name="Window bar square"/>
          <p:cNvSpPr/>
          <p:nvPr/>
        </p:nvSpPr>
        <p:spPr>
          <a:xfrm>
            <a:off x="6199632" y="1371600"/>
            <a:ext cx="2670048" cy="8229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73" name="Dot"/>
          <p:cNvSpPr/>
          <p:nvPr/>
        </p:nvSpPr>
        <p:spPr>
          <a:xfrm>
            <a:off x="6272784" y="1344168"/>
            <a:ext cx="45720" cy="45720"/>
          </a:xfrm>
          <a:prstGeom prst="ellipse">
            <a:avLst/>
          </a:prstGeom>
          <a:solidFill>
            <a:srgbClr val="F96C6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74" name="Dot"/>
          <p:cNvSpPr/>
          <p:nvPr/>
        </p:nvSpPr>
        <p:spPr>
          <a:xfrm>
            <a:off x="6355080" y="1344168"/>
            <a:ext cx="45720" cy="4572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75" name="Dot"/>
          <p:cNvSpPr/>
          <p:nvPr/>
        </p:nvSpPr>
        <p:spPr>
          <a:xfrm>
            <a:off x="6437376" y="1344168"/>
            <a:ext cx="45720" cy="45720"/>
          </a:xfrm>
          <a:prstGeom prst="ellipse">
            <a:avLst/>
          </a:prstGeom>
          <a:solidFill>
            <a:srgbClr val="48D08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76" name="URL"/>
          <p:cNvSpPr/>
          <p:nvPr/>
        </p:nvSpPr>
        <p:spPr>
          <a:xfrm>
            <a:off x="6565392" y="1316736"/>
            <a:ext cx="2212848" cy="10058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77" name="UI text"/>
          <p:cNvSpPr txBox="1"/>
          <p:nvPr/>
        </p:nvSpPr>
        <p:spPr>
          <a:xfrm>
            <a:off x="6620256" y="1316736"/>
            <a:ext cx="2121408" cy="1005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buNone/>
            </a:pPr>
            <a:r>
              <a:rPr lang="en-US" sz="400" b="0" i="0" spc="0" dirty="0">
                <a:solidFill>
                  <a:srgbClr val="90A5BB"/>
                </a:solidFill>
                <a:latin typeface="Inter"/>
                <a:ea typeface="Inter"/>
                <a:cs typeface="Inter"/>
                <a:sym typeface="Inter"/>
              </a:rPr>
              <a:t>app.iosense.io/billing/INV-2026-204</a:t>
            </a:r>
            <a:endParaRPr lang="en-US" sz="400" dirty="0">
              <a:latin typeface="Inter"/>
            </a:endParaRPr>
          </a:p>
        </p:txBody>
      </p:sp>
      <p:sp>
        <p:nvSpPr>
          <p:cNvPr id="178" name="App bar"/>
          <p:cNvSpPr/>
          <p:nvPr/>
        </p:nvSpPr>
        <p:spPr>
          <a:xfrm>
            <a:off x="6199632" y="1453896"/>
            <a:ext cx="267004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cxnSp>
        <p:nvCxnSpPr>
          <p:cNvPr id="179" name="Divider"/>
          <p:cNvCxnSpPr/>
          <p:nvPr/>
        </p:nvCxnSpPr>
        <p:spPr>
          <a:xfrm>
            <a:off x="6199632" y="1673352"/>
            <a:ext cx="2670048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grpSp>
        <p:nvGrpSpPr>
          <p:cNvPr id="180" name="IOsense mark"/>
          <p:cNvGrpSpPr/>
          <p:nvPr/>
        </p:nvGrpSpPr>
        <p:grpSpPr>
          <a:xfrm>
            <a:off x="6272784" y="1499616"/>
            <a:ext cx="128016" cy="128016"/>
            <a:chOff x="6272784" y="1499616"/>
            <a:chExt cx="128016" cy="128016"/>
          </a:xfrm>
        </p:grpSpPr>
        <p:sp>
          <p:nvSpPr>
            <p:cNvPr id="181" name="IOsense tile"/>
            <p:cNvSpPr/>
            <p:nvPr/>
          </p:nvSpPr>
          <p:spPr>
            <a:xfrm>
              <a:off x="6272784" y="1499616"/>
              <a:ext cx="128016" cy="128016"/>
            </a:xfrm>
            <a:prstGeom prst="roundRect">
              <a:avLst>
                <a:gd name="adj" fmla="val 8601"/>
              </a:avLst>
            </a:prstGeom>
            <a:solidFill>
              <a:srgbClr val="342DF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82" name="IOsense monogram"/>
            <p:cNvSpPr/>
            <p:nvPr/>
          </p:nvSpPr>
          <p:spPr>
            <a:xfrm>
              <a:off x="6272784" y="1499616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82000" h="182000">
                  <a:moveTo>
                    <a:pt x="64203" y="108445"/>
                  </a:moveTo>
                  <a:lnTo>
                    <a:pt x="45789" y="56179"/>
                  </a:lnTo>
                  <a:lnTo>
                    <a:pt x="38955" y="77205"/>
                  </a:lnTo>
                  <a:lnTo>
                    <a:pt x="50047" y="85556"/>
                  </a:lnTo>
                  <a:lnTo>
                    <a:pt x="52025" y="94299"/>
                  </a:lnTo>
                  <a:lnTo>
                    <a:pt x="31889" y="79753"/>
                  </a:lnTo>
                  <a:lnTo>
                    <a:pt x="46378" y="36445"/>
                  </a:lnTo>
                  <a:lnTo>
                    <a:pt x="64203" y="88988"/>
                  </a:lnTo>
                  <a:lnTo>
                    <a:pt x="81834" y="37215"/>
                  </a:lnTo>
                  <a:lnTo>
                    <a:pt x="95889" y="80938"/>
                  </a:lnTo>
                  <a:lnTo>
                    <a:pt x="75792" y="95376"/>
                  </a:lnTo>
                  <a:lnTo>
                    <a:pt x="77971" y="85948"/>
                  </a:lnTo>
                  <a:lnTo>
                    <a:pt x="88660" y="77890"/>
                  </a:lnTo>
                  <a:lnTo>
                    <a:pt x="81531" y="57064"/>
                  </a:lnTo>
                  <a:lnTo>
                    <a:pt x="64203" y="1084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83" name="UI text"/>
          <p:cNvSpPr txBox="1"/>
          <p:nvPr/>
        </p:nvSpPr>
        <p:spPr>
          <a:xfrm>
            <a:off x="6437376" y="1453896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buNone/>
            </a:pPr>
            <a:r>
              <a:rPr lang="en-US" sz="5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IOsense</a:t>
            </a:r>
            <a:r>
              <a:rPr lang="en-US" sz="50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·  Billing</a:t>
            </a:r>
            <a:endParaRPr lang="en-US" sz="500" dirty="0">
              <a:latin typeface="Inter SemiBold"/>
            </a:endParaRPr>
          </a:p>
        </p:txBody>
      </p:sp>
      <p:sp>
        <p:nvSpPr>
          <p:cNvPr id="184" name="Icon circle-user"/>
          <p:cNvSpPr/>
          <p:nvPr/>
        </p:nvSpPr>
        <p:spPr>
          <a:xfrm>
            <a:off x="8282595" y="1508760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</a:path>
              <a:path w="24000" h="24000" fill="none"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  <a:path w="24000" h="24000" fill="none">
                <a:moveTo>
                  <a:pt x="7000" y="20662"/>
                </a:moveTo>
                <a:lnTo>
                  <a:pt x="7000" y="19000"/>
                </a:lnTo>
                <a:cubicBezTo>
                  <a:pt x="7000" y="17895"/>
                  <a:pt x="7895" y="17000"/>
                  <a:pt x="9000" y="17000"/>
                </a:cubicBezTo>
                <a:lnTo>
                  <a:pt x="15000" y="17000"/>
                </a:lnTo>
                <a:cubicBezTo>
                  <a:pt x="16105" y="17000"/>
                  <a:pt x="17000" y="17895"/>
                  <a:pt x="17000" y="19000"/>
                </a:cubicBezTo>
                <a:lnTo>
                  <a:pt x="17000" y="20662"/>
                </a:lnTo>
              </a:path>
            </a:pathLst>
          </a:custGeom>
          <a:noFill/>
          <a:ln w="10058" cap="rnd">
            <a:solidFill>
              <a:srgbClr val="40566D"/>
            </a:solidFill>
            <a:round/>
          </a:ln>
        </p:spPr>
      </p:sp>
      <p:sp>
        <p:nvSpPr>
          <p:cNvPr id="185" name="UI text"/>
          <p:cNvSpPr txBox="1"/>
          <p:nvPr/>
        </p:nvSpPr>
        <p:spPr>
          <a:xfrm>
            <a:off x="8419755" y="1453896"/>
            <a:ext cx="449925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528"/>
              </a:lnSpc>
              <a:spcBef>
                <a:spcPts val="0"/>
              </a:spcBef>
              <a:buNone/>
            </a:pPr>
            <a:r>
              <a:rPr lang="en-US" sz="44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Central User</a:t>
            </a:r>
            <a:endParaRPr lang="en-US" sz="440" dirty="0">
              <a:latin typeface="Inter"/>
            </a:endParaRPr>
          </a:p>
        </p:txBody>
      </p:sp>
      <p:sp>
        <p:nvSpPr>
          <p:cNvPr id="186" name="Page"/>
          <p:cNvSpPr/>
          <p:nvPr/>
        </p:nvSpPr>
        <p:spPr>
          <a:xfrm>
            <a:off x="6204204" y="1682496"/>
            <a:ext cx="2660904" cy="20802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87" name="Page corner"/>
          <p:cNvSpPr/>
          <p:nvPr/>
        </p:nvSpPr>
        <p:spPr>
          <a:xfrm>
            <a:off x="6199632" y="3657600"/>
            <a:ext cx="2670048" cy="10972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88" name="Page corner square"/>
          <p:cNvSpPr/>
          <p:nvPr/>
        </p:nvSpPr>
        <p:spPr>
          <a:xfrm>
            <a:off x="6199632" y="3657600"/>
            <a:ext cx="2670048" cy="548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89" name="UI text"/>
          <p:cNvSpPr txBox="1"/>
          <p:nvPr/>
        </p:nvSpPr>
        <p:spPr>
          <a:xfrm>
            <a:off x="6291072" y="1783080"/>
            <a:ext cx="14356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20"/>
              </a:lnSpc>
              <a:spcBef>
                <a:spcPts val="0"/>
              </a:spcBef>
              <a:buNone/>
            </a:pPr>
            <a:r>
              <a:rPr lang="en-US" sz="76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INV-2026-204</a:t>
            </a:r>
            <a:endParaRPr lang="en-US" sz="760" dirty="0">
              <a:latin typeface="Inter SemiBold"/>
            </a:endParaRPr>
          </a:p>
        </p:txBody>
      </p:sp>
      <p:grpSp>
        <p:nvGrpSpPr>
          <p:cNvPr id="190" name="Badge"/>
          <p:cNvGrpSpPr/>
          <p:nvPr/>
        </p:nvGrpSpPr>
        <p:grpSpPr>
          <a:xfrm>
            <a:off x="8016864" y="1810512"/>
            <a:ext cx="761376" cy="155448"/>
            <a:chOff x="8016864" y="1810512"/>
            <a:chExt cx="761376" cy="155448"/>
          </a:xfrm>
        </p:grpSpPr>
        <p:sp>
          <p:nvSpPr>
            <p:cNvPr id="191" name="Badge"/>
            <p:cNvSpPr/>
            <p:nvPr/>
          </p:nvSpPr>
          <p:spPr>
            <a:xfrm>
              <a:off x="8016864" y="1810512"/>
              <a:ext cx="761376" cy="155448"/>
            </a:xfrm>
            <a:prstGeom prst="roundRect">
              <a:avLst>
                <a:gd name="adj" fmla="val 25000"/>
              </a:avLst>
            </a:prstGeom>
            <a:solidFill>
              <a:srgbClr val="00A25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92" name="Icon check"/>
            <p:cNvSpPr/>
            <p:nvPr/>
          </p:nvSpPr>
          <p:spPr>
            <a:xfrm>
              <a:off x="8062584" y="1841602"/>
              <a:ext cx="93269" cy="9326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6000"/>
                  </a:moveTo>
                  <a:lnTo>
                    <a:pt x="9000" y="17000"/>
                  </a:lnTo>
                  <a:lnTo>
                    <a:pt x="4000" y="12000"/>
                  </a:lnTo>
                </a:path>
              </a:pathLst>
            </a:custGeom>
            <a:noFill/>
            <a:ln w="8550" cap="rnd">
              <a:solidFill>
                <a:srgbClr val="FFFFFF"/>
              </a:solidFill>
              <a:round/>
            </a:ln>
          </p:spPr>
        </p:sp>
        <p:sp>
          <p:nvSpPr>
            <p:cNvPr id="193" name="Badge label"/>
            <p:cNvSpPr txBox="1"/>
            <p:nvPr/>
          </p:nvSpPr>
          <p:spPr>
            <a:xfrm>
              <a:off x="8183285" y="1810512"/>
              <a:ext cx="567523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Posted to Fusion</a:t>
              </a:r>
              <a:endParaRPr lang="en-US" sz="540" dirty="0">
                <a:latin typeface="Inter SemiBold"/>
              </a:endParaRPr>
            </a:p>
          </p:txBody>
        </p:sp>
      </p:grpSp>
      <p:sp>
        <p:nvSpPr>
          <p:cNvPr id="194" name="Card"/>
          <p:cNvSpPr/>
          <p:nvPr/>
        </p:nvSpPr>
        <p:spPr>
          <a:xfrm>
            <a:off x="6291072" y="2020824"/>
            <a:ext cx="2487168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95" name="UI text"/>
          <p:cNvSpPr txBox="1"/>
          <p:nvPr/>
        </p:nvSpPr>
        <p:spPr>
          <a:xfrm>
            <a:off x="6400800" y="2075688"/>
            <a:ext cx="1088136" cy="100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00"/>
              </a:lnSpc>
              <a:spcBef>
                <a:spcPts val="0"/>
              </a:spcBef>
              <a:buNone/>
            </a:pPr>
            <a:r>
              <a:rPr lang="en-US" sz="48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Vendor</a:t>
            </a:r>
            <a:endParaRPr lang="en-US" sz="480" dirty="0">
              <a:latin typeface="Inter"/>
            </a:endParaRPr>
          </a:p>
        </p:txBody>
      </p:sp>
      <p:sp>
        <p:nvSpPr>
          <p:cNvPr id="196" name="UI text"/>
          <p:cNvSpPr txBox="1"/>
          <p:nvPr/>
        </p:nvSpPr>
        <p:spPr>
          <a:xfrm>
            <a:off x="6400800" y="2185416"/>
            <a:ext cx="108813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buNone/>
            </a:pPr>
            <a:r>
              <a:rPr lang="en-US" sz="6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FuelCo Logistics</a:t>
            </a:r>
            <a:endParaRPr lang="en-US" sz="600" dirty="0">
              <a:latin typeface="Inter SemiBold"/>
            </a:endParaRPr>
          </a:p>
        </p:txBody>
      </p:sp>
      <p:sp>
        <p:nvSpPr>
          <p:cNvPr id="197" name="UI text"/>
          <p:cNvSpPr txBox="1"/>
          <p:nvPr/>
        </p:nvSpPr>
        <p:spPr>
          <a:xfrm>
            <a:off x="7580376" y="2075688"/>
            <a:ext cx="1088136" cy="100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00"/>
              </a:lnSpc>
              <a:spcBef>
                <a:spcPts val="0"/>
              </a:spcBef>
              <a:buNone/>
            </a:pPr>
            <a:r>
              <a:rPr lang="en-US" sz="48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Billing period</a:t>
            </a:r>
            <a:endParaRPr lang="en-US" sz="480" dirty="0">
              <a:latin typeface="Inter"/>
            </a:endParaRPr>
          </a:p>
        </p:txBody>
      </p:sp>
      <p:sp>
        <p:nvSpPr>
          <p:cNvPr id="198" name="UI text"/>
          <p:cNvSpPr txBox="1"/>
          <p:nvPr/>
        </p:nvSpPr>
        <p:spPr>
          <a:xfrm>
            <a:off x="7580376" y="2185416"/>
            <a:ext cx="108813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buNone/>
            </a:pPr>
            <a:r>
              <a:rPr lang="en-US" sz="6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 2026</a:t>
            </a:r>
            <a:endParaRPr lang="en-US" sz="600" dirty="0">
              <a:latin typeface="Inter SemiBold"/>
            </a:endParaRPr>
          </a:p>
        </p:txBody>
      </p:sp>
      <p:sp>
        <p:nvSpPr>
          <p:cNvPr id="199" name="UI text"/>
          <p:cNvSpPr txBox="1"/>
          <p:nvPr/>
        </p:nvSpPr>
        <p:spPr>
          <a:xfrm>
            <a:off x="6400800" y="2331720"/>
            <a:ext cx="1088136" cy="100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00"/>
              </a:lnSpc>
              <a:spcBef>
                <a:spcPts val="0"/>
              </a:spcBef>
              <a:buNone/>
            </a:pPr>
            <a:r>
              <a:rPr lang="en-US" sz="48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Total refill charges</a:t>
            </a:r>
            <a:endParaRPr lang="en-US" sz="480" dirty="0">
              <a:latin typeface="Inter"/>
            </a:endParaRPr>
          </a:p>
        </p:txBody>
      </p:sp>
      <p:sp>
        <p:nvSpPr>
          <p:cNvPr id="200" name="UI text"/>
          <p:cNvSpPr txBox="1"/>
          <p:nvPr/>
        </p:nvSpPr>
        <p:spPr>
          <a:xfrm>
            <a:off x="6400800" y="2441448"/>
            <a:ext cx="108813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buNone/>
            </a:pPr>
            <a:r>
              <a:rPr lang="en-US" sz="6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₹ 4,800</a:t>
            </a:r>
            <a:endParaRPr lang="en-US" sz="600" dirty="0">
              <a:latin typeface="Inter SemiBold"/>
            </a:endParaRPr>
          </a:p>
        </p:txBody>
      </p:sp>
      <p:sp>
        <p:nvSpPr>
          <p:cNvPr id="201" name="UI text"/>
          <p:cNvSpPr txBox="1"/>
          <p:nvPr/>
        </p:nvSpPr>
        <p:spPr>
          <a:xfrm>
            <a:off x="7580376" y="2331720"/>
            <a:ext cx="1088136" cy="100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00"/>
              </a:lnSpc>
              <a:spcBef>
                <a:spcPts val="0"/>
              </a:spcBef>
              <a:buNone/>
            </a:pPr>
            <a:r>
              <a:rPr lang="en-US" sz="48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Total fuel charges</a:t>
            </a:r>
            <a:endParaRPr lang="en-US" sz="480" dirty="0">
              <a:latin typeface="Inter"/>
            </a:endParaRPr>
          </a:p>
        </p:txBody>
      </p:sp>
      <p:sp>
        <p:nvSpPr>
          <p:cNvPr id="202" name="UI text"/>
          <p:cNvSpPr txBox="1"/>
          <p:nvPr/>
        </p:nvSpPr>
        <p:spPr>
          <a:xfrm>
            <a:off x="7580376" y="2441448"/>
            <a:ext cx="108813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buNone/>
            </a:pPr>
            <a:r>
              <a:rPr lang="en-US" sz="6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₹ 1,40,890</a:t>
            </a:r>
            <a:endParaRPr lang="en-US" sz="600" dirty="0">
              <a:latin typeface="Inter SemiBold"/>
            </a:endParaRPr>
          </a:p>
        </p:txBody>
      </p:sp>
      <p:sp>
        <p:nvSpPr>
          <p:cNvPr id="203" name="UI text"/>
          <p:cNvSpPr txBox="1"/>
          <p:nvPr/>
        </p:nvSpPr>
        <p:spPr>
          <a:xfrm>
            <a:off x="6400800" y="2587752"/>
            <a:ext cx="1088136" cy="100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00"/>
              </a:lnSpc>
              <a:spcBef>
                <a:spcPts val="0"/>
              </a:spcBef>
              <a:buNone/>
            </a:pPr>
            <a:r>
              <a:rPr lang="en-US" sz="48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Invoice amount</a:t>
            </a:r>
            <a:endParaRPr lang="en-US" sz="480" dirty="0">
              <a:latin typeface="Inter"/>
            </a:endParaRPr>
          </a:p>
        </p:txBody>
      </p:sp>
      <p:sp>
        <p:nvSpPr>
          <p:cNvPr id="204" name="UI text"/>
          <p:cNvSpPr txBox="1"/>
          <p:nvPr/>
        </p:nvSpPr>
        <p:spPr>
          <a:xfrm>
            <a:off x="6400800" y="2697480"/>
            <a:ext cx="108813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buNone/>
            </a:pPr>
            <a:r>
              <a:rPr lang="en-US" sz="6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₹ 1,45,690</a:t>
            </a:r>
            <a:endParaRPr lang="en-US" sz="600" dirty="0">
              <a:latin typeface="Inter SemiBold"/>
            </a:endParaRPr>
          </a:p>
        </p:txBody>
      </p:sp>
      <p:sp>
        <p:nvSpPr>
          <p:cNvPr id="205" name="UI text"/>
          <p:cNvSpPr txBox="1"/>
          <p:nvPr/>
        </p:nvSpPr>
        <p:spPr>
          <a:xfrm>
            <a:off x="7580376" y="2587752"/>
            <a:ext cx="1088136" cy="100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00"/>
              </a:lnSpc>
              <a:spcBef>
                <a:spcPts val="0"/>
              </a:spcBef>
              <a:buNone/>
            </a:pPr>
            <a:r>
              <a:rPr lang="en-US" sz="48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Submitted</a:t>
            </a:r>
            <a:endParaRPr lang="en-US" sz="480" dirty="0">
              <a:latin typeface="Inter"/>
            </a:endParaRPr>
          </a:p>
        </p:txBody>
      </p:sp>
      <p:sp>
        <p:nvSpPr>
          <p:cNvPr id="206" name="UI text"/>
          <p:cNvSpPr txBox="1"/>
          <p:nvPr/>
        </p:nvSpPr>
        <p:spPr>
          <a:xfrm>
            <a:off x="7580376" y="2697480"/>
            <a:ext cx="108813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640"/>
              </a:lnSpc>
              <a:spcBef>
                <a:spcPts val="0"/>
              </a:spcBef>
              <a:buNone/>
            </a:pPr>
            <a:r>
              <a:rPr lang="en-US" sz="6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 Oct 2026 · 11:20</a:t>
            </a:r>
            <a:endParaRPr lang="en-US" sz="600" dirty="0">
              <a:latin typeface="Inter SemiBold"/>
            </a:endParaRPr>
          </a:p>
        </p:txBody>
      </p:sp>
      <p:sp>
        <p:nvSpPr>
          <p:cNvPr id="207" name="Lock strip"/>
          <p:cNvSpPr/>
          <p:nvPr/>
        </p:nvSpPr>
        <p:spPr>
          <a:xfrm>
            <a:off x="6291072" y="2916936"/>
            <a:ext cx="2487168" cy="256032"/>
          </a:xfrm>
          <a:prstGeom prst="roundRect">
            <a:avLst>
              <a:gd name="adj" fmla="val 14286"/>
            </a:avLst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08" name="Icon lock"/>
          <p:cNvSpPr/>
          <p:nvPr/>
        </p:nvSpPr>
        <p:spPr>
          <a:xfrm>
            <a:off x="6382512" y="2990088"/>
            <a:ext cx="118872" cy="1188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</a:path>
              <a:path w="24000" h="24000" fill="none"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10897" cap="rnd">
            <a:solidFill>
              <a:srgbClr val="40566D"/>
            </a:solidFill>
            <a:round/>
          </a:ln>
        </p:spPr>
      </p:sp>
      <p:sp>
        <p:nvSpPr>
          <p:cNvPr id="209" name="UI text"/>
          <p:cNvSpPr txBox="1"/>
          <p:nvPr/>
        </p:nvSpPr>
        <p:spPr>
          <a:xfrm>
            <a:off x="6565392" y="2916936"/>
            <a:ext cx="21214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buNone/>
            </a:pPr>
            <a:r>
              <a:rPr lang="en-US" sz="54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work orders locked</a:t>
            </a:r>
            <a:r>
              <a:rPr lang="en-US" sz="54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·  cannot be billed again</a:t>
            </a:r>
            <a:endParaRPr lang="en-US" sz="540" dirty="0">
              <a:latin typeface="Inter SemiBold"/>
            </a:endParaRPr>
          </a:p>
        </p:txBody>
      </p:sp>
      <p:sp>
        <p:nvSpPr>
          <p:cNvPr id="210" name="Fusion strip"/>
          <p:cNvSpPr/>
          <p:nvPr/>
        </p:nvSpPr>
        <p:spPr>
          <a:xfrm>
            <a:off x="6291072" y="3236976"/>
            <a:ext cx="2487168" cy="256032"/>
          </a:xfrm>
          <a:prstGeom prst="roundRect">
            <a:avLst>
              <a:gd name="adj" fmla="val 14286"/>
            </a:avLst>
          </a:prstGeom>
          <a:solidFill>
            <a:srgbClr val="EBFAF3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11" name="Icon plug-zap"/>
          <p:cNvSpPr/>
          <p:nvPr/>
        </p:nvSpPr>
        <p:spPr>
          <a:xfrm>
            <a:off x="6382512" y="3310128"/>
            <a:ext cx="118872" cy="1188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300" y="20300"/>
                </a:moveTo>
                <a:cubicBezTo>
                  <a:pt x="6750" y="20752"/>
                  <a:pt x="7362" y="21006"/>
                  <a:pt x="8000" y="21006"/>
                </a:cubicBezTo>
                <a:cubicBezTo>
                  <a:pt x="8638" y="21006"/>
                  <a:pt x="9250" y="20752"/>
                  <a:pt x="9700" y="20300"/>
                </a:cubicBezTo>
                <a:lnTo>
                  <a:pt x="12000" y="18000"/>
                </a:lnTo>
                <a:lnTo>
                  <a:pt x="6000" y="12000"/>
                </a:lnTo>
                <a:lnTo>
                  <a:pt x="3700" y="14300"/>
                </a:lnTo>
                <a:cubicBezTo>
                  <a:pt x="3248" y="14750"/>
                  <a:pt x="2994" y="15362"/>
                  <a:pt x="2994" y="16000"/>
                </a:cubicBezTo>
                <a:cubicBezTo>
                  <a:pt x="2994" y="16638"/>
                  <a:pt x="3248" y="17250"/>
                  <a:pt x="3700" y="17700"/>
                </a:cubicBezTo>
                <a:close/>
              </a:path>
              <a:path w="24000" h="24000" fill="none">
                <a:moveTo>
                  <a:pt x="2000" y="22000"/>
                </a:moveTo>
                <a:lnTo>
                  <a:pt x="5000" y="19000"/>
                </a:lnTo>
              </a:path>
              <a:path w="24000" h="24000" fill="none">
                <a:moveTo>
                  <a:pt x="7500" y="13500"/>
                </a:moveTo>
                <a:lnTo>
                  <a:pt x="10000" y="11000"/>
                </a:lnTo>
              </a:path>
              <a:path w="24000" h="24000" fill="none">
                <a:moveTo>
                  <a:pt x="10500" y="16500"/>
                </a:moveTo>
                <a:lnTo>
                  <a:pt x="13000" y="14000"/>
                </a:lnTo>
              </a:path>
              <a:path w="24000" h="24000" fill="none">
                <a:moveTo>
                  <a:pt x="18000" y="3000"/>
                </a:moveTo>
                <a:lnTo>
                  <a:pt x="14000" y="7000"/>
                </a:lnTo>
                <a:lnTo>
                  <a:pt x="20000" y="7000"/>
                </a:lnTo>
                <a:lnTo>
                  <a:pt x="16000" y="11000"/>
                </a:lnTo>
              </a:path>
            </a:pathLst>
          </a:custGeom>
          <a:noFill/>
          <a:ln w="10897" cap="rnd">
            <a:solidFill>
              <a:srgbClr val="008743"/>
            </a:solidFill>
            <a:round/>
          </a:ln>
        </p:spPr>
      </p:sp>
      <p:sp>
        <p:nvSpPr>
          <p:cNvPr id="212" name="UI text"/>
          <p:cNvSpPr txBox="1"/>
          <p:nvPr/>
        </p:nvSpPr>
        <p:spPr>
          <a:xfrm>
            <a:off x="6565392" y="3236976"/>
            <a:ext cx="21214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buNone/>
            </a:pPr>
            <a:r>
              <a:rPr lang="en-US" sz="540" b="0" i="0" spc="0" dirty="0">
                <a:solidFill>
                  <a:srgbClr val="00874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Oracle Fusion</a:t>
            </a:r>
            <a:r>
              <a:rPr lang="en-US" sz="540" b="0" i="0" spc="0" dirty="0">
                <a:solidFill>
                  <a:srgbClr val="008743"/>
                </a:solidFill>
                <a:latin typeface="Inter"/>
                <a:ea typeface="Inter"/>
                <a:cs typeface="Inter"/>
                <a:sym typeface="Inter"/>
              </a:rPr>
              <a:t>  ·  API response logged on the audit trail</a:t>
            </a:r>
            <a:endParaRPr lang="en-US" sz="540" dirty="0">
              <a:latin typeface="Inter SemiBold"/>
            </a:endParaRPr>
          </a:p>
        </p:txBody>
      </p:sp>
      <p:sp>
        <p:nvSpPr>
          <p:cNvPr id="213" name="Caption"/>
          <p:cNvSpPr txBox="1"/>
          <p:nvPr/>
        </p:nvSpPr>
        <p:spPr>
          <a:xfrm>
            <a:off x="274320" y="3858768"/>
            <a:ext cx="2670048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buNone/>
            </a:pPr>
            <a:r>
              <a:rPr lang="en-US" sz="7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Vendor picks period and basis. </a:t>
            </a:r>
            <a:r>
              <a:rPr lang="en-US" sz="70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The platform lists unbilled, completed work orders with their billing basis.</a:t>
            </a:r>
            <a:endParaRPr lang="en-US" sz="700" dirty="0">
              <a:latin typeface="Inter SemiBold"/>
            </a:endParaRPr>
          </a:p>
        </p:txBody>
      </p:sp>
      <p:sp>
        <p:nvSpPr>
          <p:cNvPr id="214" name="Caption"/>
          <p:cNvSpPr txBox="1"/>
          <p:nvPr/>
        </p:nvSpPr>
        <p:spPr>
          <a:xfrm>
            <a:off x="3236976" y="3858768"/>
            <a:ext cx="2670048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buNone/>
            </a:pPr>
            <a:r>
              <a:rPr lang="en-US" sz="7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One invoice, itemised. </a:t>
            </a:r>
            <a:r>
              <a:rPr lang="en-US" sz="70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Refilling charge per event plus the fuel or running-hours charge, from the vendor's rate card.</a:t>
            </a:r>
            <a:endParaRPr lang="en-US" sz="700" dirty="0">
              <a:latin typeface="Inter SemiBold"/>
            </a:endParaRPr>
          </a:p>
        </p:txBody>
      </p:sp>
      <p:sp>
        <p:nvSpPr>
          <p:cNvPr id="215" name="Caption"/>
          <p:cNvSpPr txBox="1"/>
          <p:nvPr/>
        </p:nvSpPr>
        <p:spPr>
          <a:xfrm>
            <a:off x="6199632" y="3858768"/>
            <a:ext cx="2670048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buNone/>
            </a:pPr>
            <a:r>
              <a:rPr lang="en-US" sz="7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Locked and posted. </a:t>
            </a:r>
            <a:r>
              <a:rPr lang="en-US" sz="70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Work orders can never be billed twice; the payload goes to Oracle Fusion via API.</a:t>
            </a:r>
            <a:endParaRPr lang="en-US" sz="700" dirty="0">
              <a:latin typeface="Inter SemiBold"/>
            </a:endParaRPr>
          </a:p>
        </p:txBody>
      </p:sp>
      <p:sp>
        <p:nvSpPr>
          <p:cNvPr id="216" name="Invoice type"/>
          <p:cNvSpPr/>
          <p:nvPr/>
        </p:nvSpPr>
        <p:spPr>
          <a:xfrm>
            <a:off x="274320" y="4169664"/>
            <a:ext cx="4233672" cy="585216"/>
          </a:xfrm>
          <a:prstGeom prst="roundRect">
            <a:avLst>
              <a:gd name="adj" fmla="val 12500"/>
            </a:avLst>
          </a:prstGeom>
          <a:solidFill>
            <a:srgbClr val="F4F8FF"/>
          </a:solidFill>
          <a:ln w="9525">
            <a:solidFill>
              <a:srgbClr val="B8D0FD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17" name="Icon tile"/>
          <p:cNvSpPr/>
          <p:nvPr/>
        </p:nvSpPr>
        <p:spPr>
          <a:xfrm>
            <a:off x="384048" y="4288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18" name="Icon fuel"/>
          <p:cNvSpPr/>
          <p:nvPr/>
        </p:nvSpPr>
        <p:spPr>
          <a:xfrm>
            <a:off x="448056" y="4352544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22000"/>
                </a:moveTo>
                <a:lnTo>
                  <a:pt x="15000" y="22000"/>
                </a:lnTo>
              </a:path>
              <a:path w="24000" h="24000" fill="none">
                <a:moveTo>
                  <a:pt x="4000" y="9000"/>
                </a:moveTo>
                <a:lnTo>
                  <a:pt x="14000" y="9000"/>
                </a:lnTo>
              </a:path>
              <a:path w="24000" h="24000" fill="none">
                <a:moveTo>
                  <a:pt x="14000" y="22000"/>
                </a:moveTo>
                <a:lnTo>
                  <a:pt x="14000" y="4000"/>
                </a:lnTo>
                <a:cubicBezTo>
                  <a:pt x="14000" y="2895"/>
                  <a:pt x="13105" y="2000"/>
                  <a:pt x="12000" y="2000"/>
                </a:cubicBezTo>
                <a:lnTo>
                  <a:pt x="6000" y="2000"/>
                </a:lnTo>
                <a:cubicBezTo>
                  <a:pt x="4895" y="2000"/>
                  <a:pt x="4000" y="2895"/>
                  <a:pt x="4000" y="4000"/>
                </a:cubicBezTo>
                <a:lnTo>
                  <a:pt x="4000" y="22000"/>
                </a:lnTo>
              </a:path>
              <a:path w="24000" h="24000" fill="none">
                <a:moveTo>
                  <a:pt x="14000" y="13000"/>
                </a:moveTo>
                <a:lnTo>
                  <a:pt x="16000" y="13000"/>
                </a:lnTo>
                <a:cubicBezTo>
                  <a:pt x="17105" y="13000"/>
                  <a:pt x="18000" y="13895"/>
                  <a:pt x="18000" y="15000"/>
                </a:cubicBezTo>
                <a:lnTo>
                  <a:pt x="18000" y="17000"/>
                </a:lnTo>
                <a:cubicBezTo>
                  <a:pt x="18000" y="18105"/>
                  <a:pt x="18895" y="19000"/>
                  <a:pt x="20000" y="19000"/>
                </a:cubicBezTo>
                <a:cubicBezTo>
                  <a:pt x="21105" y="19000"/>
                  <a:pt x="22000" y="18105"/>
                  <a:pt x="22000" y="17000"/>
                </a:cubicBezTo>
                <a:lnTo>
                  <a:pt x="22000" y="9830"/>
                </a:lnTo>
                <a:cubicBezTo>
                  <a:pt x="22000" y="9297"/>
                  <a:pt x="21788" y="8786"/>
                  <a:pt x="21410" y="8410"/>
                </a:cubicBezTo>
                <a:lnTo>
                  <a:pt x="18000" y="5000"/>
                </a:lnTo>
              </a:path>
            </a:pathLst>
          </a:custGeom>
          <a:noFill/>
          <a:ln w="13411" cap="rnd">
            <a:solidFill>
              <a:srgbClr val="165FF2"/>
            </a:solidFill>
            <a:round/>
          </a:ln>
        </p:spPr>
      </p:sp>
      <p:sp>
        <p:nvSpPr>
          <p:cNvPr id="219" name="Type title"/>
          <p:cNvSpPr txBox="1"/>
          <p:nvPr/>
        </p:nvSpPr>
        <p:spPr>
          <a:xfrm>
            <a:off x="749808" y="4270248"/>
            <a:ext cx="364845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76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Refilling invoice</a:t>
            </a:r>
            <a:endParaRPr lang="en-US" sz="760" dirty="0">
              <a:latin typeface="Inter SemiBold"/>
            </a:endParaRPr>
          </a:p>
          <a:p>
            <a:pPr algn="l">
              <a:lnSpc>
                <a:spcPts val="760"/>
              </a:lnSpc>
              <a:spcBef>
                <a:spcPts val="150"/>
              </a:spcBef>
              <a:buNone/>
            </a:pPr>
            <a:r>
              <a:rPr lang="en-US" sz="64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Refill charge per refuelling event + fuel or running-hours charge</a:t>
            </a:r>
            <a:endParaRPr lang="en-US" sz="640" dirty="0">
              <a:latin typeface="Inter"/>
            </a:endParaRPr>
          </a:p>
        </p:txBody>
      </p:sp>
      <p:grpSp>
        <p:nvGrpSpPr>
          <p:cNvPr id="220" name="Chip Per Litre Fuel Rate"/>
          <p:cNvGrpSpPr/>
          <p:nvPr/>
        </p:nvGrpSpPr>
        <p:grpSpPr>
          <a:xfrm>
            <a:off x="749808" y="4535424"/>
            <a:ext cx="750899" cy="146304"/>
            <a:chOff x="749808" y="4535424"/>
            <a:chExt cx="750899" cy="146304"/>
          </a:xfrm>
        </p:grpSpPr>
        <p:sp>
          <p:nvSpPr>
            <p:cNvPr id="221" name="Chip fill"/>
            <p:cNvSpPr/>
            <p:nvPr/>
          </p:nvSpPr>
          <p:spPr>
            <a:xfrm>
              <a:off x="749808" y="4535424"/>
              <a:ext cx="750899" cy="146304"/>
            </a:xfrm>
            <a:prstGeom prst="roundRect">
              <a:avLst>
                <a:gd name="adj" fmla="val 20000"/>
              </a:avLst>
            </a:prstGeom>
            <a:solidFill>
              <a:srgbClr val="165FF2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22" name="Chip label"/>
            <p:cNvSpPr txBox="1"/>
            <p:nvPr/>
          </p:nvSpPr>
          <p:spPr>
            <a:xfrm>
              <a:off x="804672" y="4535424"/>
              <a:ext cx="66860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0E3FA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 Litre Fuel Rate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223" name="Chip Running Hours Rate"/>
          <p:cNvGrpSpPr/>
          <p:nvPr/>
        </p:nvGrpSpPr>
        <p:grpSpPr>
          <a:xfrm>
            <a:off x="1546427" y="4535424"/>
            <a:ext cx="814003" cy="146304"/>
            <a:chOff x="1546427" y="4535424"/>
            <a:chExt cx="814003" cy="146304"/>
          </a:xfrm>
        </p:grpSpPr>
        <p:sp>
          <p:nvSpPr>
            <p:cNvPr id="224" name="Chip fill"/>
            <p:cNvSpPr/>
            <p:nvPr/>
          </p:nvSpPr>
          <p:spPr>
            <a:xfrm>
              <a:off x="1546427" y="4535424"/>
              <a:ext cx="814003" cy="146304"/>
            </a:xfrm>
            <a:prstGeom prst="roundRect">
              <a:avLst>
                <a:gd name="adj" fmla="val 20000"/>
              </a:avLst>
            </a:prstGeom>
            <a:solidFill>
              <a:srgbClr val="165FF2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25" name="Chip label"/>
            <p:cNvSpPr txBox="1"/>
            <p:nvPr/>
          </p:nvSpPr>
          <p:spPr>
            <a:xfrm>
              <a:off x="1601291" y="4535424"/>
              <a:ext cx="73170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0E3FA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Running Hours Rate</a:t>
              </a:r>
              <a:endParaRPr lang="en-US" sz="580" dirty="0">
                <a:latin typeface="Inter SemiBold"/>
              </a:endParaRPr>
            </a:p>
          </p:txBody>
        </p:sp>
      </p:grpSp>
      <p:sp>
        <p:nvSpPr>
          <p:cNvPr id="226" name="Invoice type"/>
          <p:cNvSpPr/>
          <p:nvPr/>
        </p:nvSpPr>
        <p:spPr>
          <a:xfrm>
            <a:off x="4636008" y="4169664"/>
            <a:ext cx="4233672" cy="585216"/>
          </a:xfrm>
          <a:prstGeom prst="roundRect">
            <a:avLst>
              <a:gd name="adj" fmla="val 12500"/>
            </a:avLst>
          </a:prstGeom>
          <a:solidFill>
            <a:srgbClr val="FFF7F0"/>
          </a:solidFill>
          <a:ln w="9525">
            <a:solidFill>
              <a:srgbClr val="E9690C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27" name="Icon tile"/>
          <p:cNvSpPr/>
          <p:nvPr/>
        </p:nvSpPr>
        <p:spPr>
          <a:xfrm>
            <a:off x="4745736" y="42885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28" name="Icon wrench"/>
          <p:cNvSpPr/>
          <p:nvPr/>
        </p:nvSpPr>
        <p:spPr>
          <a:xfrm>
            <a:off x="4809744" y="4352544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700" y="6300"/>
                </a:moveTo>
                <a:cubicBezTo>
                  <a:pt x="14319" y="6689"/>
                  <a:pt x="14319" y="7311"/>
                  <a:pt x="14700" y="7700"/>
                </a:cubicBezTo>
                <a:lnTo>
                  <a:pt x="16300" y="9300"/>
                </a:lnTo>
                <a:cubicBezTo>
                  <a:pt x="16689" y="9681"/>
                  <a:pt x="17311" y="9681"/>
                  <a:pt x="17700" y="9300"/>
                </a:cubicBezTo>
                <a:lnTo>
                  <a:pt x="21470" y="5530"/>
                </a:lnTo>
                <a:cubicBezTo>
                  <a:pt x="22500" y="7805"/>
                  <a:pt x="22012" y="10480"/>
                  <a:pt x="20246" y="12246"/>
                </a:cubicBezTo>
                <a:cubicBezTo>
                  <a:pt x="18480" y="14012"/>
                  <a:pt x="15805" y="14500"/>
                  <a:pt x="13530" y="13470"/>
                </a:cubicBezTo>
                <a:lnTo>
                  <a:pt x="6620" y="20380"/>
                </a:lnTo>
                <a:cubicBezTo>
                  <a:pt x="5792" y="21208"/>
                  <a:pt x="4448" y="21208"/>
                  <a:pt x="3620" y="20380"/>
                </a:cubicBezTo>
                <a:cubicBezTo>
                  <a:pt x="2792" y="19552"/>
                  <a:pt x="2792" y="18208"/>
                  <a:pt x="3620" y="17380"/>
                </a:cubicBezTo>
                <a:lnTo>
                  <a:pt x="10530" y="10470"/>
                </a:lnTo>
                <a:cubicBezTo>
                  <a:pt x="9500" y="8195"/>
                  <a:pt x="9988" y="5520"/>
                  <a:pt x="11754" y="3754"/>
                </a:cubicBezTo>
                <a:cubicBezTo>
                  <a:pt x="13520" y="1988"/>
                  <a:pt x="16195" y="1500"/>
                  <a:pt x="18470" y="2530"/>
                </a:cubicBezTo>
                <a:lnTo>
                  <a:pt x="14710" y="6290"/>
                </a:lnTo>
                <a:close/>
              </a:path>
            </a:pathLst>
          </a:custGeom>
          <a:noFill/>
          <a:ln w="13411" cap="rnd">
            <a:solidFill>
              <a:srgbClr val="C65C10"/>
            </a:solidFill>
            <a:round/>
          </a:ln>
        </p:spPr>
      </p:sp>
      <p:sp>
        <p:nvSpPr>
          <p:cNvPr id="229" name="Type title"/>
          <p:cNvSpPr txBox="1"/>
          <p:nvPr/>
        </p:nvSpPr>
        <p:spPr>
          <a:xfrm>
            <a:off x="5111496" y="4270248"/>
            <a:ext cx="364845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76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AMC invoice</a:t>
            </a:r>
            <a:endParaRPr lang="en-US" sz="760" dirty="0">
              <a:latin typeface="Inter SemiBold"/>
            </a:endParaRPr>
          </a:p>
          <a:p>
            <a:pPr algn="l">
              <a:lnSpc>
                <a:spcPts val="760"/>
              </a:lnSpc>
              <a:spcBef>
                <a:spcPts val="150"/>
              </a:spcBef>
              <a:buNone/>
            </a:pPr>
            <a:r>
              <a:rPr lang="en-US" sz="64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Maintenance work orders in the period, at the fixed contract rate per DG</a:t>
            </a:r>
            <a:endParaRPr lang="en-US" sz="640" dirty="0">
              <a:latin typeface="Inter"/>
            </a:endParaRPr>
          </a:p>
        </p:txBody>
      </p:sp>
      <p:grpSp>
        <p:nvGrpSpPr>
          <p:cNvPr id="230" name="Chip Fixed Rate AMC"/>
          <p:cNvGrpSpPr/>
          <p:nvPr/>
        </p:nvGrpSpPr>
        <p:grpSpPr>
          <a:xfrm>
            <a:off x="5111496" y="4535424"/>
            <a:ext cx="673965" cy="146304"/>
            <a:chOff x="5111496" y="4535424"/>
            <a:chExt cx="673965" cy="146304"/>
          </a:xfrm>
        </p:grpSpPr>
        <p:sp>
          <p:nvSpPr>
            <p:cNvPr id="231" name="Chip fill"/>
            <p:cNvSpPr/>
            <p:nvPr/>
          </p:nvSpPr>
          <p:spPr>
            <a:xfrm>
              <a:off x="5111496" y="4535424"/>
              <a:ext cx="673965" cy="146304"/>
            </a:xfrm>
            <a:prstGeom prst="roundRect">
              <a:avLst>
                <a:gd name="adj" fmla="val 20000"/>
              </a:avLst>
            </a:prstGeom>
            <a:solidFill>
              <a:srgbClr val="E9690C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32" name="Chip label"/>
            <p:cNvSpPr txBox="1"/>
            <p:nvPr/>
          </p:nvSpPr>
          <p:spPr>
            <a:xfrm>
              <a:off x="5166360" y="4535424"/>
              <a:ext cx="59166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C65C1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Fixed Rate AMC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233" name="Chip Proposed · to confirm"/>
          <p:cNvGrpSpPr/>
          <p:nvPr/>
        </p:nvGrpSpPr>
        <p:grpSpPr>
          <a:xfrm>
            <a:off x="7760015" y="4535424"/>
            <a:ext cx="999937" cy="146304"/>
            <a:chOff x="7760015" y="4535424"/>
            <a:chExt cx="999937" cy="146304"/>
          </a:xfrm>
        </p:grpSpPr>
        <p:sp>
          <p:nvSpPr>
            <p:cNvPr id="234" name="Chip fill"/>
            <p:cNvSpPr/>
            <p:nvPr/>
          </p:nvSpPr>
          <p:spPr>
            <a:xfrm>
              <a:off x="7760015" y="4535424"/>
              <a:ext cx="999937" cy="146304"/>
            </a:xfrm>
            <a:prstGeom prst="roundRect">
              <a:avLst>
                <a:gd name="adj" fmla="val 20000"/>
              </a:avLst>
            </a:prstGeom>
            <a:solidFill>
              <a:srgbClr val="E9690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35" name="Icon circle-help"/>
            <p:cNvSpPr/>
            <p:nvPr/>
          </p:nvSpPr>
          <p:spPr>
            <a:xfrm>
              <a:off x="7819451" y="4563222"/>
              <a:ext cx="90708" cy="9070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8315" cap="rnd">
              <a:solidFill>
                <a:srgbClr val="FFFFFF"/>
              </a:solidFill>
              <a:round/>
            </a:ln>
          </p:spPr>
        </p:sp>
        <p:sp>
          <p:nvSpPr>
            <p:cNvPr id="236" name="Chip label"/>
            <p:cNvSpPr txBox="1"/>
            <p:nvPr/>
          </p:nvSpPr>
          <p:spPr>
            <a:xfrm>
              <a:off x="7937591" y="4535424"/>
              <a:ext cx="79492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Proposed · to confirm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237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238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DG Online Monitoring Proposal  ·  Flipkart Minutes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239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F4C9FFEB-0435-47F6-ADAB-A6CE9F55E9B1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9456"/>
            <a:ext cx="8650224" cy="722376"/>
            <a:chOff x="274320" y="219456"/>
            <a:chExt cx="8650224" cy="722376"/>
          </a:xfrm>
        </p:grpSpPr>
        <p:grpSp>
          <p:nvGrpSpPr>
            <p:cNvPr id="4" name="Badge 02"/>
            <p:cNvGrpSpPr/>
            <p:nvPr/>
          </p:nvGrpSpPr>
          <p:grpSpPr>
            <a:xfrm>
              <a:off x="274320" y="228600"/>
              <a:ext cx="192024" cy="192024"/>
              <a:chOff x="274320" y="228600"/>
              <a:chExt cx="192024" cy="192024"/>
            </a:xfrm>
          </p:grpSpPr>
          <p:sp>
            <p:nvSpPr>
              <p:cNvPr id="5" name="Badge"/>
              <p:cNvSpPr/>
              <p:nvPr/>
            </p:nvSpPr>
            <p:spPr>
              <a:xfrm>
                <a:off x="274320" y="228600"/>
                <a:ext cx="192024" cy="192024"/>
              </a:xfrm>
              <a:prstGeom prst="roundRect">
                <a:avLst>
                  <a:gd name="adj" fmla="val 22000"/>
                </a:avLst>
              </a:prstGeom>
              <a:solidFill>
                <a:srgbClr val="0C192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6" name="Badge number"/>
              <p:cNvSpPr txBox="1"/>
              <p:nvPr/>
            </p:nvSpPr>
            <p:spPr>
              <a:xfrm>
                <a:off x="274320" y="228600"/>
                <a:ext cx="192024" cy="1920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75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02</a:t>
                </a:r>
                <a:endParaRPr lang="en-US" sz="750" dirty="0">
                  <a:latin typeface="TASA Orbiter SemiBold"/>
                </a:endParaRPr>
              </a:p>
            </p:txBody>
          </p:sp>
        </p:grpSp>
        <p:sp>
          <p:nvSpPr>
            <p:cNvPr id="7" name="Eyebrow"/>
            <p:cNvSpPr txBox="1"/>
            <p:nvPr/>
          </p:nvSpPr>
          <p:spPr>
            <a:xfrm>
              <a:off x="530352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WORKFLOW 02  ·  PREVENTIVE &amp; BREAKDOWN MAINTENANCE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8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Solution Architecture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9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Preventive maintenance from running hours or a fixed period, breakdowns from the store — both closed by the AMC vendor.</a:t>
              </a:r>
              <a:endParaRPr lang="en-US" sz="850" dirty="0">
                <a:latin typeface="Inter"/>
              </a:endParaRPr>
            </a:p>
          </p:txBody>
        </p:sp>
        <p:grpSp>
          <p:nvGrpSpPr>
            <p:cNvPr id="10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11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" name="Stage 1"/>
          <p:cNvGrpSpPr/>
          <p:nvPr/>
        </p:nvGrpSpPr>
        <p:grpSpPr>
          <a:xfrm>
            <a:off x="274320" y="1005840"/>
            <a:ext cx="2039112" cy="164592"/>
            <a:chOff x="274320" y="1005840"/>
            <a:chExt cx="2039112" cy="164592"/>
          </a:xfrm>
        </p:grpSpPr>
        <p:grpSp>
          <p:nvGrpSpPr>
            <p:cNvPr id="23" name="Badge 1"/>
            <p:cNvGrpSpPr/>
            <p:nvPr/>
          </p:nvGrpSpPr>
          <p:grpSpPr>
            <a:xfrm>
              <a:off x="274320" y="1005840"/>
              <a:ext cx="155448" cy="155448"/>
              <a:chOff x="274320" y="1005840"/>
              <a:chExt cx="155448" cy="155448"/>
            </a:xfrm>
          </p:grpSpPr>
          <p:sp>
            <p:nvSpPr>
              <p:cNvPr id="24" name="Badge"/>
              <p:cNvSpPr/>
              <p:nvPr/>
            </p:nvSpPr>
            <p:spPr>
              <a:xfrm>
                <a:off x="274320" y="1005840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25" name="Badge number"/>
              <p:cNvSpPr txBox="1"/>
              <p:nvPr/>
            </p:nvSpPr>
            <p:spPr>
              <a:xfrm>
                <a:off x="274320" y="1005840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50"/>
                  </a:lnSpc>
                  <a:spcBef>
                    <a:spcPts val="0"/>
                  </a:spcBef>
                  <a:buNone/>
                </a:pPr>
                <a:r>
                  <a:rPr lang="en-US" sz="65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1</a:t>
                </a:r>
                <a:endParaRPr lang="en-US" sz="650" dirty="0">
                  <a:latin typeface="TASA Orbiter SemiBold"/>
                </a:endParaRPr>
              </a:p>
            </p:txBody>
          </p:sp>
        </p:grpSp>
        <p:sp>
          <p:nvSpPr>
            <p:cNvPr id="26" name="Stage name"/>
            <p:cNvSpPr txBox="1"/>
            <p:nvPr/>
          </p:nvSpPr>
          <p:spPr>
            <a:xfrm>
              <a:off x="484632" y="1001268"/>
              <a:ext cx="18288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cap="all" spc="82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TRIGGERS</a:t>
              </a:r>
              <a:endParaRPr lang="en-US" sz="680" dirty="0">
                <a:latin typeface="Inter SemiBold"/>
              </a:endParaRPr>
            </a:p>
          </p:txBody>
        </p:sp>
      </p:grpSp>
      <p:grpSp>
        <p:nvGrpSpPr>
          <p:cNvPr id="27" name="Stage 2"/>
          <p:cNvGrpSpPr/>
          <p:nvPr/>
        </p:nvGrpSpPr>
        <p:grpSpPr>
          <a:xfrm>
            <a:off x="2304288" y="1005840"/>
            <a:ext cx="2039112" cy="164592"/>
            <a:chOff x="2304288" y="1005840"/>
            <a:chExt cx="2039112" cy="164592"/>
          </a:xfrm>
        </p:grpSpPr>
        <p:grpSp>
          <p:nvGrpSpPr>
            <p:cNvPr id="28" name="Badge 2"/>
            <p:cNvGrpSpPr/>
            <p:nvPr/>
          </p:nvGrpSpPr>
          <p:grpSpPr>
            <a:xfrm>
              <a:off x="2304288" y="1005840"/>
              <a:ext cx="155448" cy="155448"/>
              <a:chOff x="2304288" y="1005840"/>
              <a:chExt cx="155448" cy="155448"/>
            </a:xfrm>
          </p:grpSpPr>
          <p:sp>
            <p:nvSpPr>
              <p:cNvPr id="29" name="Badge"/>
              <p:cNvSpPr/>
              <p:nvPr/>
            </p:nvSpPr>
            <p:spPr>
              <a:xfrm>
                <a:off x="2304288" y="1005840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30" name="Badge number"/>
              <p:cNvSpPr txBox="1"/>
              <p:nvPr/>
            </p:nvSpPr>
            <p:spPr>
              <a:xfrm>
                <a:off x="2304288" y="1005840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50"/>
                  </a:lnSpc>
                  <a:spcBef>
                    <a:spcPts val="0"/>
                  </a:spcBef>
                  <a:buNone/>
                </a:pPr>
                <a:r>
                  <a:rPr lang="en-US" sz="65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2</a:t>
                </a:r>
                <a:endParaRPr lang="en-US" sz="650" dirty="0">
                  <a:latin typeface="TASA Orbiter SemiBold"/>
                </a:endParaRPr>
              </a:p>
            </p:txBody>
          </p:sp>
        </p:grpSp>
        <p:sp>
          <p:nvSpPr>
            <p:cNvPr id="31" name="Stage name"/>
            <p:cNvSpPr txBox="1"/>
            <p:nvPr/>
          </p:nvSpPr>
          <p:spPr>
            <a:xfrm>
              <a:off x="2514600" y="1001268"/>
              <a:ext cx="18288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cap="all" spc="82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EVALUATE &amp; CREATE</a:t>
              </a:r>
              <a:endParaRPr lang="en-US" sz="680" dirty="0">
                <a:latin typeface="Inter SemiBold"/>
              </a:endParaRPr>
            </a:p>
          </p:txBody>
        </p:sp>
      </p:grpSp>
      <p:grpSp>
        <p:nvGrpSpPr>
          <p:cNvPr id="32" name="Stage 3"/>
          <p:cNvGrpSpPr/>
          <p:nvPr/>
        </p:nvGrpSpPr>
        <p:grpSpPr>
          <a:xfrm>
            <a:off x="4663440" y="1005840"/>
            <a:ext cx="2039112" cy="164592"/>
            <a:chOff x="4663440" y="1005840"/>
            <a:chExt cx="2039112" cy="164592"/>
          </a:xfrm>
        </p:grpSpPr>
        <p:grpSp>
          <p:nvGrpSpPr>
            <p:cNvPr id="33" name="Badge 3"/>
            <p:cNvGrpSpPr/>
            <p:nvPr/>
          </p:nvGrpSpPr>
          <p:grpSpPr>
            <a:xfrm>
              <a:off x="4663440" y="1005840"/>
              <a:ext cx="155448" cy="155448"/>
              <a:chOff x="4663440" y="1005840"/>
              <a:chExt cx="155448" cy="155448"/>
            </a:xfrm>
          </p:grpSpPr>
          <p:sp>
            <p:nvSpPr>
              <p:cNvPr id="34" name="Badge"/>
              <p:cNvSpPr/>
              <p:nvPr/>
            </p:nvSpPr>
            <p:spPr>
              <a:xfrm>
                <a:off x="4663440" y="1005840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35" name="Badge number"/>
              <p:cNvSpPr txBox="1"/>
              <p:nvPr/>
            </p:nvSpPr>
            <p:spPr>
              <a:xfrm>
                <a:off x="4663440" y="1005840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50"/>
                  </a:lnSpc>
                  <a:spcBef>
                    <a:spcPts val="0"/>
                  </a:spcBef>
                  <a:buNone/>
                </a:pPr>
                <a:r>
                  <a:rPr lang="en-US" sz="65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3</a:t>
                </a:r>
                <a:endParaRPr lang="en-US" sz="650" dirty="0">
                  <a:latin typeface="TASA Orbiter SemiBold"/>
                </a:endParaRPr>
              </a:p>
            </p:txBody>
          </p:sp>
        </p:grpSp>
        <p:sp>
          <p:nvSpPr>
            <p:cNvPr id="36" name="Stage name"/>
            <p:cNvSpPr txBox="1"/>
            <p:nvPr/>
          </p:nvSpPr>
          <p:spPr>
            <a:xfrm>
              <a:off x="4873752" y="1001268"/>
              <a:ext cx="18288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cap="all" spc="82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ASSIGN &amp; EXECUTE</a:t>
              </a:r>
              <a:endParaRPr lang="en-US" sz="680" dirty="0">
                <a:latin typeface="Inter SemiBold"/>
              </a:endParaRPr>
            </a:p>
          </p:txBody>
        </p:sp>
      </p:grpSp>
      <p:grpSp>
        <p:nvGrpSpPr>
          <p:cNvPr id="37" name="Stage 4"/>
          <p:cNvGrpSpPr/>
          <p:nvPr/>
        </p:nvGrpSpPr>
        <p:grpSpPr>
          <a:xfrm>
            <a:off x="7059168" y="1005840"/>
            <a:ext cx="2039112" cy="164592"/>
            <a:chOff x="7059168" y="1005840"/>
            <a:chExt cx="2039112" cy="164592"/>
          </a:xfrm>
        </p:grpSpPr>
        <p:grpSp>
          <p:nvGrpSpPr>
            <p:cNvPr id="38" name="Badge 4"/>
            <p:cNvGrpSpPr/>
            <p:nvPr/>
          </p:nvGrpSpPr>
          <p:grpSpPr>
            <a:xfrm>
              <a:off x="7059168" y="1005840"/>
              <a:ext cx="155448" cy="155448"/>
              <a:chOff x="7059168" y="1005840"/>
              <a:chExt cx="155448" cy="155448"/>
            </a:xfrm>
          </p:grpSpPr>
          <p:sp>
            <p:nvSpPr>
              <p:cNvPr id="39" name="Badge"/>
              <p:cNvSpPr/>
              <p:nvPr/>
            </p:nvSpPr>
            <p:spPr>
              <a:xfrm>
                <a:off x="7059168" y="1005840"/>
                <a:ext cx="155448" cy="155448"/>
              </a:xfrm>
              <a:prstGeom prst="ellipse">
                <a:avLst/>
              </a:prstGeom>
              <a:solidFill>
                <a:srgbClr val="165FF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40" name="Badge number"/>
              <p:cNvSpPr txBox="1"/>
              <p:nvPr/>
            </p:nvSpPr>
            <p:spPr>
              <a:xfrm>
                <a:off x="7059168" y="1005840"/>
                <a:ext cx="155448" cy="155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650"/>
                  </a:lnSpc>
                  <a:spcBef>
                    <a:spcPts val="0"/>
                  </a:spcBef>
                  <a:buNone/>
                </a:pPr>
                <a:r>
                  <a:rPr lang="en-US" sz="65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4</a:t>
                </a:r>
                <a:endParaRPr lang="en-US" sz="650" dirty="0">
                  <a:latin typeface="TASA Orbiter SemiBold"/>
                </a:endParaRPr>
              </a:p>
            </p:txBody>
          </p:sp>
        </p:grpSp>
        <p:sp>
          <p:nvSpPr>
            <p:cNvPr id="41" name="Stage name"/>
            <p:cNvSpPr txBox="1"/>
            <p:nvPr/>
          </p:nvSpPr>
          <p:spPr>
            <a:xfrm>
              <a:off x="7269480" y="1001268"/>
              <a:ext cx="182880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80"/>
                </a:lnSpc>
                <a:spcBef>
                  <a:spcPts val="0"/>
                </a:spcBef>
                <a:buNone/>
              </a:pPr>
              <a:r>
                <a:rPr lang="en-US" sz="680" b="0" i="0" cap="all" spc="82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OUTPUTS</a:t>
              </a:r>
              <a:endParaRPr lang="en-US" sz="680" dirty="0">
                <a:latin typeface="Inter SemiBold"/>
              </a:endParaRPr>
            </a:p>
          </p:txBody>
        </p:sp>
      </p:grpSp>
      <p:grpSp>
        <p:nvGrpSpPr>
          <p:cNvPr id="42" name="Running hours  ·  IoT"/>
          <p:cNvGrpSpPr/>
          <p:nvPr/>
        </p:nvGrpSpPr>
        <p:grpSpPr>
          <a:xfrm>
            <a:off x="274320" y="1243584"/>
            <a:ext cx="1874520" cy="596722"/>
            <a:chOff x="274320" y="1243584"/>
            <a:chExt cx="1874520" cy="596722"/>
          </a:xfrm>
        </p:grpSpPr>
        <p:sp>
          <p:nvSpPr>
            <p:cNvPr id="43" name="Running hours  ·  IoT"/>
            <p:cNvSpPr/>
            <p:nvPr/>
          </p:nvSpPr>
          <p:spPr>
            <a:xfrm>
              <a:off x="274320" y="1243584"/>
              <a:ext cx="1874520" cy="596722"/>
            </a:xfrm>
            <a:prstGeom prst="roundRect">
              <a:avLst>
                <a:gd name="adj" fmla="val 12259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4" name="Icon timer"/>
            <p:cNvSpPr/>
            <p:nvPr/>
          </p:nvSpPr>
          <p:spPr>
            <a:xfrm>
              <a:off x="356616" y="1330452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2000"/>
                  </a:moveTo>
                  <a:lnTo>
                    <a:pt x="14000" y="2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5000" y="11000"/>
                  </a:lnTo>
                </a:path>
                <a:path w="24000" h="24000" fill="none">
                  <a:moveTo>
                    <a:pt x="20000" y="14000"/>
                  </a:moveTo>
                  <a:cubicBezTo>
                    <a:pt x="20000" y="18418"/>
                    <a:pt x="16418" y="22000"/>
                    <a:pt x="12000" y="22000"/>
                  </a:cubicBezTo>
                  <a:cubicBezTo>
                    <a:pt x="7582" y="22000"/>
                    <a:pt x="4000" y="18418"/>
                    <a:pt x="4000" y="14000"/>
                  </a:cubicBezTo>
                  <a:cubicBezTo>
                    <a:pt x="4000" y="9582"/>
                    <a:pt x="7582" y="6000"/>
                    <a:pt x="12000" y="6000"/>
                  </a:cubicBezTo>
                  <a:cubicBezTo>
                    <a:pt x="16418" y="6000"/>
                    <a:pt x="20000" y="9582"/>
                    <a:pt x="20000" y="14000"/>
                  </a:cubicBezTo>
                  <a:close/>
                </a:path>
              </a:pathLst>
            </a:custGeom>
            <a:noFill/>
            <a:ln w="13411" cap="rnd">
              <a:solidFill>
                <a:srgbClr val="165FF2"/>
              </a:solidFill>
              <a:round/>
            </a:ln>
          </p:spPr>
        </p:sp>
        <p:sp>
          <p:nvSpPr>
            <p:cNvPr id="45" name="Running hours  ·  IoT title"/>
            <p:cNvSpPr txBox="1"/>
            <p:nvPr/>
          </p:nvSpPr>
          <p:spPr>
            <a:xfrm>
              <a:off x="585216" y="1325880"/>
              <a:ext cx="1481328" cy="221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Running hours  ·  IoT</a:t>
              </a:r>
              <a:endParaRPr lang="en-US" sz="720" dirty="0">
                <a:latin typeface="Inter SemiBold"/>
              </a:endParaRPr>
            </a:p>
            <a:p>
              <a:pPr algn="l">
                <a:lnSpc>
                  <a:spcPts val="769"/>
                </a:lnSpc>
                <a:spcBef>
                  <a:spcPts val="150"/>
                </a:spcBef>
                <a:buNone/>
              </a:pPr>
              <a:r>
                <a:rPr lang="en-US" sz="63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Read from the DG controller</a:t>
              </a:r>
              <a:endParaRPr lang="en-US" sz="630" dirty="0">
                <a:latin typeface="Inter"/>
              </a:endParaRPr>
            </a:p>
          </p:txBody>
        </p:sp>
        <p:grpSp>
          <p:nvGrpSpPr>
            <p:cNvPr id="46" name="Chip Limit per DG, e.g. 250 / 500 h"/>
            <p:cNvGrpSpPr/>
            <p:nvPr/>
          </p:nvGrpSpPr>
          <p:grpSpPr>
            <a:xfrm>
              <a:off x="356616" y="1620850"/>
              <a:ext cx="1151307" cy="137160"/>
              <a:chOff x="356616" y="1620850"/>
              <a:chExt cx="1151307" cy="137160"/>
            </a:xfrm>
          </p:grpSpPr>
          <p:sp>
            <p:nvSpPr>
              <p:cNvPr id="47" name="Chip fill"/>
              <p:cNvSpPr/>
              <p:nvPr/>
            </p:nvSpPr>
            <p:spPr>
              <a:xfrm>
                <a:off x="356616" y="1620850"/>
                <a:ext cx="1151307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1F5FA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48" name="Chip label"/>
              <p:cNvSpPr txBox="1"/>
              <p:nvPr/>
            </p:nvSpPr>
            <p:spPr>
              <a:xfrm>
                <a:off x="411480" y="1620850"/>
                <a:ext cx="106901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40566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Limit per DG, e.g. 250 / 500 h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49" name="Fixed maintenance period"/>
          <p:cNvGrpSpPr/>
          <p:nvPr/>
        </p:nvGrpSpPr>
        <p:grpSpPr>
          <a:xfrm>
            <a:off x="274320" y="1904314"/>
            <a:ext cx="1874520" cy="596722"/>
            <a:chOff x="274320" y="1904314"/>
            <a:chExt cx="1874520" cy="596722"/>
          </a:xfrm>
        </p:grpSpPr>
        <p:sp>
          <p:nvSpPr>
            <p:cNvPr id="50" name="Fixed maintenance period"/>
            <p:cNvSpPr/>
            <p:nvPr/>
          </p:nvSpPr>
          <p:spPr>
            <a:xfrm>
              <a:off x="274320" y="1904314"/>
              <a:ext cx="1874520" cy="596722"/>
            </a:xfrm>
            <a:prstGeom prst="roundRect">
              <a:avLst>
                <a:gd name="adj" fmla="val 12259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51" name="Icon calendar-clock"/>
            <p:cNvSpPr/>
            <p:nvPr/>
          </p:nvSpPr>
          <p:spPr>
            <a:xfrm>
              <a:off x="356616" y="1991182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7500"/>
                  </a:moveTo>
                  <a:lnTo>
                    <a:pt x="21000" y="6000"/>
                  </a:lnTo>
                  <a:cubicBezTo>
                    <a:pt x="21000" y="4895"/>
                    <a:pt x="20105" y="4000"/>
                    <a:pt x="19000" y="4000"/>
                  </a:cubicBezTo>
                  <a:lnTo>
                    <a:pt x="5000" y="4000"/>
                  </a:lnTo>
                  <a:cubicBezTo>
                    <a:pt x="3895" y="4000"/>
                    <a:pt x="3000" y="4895"/>
                    <a:pt x="3000" y="6000"/>
                  </a:cubicBezTo>
                  <a:lnTo>
                    <a:pt x="3000" y="20000"/>
                  </a:lnTo>
                  <a:cubicBezTo>
                    <a:pt x="3000" y="21105"/>
                    <a:pt x="3895" y="22000"/>
                    <a:pt x="5000" y="22000"/>
                  </a:cubicBezTo>
                  <a:lnTo>
                    <a:pt x="8500" y="22000"/>
                  </a:lnTo>
                </a:path>
                <a:path w="24000" h="24000" fill="none">
                  <a:moveTo>
                    <a:pt x="16000" y="2000"/>
                  </a:moveTo>
                  <a:lnTo>
                    <a:pt x="16000" y="6000"/>
                  </a:lnTo>
                </a:path>
                <a:path w="24000" h="24000" fill="none">
                  <a:moveTo>
                    <a:pt x="8000" y="2000"/>
                  </a:moveTo>
                  <a:lnTo>
                    <a:pt x="8000" y="6000"/>
                  </a:lnTo>
                </a:path>
                <a:path w="24000" h="24000" fill="none">
                  <a:moveTo>
                    <a:pt x="3000" y="10000"/>
                  </a:moveTo>
                  <a:lnTo>
                    <a:pt x="8000" y="10000"/>
                  </a:lnTo>
                </a:path>
                <a:path w="24000" h="24000" fill="none">
                  <a:moveTo>
                    <a:pt x="17500" y="17500"/>
                  </a:moveTo>
                  <a:lnTo>
                    <a:pt x="16000" y="16300"/>
                  </a:lnTo>
                  <a:lnTo>
                    <a:pt x="16000" y="14000"/>
                  </a:lnTo>
                </a:path>
                <a:path w="24000" h="24000" fill="none">
                  <a:moveTo>
                    <a:pt x="22000" y="16000"/>
                  </a:moveTo>
                  <a:cubicBezTo>
                    <a:pt x="22000" y="19314"/>
                    <a:pt x="19314" y="22000"/>
                    <a:pt x="16000" y="22000"/>
                  </a:cubicBezTo>
                  <a:cubicBezTo>
                    <a:pt x="12686" y="22000"/>
                    <a:pt x="10000" y="19314"/>
                    <a:pt x="10000" y="16000"/>
                  </a:cubicBezTo>
                  <a:cubicBezTo>
                    <a:pt x="10000" y="12686"/>
                    <a:pt x="12686" y="10000"/>
                    <a:pt x="16000" y="10000"/>
                  </a:cubicBezTo>
                  <a:cubicBezTo>
                    <a:pt x="19314" y="10000"/>
                    <a:pt x="22000" y="12686"/>
                    <a:pt x="22000" y="16000"/>
                  </a:cubicBezTo>
                  <a:close/>
                </a:path>
              </a:pathLst>
            </a:custGeom>
            <a:noFill/>
            <a:ln w="13411" cap="rnd">
              <a:solidFill>
                <a:srgbClr val="165FF2"/>
              </a:solidFill>
              <a:round/>
            </a:ln>
          </p:spPr>
        </p:sp>
        <p:sp>
          <p:nvSpPr>
            <p:cNvPr id="52" name="Fixed maintenance period title"/>
            <p:cNvSpPr txBox="1"/>
            <p:nvPr/>
          </p:nvSpPr>
          <p:spPr>
            <a:xfrm>
              <a:off x="585216" y="1986610"/>
              <a:ext cx="1481328" cy="221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Fixed maintenance period</a:t>
              </a:r>
              <a:endParaRPr lang="en-US" sz="720" dirty="0">
                <a:latin typeface="Inter SemiBold"/>
              </a:endParaRPr>
            </a:p>
            <a:p>
              <a:pPr algn="l">
                <a:lnSpc>
                  <a:spcPts val="769"/>
                </a:lnSpc>
                <a:spcBef>
                  <a:spcPts val="150"/>
                </a:spcBef>
                <a:buNone/>
              </a:pPr>
              <a:r>
                <a:rPr lang="en-US" sz="63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Configured per DG</a:t>
              </a:r>
              <a:endParaRPr lang="en-US" sz="630" dirty="0">
                <a:latin typeface="Inter"/>
              </a:endParaRPr>
            </a:p>
          </p:txBody>
        </p:sp>
        <p:grpSp>
          <p:nvGrpSpPr>
            <p:cNvPr id="53" name="Chip Whichever occurs first"/>
            <p:cNvGrpSpPr/>
            <p:nvPr/>
          </p:nvGrpSpPr>
          <p:grpSpPr>
            <a:xfrm>
              <a:off x="356616" y="2281580"/>
              <a:ext cx="920762" cy="137160"/>
              <a:chOff x="356616" y="2281580"/>
              <a:chExt cx="920762" cy="137160"/>
            </a:xfrm>
          </p:grpSpPr>
          <p:sp>
            <p:nvSpPr>
              <p:cNvPr id="54" name="Chip fill"/>
              <p:cNvSpPr/>
              <p:nvPr/>
            </p:nvSpPr>
            <p:spPr>
              <a:xfrm>
                <a:off x="356616" y="2281580"/>
                <a:ext cx="92076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1F5FA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55" name="Chip label"/>
              <p:cNvSpPr txBox="1"/>
              <p:nvPr/>
            </p:nvSpPr>
            <p:spPr>
              <a:xfrm>
                <a:off x="411480" y="2281580"/>
                <a:ext cx="83846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40566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Whichever occurs first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56" name="Breakdown  ·  manual"/>
          <p:cNvGrpSpPr/>
          <p:nvPr/>
        </p:nvGrpSpPr>
        <p:grpSpPr>
          <a:xfrm>
            <a:off x="274320" y="2565044"/>
            <a:ext cx="1874520" cy="694334"/>
            <a:chOff x="274320" y="2565044"/>
            <a:chExt cx="1874520" cy="694334"/>
          </a:xfrm>
        </p:grpSpPr>
        <p:sp>
          <p:nvSpPr>
            <p:cNvPr id="57" name="Breakdown  ·  manual"/>
            <p:cNvSpPr/>
            <p:nvPr/>
          </p:nvSpPr>
          <p:spPr>
            <a:xfrm>
              <a:off x="274320" y="2565044"/>
              <a:ext cx="1874520" cy="694334"/>
            </a:xfrm>
            <a:prstGeom prst="roundRect">
              <a:avLst>
                <a:gd name="adj" fmla="val 10536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58" name="Icon siren"/>
            <p:cNvSpPr/>
            <p:nvPr/>
          </p:nvSpPr>
          <p:spPr>
            <a:xfrm>
              <a:off x="356616" y="2651912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7000" y="18000"/>
                  </a:moveTo>
                  <a:lnTo>
                    <a:pt x="7000" y="12000"/>
                  </a:lnTo>
                  <a:cubicBezTo>
                    <a:pt x="7000" y="9239"/>
                    <a:pt x="9239" y="7000"/>
                    <a:pt x="12000" y="7000"/>
                  </a:cubicBezTo>
                  <a:cubicBezTo>
                    <a:pt x="14761" y="7000"/>
                    <a:pt x="17000" y="9239"/>
                    <a:pt x="17000" y="12000"/>
                  </a:cubicBezTo>
                  <a:lnTo>
                    <a:pt x="17000" y="18000"/>
                  </a:lnTo>
                </a:path>
                <a:path w="24000" h="24000" fill="none">
                  <a:moveTo>
                    <a:pt x="5000" y="21000"/>
                  </a:moveTo>
                  <a:cubicBezTo>
                    <a:pt x="5000" y="21552"/>
                    <a:pt x="5448" y="22000"/>
                    <a:pt x="6000" y="22000"/>
                  </a:cubicBezTo>
                  <a:lnTo>
                    <a:pt x="18000" y="22000"/>
                  </a:lnTo>
                  <a:cubicBezTo>
                    <a:pt x="18552" y="22000"/>
                    <a:pt x="19000" y="21552"/>
                    <a:pt x="19000" y="21000"/>
                  </a:cubicBezTo>
                  <a:lnTo>
                    <a:pt x="19000" y="20000"/>
                  </a:lnTo>
                  <a:cubicBezTo>
                    <a:pt x="19000" y="18895"/>
                    <a:pt x="18105" y="18000"/>
                    <a:pt x="17000" y="18000"/>
                  </a:cubicBezTo>
                  <a:lnTo>
                    <a:pt x="7000" y="18000"/>
                  </a:lnTo>
                  <a:cubicBezTo>
                    <a:pt x="5895" y="18000"/>
                    <a:pt x="5000" y="18895"/>
                    <a:pt x="5000" y="20000"/>
                  </a:cubicBezTo>
                  <a:close/>
                </a:path>
                <a:path w="24000" h="24000" fill="none">
                  <a:moveTo>
                    <a:pt x="21000" y="12000"/>
                  </a:moveTo>
                  <a:lnTo>
                    <a:pt x="22000" y="12000"/>
                  </a:lnTo>
                </a:path>
                <a:path w="24000" h="24000" fill="none">
                  <a:moveTo>
                    <a:pt x="18500" y="4500"/>
                  </a:moveTo>
                  <a:lnTo>
                    <a:pt x="18000" y="5000"/>
                  </a:lnTo>
                </a:path>
                <a:path w="24000" h="24000" fill="none">
                  <a:moveTo>
                    <a:pt x="2000" y="12000"/>
                  </a:moveTo>
                  <a:lnTo>
                    <a:pt x="3000" y="12000"/>
                  </a:lnTo>
                </a:path>
                <a:path w="24000" h="24000" fill="none">
                  <a:moveTo>
                    <a:pt x="12000" y="2000"/>
                  </a:moveTo>
                  <a:lnTo>
                    <a:pt x="12000" y="3000"/>
                  </a:lnTo>
                </a:path>
                <a:path w="24000" h="24000" fill="none">
                  <a:moveTo>
                    <a:pt x="4929" y="4929"/>
                  </a:moveTo>
                  <a:lnTo>
                    <a:pt x="5636" y="5636"/>
                  </a:lnTo>
                </a:path>
                <a:path w="24000" h="24000" fill="none">
                  <a:moveTo>
                    <a:pt x="12000" y="12000"/>
                  </a:moveTo>
                  <a:lnTo>
                    <a:pt x="12000" y="18000"/>
                  </a:lnTo>
                </a:path>
              </a:pathLst>
            </a:custGeom>
            <a:noFill/>
            <a:ln w="13411" cap="rnd">
              <a:solidFill>
                <a:srgbClr val="165FF2"/>
              </a:solidFill>
              <a:round/>
            </a:ln>
          </p:spPr>
        </p:sp>
        <p:sp>
          <p:nvSpPr>
            <p:cNvPr id="59" name="Breakdown  ·  manual title"/>
            <p:cNvSpPr txBox="1"/>
            <p:nvPr/>
          </p:nvSpPr>
          <p:spPr>
            <a:xfrm>
              <a:off x="585216" y="2647340"/>
              <a:ext cx="1481328" cy="3194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Breakdown  ·  manual</a:t>
              </a:r>
              <a:endParaRPr lang="en-US" sz="720" dirty="0">
                <a:latin typeface="Inter SemiBold"/>
              </a:endParaRPr>
            </a:p>
            <a:p>
              <a:pPr algn="l">
                <a:lnSpc>
                  <a:spcPts val="769"/>
                </a:lnSpc>
                <a:spcBef>
                  <a:spcPts val="150"/>
                </a:spcBef>
                <a:buNone/>
              </a:pPr>
              <a:r>
                <a:rPr lang="en-US" sz="63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Raised by the store / maintenance team</a:t>
              </a:r>
              <a:endParaRPr lang="en-US" sz="630" dirty="0">
                <a:latin typeface="Inter"/>
              </a:endParaRPr>
            </a:p>
          </p:txBody>
        </p:sp>
        <p:grpSp>
          <p:nvGrpSpPr>
            <p:cNvPr id="60" name="Chip Physical failure"/>
            <p:cNvGrpSpPr/>
            <p:nvPr/>
          </p:nvGrpSpPr>
          <p:grpSpPr>
            <a:xfrm>
              <a:off x="356616" y="3039923"/>
              <a:ext cx="652435" cy="137160"/>
              <a:chOff x="356616" y="3039923"/>
              <a:chExt cx="652435" cy="137160"/>
            </a:xfrm>
          </p:grpSpPr>
          <p:sp>
            <p:nvSpPr>
              <p:cNvPr id="61" name="Chip fill"/>
              <p:cNvSpPr/>
              <p:nvPr/>
            </p:nvSpPr>
            <p:spPr>
              <a:xfrm>
                <a:off x="356616" y="3039923"/>
                <a:ext cx="652435" cy="137160"/>
              </a:xfrm>
              <a:prstGeom prst="roundRect">
                <a:avLst>
                  <a:gd name="adj" fmla="val 20000"/>
                </a:avLst>
              </a:prstGeom>
              <a:solidFill>
                <a:srgbClr val="D92D20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62" name="Chip label"/>
              <p:cNvSpPr txBox="1"/>
              <p:nvPr/>
            </p:nvSpPr>
            <p:spPr>
              <a:xfrm>
                <a:off x="411480" y="3039923"/>
                <a:ext cx="570139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B4231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Physical failure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63" name="Chip Leak"/>
            <p:cNvGrpSpPr/>
            <p:nvPr/>
          </p:nvGrpSpPr>
          <p:grpSpPr>
            <a:xfrm>
              <a:off x="1054771" y="3039923"/>
              <a:ext cx="279888" cy="137160"/>
              <a:chOff x="1054771" y="3039923"/>
              <a:chExt cx="279888" cy="137160"/>
            </a:xfrm>
          </p:grpSpPr>
          <p:sp>
            <p:nvSpPr>
              <p:cNvPr id="64" name="Chip fill"/>
              <p:cNvSpPr/>
              <p:nvPr/>
            </p:nvSpPr>
            <p:spPr>
              <a:xfrm>
                <a:off x="1054771" y="3039923"/>
                <a:ext cx="279888" cy="137160"/>
              </a:xfrm>
              <a:prstGeom prst="roundRect">
                <a:avLst>
                  <a:gd name="adj" fmla="val 20000"/>
                </a:avLst>
              </a:prstGeom>
              <a:solidFill>
                <a:srgbClr val="D92D20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65" name="Chip label"/>
              <p:cNvSpPr txBox="1"/>
              <p:nvPr/>
            </p:nvSpPr>
            <p:spPr>
              <a:xfrm>
                <a:off x="1109635" y="3039923"/>
                <a:ext cx="19759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B4231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Leak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66" name="Chip Starting failure"/>
            <p:cNvGrpSpPr/>
            <p:nvPr/>
          </p:nvGrpSpPr>
          <p:grpSpPr>
            <a:xfrm>
              <a:off x="1380379" y="3039923"/>
              <a:ext cx="636322" cy="137160"/>
              <a:chOff x="1380379" y="3039923"/>
              <a:chExt cx="636322" cy="137160"/>
            </a:xfrm>
          </p:grpSpPr>
          <p:sp>
            <p:nvSpPr>
              <p:cNvPr id="67" name="Chip fill"/>
              <p:cNvSpPr/>
              <p:nvPr/>
            </p:nvSpPr>
            <p:spPr>
              <a:xfrm>
                <a:off x="1380379" y="3039923"/>
                <a:ext cx="63632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D92D20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68" name="Chip label"/>
              <p:cNvSpPr txBox="1"/>
              <p:nvPr/>
            </p:nvSpPr>
            <p:spPr>
              <a:xfrm>
                <a:off x="1435243" y="3039923"/>
                <a:ext cx="55402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B4231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Starting failure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69" name="Master data"/>
          <p:cNvGrpSpPr/>
          <p:nvPr/>
        </p:nvGrpSpPr>
        <p:grpSpPr>
          <a:xfrm>
            <a:off x="274320" y="3323387"/>
            <a:ext cx="1874520" cy="386410"/>
            <a:chOff x="274320" y="3323387"/>
            <a:chExt cx="1874520" cy="386410"/>
          </a:xfrm>
        </p:grpSpPr>
        <p:sp>
          <p:nvSpPr>
            <p:cNvPr id="70" name="Master data"/>
            <p:cNvSpPr/>
            <p:nvPr/>
          </p:nvSpPr>
          <p:spPr>
            <a:xfrm>
              <a:off x="274320" y="3323387"/>
              <a:ext cx="1874520" cy="386410"/>
            </a:xfrm>
            <a:prstGeom prst="roundRect">
              <a:avLst>
                <a:gd name="adj" fmla="val 18931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71" name="Icon database"/>
            <p:cNvSpPr/>
            <p:nvPr/>
          </p:nvSpPr>
          <p:spPr>
            <a:xfrm>
              <a:off x="356616" y="3410255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5000"/>
                  </a:moveTo>
                  <a:cubicBezTo>
                    <a:pt x="21000" y="6657"/>
                    <a:pt x="16971" y="8000"/>
                    <a:pt x="12000" y="8000"/>
                  </a:cubicBezTo>
                  <a:cubicBezTo>
                    <a:pt x="7029" y="8000"/>
                    <a:pt x="3000" y="6657"/>
                    <a:pt x="3000" y="5000"/>
                  </a:cubicBezTo>
                  <a:cubicBezTo>
                    <a:pt x="3000" y="3343"/>
                    <a:pt x="7029" y="2000"/>
                    <a:pt x="12000" y="2000"/>
                  </a:cubicBezTo>
                  <a:cubicBezTo>
                    <a:pt x="16971" y="2000"/>
                    <a:pt x="21000" y="3343"/>
                    <a:pt x="21000" y="5000"/>
                  </a:cubicBezTo>
                  <a:close/>
                </a:path>
                <a:path w="24000" h="24000" fill="none">
                  <a:moveTo>
                    <a:pt x="3000" y="5000"/>
                  </a:moveTo>
                  <a:lnTo>
                    <a:pt x="3000" y="19000"/>
                  </a:lnTo>
                  <a:cubicBezTo>
                    <a:pt x="3000" y="20657"/>
                    <a:pt x="7029" y="22000"/>
                    <a:pt x="12000" y="22000"/>
                  </a:cubicBezTo>
                  <a:cubicBezTo>
                    <a:pt x="16971" y="22000"/>
                    <a:pt x="21000" y="20657"/>
                    <a:pt x="21000" y="19000"/>
                  </a:cubicBezTo>
                  <a:lnTo>
                    <a:pt x="21000" y="5000"/>
                  </a:lnTo>
                </a:path>
                <a:path w="24000" h="24000" fill="none">
                  <a:moveTo>
                    <a:pt x="3000" y="12000"/>
                  </a:moveTo>
                  <a:cubicBezTo>
                    <a:pt x="3000" y="13657"/>
                    <a:pt x="7029" y="15000"/>
                    <a:pt x="12000" y="15000"/>
                  </a:cubicBezTo>
                  <a:cubicBezTo>
                    <a:pt x="16971" y="15000"/>
                    <a:pt x="21000" y="13657"/>
                    <a:pt x="21000" y="12000"/>
                  </a:cubicBezTo>
                </a:path>
              </a:pathLst>
            </a:custGeom>
            <a:noFill/>
            <a:ln w="13411" cap="rnd">
              <a:solidFill>
                <a:srgbClr val="165FF2"/>
              </a:solidFill>
              <a:round/>
            </a:ln>
          </p:spPr>
        </p:sp>
        <p:sp>
          <p:nvSpPr>
            <p:cNvPr id="72" name="Master data title"/>
            <p:cNvSpPr txBox="1"/>
            <p:nvPr/>
          </p:nvSpPr>
          <p:spPr>
            <a:xfrm>
              <a:off x="585216" y="3405683"/>
              <a:ext cx="1481328" cy="221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Master data</a:t>
              </a:r>
              <a:endParaRPr lang="en-US" sz="720" dirty="0">
                <a:latin typeface="Inter SemiBold"/>
              </a:endParaRPr>
            </a:p>
            <a:p>
              <a:pPr algn="l">
                <a:lnSpc>
                  <a:spcPts val="769"/>
                </a:lnSpc>
                <a:spcBef>
                  <a:spcPts val="150"/>
                </a:spcBef>
                <a:buNone/>
              </a:pPr>
              <a:r>
                <a:rPr lang="en-US" sz="63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AMC vendors, SPOCs and PM settings</a:t>
              </a:r>
              <a:endParaRPr lang="en-US" sz="630" dirty="0">
                <a:latin typeface="Inter"/>
              </a:endParaRPr>
            </a:p>
          </p:txBody>
        </p:sp>
      </p:grpSp>
      <p:sp>
        <p:nvSpPr>
          <p:cNvPr id="73" name="Application block"/>
          <p:cNvSpPr/>
          <p:nvPr/>
        </p:nvSpPr>
        <p:spPr>
          <a:xfrm>
            <a:off x="2286000" y="1243584"/>
            <a:ext cx="4617720" cy="2718587"/>
          </a:xfrm>
          <a:prstGeom prst="roundRect">
            <a:avLst>
              <a:gd name="adj" fmla="val 3027"/>
            </a:avLst>
          </a:prstGeom>
          <a:solidFill>
            <a:srgbClr val="F4F8FF"/>
          </a:solidFill>
          <a:ln w="9525">
            <a:solidFill>
              <a:srgbClr val="B8D0FD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4" name="Icon app-window"/>
          <p:cNvSpPr/>
          <p:nvPr/>
        </p:nvSpPr>
        <p:spPr>
          <a:xfrm>
            <a:off x="2395728" y="132588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  <a:path w="24000" h="24000" fill="none">
                <a:moveTo>
                  <a:pt x="10000" y="4000"/>
                </a:moveTo>
                <a:lnTo>
                  <a:pt x="10000" y="8000"/>
                </a:lnTo>
              </a:path>
              <a:path w="24000" h="24000" fill="none">
                <a:moveTo>
                  <a:pt x="2000" y="8000"/>
                </a:moveTo>
                <a:lnTo>
                  <a:pt x="22000" y="8000"/>
                </a:lnTo>
              </a:path>
              <a:path w="24000" h="24000" fill="none">
                <a:moveTo>
                  <a:pt x="6000" y="4000"/>
                </a:moveTo>
                <a:lnTo>
                  <a:pt x="6000" y="8000"/>
                </a:lnTo>
              </a:path>
            </a:pathLst>
          </a:custGeom>
          <a:noFill/>
          <a:ln w="13411" cap="rnd">
            <a:solidFill>
              <a:srgbClr val="165FF2"/>
            </a:solidFill>
            <a:round/>
          </a:ln>
        </p:spPr>
      </p:sp>
      <p:sp>
        <p:nvSpPr>
          <p:cNvPr id="75" name="Application label"/>
          <p:cNvSpPr txBox="1"/>
          <p:nvPr/>
        </p:nvSpPr>
        <p:spPr>
          <a:xfrm>
            <a:off x="2596896" y="1307592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buNone/>
            </a:pPr>
            <a:r>
              <a:rPr lang="en-US" sz="7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DG Maintenance Workflow</a:t>
            </a:r>
            <a:r>
              <a:rPr lang="en-US" sz="6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 ·   same application</a:t>
            </a:r>
            <a:endParaRPr lang="en-US" sz="740" dirty="0">
              <a:latin typeface="Inter SemiBold"/>
            </a:endParaRPr>
          </a:p>
        </p:txBody>
      </p:sp>
      <p:grpSp>
        <p:nvGrpSpPr>
          <p:cNvPr id="76" name="Chip Mobile-responsive web"/>
          <p:cNvGrpSpPr/>
          <p:nvPr/>
        </p:nvGrpSpPr>
        <p:grpSpPr>
          <a:xfrm>
            <a:off x="5730588" y="1325880"/>
            <a:ext cx="1063404" cy="137160"/>
            <a:chOff x="5730588" y="1325880"/>
            <a:chExt cx="1063404" cy="137160"/>
          </a:xfrm>
        </p:grpSpPr>
        <p:sp>
          <p:nvSpPr>
            <p:cNvPr id="77" name="Chip fill"/>
            <p:cNvSpPr/>
            <p:nvPr/>
          </p:nvSpPr>
          <p:spPr>
            <a:xfrm>
              <a:off x="5730588" y="1325880"/>
              <a:ext cx="1063404" cy="137160"/>
            </a:xfrm>
            <a:prstGeom prst="roundRect">
              <a:avLst>
                <a:gd name="adj" fmla="val 20000"/>
              </a:avLst>
            </a:prstGeom>
            <a:solidFill>
              <a:srgbClr val="0C192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78" name="Icon monitor"/>
            <p:cNvSpPr/>
            <p:nvPr/>
          </p:nvSpPr>
          <p:spPr>
            <a:xfrm>
              <a:off x="5790024" y="1351940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3000"/>
                  </a:moveTo>
                  <a:lnTo>
                    <a:pt x="20000" y="3000"/>
                  </a:lnTo>
                  <a:cubicBezTo>
                    <a:pt x="21105" y="3000"/>
                    <a:pt x="22000" y="3895"/>
                    <a:pt x="22000" y="5000"/>
                  </a:cubicBezTo>
                  <a:lnTo>
                    <a:pt x="22000" y="15000"/>
                  </a:lnTo>
                  <a:cubicBezTo>
                    <a:pt x="22000" y="16105"/>
                    <a:pt x="21105" y="17000"/>
                    <a:pt x="20000" y="17000"/>
                  </a:cubicBezTo>
                  <a:lnTo>
                    <a:pt x="4000" y="17000"/>
                  </a:lnTo>
                  <a:cubicBezTo>
                    <a:pt x="2895" y="17000"/>
                    <a:pt x="2000" y="16105"/>
                    <a:pt x="2000" y="15000"/>
                  </a:cubicBezTo>
                  <a:lnTo>
                    <a:pt x="2000" y="5000"/>
                  </a:lnTo>
                  <a:cubicBezTo>
                    <a:pt x="2000" y="3895"/>
                    <a:pt x="2895" y="3000"/>
                    <a:pt x="4000" y="3000"/>
                  </a:cubicBezTo>
                  <a:close/>
                </a:path>
                <a:path w="24000" h="24000" fill="none">
                  <a:moveTo>
                    <a:pt x="8000" y="21000"/>
                  </a:moveTo>
                  <a:lnTo>
                    <a:pt x="16000" y="21000"/>
                  </a:lnTo>
                </a:path>
                <a:path w="24000" h="24000" fill="none">
                  <a:moveTo>
                    <a:pt x="12000" y="17000"/>
                  </a:moveTo>
                  <a:lnTo>
                    <a:pt x="12000" y="21000"/>
                  </a:lnTo>
                </a:path>
              </a:pathLst>
            </a:custGeom>
            <a:noFill/>
            <a:ln w="7795" cap="rnd">
              <a:solidFill>
                <a:srgbClr val="FFFFFF"/>
              </a:solidFill>
              <a:round/>
            </a:ln>
          </p:spPr>
        </p:sp>
        <p:sp>
          <p:nvSpPr>
            <p:cNvPr id="79" name="Chip label"/>
            <p:cNvSpPr txBox="1"/>
            <p:nvPr/>
          </p:nvSpPr>
          <p:spPr>
            <a:xfrm>
              <a:off x="5902496" y="1325880"/>
              <a:ext cx="86406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Mobile-responsive web</a:t>
              </a:r>
              <a:endParaRPr lang="en-US" sz="580" dirty="0">
                <a:latin typeface="Inter SemiBold"/>
              </a:endParaRPr>
            </a:p>
          </p:txBody>
        </p:sp>
      </p:grpSp>
      <p:cxnSp>
        <p:nvCxnSpPr>
          <p:cNvPr id="80" name="Input link"/>
          <p:cNvCxnSpPr/>
          <p:nvPr/>
        </p:nvCxnSpPr>
        <p:spPr>
          <a:xfrm>
            <a:off x="2148840" y="1541945"/>
            <a:ext cx="137160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cxnSp>
        <p:nvCxnSpPr>
          <p:cNvPr id="81" name="Input link"/>
          <p:cNvCxnSpPr/>
          <p:nvPr/>
        </p:nvCxnSpPr>
        <p:spPr>
          <a:xfrm>
            <a:off x="2148840" y="2202675"/>
            <a:ext cx="137160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cxnSp>
        <p:nvCxnSpPr>
          <p:cNvPr id="82" name="Input link"/>
          <p:cNvCxnSpPr/>
          <p:nvPr/>
        </p:nvCxnSpPr>
        <p:spPr>
          <a:xfrm>
            <a:off x="2148840" y="2912212"/>
            <a:ext cx="137160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cxnSp>
        <p:nvCxnSpPr>
          <p:cNvPr id="83" name="Input link"/>
          <p:cNvCxnSpPr/>
          <p:nvPr/>
        </p:nvCxnSpPr>
        <p:spPr>
          <a:xfrm>
            <a:off x="2148840" y="3516592"/>
            <a:ext cx="137160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grpSp>
        <p:nvGrpSpPr>
          <p:cNvPr id="84" name="PM evaluation"/>
          <p:cNvGrpSpPr/>
          <p:nvPr/>
        </p:nvGrpSpPr>
        <p:grpSpPr>
          <a:xfrm>
            <a:off x="2395728" y="1572768"/>
            <a:ext cx="2157984" cy="382676"/>
            <a:chOff x="2395728" y="1572768"/>
            <a:chExt cx="2157984" cy="382676"/>
          </a:xfrm>
        </p:grpSpPr>
        <p:sp>
          <p:nvSpPr>
            <p:cNvPr id="85" name="PM evaluation"/>
            <p:cNvSpPr/>
            <p:nvPr/>
          </p:nvSpPr>
          <p:spPr>
            <a:xfrm>
              <a:off x="2395728" y="1572768"/>
              <a:ext cx="2157984" cy="382676"/>
            </a:xfrm>
            <a:prstGeom prst="roundRect">
              <a:avLst>
                <a:gd name="adj" fmla="val 16726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6" name="Icon gauge"/>
            <p:cNvSpPr/>
            <p:nvPr/>
          </p:nvSpPr>
          <p:spPr>
            <a:xfrm>
              <a:off x="2468880" y="1650492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14000"/>
                  </a:moveTo>
                  <a:lnTo>
                    <a:pt x="16000" y="10000"/>
                  </a:lnTo>
                </a:path>
                <a:path w="24000" h="24000" fill="none">
                  <a:moveTo>
                    <a:pt x="3340" y="19000"/>
                  </a:moveTo>
                  <a:cubicBezTo>
                    <a:pt x="913" y="14797"/>
                    <a:pt x="1854" y="9459"/>
                    <a:pt x="5572" y="6339"/>
                  </a:cubicBezTo>
                  <a:cubicBezTo>
                    <a:pt x="9290" y="3220"/>
                    <a:pt x="14710" y="3220"/>
                    <a:pt x="18428" y="6339"/>
                  </a:cubicBezTo>
                  <a:cubicBezTo>
                    <a:pt x="22146" y="9459"/>
                    <a:pt x="23087" y="14797"/>
                    <a:pt x="20660" y="19000"/>
                  </a:cubicBezTo>
                </a:path>
              </a:pathLst>
            </a:custGeom>
            <a:noFill/>
            <a:ln w="12573" cap="rnd">
              <a:solidFill>
                <a:srgbClr val="165FF2"/>
              </a:solidFill>
              <a:round/>
            </a:ln>
          </p:spPr>
        </p:sp>
        <p:sp>
          <p:nvSpPr>
            <p:cNvPr id="87" name="PM evaluation title"/>
            <p:cNvSpPr txBox="1"/>
            <p:nvPr/>
          </p:nvSpPr>
          <p:spPr>
            <a:xfrm>
              <a:off x="2688336" y="1645920"/>
              <a:ext cx="1792224" cy="1051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PM evaluation</a:t>
              </a:r>
              <a:endParaRPr lang="en-US" sz="720" dirty="0">
                <a:latin typeface="Inter SemiBold"/>
              </a:endParaRPr>
            </a:p>
          </p:txBody>
        </p:sp>
        <p:sp>
          <p:nvSpPr>
            <p:cNvPr id="88" name="PM evaluation desc"/>
            <p:cNvSpPr txBox="1"/>
            <p:nvPr/>
          </p:nvSpPr>
          <p:spPr>
            <a:xfrm>
              <a:off x="2468880" y="1783080"/>
              <a:ext cx="2011680" cy="99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1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Hours limit or period reached → PM work order</a:t>
              </a:r>
              <a:endParaRPr lang="en-US" sz="630" dirty="0">
                <a:latin typeface="Inter"/>
              </a:endParaRPr>
            </a:p>
          </p:txBody>
        </p:sp>
      </p:grpSp>
      <p:grpSp>
        <p:nvGrpSpPr>
          <p:cNvPr id="89" name="Trigger type recorded"/>
          <p:cNvGrpSpPr/>
          <p:nvPr/>
        </p:nvGrpSpPr>
        <p:grpSpPr>
          <a:xfrm>
            <a:off x="2395728" y="2019452"/>
            <a:ext cx="2157984" cy="583844"/>
            <a:chOff x="2395728" y="2019452"/>
            <a:chExt cx="2157984" cy="583844"/>
          </a:xfrm>
        </p:grpSpPr>
        <p:sp>
          <p:nvSpPr>
            <p:cNvPr id="90" name="Trigger type recorded"/>
            <p:cNvSpPr/>
            <p:nvPr/>
          </p:nvSpPr>
          <p:spPr>
            <a:xfrm>
              <a:off x="2395728" y="2019452"/>
              <a:ext cx="2157984" cy="583844"/>
            </a:xfrm>
            <a:prstGeom prst="roundRect">
              <a:avLst>
                <a:gd name="adj" fmla="val 10963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1" name="Icon tag"/>
            <p:cNvSpPr/>
            <p:nvPr/>
          </p:nvSpPr>
          <p:spPr>
            <a:xfrm>
              <a:off x="2468880" y="2097176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586" y="2586"/>
                  </a:moveTo>
                  <a:cubicBezTo>
                    <a:pt x="12211" y="2211"/>
                    <a:pt x="11702" y="2000"/>
                    <a:pt x="11172" y="2000"/>
                  </a:cubicBezTo>
                  <a:lnTo>
                    <a:pt x="4000" y="2000"/>
                  </a:lnTo>
                  <a:cubicBezTo>
                    <a:pt x="2895" y="2000"/>
                    <a:pt x="2000" y="2895"/>
                    <a:pt x="2000" y="4000"/>
                  </a:cubicBezTo>
                  <a:lnTo>
                    <a:pt x="2000" y="11172"/>
                  </a:lnTo>
                  <a:cubicBezTo>
                    <a:pt x="2000" y="11702"/>
                    <a:pt x="2211" y="12211"/>
                    <a:pt x="2586" y="12586"/>
                  </a:cubicBezTo>
                  <a:lnTo>
                    <a:pt x="11290" y="21290"/>
                  </a:lnTo>
                  <a:cubicBezTo>
                    <a:pt x="12236" y="22230"/>
                    <a:pt x="13764" y="22230"/>
                    <a:pt x="14710" y="21290"/>
                  </a:cubicBezTo>
                  <a:lnTo>
                    <a:pt x="21290" y="14710"/>
                  </a:lnTo>
                  <a:cubicBezTo>
                    <a:pt x="22230" y="13764"/>
                    <a:pt x="22230" y="12236"/>
                    <a:pt x="21290" y="11290"/>
                  </a:cubicBezTo>
                  <a:close/>
                </a:path>
                <a:path w="24000" h="24000" fill="none">
                  <a:moveTo>
                    <a:pt x="8000" y="7500"/>
                  </a:moveTo>
                  <a:cubicBezTo>
                    <a:pt x="8000" y="7776"/>
                    <a:pt x="7776" y="8000"/>
                    <a:pt x="7500" y="8000"/>
                  </a:cubicBezTo>
                  <a:cubicBezTo>
                    <a:pt x="7224" y="8000"/>
                    <a:pt x="7000" y="7776"/>
                    <a:pt x="7000" y="7500"/>
                  </a:cubicBezTo>
                  <a:cubicBezTo>
                    <a:pt x="7000" y="7224"/>
                    <a:pt x="7224" y="7000"/>
                    <a:pt x="7500" y="7000"/>
                  </a:cubicBezTo>
                  <a:cubicBezTo>
                    <a:pt x="7776" y="7000"/>
                    <a:pt x="8000" y="7224"/>
                    <a:pt x="8000" y="7500"/>
                  </a:cubicBezTo>
                  <a:close/>
                </a:path>
              </a:pathLst>
            </a:custGeom>
            <a:noFill/>
            <a:ln w="12573" cap="rnd">
              <a:solidFill>
                <a:srgbClr val="165FF2"/>
              </a:solidFill>
              <a:round/>
            </a:ln>
          </p:spPr>
        </p:sp>
        <p:sp>
          <p:nvSpPr>
            <p:cNvPr id="92" name="Trigger type recorded title"/>
            <p:cNvSpPr txBox="1"/>
            <p:nvPr/>
          </p:nvSpPr>
          <p:spPr>
            <a:xfrm>
              <a:off x="2688336" y="2092604"/>
              <a:ext cx="1792224" cy="1051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Trigger type recorded</a:t>
              </a:r>
              <a:endParaRPr lang="en-US" sz="720" dirty="0">
                <a:latin typeface="Inter SemiBold"/>
              </a:endParaRPr>
            </a:p>
          </p:txBody>
        </p:sp>
        <p:sp>
          <p:nvSpPr>
            <p:cNvPr id="93" name="Trigger type recorded desc"/>
            <p:cNvSpPr txBox="1"/>
            <p:nvPr/>
          </p:nvSpPr>
          <p:spPr>
            <a:xfrm>
              <a:off x="2468880" y="2229764"/>
              <a:ext cx="2011680" cy="99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1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Value or due date kept on the work order</a:t>
              </a:r>
              <a:endParaRPr lang="en-US" sz="630" dirty="0">
                <a:latin typeface="Inter"/>
              </a:endParaRPr>
            </a:p>
          </p:txBody>
        </p:sp>
        <p:grpSp>
          <p:nvGrpSpPr>
            <p:cNvPr id="94" name="Chip Running Hours"/>
            <p:cNvGrpSpPr/>
            <p:nvPr/>
          </p:nvGrpSpPr>
          <p:grpSpPr>
            <a:xfrm>
              <a:off x="2468880" y="2392985"/>
              <a:ext cx="636599" cy="137160"/>
              <a:chOff x="2468880" y="2392985"/>
              <a:chExt cx="636599" cy="137160"/>
            </a:xfrm>
          </p:grpSpPr>
          <p:sp>
            <p:nvSpPr>
              <p:cNvPr id="95" name="Chip fill"/>
              <p:cNvSpPr/>
              <p:nvPr/>
            </p:nvSpPr>
            <p:spPr>
              <a:xfrm>
                <a:off x="2468880" y="2392985"/>
                <a:ext cx="636599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96" name="Chip label"/>
              <p:cNvSpPr txBox="1"/>
              <p:nvPr/>
            </p:nvSpPr>
            <p:spPr>
              <a:xfrm>
                <a:off x="2523744" y="2392985"/>
                <a:ext cx="554303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E3FA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Running Hours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97" name="Chip Scheduled Period"/>
            <p:cNvGrpSpPr/>
            <p:nvPr/>
          </p:nvGrpSpPr>
          <p:grpSpPr>
            <a:xfrm>
              <a:off x="3151199" y="2392985"/>
              <a:ext cx="737961" cy="137160"/>
              <a:chOff x="3151199" y="2392985"/>
              <a:chExt cx="737961" cy="137160"/>
            </a:xfrm>
          </p:grpSpPr>
          <p:sp>
            <p:nvSpPr>
              <p:cNvPr id="98" name="Chip fill"/>
              <p:cNvSpPr/>
              <p:nvPr/>
            </p:nvSpPr>
            <p:spPr>
              <a:xfrm>
                <a:off x="3151199" y="2392985"/>
                <a:ext cx="737961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99" name="Chip label"/>
              <p:cNvSpPr txBox="1"/>
              <p:nvPr/>
            </p:nvSpPr>
            <p:spPr>
              <a:xfrm>
                <a:off x="3206063" y="2392985"/>
                <a:ext cx="65566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E3FA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Scheduled Period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00" name="Chip Breakdown"/>
            <p:cNvGrpSpPr/>
            <p:nvPr/>
          </p:nvGrpSpPr>
          <p:grpSpPr>
            <a:xfrm>
              <a:off x="3934881" y="2392985"/>
              <a:ext cx="509361" cy="137160"/>
              <a:chOff x="3934881" y="2392985"/>
              <a:chExt cx="509361" cy="137160"/>
            </a:xfrm>
          </p:grpSpPr>
          <p:sp>
            <p:nvSpPr>
              <p:cNvPr id="101" name="Chip fill"/>
              <p:cNvSpPr/>
              <p:nvPr/>
            </p:nvSpPr>
            <p:spPr>
              <a:xfrm>
                <a:off x="3934881" y="2392985"/>
                <a:ext cx="509361" cy="137160"/>
              </a:xfrm>
              <a:prstGeom prst="roundRect">
                <a:avLst>
                  <a:gd name="adj" fmla="val 2000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02" name="Chip label"/>
              <p:cNvSpPr txBox="1"/>
              <p:nvPr/>
            </p:nvSpPr>
            <p:spPr>
              <a:xfrm>
                <a:off x="3989745" y="2392985"/>
                <a:ext cx="42706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E3FA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Breakdown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103" name="Breakdown work order"/>
          <p:cNvGrpSpPr/>
          <p:nvPr/>
        </p:nvGrpSpPr>
        <p:grpSpPr>
          <a:xfrm>
            <a:off x="2395728" y="2667305"/>
            <a:ext cx="2157984" cy="382676"/>
            <a:chOff x="2395728" y="2667305"/>
            <a:chExt cx="2157984" cy="382676"/>
          </a:xfrm>
        </p:grpSpPr>
        <p:sp>
          <p:nvSpPr>
            <p:cNvPr id="104" name="Breakdown work order"/>
            <p:cNvSpPr/>
            <p:nvPr/>
          </p:nvSpPr>
          <p:spPr>
            <a:xfrm>
              <a:off x="2395728" y="2667305"/>
              <a:ext cx="2157984" cy="382676"/>
            </a:xfrm>
            <a:prstGeom prst="roundRect">
              <a:avLst>
                <a:gd name="adj" fmla="val 16726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05" name="Icon triangle-alert"/>
            <p:cNvSpPr/>
            <p:nvPr/>
          </p:nvSpPr>
          <p:spPr>
            <a:xfrm>
              <a:off x="2468880" y="2745029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730" y="18000"/>
                  </a:moveTo>
                  <a:lnTo>
                    <a:pt x="13730" y="4000"/>
                  </a:lnTo>
                  <a:cubicBezTo>
                    <a:pt x="13375" y="3373"/>
                    <a:pt x="12710" y="2986"/>
                    <a:pt x="11990" y="2986"/>
                  </a:cubicBezTo>
                  <a:cubicBezTo>
                    <a:pt x="11270" y="2986"/>
                    <a:pt x="10605" y="3373"/>
                    <a:pt x="10250" y="4000"/>
                  </a:cubicBezTo>
                  <a:lnTo>
                    <a:pt x="2250" y="18000"/>
                  </a:lnTo>
                  <a:cubicBezTo>
                    <a:pt x="1891" y="18622"/>
                    <a:pt x="1893" y="19388"/>
                    <a:pt x="2254" y="20008"/>
                  </a:cubicBezTo>
                  <a:cubicBezTo>
                    <a:pt x="2616" y="20628"/>
                    <a:pt x="3282" y="21006"/>
                    <a:pt x="4000" y="21000"/>
                  </a:cubicBezTo>
                  <a:lnTo>
                    <a:pt x="20000" y="21000"/>
                  </a:lnTo>
                  <a:cubicBezTo>
                    <a:pt x="20714" y="20999"/>
                    <a:pt x="21374" y="20618"/>
                    <a:pt x="21731" y="19999"/>
                  </a:cubicBezTo>
                  <a:cubicBezTo>
                    <a:pt x="22087" y="19380"/>
                    <a:pt x="22087" y="18618"/>
                    <a:pt x="21730" y="18000"/>
                  </a:cubicBezTo>
                </a:path>
                <a:path w="24000" h="24000" fill="none">
                  <a:moveTo>
                    <a:pt x="12000" y="9000"/>
                  </a:moveTo>
                  <a:lnTo>
                    <a:pt x="12000" y="13000"/>
                  </a:ln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12573" cap="rnd">
              <a:solidFill>
                <a:srgbClr val="165FF2"/>
              </a:solidFill>
              <a:round/>
            </a:ln>
          </p:spPr>
        </p:sp>
        <p:sp>
          <p:nvSpPr>
            <p:cNvPr id="106" name="Breakdown work order title"/>
            <p:cNvSpPr txBox="1"/>
            <p:nvPr/>
          </p:nvSpPr>
          <p:spPr>
            <a:xfrm>
              <a:off x="2688336" y="2740457"/>
              <a:ext cx="1792224" cy="1051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Breakdown work order</a:t>
              </a:r>
              <a:endParaRPr lang="en-US" sz="720" dirty="0">
                <a:latin typeface="Inter SemiBold"/>
              </a:endParaRPr>
            </a:p>
          </p:txBody>
        </p:sp>
        <p:sp>
          <p:nvSpPr>
            <p:cNvPr id="107" name="Breakdown work order desc"/>
            <p:cNvSpPr txBox="1"/>
            <p:nvPr/>
          </p:nvSpPr>
          <p:spPr>
            <a:xfrm>
              <a:off x="2468880" y="2877617"/>
              <a:ext cx="2011680" cy="99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1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Created as soon as it is reported in the platform</a:t>
              </a:r>
              <a:endParaRPr lang="en-US" sz="630" dirty="0">
                <a:latin typeface="Inter"/>
              </a:endParaRPr>
            </a:p>
          </p:txBody>
        </p:sp>
      </p:grpSp>
      <p:grpSp>
        <p:nvGrpSpPr>
          <p:cNvPr id="108" name="Decision"/>
          <p:cNvGrpSpPr/>
          <p:nvPr/>
        </p:nvGrpSpPr>
        <p:grpSpPr>
          <a:xfrm>
            <a:off x="4636008" y="1572768"/>
            <a:ext cx="2157984" cy="742315"/>
            <a:chOff x="4636008" y="1572768"/>
            <a:chExt cx="2157984" cy="742315"/>
          </a:xfrm>
        </p:grpSpPr>
        <p:sp>
          <p:nvSpPr>
            <p:cNvPr id="109" name="Decision card"/>
            <p:cNvSpPr/>
            <p:nvPr/>
          </p:nvSpPr>
          <p:spPr>
            <a:xfrm>
              <a:off x="4636008" y="1572768"/>
              <a:ext cx="2157984" cy="742315"/>
            </a:xfrm>
            <a:prstGeom prst="roundRect">
              <a:avLst>
                <a:gd name="adj" fmla="val 8623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10" name="Icon git-branch"/>
            <p:cNvSpPr/>
            <p:nvPr/>
          </p:nvSpPr>
          <p:spPr>
            <a:xfrm>
              <a:off x="4709160" y="1650492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3000"/>
                  </a:moveTo>
                  <a:lnTo>
                    <a:pt x="6000" y="15000"/>
                  </a:lnTo>
                </a:path>
                <a:path w="24000" h="24000" fill="none">
                  <a:moveTo>
                    <a:pt x="21000" y="6000"/>
                  </a:moveTo>
                  <a:cubicBezTo>
                    <a:pt x="21000" y="7657"/>
                    <a:pt x="19657" y="9000"/>
                    <a:pt x="18000" y="9000"/>
                  </a:cubicBezTo>
                  <a:cubicBezTo>
                    <a:pt x="16343" y="9000"/>
                    <a:pt x="15000" y="7657"/>
                    <a:pt x="15000" y="6000"/>
                  </a:cubicBezTo>
                  <a:cubicBezTo>
                    <a:pt x="15000" y="4343"/>
                    <a:pt x="16343" y="3000"/>
                    <a:pt x="18000" y="3000"/>
                  </a:cubicBezTo>
                  <a:cubicBezTo>
                    <a:pt x="19657" y="3000"/>
                    <a:pt x="21000" y="4343"/>
                    <a:pt x="21000" y="6000"/>
                  </a:cubicBezTo>
                  <a:close/>
                </a:path>
                <a:path w="24000" h="24000" fill="none">
                  <a:moveTo>
                    <a:pt x="9000" y="18000"/>
                  </a:moveTo>
                  <a:cubicBezTo>
                    <a:pt x="9000" y="19657"/>
                    <a:pt x="7657" y="21000"/>
                    <a:pt x="6000" y="21000"/>
                  </a:cubicBezTo>
                  <a:cubicBezTo>
                    <a:pt x="4343" y="21000"/>
                    <a:pt x="3000" y="19657"/>
                    <a:pt x="3000" y="18000"/>
                  </a:cubicBezTo>
                  <a:cubicBezTo>
                    <a:pt x="3000" y="16343"/>
                    <a:pt x="4343" y="15000"/>
                    <a:pt x="6000" y="15000"/>
                  </a:cubicBezTo>
                  <a:cubicBezTo>
                    <a:pt x="7657" y="15000"/>
                    <a:pt x="9000" y="16343"/>
                    <a:pt x="9000" y="18000"/>
                  </a:cubicBezTo>
                  <a:close/>
                </a:path>
                <a:path w="24000" h="24000" fill="none">
                  <a:moveTo>
                    <a:pt x="18000" y="9000"/>
                  </a:moveTo>
                  <a:cubicBezTo>
                    <a:pt x="18000" y="13971"/>
                    <a:pt x="13971" y="18000"/>
                    <a:pt x="9000" y="18000"/>
                  </a:cubicBezTo>
                </a:path>
              </a:pathLst>
            </a:custGeom>
            <a:noFill/>
            <a:ln w="12573" cap="rnd">
              <a:solidFill>
                <a:srgbClr val="165FF2"/>
              </a:solidFill>
              <a:round/>
            </a:ln>
          </p:spPr>
        </p:sp>
        <p:sp>
          <p:nvSpPr>
            <p:cNvPr id="111" name="Decision title"/>
            <p:cNvSpPr txBox="1"/>
            <p:nvPr/>
          </p:nvSpPr>
          <p:spPr>
            <a:xfrm>
              <a:off x="4928616" y="1645920"/>
              <a:ext cx="1792224" cy="1022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05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Auto-assignment  ·  AMC vendor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112" name="Question"/>
            <p:cNvSpPr/>
            <p:nvPr/>
          </p:nvSpPr>
          <p:spPr>
            <a:xfrm>
              <a:off x="4709160" y="1812163"/>
              <a:ext cx="1665371" cy="173736"/>
            </a:xfrm>
            <a:prstGeom prst="roundRect">
              <a:avLst>
                <a:gd name="adj" fmla="val 21053"/>
              </a:avLst>
            </a:prstGeom>
            <a:solidFill>
              <a:srgbClr val="F1F5FA"/>
            </a:solidFill>
            <a:ln w="6350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13" name="Question text"/>
            <p:cNvSpPr txBox="1"/>
            <p:nvPr/>
          </p:nvSpPr>
          <p:spPr>
            <a:xfrm>
              <a:off x="4709160" y="1812163"/>
              <a:ext cx="1665371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30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Active AMC vendor + SPOC mapped?</a:t>
              </a:r>
              <a:endParaRPr lang="en-US" sz="630" dirty="0">
                <a:latin typeface="Inter SemiBold"/>
              </a:endParaRPr>
            </a:p>
          </p:txBody>
        </p:sp>
        <p:cxnSp>
          <p:nvCxnSpPr>
            <p:cNvPr id="114" name="Yes link"/>
            <p:cNvCxnSpPr/>
            <p:nvPr/>
          </p:nvCxnSpPr>
          <p:spPr>
            <a:xfrm>
              <a:off x="4818888" y="1985899"/>
              <a:ext cx="0" cy="118872"/>
            </a:xfrm>
            <a:prstGeom prst="straightConnector1">
              <a:avLst/>
            </a:prstGeom>
            <a:noFill/>
            <a:ln w="6350">
              <a:solidFill>
                <a:srgbClr val="B1C1D2"/>
              </a:solidFill>
              <a:round/>
            </a:ln>
          </p:spPr>
        </p:cxnSp>
        <p:cxnSp>
          <p:nvCxnSpPr>
            <p:cNvPr id="115" name="No link"/>
            <p:cNvCxnSpPr/>
            <p:nvPr/>
          </p:nvCxnSpPr>
          <p:spPr>
            <a:xfrm>
              <a:off x="6328811" y="1985899"/>
              <a:ext cx="0" cy="59436"/>
            </a:xfrm>
            <a:prstGeom prst="straightConnector1">
              <a:avLst/>
            </a:prstGeom>
            <a:noFill/>
            <a:ln w="6350">
              <a:solidFill>
                <a:srgbClr val="B1C1D2"/>
              </a:solidFill>
              <a:round/>
            </a:ln>
          </p:spPr>
        </p:cxnSp>
        <p:cxnSp>
          <p:nvCxnSpPr>
            <p:cNvPr id="116" name="No link b"/>
            <p:cNvCxnSpPr/>
            <p:nvPr/>
          </p:nvCxnSpPr>
          <p:spPr>
            <a:xfrm flipH="1">
              <a:off x="6000850" y="2045335"/>
              <a:ext cx="327961" cy="0"/>
            </a:xfrm>
            <a:prstGeom prst="straightConnector1">
              <a:avLst/>
            </a:prstGeom>
            <a:noFill/>
            <a:ln w="6350">
              <a:solidFill>
                <a:srgbClr val="B1C1D2"/>
              </a:solidFill>
              <a:round/>
            </a:ln>
          </p:spPr>
        </p:cxnSp>
        <p:cxnSp>
          <p:nvCxnSpPr>
            <p:cNvPr id="117" name="No link c"/>
            <p:cNvCxnSpPr/>
            <p:nvPr/>
          </p:nvCxnSpPr>
          <p:spPr>
            <a:xfrm>
              <a:off x="6000850" y="2045335"/>
              <a:ext cx="0" cy="59436"/>
            </a:xfrm>
            <a:prstGeom prst="straightConnector1">
              <a:avLst/>
            </a:prstGeom>
            <a:noFill/>
            <a:ln w="6350">
              <a:solidFill>
                <a:srgbClr val="B1C1D2"/>
              </a:solidFill>
              <a:round/>
            </a:ln>
          </p:spPr>
        </p:cxnSp>
        <p:grpSp>
          <p:nvGrpSpPr>
            <p:cNvPr id="118" name="Chip Primary SPOC assigned"/>
            <p:cNvGrpSpPr/>
            <p:nvPr/>
          </p:nvGrpSpPr>
          <p:grpSpPr>
            <a:xfrm>
              <a:off x="4709160" y="2104771"/>
              <a:ext cx="1072234" cy="137160"/>
              <a:chOff x="4709160" y="2104771"/>
              <a:chExt cx="1072234" cy="137160"/>
            </a:xfrm>
          </p:grpSpPr>
          <p:sp>
            <p:nvSpPr>
              <p:cNvPr id="119" name="Chip fill"/>
              <p:cNvSpPr/>
              <p:nvPr/>
            </p:nvSpPr>
            <p:spPr>
              <a:xfrm>
                <a:off x="4709160" y="2104771"/>
                <a:ext cx="1072234" cy="137160"/>
              </a:xfrm>
              <a:prstGeom prst="roundRect">
                <a:avLst>
                  <a:gd name="adj" fmla="val 20000"/>
                </a:avLst>
              </a:prstGeom>
              <a:solidFill>
                <a:srgbClr val="00A251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20" name="Icon circle-check"/>
              <p:cNvSpPr/>
              <p:nvPr/>
            </p:nvSpPr>
            <p:spPr>
              <a:xfrm>
                <a:off x="4768596" y="2130831"/>
                <a:ext cx="85039" cy="85039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7523"/>
                      <a:pt x="17523" y="22000"/>
                      <a:pt x="12000" y="22000"/>
                    </a:cubicBezTo>
                    <a:cubicBezTo>
                      <a:pt x="6477" y="22000"/>
                      <a:pt x="2000" y="17523"/>
                      <a:pt x="2000" y="12000"/>
                    </a:cubicBezTo>
                    <a:cubicBezTo>
                      <a:pt x="2000" y="6477"/>
                      <a:pt x="6477" y="2000"/>
                      <a:pt x="12000" y="2000"/>
                    </a:cubicBezTo>
                    <a:cubicBezTo>
                      <a:pt x="17523" y="2000"/>
                      <a:pt x="22000" y="6477"/>
                      <a:pt x="22000" y="12000"/>
                    </a:cubicBezTo>
                    <a:close/>
                  </a:path>
                  <a:path w="24000" h="24000" fill="none">
                    <a:moveTo>
                      <a:pt x="9000" y="12000"/>
                    </a:moveTo>
                    <a:lnTo>
                      <a:pt x="11000" y="14000"/>
                    </a:lnTo>
                    <a:lnTo>
                      <a:pt x="15000" y="10000"/>
                    </a:lnTo>
                  </a:path>
                </a:pathLst>
              </a:custGeom>
              <a:noFill/>
              <a:ln w="7795" cap="rnd">
                <a:solidFill>
                  <a:srgbClr val="008743"/>
                </a:solidFill>
                <a:round/>
              </a:ln>
            </p:spPr>
          </p:sp>
          <p:sp>
            <p:nvSpPr>
              <p:cNvPr id="121" name="Chip label"/>
              <p:cNvSpPr txBox="1"/>
              <p:nvPr/>
            </p:nvSpPr>
            <p:spPr>
              <a:xfrm>
                <a:off x="4881067" y="2104771"/>
                <a:ext cx="87289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00874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Primary SPOC assigned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22" name="Chip Mapping required"/>
            <p:cNvGrpSpPr/>
            <p:nvPr/>
          </p:nvGrpSpPr>
          <p:grpSpPr>
            <a:xfrm>
              <a:off x="5891122" y="2104771"/>
              <a:ext cx="856592" cy="137160"/>
              <a:chOff x="5891122" y="2104771"/>
              <a:chExt cx="856592" cy="137160"/>
            </a:xfrm>
          </p:grpSpPr>
          <p:sp>
            <p:nvSpPr>
              <p:cNvPr id="123" name="Chip fill"/>
              <p:cNvSpPr/>
              <p:nvPr/>
            </p:nvSpPr>
            <p:spPr>
              <a:xfrm>
                <a:off x="5891122" y="2104771"/>
                <a:ext cx="85659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E9690C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24" name="Icon circle-alert"/>
              <p:cNvSpPr/>
              <p:nvPr/>
            </p:nvSpPr>
            <p:spPr>
              <a:xfrm>
                <a:off x="5950558" y="2130831"/>
                <a:ext cx="85039" cy="85039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2000" y="12000"/>
                    </a:moveTo>
                    <a:cubicBezTo>
                      <a:pt x="22000" y="17523"/>
                      <a:pt x="17523" y="22000"/>
                      <a:pt x="12000" y="22000"/>
                    </a:cubicBezTo>
                    <a:cubicBezTo>
                      <a:pt x="6477" y="22000"/>
                      <a:pt x="2000" y="17523"/>
                      <a:pt x="2000" y="12000"/>
                    </a:cubicBezTo>
                    <a:cubicBezTo>
                      <a:pt x="2000" y="6477"/>
                      <a:pt x="6477" y="2000"/>
                      <a:pt x="12000" y="2000"/>
                    </a:cubicBezTo>
                    <a:cubicBezTo>
                      <a:pt x="17523" y="2000"/>
                      <a:pt x="22000" y="6477"/>
                      <a:pt x="22000" y="12000"/>
                    </a:cubicBezTo>
                    <a:close/>
                  </a:path>
                  <a:path w="24000" h="24000" fill="none">
                    <a:moveTo>
                      <a:pt x="12000" y="8000"/>
                    </a:moveTo>
                    <a:lnTo>
                      <a:pt x="12000" y="12000"/>
                    </a:lnTo>
                  </a:path>
                  <a:path w="24000" h="24000" fill="none">
                    <a:moveTo>
                      <a:pt x="12000" y="16000"/>
                    </a:moveTo>
                    <a:lnTo>
                      <a:pt x="12010" y="16000"/>
                    </a:lnTo>
                  </a:path>
                </a:pathLst>
              </a:custGeom>
              <a:noFill/>
              <a:ln w="7795" cap="rnd">
                <a:solidFill>
                  <a:srgbClr val="C65C10"/>
                </a:solidFill>
                <a:round/>
              </a:ln>
            </p:spPr>
          </p:sp>
          <p:sp>
            <p:nvSpPr>
              <p:cNvPr id="125" name="Chip label"/>
              <p:cNvSpPr txBox="1"/>
              <p:nvPr/>
            </p:nvSpPr>
            <p:spPr>
              <a:xfrm>
                <a:off x="6063029" y="2104771"/>
                <a:ext cx="657253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C65C1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Mapping required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126" name="Initial notification"/>
          <p:cNvGrpSpPr/>
          <p:nvPr/>
        </p:nvGrpSpPr>
        <p:grpSpPr>
          <a:xfrm>
            <a:off x="4636008" y="2379091"/>
            <a:ext cx="2157984" cy="382676"/>
            <a:chOff x="4636008" y="2379091"/>
            <a:chExt cx="2157984" cy="382676"/>
          </a:xfrm>
        </p:grpSpPr>
        <p:sp>
          <p:nvSpPr>
            <p:cNvPr id="127" name="Initial notification"/>
            <p:cNvSpPr/>
            <p:nvPr/>
          </p:nvSpPr>
          <p:spPr>
            <a:xfrm>
              <a:off x="4636008" y="2379091"/>
              <a:ext cx="2157984" cy="382676"/>
            </a:xfrm>
            <a:prstGeom prst="roundRect">
              <a:avLst>
                <a:gd name="adj" fmla="val 16726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28" name="Icon send"/>
            <p:cNvSpPr/>
            <p:nvPr/>
          </p:nvSpPr>
          <p:spPr>
            <a:xfrm>
              <a:off x="4709160" y="2456815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536" y="21686"/>
                  </a:moveTo>
                  <a:cubicBezTo>
                    <a:pt x="14614" y="21880"/>
                    <a:pt x="14804" y="22005"/>
                    <a:pt x="15013" y="22000"/>
                  </a:cubicBezTo>
                  <a:cubicBezTo>
                    <a:pt x="15222" y="21994"/>
                    <a:pt x="15405" y="21860"/>
                    <a:pt x="15473" y="21662"/>
                  </a:cubicBezTo>
                  <a:lnTo>
                    <a:pt x="21973" y="2662"/>
                  </a:lnTo>
                  <a:cubicBezTo>
                    <a:pt x="22038" y="2481"/>
                    <a:pt x="21993" y="2279"/>
                    <a:pt x="21857" y="2143"/>
                  </a:cubicBezTo>
                  <a:cubicBezTo>
                    <a:pt x="21721" y="2007"/>
                    <a:pt x="21519" y="1962"/>
                    <a:pt x="21338" y="2027"/>
                  </a:cubicBezTo>
                  <a:lnTo>
                    <a:pt x="2338" y="8527"/>
                  </a:lnTo>
                  <a:cubicBezTo>
                    <a:pt x="2140" y="8595"/>
                    <a:pt x="2006" y="8778"/>
                    <a:pt x="2000" y="8987"/>
                  </a:cubicBezTo>
                  <a:cubicBezTo>
                    <a:pt x="1995" y="9196"/>
                    <a:pt x="2120" y="9386"/>
                    <a:pt x="2314" y="9464"/>
                  </a:cubicBezTo>
                  <a:lnTo>
                    <a:pt x="10244" y="12644"/>
                  </a:lnTo>
                  <a:cubicBezTo>
                    <a:pt x="10751" y="12847"/>
                    <a:pt x="11152" y="13248"/>
                    <a:pt x="11356" y="13754"/>
                  </a:cubicBezTo>
                  <a:close/>
                </a:path>
                <a:path w="24000" h="24000" fill="none">
                  <a:moveTo>
                    <a:pt x="21854" y="2147"/>
                  </a:moveTo>
                  <a:lnTo>
                    <a:pt x="10914" y="13086"/>
                  </a:lnTo>
                </a:path>
              </a:pathLst>
            </a:custGeom>
            <a:noFill/>
            <a:ln w="12573" cap="rnd">
              <a:solidFill>
                <a:srgbClr val="165FF2"/>
              </a:solidFill>
              <a:round/>
            </a:ln>
          </p:spPr>
        </p:sp>
        <p:sp>
          <p:nvSpPr>
            <p:cNvPr id="129" name="Initial notification title"/>
            <p:cNvSpPr txBox="1"/>
            <p:nvPr/>
          </p:nvSpPr>
          <p:spPr>
            <a:xfrm>
              <a:off x="4928616" y="2452243"/>
              <a:ext cx="1792224" cy="1051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Initial notification</a:t>
              </a:r>
              <a:endParaRPr lang="en-US" sz="720" dirty="0">
                <a:latin typeface="Inter SemiBold"/>
              </a:endParaRPr>
            </a:p>
          </p:txBody>
        </p:sp>
        <p:sp>
          <p:nvSpPr>
            <p:cNvPr id="130" name="Initial notification desc"/>
            <p:cNvSpPr txBox="1"/>
            <p:nvPr/>
          </p:nvSpPr>
          <p:spPr>
            <a:xfrm>
              <a:off x="4709160" y="2589403"/>
              <a:ext cx="2011680" cy="99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1"/>
                </a:lnSpc>
                <a:spcBef>
                  <a:spcPts val="0"/>
                </a:spcBef>
                <a:buNone/>
              </a:pPr>
              <a:r>
                <a:rPr lang="en-US" sz="63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Email · WhatsApp · in-app, as per access</a:t>
              </a:r>
              <a:endParaRPr lang="en-US" sz="630" dirty="0">
                <a:latin typeface="Inter"/>
              </a:endParaRPr>
            </a:p>
          </p:txBody>
        </p:sp>
      </p:grpSp>
      <p:grpSp>
        <p:nvGrpSpPr>
          <p:cNvPr id="131" name="Vendor execution"/>
          <p:cNvGrpSpPr/>
          <p:nvPr/>
        </p:nvGrpSpPr>
        <p:grpSpPr>
          <a:xfrm>
            <a:off x="4636008" y="2825775"/>
            <a:ext cx="2157984" cy="798068"/>
            <a:chOff x="4636008" y="2825775"/>
            <a:chExt cx="2157984" cy="798068"/>
          </a:xfrm>
        </p:grpSpPr>
        <p:sp>
          <p:nvSpPr>
            <p:cNvPr id="132" name="Vendor card"/>
            <p:cNvSpPr/>
            <p:nvPr/>
          </p:nvSpPr>
          <p:spPr>
            <a:xfrm>
              <a:off x="4636008" y="2825775"/>
              <a:ext cx="2157984" cy="798068"/>
            </a:xfrm>
            <a:prstGeom prst="roundRect">
              <a:avLst>
                <a:gd name="adj" fmla="val 8020"/>
              </a:avLst>
            </a:prstGeom>
            <a:solidFill>
              <a:srgbClr val="0C1927"/>
            </a:solidFill>
            <a:ln w="9525">
              <a:solidFill>
                <a:srgbClr val="0C1927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33" name="Icon hard-hat"/>
            <p:cNvSpPr/>
            <p:nvPr/>
          </p:nvSpPr>
          <p:spPr>
            <a:xfrm>
              <a:off x="4709160" y="2903499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10000"/>
                  </a:moveTo>
                  <a:lnTo>
                    <a:pt x="10000" y="5000"/>
                  </a:lnTo>
                  <a:cubicBezTo>
                    <a:pt x="10000" y="4448"/>
                    <a:pt x="10448" y="4000"/>
                    <a:pt x="11000" y="4000"/>
                  </a:cubicBezTo>
                  <a:lnTo>
                    <a:pt x="13000" y="4000"/>
                  </a:lnTo>
                  <a:cubicBezTo>
                    <a:pt x="13552" y="4000"/>
                    <a:pt x="14000" y="4448"/>
                    <a:pt x="14000" y="5000"/>
                  </a:cubicBezTo>
                  <a:lnTo>
                    <a:pt x="14000" y="10000"/>
                  </a:lnTo>
                </a:path>
                <a:path w="24000" h="24000" fill="none">
                  <a:moveTo>
                    <a:pt x="14000" y="6000"/>
                  </a:moveTo>
                  <a:cubicBezTo>
                    <a:pt x="17314" y="6000"/>
                    <a:pt x="20000" y="8686"/>
                    <a:pt x="20000" y="12000"/>
                  </a:cubicBezTo>
                  <a:lnTo>
                    <a:pt x="20000" y="15000"/>
                  </a:lnTo>
                </a:path>
                <a:path w="24000" h="24000" fill="none">
                  <a:moveTo>
                    <a:pt x="4000" y="15000"/>
                  </a:moveTo>
                  <a:lnTo>
                    <a:pt x="4000" y="12000"/>
                  </a:lnTo>
                  <a:cubicBezTo>
                    <a:pt x="4000" y="8686"/>
                    <a:pt x="6686" y="6000"/>
                    <a:pt x="10000" y="6000"/>
                  </a:cubicBezTo>
                </a:path>
                <a:path w="24000" h="24000" fill="none">
                  <a:moveTo>
                    <a:pt x="3000" y="15000"/>
                  </a:moveTo>
                  <a:lnTo>
                    <a:pt x="21000" y="15000"/>
                  </a:lnTo>
                  <a:cubicBezTo>
                    <a:pt x="21552" y="15000"/>
                    <a:pt x="22000" y="15448"/>
                    <a:pt x="22000" y="16000"/>
                  </a:cubicBezTo>
                  <a:lnTo>
                    <a:pt x="22000" y="18000"/>
                  </a:lnTo>
                  <a:cubicBezTo>
                    <a:pt x="22000" y="18552"/>
                    <a:pt x="21552" y="19000"/>
                    <a:pt x="21000" y="19000"/>
                  </a:cubicBezTo>
                  <a:lnTo>
                    <a:pt x="3000" y="19000"/>
                  </a:lnTo>
                  <a:cubicBezTo>
                    <a:pt x="2448" y="19000"/>
                    <a:pt x="2000" y="18552"/>
                    <a:pt x="2000" y="18000"/>
                  </a:cubicBezTo>
                  <a:lnTo>
                    <a:pt x="2000" y="16000"/>
                  </a:lnTo>
                  <a:cubicBezTo>
                    <a:pt x="2000" y="15448"/>
                    <a:pt x="2448" y="15000"/>
                    <a:pt x="3000" y="15000"/>
                  </a:cubicBezTo>
                  <a:close/>
                </a:path>
              </a:pathLst>
            </a:custGeom>
            <a:noFill/>
            <a:ln w="12573" cap="rnd">
              <a:solidFill>
                <a:srgbClr val="8AB1FB"/>
              </a:solidFill>
              <a:round/>
            </a:ln>
          </p:spPr>
        </p:sp>
        <p:sp>
          <p:nvSpPr>
            <p:cNvPr id="134" name="Vendor title"/>
            <p:cNvSpPr txBox="1"/>
            <p:nvPr/>
          </p:nvSpPr>
          <p:spPr>
            <a:xfrm>
              <a:off x="4928616" y="2898927"/>
              <a:ext cx="1792224" cy="1188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30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AMC vendor SPOC</a:t>
              </a:r>
              <a:r>
                <a:rPr lang="en-US" sz="640" b="0" i="0" spc="0" dirty="0">
                  <a:solidFill>
                    <a:srgbClr val="B1C1D2"/>
                  </a:solidFill>
                  <a:latin typeface="Inter"/>
                  <a:ea typeface="Inter"/>
                  <a:cs typeface="Inter"/>
                  <a:sym typeface="Inter"/>
                </a:rPr>
                <a:t>  ·  web portal</a:t>
              </a:r>
              <a:endParaRPr lang="en-US" sz="720" dirty="0">
                <a:latin typeface="Inter SemiBold"/>
              </a:endParaRPr>
            </a:p>
          </p:txBody>
        </p:sp>
        <p:grpSp>
          <p:nvGrpSpPr>
            <p:cNvPr id="135" name="Chip Acknowledge"/>
            <p:cNvGrpSpPr/>
            <p:nvPr/>
          </p:nvGrpSpPr>
          <p:grpSpPr>
            <a:xfrm>
              <a:off x="4709160" y="3081807"/>
              <a:ext cx="596118" cy="137160"/>
              <a:chOff x="4709160" y="3081807"/>
              <a:chExt cx="596118" cy="137160"/>
            </a:xfrm>
          </p:grpSpPr>
          <p:sp>
            <p:nvSpPr>
              <p:cNvPr id="136" name="Chip fill"/>
              <p:cNvSpPr/>
              <p:nvPr/>
            </p:nvSpPr>
            <p:spPr>
              <a:xfrm>
                <a:off x="4709160" y="3081807"/>
                <a:ext cx="596118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37" name="Chip label"/>
              <p:cNvSpPr txBox="1"/>
              <p:nvPr/>
            </p:nvSpPr>
            <p:spPr>
              <a:xfrm>
                <a:off x="4764024" y="3081807"/>
                <a:ext cx="51382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Acknowledge</a:t>
                </a:r>
                <a:endParaRPr lang="en-US" sz="580" dirty="0">
                  <a:latin typeface="Inter SemiBold"/>
                </a:endParaRPr>
              </a:p>
            </p:txBody>
          </p:sp>
        </p:grpSp>
        <p:sp>
          <p:nvSpPr>
            <p:cNvPr id="138" name="Icon chevron-right"/>
            <p:cNvSpPr/>
            <p:nvPr/>
          </p:nvSpPr>
          <p:spPr>
            <a:xfrm>
              <a:off x="5323566" y="3104667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9000" y="18000"/>
                  </a:moveTo>
                  <a:lnTo>
                    <a:pt x="15000" y="12000"/>
                  </a:lnTo>
                  <a:lnTo>
                    <a:pt x="9000" y="6000"/>
                  </a:lnTo>
                </a:path>
              </a:pathLst>
            </a:custGeom>
            <a:noFill/>
            <a:ln w="8382" cap="rnd">
              <a:solidFill>
                <a:srgbClr val="5A8DF7"/>
              </a:solidFill>
              <a:round/>
            </a:ln>
          </p:spPr>
        </p:sp>
        <p:grpSp>
          <p:nvGrpSpPr>
            <p:cNvPr id="139" name="Chip Carry out"/>
            <p:cNvGrpSpPr/>
            <p:nvPr/>
          </p:nvGrpSpPr>
          <p:grpSpPr>
            <a:xfrm>
              <a:off x="5442438" y="3081807"/>
              <a:ext cx="444512" cy="137160"/>
              <a:chOff x="5442438" y="3081807"/>
              <a:chExt cx="444512" cy="137160"/>
            </a:xfrm>
          </p:grpSpPr>
          <p:sp>
            <p:nvSpPr>
              <p:cNvPr id="140" name="Chip fill"/>
              <p:cNvSpPr/>
              <p:nvPr/>
            </p:nvSpPr>
            <p:spPr>
              <a:xfrm>
                <a:off x="5442438" y="3081807"/>
                <a:ext cx="44451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41" name="Chip label"/>
              <p:cNvSpPr txBox="1"/>
              <p:nvPr/>
            </p:nvSpPr>
            <p:spPr>
              <a:xfrm>
                <a:off x="5497302" y="3081807"/>
                <a:ext cx="36221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Carry out</a:t>
                </a:r>
                <a:endParaRPr lang="en-US" sz="580" dirty="0">
                  <a:latin typeface="Inter SemiBold"/>
                </a:endParaRPr>
              </a:p>
            </p:txBody>
          </p:sp>
        </p:grpSp>
        <p:sp>
          <p:nvSpPr>
            <p:cNvPr id="142" name="Icon chevron-right"/>
            <p:cNvSpPr/>
            <p:nvPr/>
          </p:nvSpPr>
          <p:spPr>
            <a:xfrm>
              <a:off x="5905238" y="3104667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9000" y="18000"/>
                  </a:moveTo>
                  <a:lnTo>
                    <a:pt x="15000" y="12000"/>
                  </a:lnTo>
                  <a:lnTo>
                    <a:pt x="9000" y="6000"/>
                  </a:lnTo>
                </a:path>
              </a:pathLst>
            </a:custGeom>
            <a:noFill/>
            <a:ln w="8382" cap="rnd">
              <a:solidFill>
                <a:srgbClr val="5A8DF7"/>
              </a:solidFill>
              <a:round/>
            </a:ln>
          </p:spPr>
        </p:sp>
        <p:grpSp>
          <p:nvGrpSpPr>
            <p:cNvPr id="143" name="Chip Details + proof"/>
            <p:cNvGrpSpPr/>
            <p:nvPr/>
          </p:nvGrpSpPr>
          <p:grpSpPr>
            <a:xfrm>
              <a:off x="6024110" y="3081807"/>
              <a:ext cx="632770" cy="137160"/>
              <a:chOff x="6024110" y="3081807"/>
              <a:chExt cx="632770" cy="137160"/>
            </a:xfrm>
          </p:grpSpPr>
          <p:sp>
            <p:nvSpPr>
              <p:cNvPr id="144" name="Chip fill"/>
              <p:cNvSpPr/>
              <p:nvPr/>
            </p:nvSpPr>
            <p:spPr>
              <a:xfrm>
                <a:off x="6024110" y="3081807"/>
                <a:ext cx="632770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45" name="Chip label"/>
              <p:cNvSpPr txBox="1"/>
              <p:nvPr/>
            </p:nvSpPr>
            <p:spPr>
              <a:xfrm>
                <a:off x="6078974" y="3081807"/>
                <a:ext cx="55047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Details + proof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46" name="Chip Submit"/>
            <p:cNvGrpSpPr/>
            <p:nvPr/>
          </p:nvGrpSpPr>
          <p:grpSpPr>
            <a:xfrm>
              <a:off x="4709160" y="3264687"/>
              <a:ext cx="360295" cy="137160"/>
              <a:chOff x="4709160" y="3264687"/>
              <a:chExt cx="360295" cy="137160"/>
            </a:xfrm>
          </p:grpSpPr>
          <p:sp>
            <p:nvSpPr>
              <p:cNvPr id="147" name="Chip fill"/>
              <p:cNvSpPr/>
              <p:nvPr/>
            </p:nvSpPr>
            <p:spPr>
              <a:xfrm>
                <a:off x="4709160" y="3264687"/>
                <a:ext cx="360295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48" name="Chip label"/>
              <p:cNvSpPr txBox="1"/>
              <p:nvPr/>
            </p:nvSpPr>
            <p:spPr>
              <a:xfrm>
                <a:off x="4764024" y="3264687"/>
                <a:ext cx="277999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Submit</a:t>
                </a:r>
                <a:endParaRPr lang="en-US" sz="580" dirty="0">
                  <a:latin typeface="Inter SemiBold"/>
                </a:endParaRPr>
              </a:p>
            </p:txBody>
          </p:sp>
        </p:grpSp>
        <p:sp>
          <p:nvSpPr>
            <p:cNvPr id="149" name="Vendor note"/>
            <p:cNvSpPr txBox="1"/>
            <p:nvPr/>
          </p:nvSpPr>
          <p:spPr>
            <a:xfrm>
              <a:off x="4709160" y="3456711"/>
              <a:ext cx="2011680" cy="939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40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B1C1D2"/>
                  </a:solidFill>
                  <a:latin typeface="Inter"/>
                  <a:ea typeface="Inter"/>
                  <a:cs typeface="Inter"/>
                  <a:sym typeface="Inter"/>
                </a:rPr>
                <a:t>Action taken · parts replaced · clearance</a:t>
              </a:r>
              <a:endParaRPr lang="en-US" sz="620" dirty="0">
                <a:latin typeface="Inter"/>
              </a:endParaRPr>
            </a:p>
          </p:txBody>
        </p:sp>
      </p:grpSp>
      <p:sp>
        <p:nvSpPr>
          <p:cNvPr id="150" name="Status label"/>
          <p:cNvSpPr txBox="1"/>
          <p:nvPr/>
        </p:nvSpPr>
        <p:spPr>
          <a:xfrm>
            <a:off x="2395728" y="3706139"/>
            <a:ext cx="4572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60" dirty="0">
                <a:solidFill>
                  <a:srgbClr val="40566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STATUS</a:t>
            </a:r>
            <a:endParaRPr lang="en-US" sz="560" dirty="0">
              <a:latin typeface="Inter SemiBold"/>
            </a:endParaRPr>
          </a:p>
        </p:txBody>
      </p:sp>
      <p:sp>
        <p:nvSpPr>
          <p:cNvPr id="151" name="Pill"/>
          <p:cNvSpPr/>
          <p:nvPr/>
        </p:nvSpPr>
        <p:spPr>
          <a:xfrm>
            <a:off x="2871216" y="3706139"/>
            <a:ext cx="402142" cy="155448"/>
          </a:xfrm>
          <a:prstGeom prst="roundRect">
            <a:avLst>
              <a:gd name="adj" fmla="val 20000"/>
            </a:avLst>
          </a:prstGeom>
          <a:solidFill>
            <a:srgbClr val="F4F8FF"/>
          </a:solidFill>
          <a:ln w="6350">
            <a:solidFill>
              <a:srgbClr val="B8D0FD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52" name="Pill label"/>
          <p:cNvSpPr txBox="1"/>
          <p:nvPr/>
        </p:nvSpPr>
        <p:spPr>
          <a:xfrm>
            <a:off x="2871216" y="3706139"/>
            <a:ext cx="402142" cy="155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Created</a:t>
            </a:r>
            <a:endParaRPr lang="en-US" sz="580" dirty="0">
              <a:latin typeface="Inter SemiBold"/>
            </a:endParaRPr>
          </a:p>
        </p:txBody>
      </p:sp>
      <p:sp>
        <p:nvSpPr>
          <p:cNvPr id="153" name="Icon chevron-right"/>
          <p:cNvSpPr/>
          <p:nvPr/>
        </p:nvSpPr>
        <p:spPr>
          <a:xfrm>
            <a:off x="3287074" y="3738143"/>
            <a:ext cx="91440" cy="9144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8382" cap="rnd">
            <a:solidFill>
              <a:srgbClr val="90A5BB"/>
            </a:solidFill>
            <a:round/>
          </a:ln>
        </p:spPr>
      </p:sp>
      <p:sp>
        <p:nvSpPr>
          <p:cNvPr id="154" name="Pill"/>
          <p:cNvSpPr/>
          <p:nvPr/>
        </p:nvSpPr>
        <p:spPr>
          <a:xfrm>
            <a:off x="3392230" y="3706139"/>
            <a:ext cx="452803" cy="155448"/>
          </a:xfrm>
          <a:prstGeom prst="roundRect">
            <a:avLst>
              <a:gd name="adj" fmla="val 20000"/>
            </a:avLst>
          </a:prstGeom>
          <a:solidFill>
            <a:srgbClr val="F4F8FF"/>
          </a:solidFill>
          <a:ln w="6350">
            <a:solidFill>
              <a:srgbClr val="B8D0FD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55" name="Pill label"/>
          <p:cNvSpPr txBox="1"/>
          <p:nvPr/>
        </p:nvSpPr>
        <p:spPr>
          <a:xfrm>
            <a:off x="3392230" y="3706139"/>
            <a:ext cx="452803" cy="155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Assigned</a:t>
            </a:r>
            <a:endParaRPr lang="en-US" sz="580" dirty="0">
              <a:latin typeface="Inter SemiBold"/>
            </a:endParaRPr>
          </a:p>
        </p:txBody>
      </p:sp>
      <p:sp>
        <p:nvSpPr>
          <p:cNvPr id="156" name="Icon chevron-right"/>
          <p:cNvSpPr/>
          <p:nvPr/>
        </p:nvSpPr>
        <p:spPr>
          <a:xfrm>
            <a:off x="3858748" y="3738143"/>
            <a:ext cx="91440" cy="9144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8382" cap="rnd">
            <a:solidFill>
              <a:srgbClr val="90A5BB"/>
            </a:solidFill>
            <a:round/>
          </a:ln>
        </p:spPr>
      </p:sp>
      <p:sp>
        <p:nvSpPr>
          <p:cNvPr id="157" name="Pill"/>
          <p:cNvSpPr/>
          <p:nvPr/>
        </p:nvSpPr>
        <p:spPr>
          <a:xfrm>
            <a:off x="3963904" y="3706139"/>
            <a:ext cx="651220" cy="155448"/>
          </a:xfrm>
          <a:prstGeom prst="roundRect">
            <a:avLst>
              <a:gd name="adj" fmla="val 20000"/>
            </a:avLst>
          </a:prstGeom>
          <a:solidFill>
            <a:srgbClr val="F4F8FF"/>
          </a:solidFill>
          <a:ln w="6350">
            <a:solidFill>
              <a:srgbClr val="B8D0FD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58" name="Pill label"/>
          <p:cNvSpPr txBox="1"/>
          <p:nvPr/>
        </p:nvSpPr>
        <p:spPr>
          <a:xfrm>
            <a:off x="3963904" y="3706139"/>
            <a:ext cx="651220" cy="155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Acknowledged</a:t>
            </a:r>
            <a:endParaRPr lang="en-US" sz="580" dirty="0">
              <a:latin typeface="Inter SemiBold"/>
            </a:endParaRPr>
          </a:p>
        </p:txBody>
      </p:sp>
      <p:sp>
        <p:nvSpPr>
          <p:cNvPr id="159" name="Icon chevron-right"/>
          <p:cNvSpPr/>
          <p:nvPr/>
        </p:nvSpPr>
        <p:spPr>
          <a:xfrm>
            <a:off x="4628840" y="3738143"/>
            <a:ext cx="91440" cy="9144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8382" cap="rnd">
            <a:solidFill>
              <a:srgbClr val="90A5BB"/>
            </a:solidFill>
            <a:round/>
          </a:ln>
        </p:spPr>
      </p:sp>
      <p:sp>
        <p:nvSpPr>
          <p:cNvPr id="160" name="Pill"/>
          <p:cNvSpPr/>
          <p:nvPr/>
        </p:nvSpPr>
        <p:spPr>
          <a:xfrm>
            <a:off x="4733996" y="3706139"/>
            <a:ext cx="521045" cy="155448"/>
          </a:xfrm>
          <a:prstGeom prst="roundRect">
            <a:avLst>
              <a:gd name="adj" fmla="val 20000"/>
            </a:avLst>
          </a:prstGeom>
          <a:solidFill>
            <a:srgbClr val="F4F8FF"/>
          </a:solidFill>
          <a:ln w="6350">
            <a:solidFill>
              <a:srgbClr val="B8D0FD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61" name="Pill label"/>
          <p:cNvSpPr txBox="1"/>
          <p:nvPr/>
        </p:nvSpPr>
        <p:spPr>
          <a:xfrm>
            <a:off x="4733996" y="3706139"/>
            <a:ext cx="521045" cy="155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 Progress</a:t>
            </a:r>
            <a:endParaRPr lang="en-US" sz="580" dirty="0">
              <a:latin typeface="Inter SemiBold"/>
            </a:endParaRPr>
          </a:p>
        </p:txBody>
      </p:sp>
      <p:sp>
        <p:nvSpPr>
          <p:cNvPr id="162" name="Icon chevron-right"/>
          <p:cNvSpPr/>
          <p:nvPr/>
        </p:nvSpPr>
        <p:spPr>
          <a:xfrm>
            <a:off x="5268758" y="3738143"/>
            <a:ext cx="91440" cy="9144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8382" cap="rnd">
            <a:solidFill>
              <a:srgbClr val="90A5BB"/>
            </a:solidFill>
            <a:round/>
          </a:ln>
        </p:spPr>
      </p:sp>
      <p:sp>
        <p:nvSpPr>
          <p:cNvPr id="163" name="Pill"/>
          <p:cNvSpPr/>
          <p:nvPr/>
        </p:nvSpPr>
        <p:spPr>
          <a:xfrm>
            <a:off x="5373914" y="3706139"/>
            <a:ext cx="483739" cy="155448"/>
          </a:xfrm>
          <a:prstGeom prst="roundRect">
            <a:avLst>
              <a:gd name="adj" fmla="val 20000"/>
            </a:avLst>
          </a:prstGeom>
          <a:solidFill>
            <a:srgbClr val="F4F8FF"/>
          </a:solidFill>
          <a:ln w="6350">
            <a:solidFill>
              <a:srgbClr val="B8D0FD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64" name="Pill label"/>
          <p:cNvSpPr txBox="1"/>
          <p:nvPr/>
        </p:nvSpPr>
        <p:spPr>
          <a:xfrm>
            <a:off x="5373914" y="3706139"/>
            <a:ext cx="483739" cy="155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Submitted</a:t>
            </a:r>
            <a:endParaRPr lang="en-US" sz="580" dirty="0">
              <a:latin typeface="Inter SemiBold"/>
            </a:endParaRPr>
          </a:p>
        </p:txBody>
      </p:sp>
      <p:sp>
        <p:nvSpPr>
          <p:cNvPr id="165" name="Icon chevron-right"/>
          <p:cNvSpPr/>
          <p:nvPr/>
        </p:nvSpPr>
        <p:spPr>
          <a:xfrm>
            <a:off x="5871369" y="3738143"/>
            <a:ext cx="91440" cy="9144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8382" cap="rnd">
            <a:solidFill>
              <a:srgbClr val="90A5BB"/>
            </a:solidFill>
            <a:round/>
          </a:ln>
        </p:spPr>
      </p:sp>
      <p:sp>
        <p:nvSpPr>
          <p:cNvPr id="166" name="Pill"/>
          <p:cNvSpPr/>
          <p:nvPr/>
        </p:nvSpPr>
        <p:spPr>
          <a:xfrm>
            <a:off x="5976525" y="3706139"/>
            <a:ext cx="507909" cy="155448"/>
          </a:xfrm>
          <a:prstGeom prst="roundRect">
            <a:avLst>
              <a:gd name="adj" fmla="val 20000"/>
            </a:avLst>
          </a:prstGeom>
          <a:solidFill>
            <a:srgbClr val="EBFAF3"/>
          </a:solidFill>
          <a:ln w="6350">
            <a:solidFill>
              <a:srgbClr val="B6ECD1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67" name="Pill label"/>
          <p:cNvSpPr txBox="1"/>
          <p:nvPr/>
        </p:nvSpPr>
        <p:spPr>
          <a:xfrm>
            <a:off x="5976525" y="3706139"/>
            <a:ext cx="507909" cy="1554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00874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Completed</a:t>
            </a:r>
            <a:endParaRPr lang="en-US" sz="580" dirty="0">
              <a:latin typeface="Inter SemiBold"/>
            </a:endParaRPr>
          </a:p>
        </p:txBody>
      </p:sp>
      <p:cxnSp>
        <p:nvCxnSpPr>
          <p:cNvPr id="168" name="Output link"/>
          <p:cNvCxnSpPr/>
          <p:nvPr/>
        </p:nvCxnSpPr>
        <p:spPr>
          <a:xfrm>
            <a:off x="6903720" y="1517904"/>
            <a:ext cx="137160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grpSp>
        <p:nvGrpSpPr>
          <p:cNvPr id="169" name="Shared visibility"/>
          <p:cNvGrpSpPr/>
          <p:nvPr/>
        </p:nvGrpSpPr>
        <p:grpSpPr>
          <a:xfrm>
            <a:off x="7040880" y="1243584"/>
            <a:ext cx="1828800" cy="770458"/>
            <a:chOff x="7040880" y="1243584"/>
            <a:chExt cx="1828800" cy="770458"/>
          </a:xfrm>
        </p:grpSpPr>
        <p:sp>
          <p:nvSpPr>
            <p:cNvPr id="170" name="Shared visibility"/>
            <p:cNvSpPr/>
            <p:nvPr/>
          </p:nvSpPr>
          <p:spPr>
            <a:xfrm>
              <a:off x="7040880" y="1243584"/>
              <a:ext cx="1828800" cy="770458"/>
            </a:xfrm>
            <a:prstGeom prst="roundRect">
              <a:avLst>
                <a:gd name="adj" fmla="val 9495"/>
              </a:avLst>
            </a:prstGeom>
            <a:solidFill>
              <a:srgbClr val="165FF2"/>
            </a:solidFill>
            <a:ln w="9525">
              <a:solidFill>
                <a:srgbClr val="165FF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71" name="Icon eye"/>
            <p:cNvSpPr/>
            <p:nvPr/>
          </p:nvSpPr>
          <p:spPr>
            <a:xfrm>
              <a:off x="7123176" y="1330452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62" y="12348"/>
                  </a:moveTo>
                  <a:cubicBezTo>
                    <a:pt x="1979" y="12123"/>
                    <a:pt x="1979" y="11877"/>
                    <a:pt x="2062" y="11652"/>
                  </a:cubicBezTo>
                  <a:cubicBezTo>
                    <a:pt x="3722" y="7627"/>
                    <a:pt x="7646" y="5001"/>
                    <a:pt x="12000" y="5001"/>
                  </a:cubicBezTo>
                  <a:cubicBezTo>
                    <a:pt x="16354" y="5001"/>
                    <a:pt x="20278" y="7627"/>
                    <a:pt x="21938" y="11652"/>
                  </a:cubicBezTo>
                  <a:cubicBezTo>
                    <a:pt x="22021" y="11877"/>
                    <a:pt x="22021" y="12123"/>
                    <a:pt x="21938" y="12348"/>
                  </a:cubicBezTo>
                  <a:cubicBezTo>
                    <a:pt x="20278" y="16373"/>
                    <a:pt x="16354" y="18999"/>
                    <a:pt x="12000" y="18999"/>
                  </a:cubicBezTo>
                  <a:cubicBezTo>
                    <a:pt x="7646" y="18999"/>
                    <a:pt x="3722" y="16373"/>
                    <a:pt x="2062" y="12348"/>
                  </a:cubicBezTo>
                </a:path>
                <a:path w="24000" h="24000" fill="none">
                  <a:moveTo>
                    <a:pt x="15000" y="12000"/>
                  </a:moveTo>
                  <a:cubicBezTo>
                    <a:pt x="15000" y="13657"/>
                    <a:pt x="13657" y="15000"/>
                    <a:pt x="12000" y="15000"/>
                  </a:cubicBezTo>
                  <a:cubicBezTo>
                    <a:pt x="10343" y="15000"/>
                    <a:pt x="9000" y="13657"/>
                    <a:pt x="9000" y="12000"/>
                  </a:cubicBezTo>
                  <a:cubicBezTo>
                    <a:pt x="9000" y="10343"/>
                    <a:pt x="10343" y="9000"/>
                    <a:pt x="12000" y="9000"/>
                  </a:cubicBezTo>
                  <a:cubicBezTo>
                    <a:pt x="13657" y="9000"/>
                    <a:pt x="15000" y="10343"/>
                    <a:pt x="15000" y="12000"/>
                  </a:cubicBezTo>
                  <a:close/>
                </a:path>
              </a:pathLst>
            </a:custGeom>
            <a:noFill/>
            <a:ln w="13411" cap="rnd">
              <a:solidFill>
                <a:srgbClr val="FFFFFF"/>
              </a:solidFill>
              <a:round/>
            </a:ln>
          </p:spPr>
        </p:sp>
        <p:sp>
          <p:nvSpPr>
            <p:cNvPr id="172" name="Shared visibility title"/>
            <p:cNvSpPr txBox="1"/>
            <p:nvPr/>
          </p:nvSpPr>
          <p:spPr>
            <a:xfrm>
              <a:off x="7351776" y="1325880"/>
              <a:ext cx="1435608" cy="221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Shared visibility</a:t>
              </a:r>
              <a:endParaRPr lang="en-US" sz="720" dirty="0">
                <a:latin typeface="Inter SemiBold"/>
              </a:endParaRPr>
            </a:p>
            <a:p>
              <a:pPr algn="l">
                <a:lnSpc>
                  <a:spcPts val="769"/>
                </a:lnSpc>
                <a:spcBef>
                  <a:spcPts val="150"/>
                </a:spcBef>
                <a:buNone/>
              </a:pPr>
              <a:r>
                <a:rPr lang="en-US" sz="630" b="0" i="0" spc="0" dirty="0">
                  <a:solidFill>
                    <a:srgbClr val="DCE8FE"/>
                  </a:solidFill>
                  <a:latin typeface="Inter"/>
                  <a:ea typeface="Inter"/>
                  <a:cs typeface="Inter"/>
                  <a:sym typeface="Inter"/>
                </a:rPr>
                <a:t>Store · central · maintenance · vendor</a:t>
              </a:r>
              <a:endParaRPr lang="en-US" sz="630" dirty="0">
                <a:latin typeface="Inter"/>
              </a:endParaRPr>
            </a:p>
          </p:txBody>
        </p:sp>
        <p:grpSp>
          <p:nvGrpSpPr>
            <p:cNvPr id="173" name="Chip Breakdown tickets"/>
            <p:cNvGrpSpPr/>
            <p:nvPr/>
          </p:nvGrpSpPr>
          <p:grpSpPr>
            <a:xfrm>
              <a:off x="7123176" y="1620850"/>
              <a:ext cx="765782" cy="137160"/>
              <a:chOff x="7123176" y="1620850"/>
              <a:chExt cx="765782" cy="137160"/>
            </a:xfrm>
          </p:grpSpPr>
          <p:sp>
            <p:nvSpPr>
              <p:cNvPr id="174" name="Chip fill"/>
              <p:cNvSpPr/>
              <p:nvPr/>
            </p:nvSpPr>
            <p:spPr>
              <a:xfrm>
                <a:off x="7123176" y="1620850"/>
                <a:ext cx="765782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75" name="Chip label"/>
              <p:cNvSpPr txBox="1"/>
              <p:nvPr/>
            </p:nvSpPr>
            <p:spPr>
              <a:xfrm>
                <a:off x="7178040" y="1620850"/>
                <a:ext cx="68348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Breakdown tickets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76" name="Chip PM schedules"/>
            <p:cNvGrpSpPr/>
            <p:nvPr/>
          </p:nvGrpSpPr>
          <p:grpSpPr>
            <a:xfrm>
              <a:off x="7934678" y="1620850"/>
              <a:ext cx="610128" cy="137160"/>
              <a:chOff x="7934678" y="1620850"/>
              <a:chExt cx="610128" cy="137160"/>
            </a:xfrm>
          </p:grpSpPr>
          <p:sp>
            <p:nvSpPr>
              <p:cNvPr id="177" name="Chip fill"/>
              <p:cNvSpPr/>
              <p:nvPr/>
            </p:nvSpPr>
            <p:spPr>
              <a:xfrm>
                <a:off x="7934678" y="1620850"/>
                <a:ext cx="610128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78" name="Chip label"/>
              <p:cNvSpPr txBox="1"/>
              <p:nvPr/>
            </p:nvSpPr>
            <p:spPr>
              <a:xfrm>
                <a:off x="7989542" y="1620850"/>
                <a:ext cx="52783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PM schedules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79" name="Chip Repair history"/>
            <p:cNvGrpSpPr/>
            <p:nvPr/>
          </p:nvGrpSpPr>
          <p:grpSpPr>
            <a:xfrm>
              <a:off x="7123176" y="1794586"/>
              <a:ext cx="605207" cy="137160"/>
              <a:chOff x="7123176" y="1794586"/>
              <a:chExt cx="605207" cy="137160"/>
            </a:xfrm>
          </p:grpSpPr>
          <p:sp>
            <p:nvSpPr>
              <p:cNvPr id="180" name="Chip fill"/>
              <p:cNvSpPr/>
              <p:nvPr/>
            </p:nvSpPr>
            <p:spPr>
              <a:xfrm>
                <a:off x="7123176" y="1794586"/>
                <a:ext cx="605207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81" name="Chip label"/>
              <p:cNvSpPr txBox="1"/>
              <p:nvPr/>
            </p:nvSpPr>
            <p:spPr>
              <a:xfrm>
                <a:off x="7178040" y="1794586"/>
                <a:ext cx="52291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Repair history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182" name="Service history per DG"/>
          <p:cNvGrpSpPr/>
          <p:nvPr/>
        </p:nvGrpSpPr>
        <p:grpSpPr>
          <a:xfrm>
            <a:off x="7040880" y="2078050"/>
            <a:ext cx="1828800" cy="770458"/>
            <a:chOff x="7040880" y="2078050"/>
            <a:chExt cx="1828800" cy="770458"/>
          </a:xfrm>
        </p:grpSpPr>
        <p:sp>
          <p:nvSpPr>
            <p:cNvPr id="183" name="Service history per DG"/>
            <p:cNvSpPr/>
            <p:nvPr/>
          </p:nvSpPr>
          <p:spPr>
            <a:xfrm>
              <a:off x="7040880" y="2078050"/>
              <a:ext cx="1828800" cy="770458"/>
            </a:xfrm>
            <a:prstGeom prst="roundRect">
              <a:avLst>
                <a:gd name="adj" fmla="val 9495"/>
              </a:avLst>
            </a:prstGeom>
            <a:solidFill>
              <a:srgbClr val="0C1927"/>
            </a:solidFill>
            <a:ln w="9525">
              <a:solidFill>
                <a:srgbClr val="0C1927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84" name="Icon history"/>
            <p:cNvSpPr/>
            <p:nvPr/>
          </p:nvSpPr>
          <p:spPr>
            <a:xfrm>
              <a:off x="7123176" y="2164918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2000"/>
                  </a:moveTo>
                  <a:cubicBezTo>
                    <a:pt x="3000" y="16971"/>
                    <a:pt x="7029" y="21000"/>
                    <a:pt x="12000" y="21000"/>
                  </a:cubicBezTo>
                  <a:cubicBezTo>
                    <a:pt x="16971" y="21000"/>
                    <a:pt x="21000" y="16971"/>
                    <a:pt x="21000" y="12000"/>
                  </a:cubicBezTo>
                  <a:cubicBezTo>
                    <a:pt x="21000" y="7029"/>
                    <a:pt x="16971" y="3000"/>
                    <a:pt x="12000" y="3000"/>
                  </a:cubicBezTo>
                  <a:cubicBezTo>
                    <a:pt x="9484" y="3009"/>
                    <a:pt x="7069" y="3991"/>
                    <a:pt x="5260" y="5740"/>
                  </a:cubicBezTo>
                  <a:lnTo>
                    <a:pt x="3000" y="8000"/>
                  </a:lnTo>
                </a:path>
                <a:path w="24000" h="24000" fill="none">
                  <a:moveTo>
                    <a:pt x="3000" y="3000"/>
                  </a:moveTo>
                  <a:lnTo>
                    <a:pt x="3000" y="8000"/>
                  </a:lnTo>
                  <a:lnTo>
                    <a:pt x="8000" y="8000"/>
                  </a:lnTo>
                </a:path>
                <a:path w="24000" h="24000" fill="none">
                  <a:moveTo>
                    <a:pt x="12000" y="7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13411" cap="rnd">
              <a:solidFill>
                <a:srgbClr val="FFFFFF"/>
              </a:solidFill>
              <a:round/>
            </a:ln>
          </p:spPr>
        </p:sp>
        <p:sp>
          <p:nvSpPr>
            <p:cNvPr id="185" name="Service history per DG title"/>
            <p:cNvSpPr txBox="1"/>
            <p:nvPr/>
          </p:nvSpPr>
          <p:spPr>
            <a:xfrm>
              <a:off x="7351776" y="2160346"/>
              <a:ext cx="1435608" cy="221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Service history per DG</a:t>
              </a:r>
              <a:endParaRPr lang="en-US" sz="720" dirty="0">
                <a:latin typeface="Inter SemiBold"/>
              </a:endParaRPr>
            </a:p>
            <a:p>
              <a:pPr algn="l">
                <a:lnSpc>
                  <a:spcPts val="769"/>
                </a:lnSpc>
                <a:spcBef>
                  <a:spcPts val="150"/>
                </a:spcBef>
                <a:buNone/>
              </a:pPr>
              <a:r>
                <a:rPr lang="en-US" sz="630" b="0" i="0" spc="0" dirty="0">
                  <a:solidFill>
                    <a:srgbClr val="B1C1D2"/>
                  </a:solidFill>
                  <a:latin typeface="Inter"/>
                  <a:ea typeface="Inter"/>
                  <a:cs typeface="Inter"/>
                  <a:sym typeface="Inter"/>
                </a:rPr>
                <a:t>Kept with every work order</a:t>
              </a:r>
              <a:endParaRPr lang="en-US" sz="630" dirty="0">
                <a:latin typeface="Inter"/>
              </a:endParaRPr>
            </a:p>
          </p:txBody>
        </p:sp>
        <p:grpSp>
          <p:nvGrpSpPr>
            <p:cNvPr id="186" name="Chip Trigger &amp; value"/>
            <p:cNvGrpSpPr/>
            <p:nvPr/>
          </p:nvGrpSpPr>
          <p:grpSpPr>
            <a:xfrm>
              <a:off x="7123176" y="2455316"/>
              <a:ext cx="646978" cy="137160"/>
              <a:chOff x="7123176" y="2455316"/>
              <a:chExt cx="646978" cy="137160"/>
            </a:xfrm>
          </p:grpSpPr>
          <p:sp>
            <p:nvSpPr>
              <p:cNvPr id="187" name="Chip fill"/>
              <p:cNvSpPr/>
              <p:nvPr/>
            </p:nvSpPr>
            <p:spPr>
              <a:xfrm>
                <a:off x="7123176" y="2455316"/>
                <a:ext cx="646978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88" name="Chip label"/>
              <p:cNvSpPr txBox="1"/>
              <p:nvPr/>
            </p:nvSpPr>
            <p:spPr>
              <a:xfrm>
                <a:off x="7178040" y="2455316"/>
                <a:ext cx="56468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Trigger &amp; value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89" name="Chip Vendor &amp; SPOC"/>
            <p:cNvGrpSpPr/>
            <p:nvPr/>
          </p:nvGrpSpPr>
          <p:grpSpPr>
            <a:xfrm>
              <a:off x="7815874" y="2455316"/>
              <a:ext cx="659975" cy="137160"/>
              <a:chOff x="7815874" y="2455316"/>
              <a:chExt cx="659975" cy="137160"/>
            </a:xfrm>
          </p:grpSpPr>
          <p:sp>
            <p:nvSpPr>
              <p:cNvPr id="190" name="Chip fill"/>
              <p:cNvSpPr/>
              <p:nvPr/>
            </p:nvSpPr>
            <p:spPr>
              <a:xfrm>
                <a:off x="7815874" y="2455316"/>
                <a:ext cx="659975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91" name="Chip label"/>
              <p:cNvSpPr txBox="1"/>
              <p:nvPr/>
            </p:nvSpPr>
            <p:spPr>
              <a:xfrm>
                <a:off x="7870738" y="2455316"/>
                <a:ext cx="577679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Vendor &amp; SPOC</a:t>
                </a:r>
                <a:endParaRPr lang="en-US" sz="580" dirty="0">
                  <a:latin typeface="Inter SemiBold"/>
                </a:endParaRPr>
              </a:p>
            </p:txBody>
          </p:sp>
        </p:grpSp>
        <p:grpSp>
          <p:nvGrpSpPr>
            <p:cNvPr id="192" name="Chip Details &amp; proof"/>
            <p:cNvGrpSpPr/>
            <p:nvPr/>
          </p:nvGrpSpPr>
          <p:grpSpPr>
            <a:xfrm>
              <a:off x="7123176" y="2629052"/>
              <a:ext cx="632016" cy="137160"/>
              <a:chOff x="7123176" y="2629052"/>
              <a:chExt cx="632016" cy="137160"/>
            </a:xfrm>
          </p:grpSpPr>
          <p:sp>
            <p:nvSpPr>
              <p:cNvPr id="193" name="Chip fill"/>
              <p:cNvSpPr/>
              <p:nvPr/>
            </p:nvSpPr>
            <p:spPr>
              <a:xfrm>
                <a:off x="7123176" y="2629052"/>
                <a:ext cx="632016" cy="137160"/>
              </a:xfrm>
              <a:prstGeom prst="roundRect">
                <a:avLst>
                  <a:gd name="adj" fmla="val 20000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94" name="Chip label"/>
              <p:cNvSpPr txBox="1"/>
              <p:nvPr/>
            </p:nvSpPr>
            <p:spPr>
              <a:xfrm>
                <a:off x="7178040" y="2629052"/>
                <a:ext cx="54972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80"/>
                  </a:lnSpc>
                  <a:spcBef>
                    <a:spcPts val="0"/>
                  </a:spcBef>
                  <a:buNone/>
                </a:pPr>
                <a:r>
                  <a:rPr lang="en-US" sz="580" b="0" i="0" spc="0" dirty="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Details &amp; proof</a:t>
                </a:r>
                <a:endParaRPr lang="en-US" sz="580" dirty="0">
                  <a:latin typeface="Inter SemiBold"/>
                </a:endParaRPr>
              </a:p>
            </p:txBody>
          </p:sp>
        </p:grpSp>
      </p:grpSp>
      <p:grpSp>
        <p:nvGrpSpPr>
          <p:cNvPr id="195" name="Dashboards &amp; downloads"/>
          <p:cNvGrpSpPr/>
          <p:nvPr/>
        </p:nvGrpSpPr>
        <p:grpSpPr>
          <a:xfrm>
            <a:off x="7040880" y="2912516"/>
            <a:ext cx="1828800" cy="386410"/>
            <a:chOff x="7040880" y="2912516"/>
            <a:chExt cx="1828800" cy="386410"/>
          </a:xfrm>
        </p:grpSpPr>
        <p:sp>
          <p:nvSpPr>
            <p:cNvPr id="196" name="Dashboards &amp; downloads"/>
            <p:cNvSpPr/>
            <p:nvPr/>
          </p:nvSpPr>
          <p:spPr>
            <a:xfrm>
              <a:off x="7040880" y="2912516"/>
              <a:ext cx="1828800" cy="386410"/>
            </a:xfrm>
            <a:prstGeom prst="roundRect">
              <a:avLst>
                <a:gd name="adj" fmla="val 18931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97" name="Icon download"/>
            <p:cNvSpPr/>
            <p:nvPr/>
          </p:nvSpPr>
          <p:spPr>
            <a:xfrm>
              <a:off x="7123176" y="2999384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15000"/>
                  </a:moveTo>
                  <a:lnTo>
                    <a:pt x="21000" y="19000"/>
                  </a:lnTo>
                  <a:cubicBezTo>
                    <a:pt x="21000" y="20105"/>
                    <a:pt x="20105" y="21000"/>
                    <a:pt x="19000" y="21000"/>
                  </a:cubicBezTo>
                  <a:lnTo>
                    <a:pt x="5000" y="21000"/>
                  </a:lnTo>
                  <a:cubicBezTo>
                    <a:pt x="3895" y="21000"/>
                    <a:pt x="3000" y="20105"/>
                    <a:pt x="3000" y="19000"/>
                  </a:cubicBezTo>
                  <a:lnTo>
                    <a:pt x="3000" y="15000"/>
                  </a:lnTo>
                </a:path>
                <a:path w="24000" h="24000" fill="none">
                  <a:moveTo>
                    <a:pt x="7000" y="10000"/>
                  </a:moveTo>
                  <a:lnTo>
                    <a:pt x="12000" y="15000"/>
                  </a:lnTo>
                  <a:lnTo>
                    <a:pt x="17000" y="10000"/>
                  </a:lnTo>
                </a:path>
                <a:path w="24000" h="24000" fill="none">
                  <a:moveTo>
                    <a:pt x="12000" y="15000"/>
                  </a:moveTo>
                  <a:lnTo>
                    <a:pt x="12000" y="3000"/>
                  </a:lnTo>
                </a:path>
              </a:pathLst>
            </a:custGeom>
            <a:noFill/>
            <a:ln w="13411" cap="rnd">
              <a:solidFill>
                <a:srgbClr val="165FF2"/>
              </a:solidFill>
              <a:round/>
            </a:ln>
          </p:spPr>
        </p:sp>
        <p:sp>
          <p:nvSpPr>
            <p:cNvPr id="198" name="Dashboards &amp; downloads title"/>
            <p:cNvSpPr txBox="1"/>
            <p:nvPr/>
          </p:nvSpPr>
          <p:spPr>
            <a:xfrm>
              <a:off x="7351776" y="2994812"/>
              <a:ext cx="1435608" cy="221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Dashboards &amp; downloads</a:t>
              </a:r>
              <a:endParaRPr lang="en-US" sz="720" dirty="0">
                <a:latin typeface="Inter SemiBold"/>
              </a:endParaRPr>
            </a:p>
            <a:p>
              <a:pPr algn="l">
                <a:lnSpc>
                  <a:spcPts val="769"/>
                </a:lnSpc>
                <a:spcBef>
                  <a:spcPts val="150"/>
                </a:spcBef>
                <a:buNone/>
              </a:pPr>
              <a:r>
                <a:rPr lang="en-US" sz="63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Open tickets, with filters</a:t>
              </a:r>
              <a:endParaRPr lang="en-US" sz="630" dirty="0">
                <a:latin typeface="Inter"/>
              </a:endParaRPr>
            </a:p>
          </p:txBody>
        </p:sp>
      </p:grpSp>
      <p:grpSp>
        <p:nvGrpSpPr>
          <p:cNvPr id="199" name="Audit history"/>
          <p:cNvGrpSpPr/>
          <p:nvPr/>
        </p:nvGrpSpPr>
        <p:grpSpPr>
          <a:xfrm>
            <a:off x="7040880" y="3362935"/>
            <a:ext cx="1828800" cy="386410"/>
            <a:chOff x="7040880" y="3362935"/>
            <a:chExt cx="1828800" cy="386410"/>
          </a:xfrm>
        </p:grpSpPr>
        <p:sp>
          <p:nvSpPr>
            <p:cNvPr id="200" name="Audit history"/>
            <p:cNvSpPr/>
            <p:nvPr/>
          </p:nvSpPr>
          <p:spPr>
            <a:xfrm>
              <a:off x="7040880" y="3362935"/>
              <a:ext cx="1828800" cy="386410"/>
            </a:xfrm>
            <a:prstGeom prst="roundRect">
              <a:avLst>
                <a:gd name="adj" fmla="val 18931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01" name="Icon list-checks"/>
            <p:cNvSpPr/>
            <p:nvPr/>
          </p:nvSpPr>
          <p:spPr>
            <a:xfrm>
              <a:off x="7123176" y="3449803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7000"/>
                  </a:moveTo>
                  <a:lnTo>
                    <a:pt x="5000" y="19000"/>
                  </a:lnTo>
                  <a:lnTo>
                    <a:pt x="9000" y="15000"/>
                  </a:lnTo>
                </a:path>
                <a:path w="24000" h="24000" fill="none">
                  <a:moveTo>
                    <a:pt x="3000" y="7000"/>
                  </a:moveTo>
                  <a:lnTo>
                    <a:pt x="5000" y="9000"/>
                  </a:lnTo>
                  <a:lnTo>
                    <a:pt x="9000" y="5000"/>
                  </a:lnTo>
                </a:path>
                <a:path w="24000" h="24000" fill="none">
                  <a:moveTo>
                    <a:pt x="13000" y="6000"/>
                  </a:moveTo>
                  <a:lnTo>
                    <a:pt x="21000" y="6000"/>
                  </a:lnTo>
                </a:path>
                <a:path w="24000" h="24000" fill="none">
                  <a:moveTo>
                    <a:pt x="13000" y="12000"/>
                  </a:moveTo>
                  <a:lnTo>
                    <a:pt x="21000" y="12000"/>
                  </a:lnTo>
                </a:path>
                <a:path w="24000" h="24000" fill="none">
                  <a:moveTo>
                    <a:pt x="13000" y="18000"/>
                  </a:moveTo>
                  <a:lnTo>
                    <a:pt x="21000" y="18000"/>
                  </a:lnTo>
                </a:path>
              </a:pathLst>
            </a:custGeom>
            <a:noFill/>
            <a:ln w="13411" cap="rnd">
              <a:solidFill>
                <a:srgbClr val="165FF2"/>
              </a:solidFill>
              <a:round/>
            </a:ln>
          </p:spPr>
        </p:sp>
        <p:sp>
          <p:nvSpPr>
            <p:cNvPr id="202" name="Audit history title"/>
            <p:cNvSpPr txBox="1"/>
            <p:nvPr/>
          </p:nvSpPr>
          <p:spPr>
            <a:xfrm>
              <a:off x="7351776" y="3445231"/>
              <a:ext cx="1435608" cy="221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28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Audit history</a:t>
              </a:r>
              <a:endParaRPr lang="en-US" sz="720" dirty="0">
                <a:latin typeface="Inter SemiBold"/>
              </a:endParaRPr>
            </a:p>
            <a:p>
              <a:pPr algn="l">
                <a:lnSpc>
                  <a:spcPts val="769"/>
                </a:lnSpc>
                <a:spcBef>
                  <a:spcPts val="150"/>
                </a:spcBef>
                <a:buNone/>
              </a:pPr>
              <a:r>
                <a:rPr lang="en-US" sz="63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Maintenance alerts and user actions</a:t>
              </a:r>
              <a:endParaRPr lang="en-US" sz="630" dirty="0">
                <a:latin typeface="Inter"/>
              </a:endParaRPr>
            </a:p>
          </p:txBody>
        </p:sp>
      </p:grpSp>
      <p:grpSp>
        <p:nvGrpSpPr>
          <p:cNvPr id="203" name="Band"/>
          <p:cNvGrpSpPr/>
          <p:nvPr/>
        </p:nvGrpSpPr>
        <p:grpSpPr>
          <a:xfrm>
            <a:off x="274320" y="4062755"/>
            <a:ext cx="8595360" cy="737845"/>
            <a:chOff x="274320" y="4062755"/>
            <a:chExt cx="8595360" cy="737845"/>
          </a:xfrm>
        </p:grpSpPr>
        <p:sp>
          <p:nvSpPr>
            <p:cNvPr id="204" name="Band"/>
            <p:cNvSpPr/>
            <p:nvPr/>
          </p:nvSpPr>
          <p:spPr>
            <a:xfrm>
              <a:off x="274320" y="4062755"/>
              <a:ext cx="8595360" cy="737845"/>
            </a:xfrm>
            <a:prstGeom prst="roundRect">
              <a:avLst>
                <a:gd name="adj" fmla="val 9914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05" name="Icon shield-check"/>
            <p:cNvSpPr/>
            <p:nvPr/>
          </p:nvSpPr>
          <p:spPr>
            <a:xfrm>
              <a:off x="393192" y="4163339"/>
              <a:ext cx="173736" cy="17373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13000"/>
                  </a:moveTo>
                  <a:cubicBezTo>
                    <a:pt x="20000" y="18000"/>
                    <a:pt x="16500" y="20500"/>
                    <a:pt x="12340" y="21950"/>
                  </a:cubicBezTo>
                  <a:cubicBezTo>
                    <a:pt x="12122" y="22024"/>
                    <a:pt x="11886" y="22020"/>
                    <a:pt x="11670" y="21940"/>
                  </a:cubicBezTo>
                  <a:cubicBezTo>
                    <a:pt x="7500" y="20500"/>
                    <a:pt x="4000" y="18000"/>
                    <a:pt x="4000" y="13000"/>
                  </a:cubicBezTo>
                  <a:lnTo>
                    <a:pt x="4000" y="6000"/>
                  </a:lnTo>
                  <a:cubicBezTo>
                    <a:pt x="4000" y="5448"/>
                    <a:pt x="4448" y="5000"/>
                    <a:pt x="5000" y="5000"/>
                  </a:cubicBezTo>
                  <a:cubicBezTo>
                    <a:pt x="7000" y="5000"/>
                    <a:pt x="9500" y="3800"/>
                    <a:pt x="11240" y="2280"/>
                  </a:cubicBezTo>
                  <a:cubicBezTo>
                    <a:pt x="11678" y="1906"/>
                    <a:pt x="12322" y="1906"/>
                    <a:pt x="12760" y="2280"/>
                  </a:cubicBezTo>
                  <a:cubicBezTo>
                    <a:pt x="14510" y="3810"/>
                    <a:pt x="17000" y="5000"/>
                    <a:pt x="19000" y="5000"/>
                  </a:cubicBezTo>
                  <a:cubicBezTo>
                    <a:pt x="19552" y="5000"/>
                    <a:pt x="20000" y="5448"/>
                    <a:pt x="20000" y="6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5926" cap="rnd">
              <a:solidFill>
                <a:srgbClr val="165FF2"/>
              </a:solidFill>
              <a:round/>
            </a:ln>
          </p:spPr>
        </p:sp>
        <p:sp>
          <p:nvSpPr>
            <p:cNvPr id="206" name="Band title"/>
            <p:cNvSpPr txBox="1"/>
            <p:nvPr/>
          </p:nvSpPr>
          <p:spPr>
            <a:xfrm>
              <a:off x="393192" y="4382795"/>
              <a:ext cx="960120" cy="3720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4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Built-in rules &amp; safeguards</a:t>
              </a:r>
              <a:endParaRPr lang="en-US" sz="700" dirty="0">
                <a:latin typeface="Inter SemiBold"/>
              </a:endParaRPr>
            </a:p>
            <a:p>
              <a:pPr algn="l">
                <a:lnSpc>
                  <a:spcPts val="740"/>
                </a:lnSpc>
                <a:spcBef>
                  <a:spcPts val="100"/>
                </a:spcBef>
                <a:buNone/>
              </a:pPr>
              <a:r>
                <a:rPr lang="en-US" sz="62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as per the SRS</a:t>
              </a:r>
              <a:endParaRPr lang="en-US" sz="620" dirty="0">
                <a:latin typeface="Inter"/>
              </a:endParaRPr>
            </a:p>
          </p:txBody>
        </p:sp>
        <p:sp>
          <p:nvSpPr>
            <p:cNvPr id="207" name="Icon split"/>
            <p:cNvSpPr/>
            <p:nvPr/>
          </p:nvSpPr>
          <p:spPr>
            <a:xfrm>
              <a:off x="1417320" y="4181627"/>
              <a:ext cx="118872" cy="11887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3000"/>
                  </a:moveTo>
                  <a:lnTo>
                    <a:pt x="21000" y="3000"/>
                  </a:lnTo>
                  <a:lnTo>
                    <a:pt x="21000" y="8000"/>
                  </a:lnTo>
                </a:path>
                <a:path w="24000" h="24000" fill="none">
                  <a:moveTo>
                    <a:pt x="8000" y="3000"/>
                  </a:moveTo>
                  <a:lnTo>
                    <a:pt x="3000" y="3000"/>
                  </a:lnTo>
                  <a:lnTo>
                    <a:pt x="3000" y="8000"/>
                  </a:lnTo>
                </a:path>
                <a:path w="24000" h="24000" fill="none">
                  <a:moveTo>
                    <a:pt x="12000" y="22000"/>
                  </a:moveTo>
                  <a:lnTo>
                    <a:pt x="12000" y="13700"/>
                  </a:lnTo>
                  <a:cubicBezTo>
                    <a:pt x="12012" y="12624"/>
                    <a:pt x="11589" y="11589"/>
                    <a:pt x="10828" y="10828"/>
                  </a:cubicBezTo>
                  <a:lnTo>
                    <a:pt x="3000" y="3000"/>
                  </a:lnTo>
                </a:path>
                <a:path w="24000" h="24000" fill="none">
                  <a:moveTo>
                    <a:pt x="15000" y="9000"/>
                  </a:moveTo>
                  <a:lnTo>
                    <a:pt x="21000" y="3000"/>
                  </a:lnTo>
                </a:path>
              </a:pathLst>
            </a:custGeom>
            <a:noFill/>
            <a:ln w="10897" cap="rnd">
              <a:solidFill>
                <a:srgbClr val="165FF2"/>
              </a:solidFill>
              <a:round/>
            </a:ln>
          </p:spPr>
        </p:sp>
        <p:sp>
          <p:nvSpPr>
            <p:cNvPr id="208" name="Tile title"/>
            <p:cNvSpPr txBox="1"/>
            <p:nvPr/>
          </p:nvSpPr>
          <p:spPr>
            <a:xfrm>
              <a:off x="1591056" y="4163339"/>
              <a:ext cx="952500" cy="96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Whichever first</a:t>
              </a:r>
              <a:endParaRPr lang="en-US" sz="660" dirty="0">
                <a:latin typeface="Inter SemiBold"/>
              </a:endParaRPr>
            </a:p>
          </p:txBody>
        </p:sp>
        <p:sp>
          <p:nvSpPr>
            <p:cNvPr id="209" name="Tile description"/>
            <p:cNvSpPr txBox="1"/>
            <p:nvPr/>
          </p:nvSpPr>
          <p:spPr>
            <a:xfrm>
              <a:off x="1417320" y="4296435"/>
              <a:ext cx="1080516" cy="1952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Hours limit or fixed period, set per DG</a:t>
              </a:r>
              <a:endParaRPr lang="en-US" sz="620" dirty="0">
                <a:latin typeface="Inter"/>
              </a:endParaRPr>
            </a:p>
          </p:txBody>
        </p:sp>
        <p:cxnSp>
          <p:nvCxnSpPr>
            <p:cNvPr id="210" name="Divider"/>
            <p:cNvCxnSpPr/>
            <p:nvPr/>
          </p:nvCxnSpPr>
          <p:spPr>
            <a:xfrm>
              <a:off x="2589276" y="4190771"/>
              <a:ext cx="0" cy="481813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211" name="Icon users"/>
            <p:cNvSpPr/>
            <p:nvPr/>
          </p:nvSpPr>
          <p:spPr>
            <a:xfrm>
              <a:off x="2644140" y="4181627"/>
              <a:ext cx="118872" cy="11887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0897" cap="rnd">
              <a:solidFill>
                <a:srgbClr val="165FF2"/>
              </a:solidFill>
              <a:round/>
            </a:ln>
          </p:spPr>
        </p:sp>
        <p:sp>
          <p:nvSpPr>
            <p:cNvPr id="212" name="Tile title"/>
            <p:cNvSpPr txBox="1"/>
            <p:nvPr/>
          </p:nvSpPr>
          <p:spPr>
            <a:xfrm>
              <a:off x="2817876" y="4163339"/>
              <a:ext cx="952500" cy="96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Multiple AMC vendors</a:t>
              </a:r>
              <a:endParaRPr lang="en-US" sz="660" dirty="0">
                <a:latin typeface="Inter SemiBold"/>
              </a:endParaRPr>
            </a:p>
          </p:txBody>
        </p:sp>
        <p:sp>
          <p:nvSpPr>
            <p:cNvPr id="213" name="Tile description"/>
            <p:cNvSpPr txBox="1"/>
            <p:nvPr/>
          </p:nvSpPr>
          <p:spPr>
            <a:xfrm>
              <a:off x="2644140" y="4296435"/>
              <a:ext cx="1080516" cy="1952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Several vendors mapped to one DG or site</a:t>
              </a:r>
              <a:endParaRPr lang="en-US" sz="620" dirty="0">
                <a:latin typeface="Inter"/>
              </a:endParaRPr>
            </a:p>
          </p:txBody>
        </p:sp>
        <p:cxnSp>
          <p:nvCxnSpPr>
            <p:cNvPr id="214" name="Divider"/>
            <p:cNvCxnSpPr/>
            <p:nvPr/>
          </p:nvCxnSpPr>
          <p:spPr>
            <a:xfrm>
              <a:off x="3816096" y="4190771"/>
              <a:ext cx="0" cy="481813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215" name="Icon user-cog"/>
            <p:cNvSpPr/>
            <p:nvPr/>
          </p:nvSpPr>
          <p:spPr>
            <a:xfrm>
              <a:off x="3870960" y="4181627"/>
              <a:ext cx="118872" cy="11887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15000"/>
                  </a:moveTo>
                  <a:cubicBezTo>
                    <a:pt x="21000" y="16657"/>
                    <a:pt x="19657" y="18000"/>
                    <a:pt x="18000" y="18000"/>
                  </a:cubicBezTo>
                  <a:cubicBezTo>
                    <a:pt x="16343" y="18000"/>
                    <a:pt x="15000" y="16657"/>
                    <a:pt x="15000" y="15000"/>
                  </a:cubicBezTo>
                  <a:cubicBezTo>
                    <a:pt x="15000" y="13343"/>
                    <a:pt x="16343" y="12000"/>
                    <a:pt x="18000" y="12000"/>
                  </a:cubicBezTo>
                  <a:cubicBezTo>
                    <a:pt x="19657" y="12000"/>
                    <a:pt x="21000" y="13343"/>
                    <a:pt x="21000" y="15000"/>
                  </a:cubicBezTo>
                  <a:close/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10000" y="15000"/>
                  </a:move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21700" y="16400"/>
                  </a:moveTo>
                  <a:lnTo>
                    <a:pt x="20800" y="16100"/>
                  </a:lnTo>
                </a:path>
                <a:path w="24000" h="24000" fill="none">
                  <a:moveTo>
                    <a:pt x="15200" y="13900"/>
                  </a:moveTo>
                  <a:lnTo>
                    <a:pt x="14300" y="13600"/>
                  </a:lnTo>
                </a:path>
                <a:path w="24000" h="24000" fill="none">
                  <a:moveTo>
                    <a:pt x="16600" y="18700"/>
                  </a:moveTo>
                  <a:lnTo>
                    <a:pt x="16900" y="17800"/>
                  </a:lnTo>
                </a:path>
                <a:path w="24000" h="24000" fill="none">
                  <a:moveTo>
                    <a:pt x="19100" y="12200"/>
                  </a:moveTo>
                  <a:lnTo>
                    <a:pt x="19400" y="11300"/>
                  </a:lnTo>
                </a:path>
                <a:path w="24000" h="24000" fill="none">
                  <a:moveTo>
                    <a:pt x="19600" y="18700"/>
                  </a:moveTo>
                  <a:lnTo>
                    <a:pt x="19200" y="17700"/>
                  </a:lnTo>
                </a:path>
                <a:path w="24000" h="24000" fill="none">
                  <a:moveTo>
                    <a:pt x="16800" y="12300"/>
                  </a:moveTo>
                  <a:lnTo>
                    <a:pt x="16400" y="11300"/>
                  </a:lnTo>
                </a:path>
                <a:path w="24000" h="24000" fill="none">
                  <a:moveTo>
                    <a:pt x="14300" y="16600"/>
                  </a:moveTo>
                  <a:lnTo>
                    <a:pt x="15300" y="16200"/>
                  </a:lnTo>
                </a:path>
                <a:path w="24000" h="24000" fill="none">
                  <a:moveTo>
                    <a:pt x="20700" y="13800"/>
                  </a:moveTo>
                  <a:lnTo>
                    <a:pt x="21700" y="13400"/>
                  </a:lnTo>
                </a:path>
              </a:pathLst>
            </a:custGeom>
            <a:noFill/>
            <a:ln w="10897" cap="rnd">
              <a:solidFill>
                <a:srgbClr val="165FF2"/>
              </a:solidFill>
              <a:round/>
            </a:ln>
          </p:spPr>
        </p:sp>
        <p:sp>
          <p:nvSpPr>
            <p:cNvPr id="216" name="Tile title"/>
            <p:cNvSpPr txBox="1"/>
            <p:nvPr/>
          </p:nvSpPr>
          <p:spPr>
            <a:xfrm>
              <a:off x="4044696" y="4163339"/>
              <a:ext cx="952500" cy="193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Same vendor, both roles</a:t>
              </a:r>
              <a:endParaRPr lang="en-US" sz="660" dirty="0">
                <a:latin typeface="Inter SemiBold"/>
              </a:endParaRPr>
            </a:p>
          </p:txBody>
        </p:sp>
        <p:sp>
          <p:nvSpPr>
            <p:cNvPr id="217" name="Tile description"/>
            <p:cNvSpPr txBox="1"/>
            <p:nvPr/>
          </p:nvSpPr>
          <p:spPr>
            <a:xfrm>
              <a:off x="3870960" y="4392955"/>
              <a:ext cx="1080516" cy="1952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Refilling and AMC, same or separate SPOCs</a:t>
              </a:r>
              <a:endParaRPr lang="en-US" sz="620" dirty="0">
                <a:latin typeface="Inter"/>
              </a:endParaRPr>
            </a:p>
          </p:txBody>
        </p:sp>
        <p:cxnSp>
          <p:nvCxnSpPr>
            <p:cNvPr id="218" name="Divider"/>
            <p:cNvCxnSpPr/>
            <p:nvPr/>
          </p:nvCxnSpPr>
          <p:spPr>
            <a:xfrm>
              <a:off x="5042916" y="4190771"/>
              <a:ext cx="0" cy="481813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219" name="Icon arrow-right-left"/>
            <p:cNvSpPr/>
            <p:nvPr/>
          </p:nvSpPr>
          <p:spPr>
            <a:xfrm>
              <a:off x="5097780" y="4181627"/>
              <a:ext cx="118872" cy="11887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3000"/>
                  </a:moveTo>
                  <a:lnTo>
                    <a:pt x="20000" y="7000"/>
                  </a:lnTo>
                  <a:lnTo>
                    <a:pt x="16000" y="11000"/>
                  </a:lnTo>
                </a:path>
                <a:path w="24000" h="24000" fill="none">
                  <a:moveTo>
                    <a:pt x="20000" y="7000"/>
                  </a:moveTo>
                  <a:lnTo>
                    <a:pt x="4000" y="7000"/>
                  </a:lnTo>
                </a:path>
                <a:path w="24000" h="24000" fill="none">
                  <a:moveTo>
                    <a:pt x="8000" y="21000"/>
                  </a:moveTo>
                  <a:lnTo>
                    <a:pt x="4000" y="17000"/>
                  </a:lnTo>
                  <a:lnTo>
                    <a:pt x="8000" y="13000"/>
                  </a:lnTo>
                </a:path>
                <a:path w="24000" h="24000" fill="none">
                  <a:moveTo>
                    <a:pt x="4000" y="17000"/>
                  </a:moveTo>
                  <a:lnTo>
                    <a:pt x="20000" y="17000"/>
                  </a:lnTo>
                </a:path>
              </a:pathLst>
            </a:custGeom>
            <a:noFill/>
            <a:ln w="10897" cap="rnd">
              <a:solidFill>
                <a:srgbClr val="165FF2"/>
              </a:solidFill>
              <a:round/>
            </a:ln>
          </p:spPr>
        </p:sp>
        <p:sp>
          <p:nvSpPr>
            <p:cNvPr id="220" name="Tile title"/>
            <p:cNvSpPr txBox="1"/>
            <p:nvPr/>
          </p:nvSpPr>
          <p:spPr>
            <a:xfrm>
              <a:off x="5271516" y="4163339"/>
              <a:ext cx="952500" cy="96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Reassignment</a:t>
              </a:r>
              <a:endParaRPr lang="en-US" sz="660" dirty="0">
                <a:latin typeface="Inter SemiBold"/>
              </a:endParaRPr>
            </a:p>
          </p:txBody>
        </p:sp>
        <p:sp>
          <p:nvSpPr>
            <p:cNvPr id="221" name="Tile description"/>
            <p:cNvSpPr txBox="1"/>
            <p:nvPr/>
          </p:nvSpPr>
          <p:spPr>
            <a:xfrm>
              <a:off x="5097780" y="4296435"/>
              <a:ext cx="1080516" cy="1952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Moved to another mapped vendor; same ID</a:t>
              </a:r>
              <a:endParaRPr lang="en-US" sz="620" dirty="0">
                <a:latin typeface="Inter"/>
              </a:endParaRPr>
            </a:p>
          </p:txBody>
        </p:sp>
        <p:cxnSp>
          <p:nvCxnSpPr>
            <p:cNvPr id="222" name="Divider"/>
            <p:cNvCxnSpPr/>
            <p:nvPr/>
          </p:nvCxnSpPr>
          <p:spPr>
            <a:xfrm>
              <a:off x="6269736" y="4190771"/>
              <a:ext cx="0" cy="481813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223" name="Icon power-off"/>
            <p:cNvSpPr/>
            <p:nvPr/>
          </p:nvSpPr>
          <p:spPr>
            <a:xfrm>
              <a:off x="6324600" y="4181627"/>
              <a:ext cx="118872" cy="11887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8360" y="6640"/>
                  </a:moveTo>
                  <a:cubicBezTo>
                    <a:pt x="20546" y="8827"/>
                    <a:pt x="21456" y="11984"/>
                    <a:pt x="20770" y="15000"/>
                  </a:cubicBezTo>
                </a:path>
                <a:path w="24000" h="24000" fill="none">
                  <a:moveTo>
                    <a:pt x="6160" y="6160"/>
                  </a:moveTo>
                  <a:cubicBezTo>
                    <a:pt x="3555" y="8348"/>
                    <a:pt x="2406" y="11818"/>
                    <a:pt x="3191" y="15129"/>
                  </a:cubicBezTo>
                  <a:cubicBezTo>
                    <a:pt x="3976" y="18439"/>
                    <a:pt x="6561" y="21024"/>
                    <a:pt x="9871" y="21809"/>
                  </a:cubicBezTo>
                  <a:cubicBezTo>
                    <a:pt x="13182" y="22594"/>
                    <a:pt x="16652" y="21445"/>
                    <a:pt x="18840" y="18840"/>
                  </a:cubicBezTo>
                </a:path>
                <a:path w="24000" h="24000" fill="none">
                  <a:moveTo>
                    <a:pt x="12000" y="2000"/>
                  </a:moveTo>
                  <a:lnTo>
                    <a:pt x="12000" y="6000"/>
                  </a:lnTo>
                </a:path>
                <a:path w="24000" h="24000" fill="none">
                  <a:moveTo>
                    <a:pt x="2000" y="2000"/>
                  </a:moveTo>
                  <a:lnTo>
                    <a:pt x="22000" y="22000"/>
                  </a:lnTo>
                </a:path>
              </a:pathLst>
            </a:custGeom>
            <a:noFill/>
            <a:ln w="10897" cap="rnd">
              <a:solidFill>
                <a:srgbClr val="165FF2"/>
              </a:solidFill>
              <a:round/>
            </a:ln>
          </p:spPr>
        </p:sp>
        <p:sp>
          <p:nvSpPr>
            <p:cNvPr id="224" name="Tile title"/>
            <p:cNvSpPr txBox="1"/>
            <p:nvPr/>
          </p:nvSpPr>
          <p:spPr>
            <a:xfrm>
              <a:off x="6498336" y="4163339"/>
              <a:ext cx="952500" cy="96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Deactivation</a:t>
              </a:r>
              <a:endParaRPr lang="en-US" sz="660" dirty="0">
                <a:latin typeface="Inter SemiBold"/>
              </a:endParaRPr>
            </a:p>
          </p:txBody>
        </p:sp>
        <p:sp>
          <p:nvSpPr>
            <p:cNvPr id="225" name="Tile description"/>
            <p:cNvSpPr txBox="1"/>
            <p:nvPr/>
          </p:nvSpPr>
          <p:spPr>
            <a:xfrm>
              <a:off x="6324600" y="4296435"/>
              <a:ext cx="1080516" cy="1952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History kept when a DG or vendor is inactive</a:t>
              </a:r>
              <a:endParaRPr lang="en-US" sz="620" dirty="0">
                <a:latin typeface="Inter"/>
              </a:endParaRPr>
            </a:p>
          </p:txBody>
        </p:sp>
        <p:cxnSp>
          <p:nvCxnSpPr>
            <p:cNvPr id="226" name="Divider"/>
            <p:cNvCxnSpPr/>
            <p:nvPr/>
          </p:nvCxnSpPr>
          <p:spPr>
            <a:xfrm>
              <a:off x="7496556" y="4190771"/>
              <a:ext cx="0" cy="481813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227" name="Icon pen-line"/>
            <p:cNvSpPr/>
            <p:nvPr/>
          </p:nvSpPr>
          <p:spPr>
            <a:xfrm>
              <a:off x="7551420" y="4181627"/>
              <a:ext cx="118872" cy="11887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20000"/>
                  </a:moveTo>
                  <a:lnTo>
                    <a:pt x="21000" y="20000"/>
                  </a:lnTo>
                </a:path>
                <a:path w="24000" h="24000" fill="none">
                  <a:moveTo>
                    <a:pt x="16376" y="3622"/>
                  </a:moveTo>
                  <a:cubicBezTo>
                    <a:pt x="17205" y="2793"/>
                    <a:pt x="18549" y="2793"/>
                    <a:pt x="19378" y="3622"/>
                  </a:cubicBezTo>
                  <a:cubicBezTo>
                    <a:pt x="20207" y="4451"/>
                    <a:pt x="20207" y="5795"/>
                    <a:pt x="19378" y="6624"/>
                  </a:cubicBezTo>
                  <a:lnTo>
                    <a:pt x="7368" y="18635"/>
                  </a:lnTo>
                  <a:cubicBezTo>
                    <a:pt x="7130" y="18873"/>
                    <a:pt x="6836" y="19047"/>
                    <a:pt x="6513" y="19141"/>
                  </a:cubicBezTo>
                  <a:lnTo>
                    <a:pt x="3641" y="19979"/>
                  </a:lnTo>
                  <a:cubicBezTo>
                    <a:pt x="3466" y="20030"/>
                    <a:pt x="3277" y="19982"/>
                    <a:pt x="3147" y="19853"/>
                  </a:cubicBezTo>
                  <a:cubicBezTo>
                    <a:pt x="3018" y="19723"/>
                    <a:pt x="2970" y="19534"/>
                    <a:pt x="3021" y="19359"/>
                  </a:cubicBezTo>
                  <a:lnTo>
                    <a:pt x="3859" y="16487"/>
                  </a:lnTo>
                  <a:cubicBezTo>
                    <a:pt x="3953" y="16164"/>
                    <a:pt x="4127" y="15871"/>
                    <a:pt x="4365" y="15633"/>
                  </a:cubicBezTo>
                  <a:close/>
                </a:path>
              </a:pathLst>
            </a:custGeom>
            <a:noFill/>
            <a:ln w="10897" cap="rnd">
              <a:solidFill>
                <a:srgbClr val="165FF2"/>
              </a:solidFill>
              <a:round/>
            </a:ln>
          </p:spPr>
        </p:sp>
        <p:sp>
          <p:nvSpPr>
            <p:cNvPr id="228" name="Tile title"/>
            <p:cNvSpPr txBox="1"/>
            <p:nvPr/>
          </p:nvSpPr>
          <p:spPr>
            <a:xfrm>
              <a:off x="7725156" y="4163339"/>
              <a:ext cx="952500" cy="96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Status names</a:t>
              </a:r>
              <a:endParaRPr lang="en-US" sz="660" dirty="0">
                <a:latin typeface="Inter SemiBold"/>
              </a:endParaRPr>
            </a:p>
          </p:txBody>
        </p:sp>
        <p:sp>
          <p:nvSpPr>
            <p:cNvPr id="229" name="Tile description"/>
            <p:cNvSpPr txBox="1"/>
            <p:nvPr/>
          </p:nvSpPr>
          <p:spPr>
            <a:xfrm>
              <a:off x="7551420" y="4296435"/>
              <a:ext cx="1080516" cy="976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9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Finalised during UI design</a:t>
              </a:r>
              <a:endParaRPr lang="en-US" sz="620" dirty="0">
                <a:latin typeface="Inter"/>
              </a:endParaRPr>
            </a:p>
          </p:txBody>
        </p:sp>
      </p:grpSp>
      <p:grpSp>
        <p:nvGrpSpPr>
          <p:cNvPr id="230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231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DG Online Monitoring Proposal  ·  Flipkart Minutes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232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E784D37D-8E56-49C3-A79C-F96D2CCED9D3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9456"/>
            <a:ext cx="8650224" cy="722376"/>
            <a:chOff x="274320" y="219456"/>
            <a:chExt cx="8650224" cy="722376"/>
          </a:xfrm>
        </p:grpSpPr>
        <p:grpSp>
          <p:nvGrpSpPr>
            <p:cNvPr id="4" name="Badge 02"/>
            <p:cNvGrpSpPr/>
            <p:nvPr/>
          </p:nvGrpSpPr>
          <p:grpSpPr>
            <a:xfrm>
              <a:off x="274320" y="228600"/>
              <a:ext cx="192024" cy="192024"/>
              <a:chOff x="274320" y="228600"/>
              <a:chExt cx="192024" cy="192024"/>
            </a:xfrm>
          </p:grpSpPr>
          <p:sp>
            <p:nvSpPr>
              <p:cNvPr id="5" name="Badge"/>
              <p:cNvSpPr/>
              <p:nvPr/>
            </p:nvSpPr>
            <p:spPr>
              <a:xfrm>
                <a:off x="274320" y="228600"/>
                <a:ext cx="192024" cy="192024"/>
              </a:xfrm>
              <a:prstGeom prst="roundRect">
                <a:avLst>
                  <a:gd name="adj" fmla="val 22000"/>
                </a:avLst>
              </a:prstGeom>
              <a:solidFill>
                <a:srgbClr val="0C192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6" name="Badge number"/>
              <p:cNvSpPr txBox="1"/>
              <p:nvPr/>
            </p:nvSpPr>
            <p:spPr>
              <a:xfrm>
                <a:off x="274320" y="228600"/>
                <a:ext cx="192024" cy="1920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rtlCol="0">
                <a:noAutofit/>
              </a:bodyPr>
              <a:lstStyle/>
              <a:p>
                <a:pPr algn="ctr">
                  <a:lnSpc>
                    <a:spcPts val="750"/>
                  </a:lnSpc>
                  <a:spcBef>
                    <a:spcPts val="0"/>
                  </a:spcBef>
                  <a:buNone/>
                </a:pPr>
                <a:r>
                  <a:rPr lang="en-US" sz="750" b="0" i="0" spc="0" dirty="0">
                    <a:solidFill>
                      <a:srgbClr val="FFFFFF"/>
                    </a:solidFill>
                    <a:latin typeface="TASA Orbiter SemiBold"/>
                    <a:ea typeface="TASA Orbiter SemiBold"/>
                    <a:cs typeface="TASA Orbiter SemiBold"/>
                    <a:sym typeface="TASA Orbiter SemiBold"/>
                  </a:rPr>
                  <a:t>02</a:t>
                </a:r>
                <a:endParaRPr lang="en-US" sz="750" dirty="0">
                  <a:latin typeface="TASA Orbiter SemiBold"/>
                </a:endParaRPr>
              </a:p>
            </p:txBody>
          </p:sp>
        </p:grpSp>
        <p:sp>
          <p:nvSpPr>
            <p:cNvPr id="7" name="Eyebrow"/>
            <p:cNvSpPr txBox="1"/>
            <p:nvPr/>
          </p:nvSpPr>
          <p:spPr>
            <a:xfrm>
              <a:off x="530352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WORKFLOW 02  ·  PREVENTIVE &amp; BREAKDOWN MAINTENANCE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8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How It Works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9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Three screens: the rules set per DG, the work order they raise, and the AMC vendor closing it on a phone.</a:t>
              </a:r>
              <a:endParaRPr lang="en-US" sz="850" dirty="0">
                <a:latin typeface="Inter"/>
              </a:endParaRPr>
            </a:p>
          </p:txBody>
        </p:sp>
        <p:grpSp>
          <p:nvGrpSpPr>
            <p:cNvPr id="10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11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" name="Chip Sample data  ·  illustrative values"/>
          <p:cNvGrpSpPr/>
          <p:nvPr/>
        </p:nvGrpSpPr>
        <p:grpSpPr>
          <a:xfrm>
            <a:off x="7521519" y="772668"/>
            <a:ext cx="1348161" cy="137160"/>
            <a:chOff x="7521519" y="772668"/>
            <a:chExt cx="1348161" cy="137160"/>
          </a:xfrm>
        </p:grpSpPr>
        <p:sp>
          <p:nvSpPr>
            <p:cNvPr id="23" name="Chip fill"/>
            <p:cNvSpPr/>
            <p:nvPr/>
          </p:nvSpPr>
          <p:spPr>
            <a:xfrm>
              <a:off x="7521519" y="772668"/>
              <a:ext cx="1348161" cy="137160"/>
            </a:xfrm>
            <a:prstGeom prst="roundRect">
              <a:avLst>
                <a:gd name="adj" fmla="val 20000"/>
              </a:avLst>
            </a:prstGeom>
            <a:solidFill>
              <a:srgbClr val="E9690C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4" name="Icon info"/>
            <p:cNvSpPr/>
            <p:nvPr/>
          </p:nvSpPr>
          <p:spPr>
            <a:xfrm>
              <a:off x="7580955" y="798728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16000"/>
                  </a:moveTo>
                  <a:lnTo>
                    <a:pt x="12000" y="12000"/>
                  </a:lnTo>
                </a:path>
                <a:path w="24000" h="24000" fill="none">
                  <a:moveTo>
                    <a:pt x="12000" y="8000"/>
                  </a:moveTo>
                  <a:lnTo>
                    <a:pt x="12010" y="8000"/>
                  </a:lnTo>
                </a:path>
              </a:pathLst>
            </a:custGeom>
            <a:noFill/>
            <a:ln w="7795" cap="rnd">
              <a:solidFill>
                <a:srgbClr val="C65C10"/>
              </a:solidFill>
              <a:round/>
            </a:ln>
          </p:spPr>
        </p:sp>
        <p:sp>
          <p:nvSpPr>
            <p:cNvPr id="25" name="Chip label"/>
            <p:cNvSpPr txBox="1"/>
            <p:nvPr/>
          </p:nvSpPr>
          <p:spPr>
            <a:xfrm>
              <a:off x="7693426" y="772668"/>
              <a:ext cx="114882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60"/>
                </a:lnSpc>
                <a:spcBef>
                  <a:spcPts val="0"/>
                </a:spcBef>
                <a:buNone/>
              </a:pPr>
              <a:r>
                <a:rPr lang="en-US" sz="560" b="0" i="0" spc="0" dirty="0">
                  <a:solidFill>
                    <a:srgbClr val="C65C1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Sample data  ·  illustrative values</a:t>
              </a:r>
              <a:endParaRPr lang="en-US" sz="560" dirty="0">
                <a:latin typeface="Inter SemiBold"/>
              </a:endParaRPr>
            </a:p>
          </p:txBody>
        </p:sp>
      </p:grpSp>
      <p:grpSp>
        <p:nvGrpSpPr>
          <p:cNvPr id="26" name="Badge 1"/>
          <p:cNvGrpSpPr/>
          <p:nvPr/>
        </p:nvGrpSpPr>
        <p:grpSpPr>
          <a:xfrm>
            <a:off x="274320" y="1005840"/>
            <a:ext cx="192024" cy="192024"/>
            <a:chOff x="274320" y="1005840"/>
            <a:chExt cx="192024" cy="192024"/>
          </a:xfrm>
        </p:grpSpPr>
        <p:sp>
          <p:nvSpPr>
            <p:cNvPr id="27" name="Badge"/>
            <p:cNvSpPr/>
            <p:nvPr/>
          </p:nvSpPr>
          <p:spPr>
            <a:xfrm>
              <a:off x="274320" y="1005840"/>
              <a:ext cx="192024" cy="19202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8" name="Badge number"/>
            <p:cNvSpPr txBox="1"/>
            <p:nvPr/>
          </p:nvSpPr>
          <p:spPr>
            <a:xfrm>
              <a:off x="274320" y="100584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</a:t>
              </a:r>
              <a:endParaRPr lang="en-US" sz="700" dirty="0">
                <a:latin typeface="TASA Orbiter SemiBold"/>
              </a:endParaRPr>
            </a:p>
          </p:txBody>
        </p:sp>
      </p:grpSp>
      <p:sp>
        <p:nvSpPr>
          <p:cNvPr id="29" name="Step title"/>
          <p:cNvSpPr txBox="1"/>
          <p:nvPr/>
        </p:nvSpPr>
        <p:spPr>
          <a:xfrm>
            <a:off x="530352" y="996696"/>
            <a:ext cx="1709928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8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Maintenance due</a:t>
            </a:r>
            <a:endParaRPr lang="en-US" sz="800" dirty="0">
              <a:latin typeface="Inter SemiBold"/>
            </a:endParaRPr>
          </a:p>
        </p:txBody>
      </p:sp>
      <p:grpSp>
        <p:nvGrpSpPr>
          <p:cNvPr id="30" name="Chip Super Admin"/>
          <p:cNvGrpSpPr/>
          <p:nvPr/>
        </p:nvGrpSpPr>
        <p:grpSpPr>
          <a:xfrm>
            <a:off x="2252485" y="1033272"/>
            <a:ext cx="691883" cy="146304"/>
            <a:chOff x="2252485" y="1033272"/>
            <a:chExt cx="691883" cy="146304"/>
          </a:xfrm>
        </p:grpSpPr>
        <p:sp>
          <p:nvSpPr>
            <p:cNvPr id="31" name="Chip fill"/>
            <p:cNvSpPr/>
            <p:nvPr/>
          </p:nvSpPr>
          <p:spPr>
            <a:xfrm>
              <a:off x="2252485" y="1033272"/>
              <a:ext cx="691883" cy="146304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2" name="Icon shield-check"/>
            <p:cNvSpPr/>
            <p:nvPr/>
          </p:nvSpPr>
          <p:spPr>
            <a:xfrm>
              <a:off x="2311921" y="1061070"/>
              <a:ext cx="90708" cy="9070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13000"/>
                  </a:moveTo>
                  <a:cubicBezTo>
                    <a:pt x="20000" y="18000"/>
                    <a:pt x="16500" y="20500"/>
                    <a:pt x="12340" y="21950"/>
                  </a:cubicBezTo>
                  <a:cubicBezTo>
                    <a:pt x="12122" y="22024"/>
                    <a:pt x="11886" y="22020"/>
                    <a:pt x="11670" y="21940"/>
                  </a:cubicBezTo>
                  <a:cubicBezTo>
                    <a:pt x="7500" y="20500"/>
                    <a:pt x="4000" y="18000"/>
                    <a:pt x="4000" y="13000"/>
                  </a:cubicBezTo>
                  <a:lnTo>
                    <a:pt x="4000" y="6000"/>
                  </a:lnTo>
                  <a:cubicBezTo>
                    <a:pt x="4000" y="5448"/>
                    <a:pt x="4448" y="5000"/>
                    <a:pt x="5000" y="5000"/>
                  </a:cubicBezTo>
                  <a:cubicBezTo>
                    <a:pt x="7000" y="5000"/>
                    <a:pt x="9500" y="3800"/>
                    <a:pt x="11240" y="2280"/>
                  </a:cubicBezTo>
                  <a:cubicBezTo>
                    <a:pt x="11678" y="1906"/>
                    <a:pt x="12322" y="1906"/>
                    <a:pt x="12760" y="2280"/>
                  </a:cubicBezTo>
                  <a:cubicBezTo>
                    <a:pt x="14510" y="3810"/>
                    <a:pt x="17000" y="5000"/>
                    <a:pt x="19000" y="5000"/>
                  </a:cubicBezTo>
                  <a:cubicBezTo>
                    <a:pt x="19552" y="5000"/>
                    <a:pt x="20000" y="5448"/>
                    <a:pt x="20000" y="6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8315" cap="rnd">
              <a:solidFill>
                <a:srgbClr val="40566D"/>
              </a:solidFill>
              <a:round/>
            </a:ln>
          </p:spPr>
        </p:sp>
        <p:sp>
          <p:nvSpPr>
            <p:cNvPr id="33" name="Chip label"/>
            <p:cNvSpPr txBox="1"/>
            <p:nvPr/>
          </p:nvSpPr>
          <p:spPr>
            <a:xfrm>
              <a:off x="2430062" y="1033272"/>
              <a:ext cx="48687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Super Admin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34" name="Badge 2"/>
          <p:cNvGrpSpPr/>
          <p:nvPr/>
        </p:nvGrpSpPr>
        <p:grpSpPr>
          <a:xfrm>
            <a:off x="3236976" y="1005840"/>
            <a:ext cx="192024" cy="192024"/>
            <a:chOff x="3236976" y="1005840"/>
            <a:chExt cx="192024" cy="192024"/>
          </a:xfrm>
        </p:grpSpPr>
        <p:sp>
          <p:nvSpPr>
            <p:cNvPr id="35" name="Badge"/>
            <p:cNvSpPr/>
            <p:nvPr/>
          </p:nvSpPr>
          <p:spPr>
            <a:xfrm>
              <a:off x="3236976" y="1005840"/>
              <a:ext cx="192024" cy="19202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6" name="Badge number"/>
            <p:cNvSpPr txBox="1"/>
            <p:nvPr/>
          </p:nvSpPr>
          <p:spPr>
            <a:xfrm>
              <a:off x="3236976" y="100584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2</a:t>
              </a:r>
              <a:endParaRPr lang="en-US" sz="700" dirty="0">
                <a:latin typeface="TASA Orbiter SemiBold"/>
              </a:endParaRPr>
            </a:p>
          </p:txBody>
        </p:sp>
      </p:grpSp>
      <p:sp>
        <p:nvSpPr>
          <p:cNvPr id="37" name="Step title"/>
          <p:cNvSpPr txBox="1"/>
          <p:nvPr/>
        </p:nvSpPr>
        <p:spPr>
          <a:xfrm>
            <a:off x="3493008" y="996696"/>
            <a:ext cx="1709928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8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Work order raised</a:t>
            </a:r>
            <a:endParaRPr lang="en-US" sz="800" dirty="0">
              <a:latin typeface="Inter SemiBold"/>
            </a:endParaRPr>
          </a:p>
        </p:txBody>
      </p:sp>
      <p:grpSp>
        <p:nvGrpSpPr>
          <p:cNvPr id="38" name="Chip System"/>
          <p:cNvGrpSpPr/>
          <p:nvPr/>
        </p:nvGrpSpPr>
        <p:grpSpPr>
          <a:xfrm>
            <a:off x="5407725" y="1033272"/>
            <a:ext cx="499299" cy="146304"/>
            <a:chOff x="5407725" y="1033272"/>
            <a:chExt cx="499299" cy="146304"/>
          </a:xfrm>
        </p:grpSpPr>
        <p:sp>
          <p:nvSpPr>
            <p:cNvPr id="39" name="Chip fill"/>
            <p:cNvSpPr/>
            <p:nvPr/>
          </p:nvSpPr>
          <p:spPr>
            <a:xfrm>
              <a:off x="5407725" y="1033272"/>
              <a:ext cx="499299" cy="146304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0" name="Icon cpu"/>
            <p:cNvSpPr/>
            <p:nvPr/>
          </p:nvSpPr>
          <p:spPr>
            <a:xfrm>
              <a:off x="5467161" y="1061070"/>
              <a:ext cx="90708" cy="9070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4000"/>
                  </a:moveTo>
                  <a:lnTo>
                    <a:pt x="18000" y="4000"/>
                  </a:lnTo>
                  <a:cubicBezTo>
                    <a:pt x="19105" y="4000"/>
                    <a:pt x="20000" y="4895"/>
                    <a:pt x="20000" y="6000"/>
                  </a:cubicBezTo>
                  <a:lnTo>
                    <a:pt x="20000" y="18000"/>
                  </a:lnTo>
                  <a:cubicBezTo>
                    <a:pt x="20000" y="19105"/>
                    <a:pt x="19105" y="20000"/>
                    <a:pt x="18000" y="20000"/>
                  </a:cubicBezTo>
                  <a:lnTo>
                    <a:pt x="6000" y="20000"/>
                  </a:lnTo>
                  <a:cubicBezTo>
                    <a:pt x="4895" y="20000"/>
                    <a:pt x="4000" y="19105"/>
                    <a:pt x="4000" y="18000"/>
                  </a:cubicBezTo>
                  <a:lnTo>
                    <a:pt x="4000" y="6000"/>
                  </a:lnTo>
                  <a:cubicBezTo>
                    <a:pt x="4000" y="4895"/>
                    <a:pt x="4895" y="4000"/>
                    <a:pt x="6000" y="4000"/>
                  </a:cubicBezTo>
                  <a:close/>
                </a:path>
                <a:path w="24000" h="24000" fill="none">
                  <a:moveTo>
                    <a:pt x="10000" y="9000"/>
                  </a:moveTo>
                  <a:lnTo>
                    <a:pt x="14000" y="9000"/>
                  </a:lnTo>
                  <a:cubicBezTo>
                    <a:pt x="14552" y="9000"/>
                    <a:pt x="15000" y="9448"/>
                    <a:pt x="15000" y="10000"/>
                  </a:cubicBezTo>
                  <a:lnTo>
                    <a:pt x="15000" y="14000"/>
                  </a:lnTo>
                  <a:cubicBezTo>
                    <a:pt x="15000" y="14552"/>
                    <a:pt x="14552" y="15000"/>
                    <a:pt x="14000" y="15000"/>
                  </a:cubicBezTo>
                  <a:lnTo>
                    <a:pt x="10000" y="15000"/>
                  </a:lnTo>
                  <a:cubicBezTo>
                    <a:pt x="9448" y="15000"/>
                    <a:pt x="9000" y="14552"/>
                    <a:pt x="9000" y="14000"/>
                  </a:cubicBezTo>
                  <a:lnTo>
                    <a:pt x="9000" y="10000"/>
                  </a:lnTo>
                  <a:cubicBezTo>
                    <a:pt x="9000" y="9448"/>
                    <a:pt x="9448" y="9000"/>
                    <a:pt x="10000" y="9000"/>
                  </a:cubicBezTo>
                  <a:close/>
                </a:path>
                <a:path w="24000" h="24000" fill="none">
                  <a:moveTo>
                    <a:pt x="15000" y="2000"/>
                  </a:moveTo>
                  <a:lnTo>
                    <a:pt x="15000" y="4000"/>
                  </a:lnTo>
                </a:path>
                <a:path w="24000" h="24000" fill="none">
                  <a:moveTo>
                    <a:pt x="15000" y="20000"/>
                  </a:moveTo>
                  <a:lnTo>
                    <a:pt x="15000" y="22000"/>
                  </a:lnTo>
                </a:path>
                <a:path w="24000" h="24000" fill="none">
                  <a:moveTo>
                    <a:pt x="2000" y="15000"/>
                  </a:moveTo>
                  <a:lnTo>
                    <a:pt x="4000" y="15000"/>
                  </a:lnTo>
                </a:path>
                <a:path w="24000" h="24000" fill="none">
                  <a:moveTo>
                    <a:pt x="2000" y="9000"/>
                  </a:moveTo>
                  <a:lnTo>
                    <a:pt x="4000" y="9000"/>
                  </a:lnTo>
                </a:path>
                <a:path w="24000" h="24000" fill="none">
                  <a:moveTo>
                    <a:pt x="20000" y="15000"/>
                  </a:moveTo>
                  <a:lnTo>
                    <a:pt x="22000" y="15000"/>
                  </a:lnTo>
                </a:path>
                <a:path w="24000" h="24000" fill="none">
                  <a:moveTo>
                    <a:pt x="20000" y="9000"/>
                  </a:moveTo>
                  <a:lnTo>
                    <a:pt x="22000" y="9000"/>
                  </a:lnTo>
                </a:path>
                <a:path w="24000" h="24000" fill="none">
                  <a:moveTo>
                    <a:pt x="9000" y="2000"/>
                  </a:moveTo>
                  <a:lnTo>
                    <a:pt x="9000" y="4000"/>
                  </a:lnTo>
                </a:path>
                <a:path w="24000" h="24000" fill="none">
                  <a:moveTo>
                    <a:pt x="9000" y="20000"/>
                  </a:moveTo>
                  <a:lnTo>
                    <a:pt x="9000" y="22000"/>
                  </a:lnTo>
                </a:path>
              </a:pathLst>
            </a:custGeom>
            <a:noFill/>
            <a:ln w="8315" cap="rnd">
              <a:solidFill>
                <a:srgbClr val="40566D"/>
              </a:solidFill>
              <a:round/>
            </a:ln>
          </p:spPr>
        </p:sp>
        <p:sp>
          <p:nvSpPr>
            <p:cNvPr id="41" name="Chip label"/>
            <p:cNvSpPr txBox="1"/>
            <p:nvPr/>
          </p:nvSpPr>
          <p:spPr>
            <a:xfrm>
              <a:off x="5585301" y="1033272"/>
              <a:ext cx="29429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42" name="Badge 3"/>
          <p:cNvGrpSpPr/>
          <p:nvPr/>
        </p:nvGrpSpPr>
        <p:grpSpPr>
          <a:xfrm>
            <a:off x="6199632" y="1005840"/>
            <a:ext cx="192024" cy="192024"/>
            <a:chOff x="6199632" y="1005840"/>
            <a:chExt cx="192024" cy="192024"/>
          </a:xfrm>
        </p:grpSpPr>
        <p:sp>
          <p:nvSpPr>
            <p:cNvPr id="43" name="Badge"/>
            <p:cNvSpPr/>
            <p:nvPr/>
          </p:nvSpPr>
          <p:spPr>
            <a:xfrm>
              <a:off x="6199632" y="1005840"/>
              <a:ext cx="192024" cy="19202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4" name="Badge number"/>
            <p:cNvSpPr txBox="1"/>
            <p:nvPr/>
          </p:nvSpPr>
          <p:spPr>
            <a:xfrm>
              <a:off x="6199632" y="1005840"/>
              <a:ext cx="192024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3</a:t>
              </a:r>
              <a:endParaRPr lang="en-US" sz="700" dirty="0">
                <a:latin typeface="TASA Orbiter SemiBold"/>
              </a:endParaRPr>
            </a:p>
          </p:txBody>
        </p:sp>
      </p:grpSp>
      <p:sp>
        <p:nvSpPr>
          <p:cNvPr id="45" name="Step title"/>
          <p:cNvSpPr txBox="1"/>
          <p:nvPr/>
        </p:nvSpPr>
        <p:spPr>
          <a:xfrm>
            <a:off x="6455664" y="996696"/>
            <a:ext cx="1709928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8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Vendor submits</a:t>
            </a:r>
            <a:endParaRPr lang="en-US" sz="800" dirty="0">
              <a:latin typeface="Inter SemiBold"/>
            </a:endParaRPr>
          </a:p>
        </p:txBody>
      </p:sp>
      <p:grpSp>
        <p:nvGrpSpPr>
          <p:cNvPr id="46" name="Chip AMC vendor"/>
          <p:cNvGrpSpPr/>
          <p:nvPr/>
        </p:nvGrpSpPr>
        <p:grpSpPr>
          <a:xfrm>
            <a:off x="8192323" y="1033272"/>
            <a:ext cx="677357" cy="146304"/>
            <a:chOff x="8192323" y="1033272"/>
            <a:chExt cx="677357" cy="146304"/>
          </a:xfrm>
        </p:grpSpPr>
        <p:sp>
          <p:nvSpPr>
            <p:cNvPr id="47" name="Chip fill"/>
            <p:cNvSpPr/>
            <p:nvPr/>
          </p:nvSpPr>
          <p:spPr>
            <a:xfrm>
              <a:off x="8192323" y="1033272"/>
              <a:ext cx="677357" cy="146304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8" name="Icon hard-hat"/>
            <p:cNvSpPr/>
            <p:nvPr/>
          </p:nvSpPr>
          <p:spPr>
            <a:xfrm>
              <a:off x="8251759" y="1061070"/>
              <a:ext cx="90708" cy="9070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10000"/>
                  </a:moveTo>
                  <a:lnTo>
                    <a:pt x="10000" y="5000"/>
                  </a:lnTo>
                  <a:cubicBezTo>
                    <a:pt x="10000" y="4448"/>
                    <a:pt x="10448" y="4000"/>
                    <a:pt x="11000" y="4000"/>
                  </a:cubicBezTo>
                  <a:lnTo>
                    <a:pt x="13000" y="4000"/>
                  </a:lnTo>
                  <a:cubicBezTo>
                    <a:pt x="13552" y="4000"/>
                    <a:pt x="14000" y="4448"/>
                    <a:pt x="14000" y="5000"/>
                  </a:cubicBezTo>
                  <a:lnTo>
                    <a:pt x="14000" y="10000"/>
                  </a:lnTo>
                </a:path>
                <a:path w="24000" h="24000" fill="none">
                  <a:moveTo>
                    <a:pt x="14000" y="6000"/>
                  </a:moveTo>
                  <a:cubicBezTo>
                    <a:pt x="17314" y="6000"/>
                    <a:pt x="20000" y="8686"/>
                    <a:pt x="20000" y="12000"/>
                  </a:cubicBezTo>
                  <a:lnTo>
                    <a:pt x="20000" y="15000"/>
                  </a:lnTo>
                </a:path>
                <a:path w="24000" h="24000" fill="none">
                  <a:moveTo>
                    <a:pt x="4000" y="15000"/>
                  </a:moveTo>
                  <a:lnTo>
                    <a:pt x="4000" y="12000"/>
                  </a:lnTo>
                  <a:cubicBezTo>
                    <a:pt x="4000" y="8686"/>
                    <a:pt x="6686" y="6000"/>
                    <a:pt x="10000" y="6000"/>
                  </a:cubicBezTo>
                </a:path>
                <a:path w="24000" h="24000" fill="none">
                  <a:moveTo>
                    <a:pt x="3000" y="15000"/>
                  </a:moveTo>
                  <a:lnTo>
                    <a:pt x="21000" y="15000"/>
                  </a:lnTo>
                  <a:cubicBezTo>
                    <a:pt x="21552" y="15000"/>
                    <a:pt x="22000" y="15448"/>
                    <a:pt x="22000" y="16000"/>
                  </a:cubicBezTo>
                  <a:lnTo>
                    <a:pt x="22000" y="18000"/>
                  </a:lnTo>
                  <a:cubicBezTo>
                    <a:pt x="22000" y="18552"/>
                    <a:pt x="21552" y="19000"/>
                    <a:pt x="21000" y="19000"/>
                  </a:cubicBezTo>
                  <a:lnTo>
                    <a:pt x="3000" y="19000"/>
                  </a:lnTo>
                  <a:cubicBezTo>
                    <a:pt x="2448" y="19000"/>
                    <a:pt x="2000" y="18552"/>
                    <a:pt x="2000" y="18000"/>
                  </a:cubicBezTo>
                  <a:lnTo>
                    <a:pt x="2000" y="16000"/>
                  </a:lnTo>
                  <a:cubicBezTo>
                    <a:pt x="2000" y="15448"/>
                    <a:pt x="2448" y="15000"/>
                    <a:pt x="3000" y="15000"/>
                  </a:cubicBezTo>
                  <a:close/>
                </a:path>
              </a:pathLst>
            </a:custGeom>
            <a:noFill/>
            <a:ln w="8315" cap="rnd">
              <a:solidFill>
                <a:srgbClr val="40566D"/>
              </a:solidFill>
              <a:round/>
            </a:ln>
          </p:spPr>
        </p:sp>
        <p:sp>
          <p:nvSpPr>
            <p:cNvPr id="49" name="Chip label"/>
            <p:cNvSpPr txBox="1"/>
            <p:nvPr/>
          </p:nvSpPr>
          <p:spPr>
            <a:xfrm>
              <a:off x="8369899" y="1033272"/>
              <a:ext cx="47234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AMC vendor</a:t>
              </a:r>
              <a:endParaRPr lang="en-US" sz="580" dirty="0">
                <a:latin typeface="Inter SemiBold"/>
              </a:endParaRPr>
            </a:p>
          </p:txBody>
        </p:sp>
      </p:grpSp>
      <p:sp>
        <p:nvSpPr>
          <p:cNvPr id="50" name="Icon chevron-right"/>
          <p:cNvSpPr/>
          <p:nvPr/>
        </p:nvSpPr>
        <p:spPr>
          <a:xfrm>
            <a:off x="3008376" y="259689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5088" cap="rnd">
            <a:solidFill>
              <a:srgbClr val="B1C1D2"/>
            </a:solidFill>
            <a:round/>
          </a:ln>
        </p:spPr>
      </p:sp>
      <p:sp>
        <p:nvSpPr>
          <p:cNvPr id="51" name="Icon chevron-right"/>
          <p:cNvSpPr/>
          <p:nvPr/>
        </p:nvSpPr>
        <p:spPr>
          <a:xfrm>
            <a:off x="5971032" y="259689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15088" cap="rnd">
            <a:solidFill>
              <a:srgbClr val="B1C1D2"/>
            </a:solidFill>
            <a:round/>
          </a:ln>
        </p:spPr>
      </p:sp>
      <p:sp>
        <p:nvSpPr>
          <p:cNvPr id="52" name="Browser"/>
          <p:cNvSpPr/>
          <p:nvPr/>
        </p:nvSpPr>
        <p:spPr>
          <a:xfrm>
            <a:off x="274320" y="1298448"/>
            <a:ext cx="2670048" cy="2761488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  <a:effectLst>
            <a:outerShdw blurRad="152400" dist="19050" dir="5400000" algn="t" rotWithShape="0">
              <a:srgbClr val="192839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3" name="Window bar"/>
          <p:cNvSpPr/>
          <p:nvPr/>
        </p:nvSpPr>
        <p:spPr>
          <a:xfrm>
            <a:off x="274320" y="1298448"/>
            <a:ext cx="2670048" cy="173736"/>
          </a:xfrm>
          <a:prstGeom prst="roundRect">
            <a:avLst>
              <a:gd name="adj" fmla="val 36842"/>
            </a:avLst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4" name="Window bar square"/>
          <p:cNvSpPr/>
          <p:nvPr/>
        </p:nvSpPr>
        <p:spPr>
          <a:xfrm>
            <a:off x="274320" y="1389888"/>
            <a:ext cx="2670048" cy="8229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5" name="Dot"/>
          <p:cNvSpPr/>
          <p:nvPr/>
        </p:nvSpPr>
        <p:spPr>
          <a:xfrm>
            <a:off x="347472" y="1362456"/>
            <a:ext cx="45720" cy="45720"/>
          </a:xfrm>
          <a:prstGeom prst="ellipse">
            <a:avLst/>
          </a:prstGeom>
          <a:solidFill>
            <a:srgbClr val="F96C6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6" name="Dot"/>
          <p:cNvSpPr/>
          <p:nvPr/>
        </p:nvSpPr>
        <p:spPr>
          <a:xfrm>
            <a:off x="429768" y="1362456"/>
            <a:ext cx="45720" cy="4572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7" name="Dot"/>
          <p:cNvSpPr/>
          <p:nvPr/>
        </p:nvSpPr>
        <p:spPr>
          <a:xfrm>
            <a:off x="512064" y="1362456"/>
            <a:ext cx="45720" cy="45720"/>
          </a:xfrm>
          <a:prstGeom prst="ellipse">
            <a:avLst/>
          </a:prstGeom>
          <a:solidFill>
            <a:srgbClr val="48D08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8" name="URL"/>
          <p:cNvSpPr/>
          <p:nvPr/>
        </p:nvSpPr>
        <p:spPr>
          <a:xfrm>
            <a:off x="640080" y="1335024"/>
            <a:ext cx="2212848" cy="10058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9" name="UI text"/>
          <p:cNvSpPr txBox="1"/>
          <p:nvPr/>
        </p:nvSpPr>
        <p:spPr>
          <a:xfrm>
            <a:off x="694944" y="1335024"/>
            <a:ext cx="2121408" cy="1005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buNone/>
            </a:pPr>
            <a:r>
              <a:rPr lang="en-US" sz="400" b="0" i="0" spc="0" dirty="0">
                <a:solidFill>
                  <a:srgbClr val="90A5BB"/>
                </a:solidFill>
                <a:latin typeface="Inter"/>
                <a:ea typeface="Inter"/>
                <a:cs typeface="Inter"/>
                <a:sym typeface="Inter"/>
              </a:rPr>
              <a:t>app.iosense.io/dg/blr-014/dg-01</a:t>
            </a:r>
            <a:endParaRPr lang="en-US" sz="400" dirty="0">
              <a:latin typeface="Inter"/>
            </a:endParaRPr>
          </a:p>
        </p:txBody>
      </p:sp>
      <p:sp>
        <p:nvSpPr>
          <p:cNvPr id="60" name="App bar"/>
          <p:cNvSpPr/>
          <p:nvPr/>
        </p:nvSpPr>
        <p:spPr>
          <a:xfrm>
            <a:off x="274320" y="1472184"/>
            <a:ext cx="267004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cxnSp>
        <p:nvCxnSpPr>
          <p:cNvPr id="61" name="Divider"/>
          <p:cNvCxnSpPr/>
          <p:nvPr/>
        </p:nvCxnSpPr>
        <p:spPr>
          <a:xfrm>
            <a:off x="274320" y="1691640"/>
            <a:ext cx="2670048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grpSp>
        <p:nvGrpSpPr>
          <p:cNvPr id="62" name="IOsense mark"/>
          <p:cNvGrpSpPr/>
          <p:nvPr/>
        </p:nvGrpSpPr>
        <p:grpSpPr>
          <a:xfrm>
            <a:off x="347472" y="1517904"/>
            <a:ext cx="128016" cy="128016"/>
            <a:chOff x="347472" y="1517904"/>
            <a:chExt cx="128016" cy="128016"/>
          </a:xfrm>
        </p:grpSpPr>
        <p:sp>
          <p:nvSpPr>
            <p:cNvPr id="63" name="IOsense tile"/>
            <p:cNvSpPr/>
            <p:nvPr/>
          </p:nvSpPr>
          <p:spPr>
            <a:xfrm>
              <a:off x="347472" y="1517904"/>
              <a:ext cx="128016" cy="128016"/>
            </a:xfrm>
            <a:prstGeom prst="roundRect">
              <a:avLst>
                <a:gd name="adj" fmla="val 8601"/>
              </a:avLst>
            </a:prstGeom>
            <a:solidFill>
              <a:srgbClr val="342DF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64" name="IOsense monogram"/>
            <p:cNvSpPr/>
            <p:nvPr/>
          </p:nvSpPr>
          <p:spPr>
            <a:xfrm>
              <a:off x="347472" y="1517904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82000" h="182000">
                  <a:moveTo>
                    <a:pt x="64203" y="108445"/>
                  </a:moveTo>
                  <a:lnTo>
                    <a:pt x="45789" y="56179"/>
                  </a:lnTo>
                  <a:lnTo>
                    <a:pt x="38955" y="77205"/>
                  </a:lnTo>
                  <a:lnTo>
                    <a:pt x="50047" y="85556"/>
                  </a:lnTo>
                  <a:lnTo>
                    <a:pt x="52025" y="94299"/>
                  </a:lnTo>
                  <a:lnTo>
                    <a:pt x="31889" y="79753"/>
                  </a:lnTo>
                  <a:lnTo>
                    <a:pt x="46378" y="36445"/>
                  </a:lnTo>
                  <a:lnTo>
                    <a:pt x="64203" y="88988"/>
                  </a:lnTo>
                  <a:lnTo>
                    <a:pt x="81834" y="37215"/>
                  </a:lnTo>
                  <a:lnTo>
                    <a:pt x="95889" y="80938"/>
                  </a:lnTo>
                  <a:lnTo>
                    <a:pt x="75792" y="95376"/>
                  </a:lnTo>
                  <a:lnTo>
                    <a:pt x="77971" y="85948"/>
                  </a:lnTo>
                  <a:lnTo>
                    <a:pt x="88660" y="77890"/>
                  </a:lnTo>
                  <a:lnTo>
                    <a:pt x="81531" y="57064"/>
                  </a:lnTo>
                  <a:lnTo>
                    <a:pt x="64203" y="1084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5" name="UI text"/>
          <p:cNvSpPr txBox="1"/>
          <p:nvPr/>
        </p:nvSpPr>
        <p:spPr>
          <a:xfrm>
            <a:off x="512064" y="1472184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buNone/>
            </a:pPr>
            <a:r>
              <a:rPr lang="en-US" sz="5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IOsense</a:t>
            </a:r>
            <a:r>
              <a:rPr lang="en-US" sz="50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·  DG Maintenance</a:t>
            </a:r>
            <a:endParaRPr lang="en-US" sz="500" dirty="0">
              <a:latin typeface="Inter SemiBold"/>
            </a:endParaRPr>
          </a:p>
        </p:txBody>
      </p:sp>
      <p:sp>
        <p:nvSpPr>
          <p:cNvPr id="66" name="Icon circle-user"/>
          <p:cNvSpPr/>
          <p:nvPr/>
        </p:nvSpPr>
        <p:spPr>
          <a:xfrm>
            <a:off x="2347619" y="1527048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</a:path>
              <a:path w="24000" h="24000" fill="none"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  <a:path w="24000" h="24000" fill="none">
                <a:moveTo>
                  <a:pt x="7000" y="20662"/>
                </a:moveTo>
                <a:lnTo>
                  <a:pt x="7000" y="19000"/>
                </a:lnTo>
                <a:cubicBezTo>
                  <a:pt x="7000" y="17895"/>
                  <a:pt x="7895" y="17000"/>
                  <a:pt x="9000" y="17000"/>
                </a:cubicBezTo>
                <a:lnTo>
                  <a:pt x="15000" y="17000"/>
                </a:lnTo>
                <a:cubicBezTo>
                  <a:pt x="16105" y="17000"/>
                  <a:pt x="17000" y="17895"/>
                  <a:pt x="17000" y="19000"/>
                </a:cubicBezTo>
                <a:lnTo>
                  <a:pt x="17000" y="20662"/>
                </a:lnTo>
              </a:path>
            </a:pathLst>
          </a:custGeom>
          <a:noFill/>
          <a:ln w="10058" cap="rnd">
            <a:solidFill>
              <a:srgbClr val="40566D"/>
            </a:solidFill>
            <a:round/>
          </a:ln>
        </p:spPr>
      </p:sp>
      <p:sp>
        <p:nvSpPr>
          <p:cNvPr id="67" name="UI text"/>
          <p:cNvSpPr txBox="1"/>
          <p:nvPr/>
        </p:nvSpPr>
        <p:spPr>
          <a:xfrm>
            <a:off x="2484779" y="1472184"/>
            <a:ext cx="45958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528"/>
              </a:lnSpc>
              <a:spcBef>
                <a:spcPts val="0"/>
              </a:spcBef>
              <a:buNone/>
            </a:pPr>
            <a:r>
              <a:rPr lang="en-US" sz="44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Super Admin</a:t>
            </a:r>
            <a:endParaRPr lang="en-US" sz="440" dirty="0">
              <a:latin typeface="Inter"/>
            </a:endParaRPr>
          </a:p>
        </p:txBody>
      </p:sp>
      <p:sp>
        <p:nvSpPr>
          <p:cNvPr id="68" name="Page"/>
          <p:cNvSpPr/>
          <p:nvPr/>
        </p:nvSpPr>
        <p:spPr>
          <a:xfrm>
            <a:off x="278892" y="1700784"/>
            <a:ext cx="2660904" cy="23545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69" name="Page corner"/>
          <p:cNvSpPr/>
          <p:nvPr/>
        </p:nvSpPr>
        <p:spPr>
          <a:xfrm>
            <a:off x="274320" y="3950208"/>
            <a:ext cx="2670048" cy="10972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0" name="Page corner square"/>
          <p:cNvSpPr/>
          <p:nvPr/>
        </p:nvSpPr>
        <p:spPr>
          <a:xfrm>
            <a:off x="274320" y="3950208"/>
            <a:ext cx="2670048" cy="548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1" name="Card"/>
          <p:cNvSpPr/>
          <p:nvPr/>
        </p:nvSpPr>
        <p:spPr>
          <a:xfrm>
            <a:off x="365760" y="1783080"/>
            <a:ext cx="248716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2" name="UI text"/>
          <p:cNvSpPr txBox="1"/>
          <p:nvPr/>
        </p:nvSpPr>
        <p:spPr>
          <a:xfrm>
            <a:off x="475488" y="1874520"/>
            <a:ext cx="22677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8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Preventive maintenance triggers</a:t>
            </a:r>
            <a:endParaRPr lang="en-US" sz="640" dirty="0">
              <a:latin typeface="Inter SemiBold"/>
            </a:endParaRPr>
          </a:p>
        </p:txBody>
      </p:sp>
      <p:grpSp>
        <p:nvGrpSpPr>
          <p:cNvPr id="73" name="Toggle"/>
          <p:cNvGrpSpPr/>
          <p:nvPr/>
        </p:nvGrpSpPr>
        <p:grpSpPr>
          <a:xfrm>
            <a:off x="475488" y="2139696"/>
            <a:ext cx="237744" cy="128016"/>
            <a:chOff x="475488" y="2139696"/>
            <a:chExt cx="237744" cy="128016"/>
          </a:xfrm>
        </p:grpSpPr>
        <p:sp>
          <p:nvSpPr>
            <p:cNvPr id="74" name="Toggle"/>
            <p:cNvSpPr/>
            <p:nvPr/>
          </p:nvSpPr>
          <p:spPr>
            <a:xfrm>
              <a:off x="475488" y="2139696"/>
              <a:ext cx="237744" cy="128016"/>
            </a:xfrm>
            <a:prstGeom prst="roundRect">
              <a:avLst>
                <a:gd name="adj" fmla="val 50000"/>
              </a:avLst>
            </a:prstGeom>
            <a:solidFill>
              <a:srgbClr val="305E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75" name="Knob"/>
            <p:cNvSpPr/>
            <p:nvPr/>
          </p:nvSpPr>
          <p:spPr>
            <a:xfrm>
              <a:off x="598932" y="2153412"/>
              <a:ext cx="100584" cy="10058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</p:grpSp>
      <p:sp>
        <p:nvSpPr>
          <p:cNvPr id="76" name="UI text"/>
          <p:cNvSpPr txBox="1"/>
          <p:nvPr/>
        </p:nvSpPr>
        <p:spPr>
          <a:xfrm>
            <a:off x="786384" y="2112264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2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Running-hours limit</a:t>
            </a:r>
            <a:endParaRPr lang="en-US" sz="580" dirty="0">
              <a:latin typeface="Inter SemiBold"/>
            </a:endParaRPr>
          </a:p>
        </p:txBody>
      </p:sp>
      <p:sp>
        <p:nvSpPr>
          <p:cNvPr id="77" name="Value box"/>
          <p:cNvSpPr/>
          <p:nvPr/>
        </p:nvSpPr>
        <p:spPr>
          <a:xfrm>
            <a:off x="2103120" y="210312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8" name="UI text"/>
          <p:cNvSpPr txBox="1"/>
          <p:nvPr/>
        </p:nvSpPr>
        <p:spPr>
          <a:xfrm>
            <a:off x="2103120" y="210312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696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250 h</a:t>
            </a:r>
            <a:endParaRPr lang="en-US" sz="580" dirty="0">
              <a:latin typeface="Inter SemiBold"/>
            </a:endParaRPr>
          </a:p>
        </p:txBody>
      </p:sp>
      <p:grpSp>
        <p:nvGrpSpPr>
          <p:cNvPr id="79" name="Toggle"/>
          <p:cNvGrpSpPr/>
          <p:nvPr/>
        </p:nvGrpSpPr>
        <p:grpSpPr>
          <a:xfrm>
            <a:off x="475488" y="2432304"/>
            <a:ext cx="237744" cy="128016"/>
            <a:chOff x="475488" y="2432304"/>
            <a:chExt cx="237744" cy="128016"/>
          </a:xfrm>
        </p:grpSpPr>
        <p:sp>
          <p:nvSpPr>
            <p:cNvPr id="80" name="Toggle"/>
            <p:cNvSpPr/>
            <p:nvPr/>
          </p:nvSpPr>
          <p:spPr>
            <a:xfrm>
              <a:off x="475488" y="2432304"/>
              <a:ext cx="237744" cy="128016"/>
            </a:xfrm>
            <a:prstGeom prst="roundRect">
              <a:avLst>
                <a:gd name="adj" fmla="val 50000"/>
              </a:avLst>
            </a:prstGeom>
            <a:solidFill>
              <a:srgbClr val="305E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1" name="Knob"/>
            <p:cNvSpPr/>
            <p:nvPr/>
          </p:nvSpPr>
          <p:spPr>
            <a:xfrm>
              <a:off x="598932" y="2446020"/>
              <a:ext cx="100584" cy="10058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</p:grpSp>
      <p:sp>
        <p:nvSpPr>
          <p:cNvPr id="82" name="UI text"/>
          <p:cNvSpPr txBox="1"/>
          <p:nvPr/>
        </p:nvSpPr>
        <p:spPr>
          <a:xfrm>
            <a:off x="786384" y="2404872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2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Fixed period</a:t>
            </a:r>
            <a:endParaRPr lang="en-US" sz="580" dirty="0">
              <a:latin typeface="Inter SemiBold"/>
            </a:endParaRPr>
          </a:p>
        </p:txBody>
      </p:sp>
      <p:sp>
        <p:nvSpPr>
          <p:cNvPr id="83" name="Value box"/>
          <p:cNvSpPr/>
          <p:nvPr/>
        </p:nvSpPr>
        <p:spPr>
          <a:xfrm>
            <a:off x="2103120" y="2395728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84" name="UI text"/>
          <p:cNvSpPr txBox="1"/>
          <p:nvPr/>
        </p:nvSpPr>
        <p:spPr>
          <a:xfrm>
            <a:off x="2103120" y="239572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696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90 days</a:t>
            </a:r>
            <a:endParaRPr lang="en-US" sz="580" dirty="0">
              <a:latin typeface="Inter SemiBold"/>
            </a:endParaRPr>
          </a:p>
        </p:txBody>
      </p:sp>
      <p:grpSp>
        <p:nvGrpSpPr>
          <p:cNvPr id="85" name="KPI Hours since last PM"/>
          <p:cNvGrpSpPr/>
          <p:nvPr/>
        </p:nvGrpSpPr>
        <p:grpSpPr>
          <a:xfrm>
            <a:off x="365760" y="2862072"/>
            <a:ext cx="1197864" cy="566928"/>
            <a:chOff x="365760" y="2862072"/>
            <a:chExt cx="1197864" cy="566928"/>
          </a:xfrm>
        </p:grpSpPr>
        <p:sp>
          <p:nvSpPr>
            <p:cNvPr id="86" name="KPI tile"/>
            <p:cNvSpPr/>
            <p:nvPr/>
          </p:nvSpPr>
          <p:spPr>
            <a:xfrm>
              <a:off x="365760" y="2862072"/>
              <a:ext cx="1197864" cy="566928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6350">
              <a:solidFill>
                <a:srgbClr val="E3EAF3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7" name="UI text"/>
            <p:cNvSpPr txBox="1"/>
            <p:nvPr/>
          </p:nvSpPr>
          <p:spPr>
            <a:xfrm>
              <a:off x="420624" y="2898648"/>
              <a:ext cx="1088136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450"/>
                </a:lnSpc>
                <a:spcBef>
                  <a:spcPts val="0"/>
                </a:spcBef>
                <a:buNone/>
              </a:pPr>
              <a:r>
                <a:rPr lang="en-US" sz="430" b="0" i="0" spc="0" dirty="0">
                  <a:solidFill>
                    <a:srgbClr val="768EA7"/>
                  </a:solidFill>
                  <a:latin typeface="Inter"/>
                  <a:ea typeface="Inter"/>
                  <a:cs typeface="Inter"/>
                  <a:sym typeface="Inter"/>
                </a:rPr>
                <a:t>Hours since last PM</a:t>
              </a:r>
              <a:endParaRPr lang="en-US" sz="430" dirty="0">
                <a:latin typeface="Inter"/>
              </a:endParaRPr>
            </a:p>
          </p:txBody>
        </p:sp>
        <p:sp>
          <p:nvSpPr>
            <p:cNvPr id="88" name="UI text"/>
            <p:cNvSpPr txBox="1"/>
            <p:nvPr/>
          </p:nvSpPr>
          <p:spPr>
            <a:xfrm>
              <a:off x="420624" y="2990088"/>
              <a:ext cx="10881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19283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244</a:t>
              </a:r>
              <a:r>
                <a:rPr lang="en-US" sz="720" b="0" i="0" spc="0" dirty="0">
                  <a:solidFill>
                    <a:srgbClr val="768EA7"/>
                  </a:solidFill>
                  <a:latin typeface="Inter"/>
                  <a:ea typeface="Inter"/>
                  <a:cs typeface="Inter"/>
                  <a:sym typeface="Inter"/>
                </a:rPr>
                <a:t> h</a:t>
              </a:r>
              <a:endParaRPr lang="en-US" sz="720" dirty="0">
                <a:latin typeface="Inter SemiBold"/>
              </a:endParaRPr>
            </a:p>
          </p:txBody>
        </p:sp>
        <p:sp>
          <p:nvSpPr>
            <p:cNvPr id="89" name="Bar track"/>
            <p:cNvSpPr/>
            <p:nvPr/>
          </p:nvSpPr>
          <p:spPr>
            <a:xfrm>
              <a:off x="420624" y="3355848"/>
              <a:ext cx="1088136" cy="36576"/>
            </a:xfrm>
            <a:prstGeom prst="roundRect">
              <a:avLst>
                <a:gd name="adj" fmla="val 50000"/>
              </a:avLst>
            </a:prstGeom>
            <a:solidFill>
              <a:srgbClr val="E3EAF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0" name="Bar fill"/>
            <p:cNvSpPr/>
            <p:nvPr/>
          </p:nvSpPr>
          <p:spPr>
            <a:xfrm>
              <a:off x="420624" y="3355848"/>
              <a:ext cx="1062021" cy="36576"/>
            </a:xfrm>
            <a:prstGeom prst="roundRect">
              <a:avLst>
                <a:gd name="adj" fmla="val 50000"/>
              </a:avLst>
            </a:prstGeom>
            <a:solidFill>
              <a:srgbClr val="E9690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</p:grpSp>
      <p:grpSp>
        <p:nvGrpSpPr>
          <p:cNvPr id="91" name="KPI Next PM due in"/>
          <p:cNvGrpSpPr/>
          <p:nvPr/>
        </p:nvGrpSpPr>
        <p:grpSpPr>
          <a:xfrm>
            <a:off x="1655064" y="2862072"/>
            <a:ext cx="1197864" cy="566928"/>
            <a:chOff x="1655064" y="2862072"/>
            <a:chExt cx="1197864" cy="566928"/>
          </a:xfrm>
        </p:grpSpPr>
        <p:sp>
          <p:nvSpPr>
            <p:cNvPr id="92" name="KPI tile"/>
            <p:cNvSpPr/>
            <p:nvPr/>
          </p:nvSpPr>
          <p:spPr>
            <a:xfrm>
              <a:off x="1655064" y="2862072"/>
              <a:ext cx="1197864" cy="566928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6350">
              <a:solidFill>
                <a:srgbClr val="E3EAF3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3" name="UI text"/>
            <p:cNvSpPr txBox="1"/>
            <p:nvPr/>
          </p:nvSpPr>
          <p:spPr>
            <a:xfrm>
              <a:off x="1709928" y="2898648"/>
              <a:ext cx="1088136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450"/>
                </a:lnSpc>
                <a:spcBef>
                  <a:spcPts val="0"/>
                </a:spcBef>
                <a:buNone/>
              </a:pPr>
              <a:r>
                <a:rPr lang="en-US" sz="430" b="0" i="0" spc="0" dirty="0">
                  <a:solidFill>
                    <a:srgbClr val="768EA7"/>
                  </a:solidFill>
                  <a:latin typeface="Inter"/>
                  <a:ea typeface="Inter"/>
                  <a:cs typeface="Inter"/>
                  <a:sym typeface="Inter"/>
                </a:rPr>
                <a:t>Next PM due in</a:t>
              </a:r>
              <a:endParaRPr lang="en-US" sz="430" dirty="0">
                <a:latin typeface="Inter"/>
              </a:endParaRPr>
            </a:p>
          </p:txBody>
        </p:sp>
        <p:sp>
          <p:nvSpPr>
            <p:cNvPr id="94" name="UI text"/>
            <p:cNvSpPr txBox="1"/>
            <p:nvPr/>
          </p:nvSpPr>
          <p:spPr>
            <a:xfrm>
              <a:off x="1709928" y="2990088"/>
              <a:ext cx="10881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720" b="0" i="0" spc="0" dirty="0">
                  <a:solidFill>
                    <a:srgbClr val="C65C1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6</a:t>
              </a:r>
              <a:r>
                <a:rPr lang="en-US" sz="720" b="0" i="0" spc="0" dirty="0">
                  <a:solidFill>
                    <a:srgbClr val="768EA7"/>
                  </a:solidFill>
                  <a:latin typeface="Inter"/>
                  <a:ea typeface="Inter"/>
                  <a:cs typeface="Inter"/>
                  <a:sym typeface="Inter"/>
                </a:rPr>
                <a:t> h</a:t>
              </a:r>
              <a:endParaRPr lang="en-US" sz="720" dirty="0">
                <a:latin typeface="Inter SemiBold"/>
              </a:endParaRPr>
            </a:p>
          </p:txBody>
        </p:sp>
      </p:grpSp>
      <p:grpSp>
        <p:nvGrpSpPr>
          <p:cNvPr id="95" name="Alert"/>
          <p:cNvGrpSpPr/>
          <p:nvPr/>
        </p:nvGrpSpPr>
        <p:grpSpPr>
          <a:xfrm>
            <a:off x="365760" y="3575304"/>
            <a:ext cx="2487168" cy="312928"/>
            <a:chOff x="365760" y="3575304"/>
            <a:chExt cx="2487168" cy="312928"/>
          </a:xfrm>
        </p:grpSpPr>
        <p:sp>
          <p:nvSpPr>
            <p:cNvPr id="96" name="Alert"/>
            <p:cNvSpPr/>
            <p:nvPr/>
          </p:nvSpPr>
          <p:spPr>
            <a:xfrm>
              <a:off x="365760" y="3575304"/>
              <a:ext cx="2487168" cy="312928"/>
            </a:xfrm>
            <a:prstGeom prst="roundRect">
              <a:avLst>
                <a:gd name="adj" fmla="val 11688"/>
              </a:avLst>
            </a:prstGeom>
            <a:solidFill>
              <a:srgbClr val="FFF3EB"/>
            </a:solidFill>
            <a:ln w="6350">
              <a:solidFill>
                <a:srgbClr val="E9690C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7" name="Icon bell-ring"/>
            <p:cNvSpPr/>
            <p:nvPr/>
          </p:nvSpPr>
          <p:spPr>
            <a:xfrm>
              <a:off x="438912" y="3639312"/>
              <a:ext cx="118872" cy="11887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268" y="21000"/>
                  </a:moveTo>
                  <a:cubicBezTo>
                    <a:pt x="10625" y="21619"/>
                    <a:pt x="11286" y="22000"/>
                    <a:pt x="12000" y="22000"/>
                  </a:cubicBezTo>
                  <a:cubicBezTo>
                    <a:pt x="12714" y="22000"/>
                    <a:pt x="13375" y="21619"/>
                    <a:pt x="13732" y="21000"/>
                  </a:cubicBezTo>
                </a:path>
                <a:path w="24000" h="24000" fill="none">
                  <a:moveTo>
                    <a:pt x="22000" y="8000"/>
                  </a:moveTo>
                  <a:cubicBezTo>
                    <a:pt x="22000" y="5700"/>
                    <a:pt x="21200" y="3700"/>
                    <a:pt x="20000" y="2000"/>
                  </a:cubicBezTo>
                </a:path>
                <a:path w="24000" h="24000" fill="none">
                  <a:moveTo>
                    <a:pt x="3262" y="15326"/>
                  </a:moveTo>
                  <a:cubicBezTo>
                    <a:pt x="2995" y="15619"/>
                    <a:pt x="2926" y="16041"/>
                    <a:pt x="3086" y="16403"/>
                  </a:cubicBezTo>
                  <a:cubicBezTo>
                    <a:pt x="3245" y="16766"/>
                    <a:pt x="3604" y="17000"/>
                    <a:pt x="4000" y="17000"/>
                  </a:cubicBezTo>
                  <a:lnTo>
                    <a:pt x="20000" y="17000"/>
                  </a:lnTo>
                  <a:cubicBezTo>
                    <a:pt x="20396" y="17000"/>
                    <a:pt x="20755" y="16767"/>
                    <a:pt x="20915" y="16405"/>
                  </a:cubicBezTo>
                  <a:cubicBezTo>
                    <a:pt x="21075" y="16042"/>
                    <a:pt x="21006" y="15620"/>
                    <a:pt x="20740" y="15327"/>
                  </a:cubicBezTo>
                  <a:cubicBezTo>
                    <a:pt x="19410" y="13956"/>
                    <a:pt x="18000" y="12499"/>
                    <a:pt x="18000" y="8000"/>
                  </a:cubicBezTo>
                  <a:cubicBezTo>
                    <a:pt x="18000" y="4686"/>
                    <a:pt x="15314" y="2000"/>
                    <a:pt x="12000" y="2000"/>
                  </a:cubicBezTo>
                  <a:cubicBezTo>
                    <a:pt x="8686" y="2000"/>
                    <a:pt x="6000" y="4686"/>
                    <a:pt x="6000" y="8000"/>
                  </a:cubicBezTo>
                  <a:cubicBezTo>
                    <a:pt x="6000" y="12499"/>
                    <a:pt x="4589" y="13956"/>
                    <a:pt x="3262" y="15326"/>
                  </a:cubicBezTo>
                </a:path>
                <a:path w="24000" h="24000" fill="none">
                  <a:moveTo>
                    <a:pt x="4000" y="2000"/>
                  </a:moveTo>
                  <a:cubicBezTo>
                    <a:pt x="2800" y="3700"/>
                    <a:pt x="2000" y="5700"/>
                    <a:pt x="2000" y="8000"/>
                  </a:cubicBezTo>
                </a:path>
              </a:pathLst>
            </a:custGeom>
            <a:noFill/>
            <a:ln w="10897" cap="rnd">
              <a:solidFill>
                <a:srgbClr val="E9690C"/>
              </a:solidFill>
              <a:round/>
            </a:ln>
          </p:spPr>
        </p:sp>
        <p:sp>
          <p:nvSpPr>
            <p:cNvPr id="98" name="Alert text"/>
            <p:cNvSpPr txBox="1"/>
            <p:nvPr/>
          </p:nvSpPr>
          <p:spPr>
            <a:xfrm>
              <a:off x="621792" y="3630168"/>
              <a:ext cx="2157984" cy="221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8"/>
                </a:lnSpc>
                <a:spcBef>
                  <a:spcPts val="0"/>
                </a:spcBef>
                <a:buNone/>
              </a:pPr>
              <a:r>
                <a:rPr lang="en-US" sz="640" b="0" i="0" spc="0" dirty="0">
                  <a:solidFill>
                    <a:srgbClr val="C65C1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Preventive maintenance due — 250 h reached</a:t>
              </a:r>
              <a:endParaRPr lang="en-US" sz="640" dirty="0">
                <a:latin typeface="Inter SemiBold"/>
              </a:endParaRPr>
            </a:p>
            <a:p>
              <a:pPr algn="l">
                <a:lnSpc>
                  <a:spcPts val="732"/>
                </a:lnSpc>
                <a:spcBef>
                  <a:spcPts val="100"/>
                </a:spcBef>
                <a:buNone/>
              </a:pPr>
              <a:r>
                <a:rPr lang="en-US" sz="61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Maintenance work order MWO-0217 created</a:t>
              </a:r>
              <a:endParaRPr lang="en-US" sz="610" dirty="0">
                <a:latin typeface="Inter"/>
              </a:endParaRPr>
            </a:p>
          </p:txBody>
        </p:sp>
      </p:grpSp>
      <p:sp>
        <p:nvSpPr>
          <p:cNvPr id="99" name="Browser"/>
          <p:cNvSpPr/>
          <p:nvPr/>
        </p:nvSpPr>
        <p:spPr>
          <a:xfrm>
            <a:off x="3236976" y="1298448"/>
            <a:ext cx="2670048" cy="2761488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  <a:effectLst>
            <a:outerShdw blurRad="152400" dist="19050" dir="5400000" algn="t" rotWithShape="0">
              <a:srgbClr val="192839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0" name="Window bar"/>
          <p:cNvSpPr/>
          <p:nvPr/>
        </p:nvSpPr>
        <p:spPr>
          <a:xfrm>
            <a:off x="3236976" y="1298448"/>
            <a:ext cx="2670048" cy="173736"/>
          </a:xfrm>
          <a:prstGeom prst="roundRect">
            <a:avLst>
              <a:gd name="adj" fmla="val 36842"/>
            </a:avLst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1" name="Window bar square"/>
          <p:cNvSpPr/>
          <p:nvPr/>
        </p:nvSpPr>
        <p:spPr>
          <a:xfrm>
            <a:off x="3236976" y="1389888"/>
            <a:ext cx="2670048" cy="8229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2" name="Dot"/>
          <p:cNvSpPr/>
          <p:nvPr/>
        </p:nvSpPr>
        <p:spPr>
          <a:xfrm>
            <a:off x="3310128" y="1362456"/>
            <a:ext cx="45720" cy="45720"/>
          </a:xfrm>
          <a:prstGeom prst="ellipse">
            <a:avLst/>
          </a:prstGeom>
          <a:solidFill>
            <a:srgbClr val="F96C6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3" name="Dot"/>
          <p:cNvSpPr/>
          <p:nvPr/>
        </p:nvSpPr>
        <p:spPr>
          <a:xfrm>
            <a:off x="3392424" y="1362456"/>
            <a:ext cx="45720" cy="4572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4" name="Dot"/>
          <p:cNvSpPr/>
          <p:nvPr/>
        </p:nvSpPr>
        <p:spPr>
          <a:xfrm>
            <a:off x="3474720" y="1362456"/>
            <a:ext cx="45720" cy="45720"/>
          </a:xfrm>
          <a:prstGeom prst="ellipse">
            <a:avLst/>
          </a:prstGeom>
          <a:solidFill>
            <a:srgbClr val="48D08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5" name="URL"/>
          <p:cNvSpPr/>
          <p:nvPr/>
        </p:nvSpPr>
        <p:spPr>
          <a:xfrm>
            <a:off x="3602736" y="1335024"/>
            <a:ext cx="2212848" cy="10058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6" name="UI text"/>
          <p:cNvSpPr txBox="1"/>
          <p:nvPr/>
        </p:nvSpPr>
        <p:spPr>
          <a:xfrm>
            <a:off x="3657600" y="1335024"/>
            <a:ext cx="2121408" cy="1005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480"/>
              </a:lnSpc>
              <a:spcBef>
                <a:spcPts val="0"/>
              </a:spcBef>
              <a:buNone/>
            </a:pPr>
            <a:r>
              <a:rPr lang="en-US" sz="400" b="0" i="0" spc="0" dirty="0">
                <a:solidFill>
                  <a:srgbClr val="90A5BB"/>
                </a:solidFill>
                <a:latin typeface="Inter"/>
                <a:ea typeface="Inter"/>
                <a:cs typeface="Inter"/>
                <a:sym typeface="Inter"/>
              </a:rPr>
              <a:t>app.iosense.io/work-orders/MWO-0217</a:t>
            </a:r>
            <a:endParaRPr lang="en-US" sz="400" dirty="0">
              <a:latin typeface="Inter"/>
            </a:endParaRPr>
          </a:p>
        </p:txBody>
      </p:sp>
      <p:sp>
        <p:nvSpPr>
          <p:cNvPr id="107" name="App bar"/>
          <p:cNvSpPr/>
          <p:nvPr/>
        </p:nvSpPr>
        <p:spPr>
          <a:xfrm>
            <a:off x="3236976" y="1472184"/>
            <a:ext cx="267004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cxnSp>
        <p:nvCxnSpPr>
          <p:cNvPr id="108" name="Divider"/>
          <p:cNvCxnSpPr/>
          <p:nvPr/>
        </p:nvCxnSpPr>
        <p:spPr>
          <a:xfrm>
            <a:off x="3236976" y="1691640"/>
            <a:ext cx="2670048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grpSp>
        <p:nvGrpSpPr>
          <p:cNvPr id="109" name="IOsense mark"/>
          <p:cNvGrpSpPr/>
          <p:nvPr/>
        </p:nvGrpSpPr>
        <p:grpSpPr>
          <a:xfrm>
            <a:off x="3310128" y="1517904"/>
            <a:ext cx="128016" cy="128016"/>
            <a:chOff x="3310128" y="1517904"/>
            <a:chExt cx="128016" cy="128016"/>
          </a:xfrm>
        </p:grpSpPr>
        <p:sp>
          <p:nvSpPr>
            <p:cNvPr id="110" name="IOsense tile"/>
            <p:cNvSpPr/>
            <p:nvPr/>
          </p:nvSpPr>
          <p:spPr>
            <a:xfrm>
              <a:off x="3310128" y="1517904"/>
              <a:ext cx="128016" cy="128016"/>
            </a:xfrm>
            <a:prstGeom prst="roundRect">
              <a:avLst>
                <a:gd name="adj" fmla="val 8601"/>
              </a:avLst>
            </a:prstGeom>
            <a:solidFill>
              <a:srgbClr val="342DF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11" name="IOsense monogram"/>
            <p:cNvSpPr/>
            <p:nvPr/>
          </p:nvSpPr>
          <p:spPr>
            <a:xfrm>
              <a:off x="3310128" y="1517904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82000" h="182000">
                  <a:moveTo>
                    <a:pt x="64203" y="108445"/>
                  </a:moveTo>
                  <a:lnTo>
                    <a:pt x="45789" y="56179"/>
                  </a:lnTo>
                  <a:lnTo>
                    <a:pt x="38955" y="77205"/>
                  </a:lnTo>
                  <a:lnTo>
                    <a:pt x="50047" y="85556"/>
                  </a:lnTo>
                  <a:lnTo>
                    <a:pt x="52025" y="94299"/>
                  </a:lnTo>
                  <a:lnTo>
                    <a:pt x="31889" y="79753"/>
                  </a:lnTo>
                  <a:lnTo>
                    <a:pt x="46378" y="36445"/>
                  </a:lnTo>
                  <a:lnTo>
                    <a:pt x="64203" y="88988"/>
                  </a:lnTo>
                  <a:lnTo>
                    <a:pt x="81834" y="37215"/>
                  </a:lnTo>
                  <a:lnTo>
                    <a:pt x="95889" y="80938"/>
                  </a:lnTo>
                  <a:lnTo>
                    <a:pt x="75792" y="95376"/>
                  </a:lnTo>
                  <a:lnTo>
                    <a:pt x="77971" y="85948"/>
                  </a:lnTo>
                  <a:lnTo>
                    <a:pt x="88660" y="77890"/>
                  </a:lnTo>
                  <a:lnTo>
                    <a:pt x="81531" y="57064"/>
                  </a:lnTo>
                  <a:lnTo>
                    <a:pt x="64203" y="1084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12" name="UI text"/>
          <p:cNvSpPr txBox="1"/>
          <p:nvPr/>
        </p:nvSpPr>
        <p:spPr>
          <a:xfrm>
            <a:off x="3474720" y="1472184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00"/>
              </a:lnSpc>
              <a:spcBef>
                <a:spcPts val="0"/>
              </a:spcBef>
              <a:buNone/>
            </a:pPr>
            <a:r>
              <a:rPr lang="en-US" sz="5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IOsense</a:t>
            </a:r>
            <a:r>
              <a:rPr lang="en-US" sz="50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·  Work orders</a:t>
            </a:r>
            <a:endParaRPr lang="en-US" sz="500" dirty="0">
              <a:latin typeface="Inter SemiBold"/>
            </a:endParaRPr>
          </a:p>
        </p:txBody>
      </p:sp>
      <p:sp>
        <p:nvSpPr>
          <p:cNvPr id="113" name="Icon circle-user"/>
          <p:cNvSpPr/>
          <p:nvPr/>
        </p:nvSpPr>
        <p:spPr>
          <a:xfrm>
            <a:off x="5319939" y="1527048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</a:path>
              <a:path w="24000" h="24000" fill="none"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  <a:path w="24000" h="24000" fill="none">
                <a:moveTo>
                  <a:pt x="7000" y="20662"/>
                </a:moveTo>
                <a:lnTo>
                  <a:pt x="7000" y="19000"/>
                </a:lnTo>
                <a:cubicBezTo>
                  <a:pt x="7000" y="17895"/>
                  <a:pt x="7895" y="17000"/>
                  <a:pt x="9000" y="17000"/>
                </a:cubicBezTo>
                <a:lnTo>
                  <a:pt x="15000" y="17000"/>
                </a:lnTo>
                <a:cubicBezTo>
                  <a:pt x="16105" y="17000"/>
                  <a:pt x="17000" y="17895"/>
                  <a:pt x="17000" y="19000"/>
                </a:cubicBezTo>
                <a:lnTo>
                  <a:pt x="17000" y="20662"/>
                </a:lnTo>
              </a:path>
            </a:pathLst>
          </a:custGeom>
          <a:noFill/>
          <a:ln w="10058" cap="rnd">
            <a:solidFill>
              <a:srgbClr val="40566D"/>
            </a:solidFill>
            <a:round/>
          </a:ln>
        </p:spPr>
      </p:sp>
      <p:sp>
        <p:nvSpPr>
          <p:cNvPr id="114" name="UI text"/>
          <p:cNvSpPr txBox="1"/>
          <p:nvPr/>
        </p:nvSpPr>
        <p:spPr>
          <a:xfrm>
            <a:off x="5457099" y="1472184"/>
            <a:ext cx="449925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528"/>
              </a:lnSpc>
              <a:spcBef>
                <a:spcPts val="0"/>
              </a:spcBef>
              <a:buNone/>
            </a:pPr>
            <a:r>
              <a:rPr lang="en-US" sz="44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Central User</a:t>
            </a:r>
            <a:endParaRPr lang="en-US" sz="440" dirty="0">
              <a:latin typeface="Inter"/>
            </a:endParaRPr>
          </a:p>
        </p:txBody>
      </p:sp>
      <p:sp>
        <p:nvSpPr>
          <p:cNvPr id="115" name="Page"/>
          <p:cNvSpPr/>
          <p:nvPr/>
        </p:nvSpPr>
        <p:spPr>
          <a:xfrm>
            <a:off x="3241548" y="1700784"/>
            <a:ext cx="2660904" cy="23545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16" name="Page corner"/>
          <p:cNvSpPr/>
          <p:nvPr/>
        </p:nvSpPr>
        <p:spPr>
          <a:xfrm>
            <a:off x="3236976" y="3950208"/>
            <a:ext cx="2670048" cy="10972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17" name="Page corner square"/>
          <p:cNvSpPr/>
          <p:nvPr/>
        </p:nvSpPr>
        <p:spPr>
          <a:xfrm>
            <a:off x="3236976" y="3950208"/>
            <a:ext cx="2670048" cy="5486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18" name="UI text"/>
          <p:cNvSpPr txBox="1"/>
          <p:nvPr/>
        </p:nvSpPr>
        <p:spPr>
          <a:xfrm>
            <a:off x="3328416" y="1801368"/>
            <a:ext cx="161848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8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MWO-0217</a:t>
            </a:r>
            <a:r>
              <a:rPr lang="en-US" sz="80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 Preventive</a:t>
            </a:r>
            <a:endParaRPr lang="en-US" sz="800" dirty="0">
              <a:latin typeface="Inter SemiBold"/>
            </a:endParaRPr>
          </a:p>
        </p:txBody>
      </p:sp>
      <p:grpSp>
        <p:nvGrpSpPr>
          <p:cNvPr id="119" name="Badge"/>
          <p:cNvGrpSpPr/>
          <p:nvPr/>
        </p:nvGrpSpPr>
        <p:grpSpPr>
          <a:xfrm>
            <a:off x="5413252" y="1828800"/>
            <a:ext cx="402332" cy="155448"/>
            <a:chOff x="5413252" y="1828800"/>
            <a:chExt cx="402332" cy="155448"/>
          </a:xfrm>
        </p:grpSpPr>
        <p:sp>
          <p:nvSpPr>
            <p:cNvPr id="120" name="Badge"/>
            <p:cNvSpPr/>
            <p:nvPr/>
          </p:nvSpPr>
          <p:spPr>
            <a:xfrm>
              <a:off x="5413252" y="1828800"/>
              <a:ext cx="402332" cy="155448"/>
            </a:xfrm>
            <a:prstGeom prst="roundRect">
              <a:avLst>
                <a:gd name="adj" fmla="val 25000"/>
              </a:avLst>
            </a:prstGeom>
            <a:solidFill>
              <a:srgbClr val="305E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21" name="Badge label"/>
            <p:cNvSpPr txBox="1"/>
            <p:nvPr/>
          </p:nvSpPr>
          <p:spPr>
            <a:xfrm>
              <a:off x="5458972" y="1828800"/>
              <a:ext cx="329180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Assigned</a:t>
              </a:r>
              <a:endParaRPr lang="en-US" sz="540" dirty="0">
                <a:latin typeface="Inter SemiBold"/>
              </a:endParaRPr>
            </a:p>
          </p:txBody>
        </p:sp>
      </p:grpSp>
      <p:sp>
        <p:nvSpPr>
          <p:cNvPr id="122" name="Card"/>
          <p:cNvSpPr/>
          <p:nvPr/>
        </p:nvSpPr>
        <p:spPr>
          <a:xfrm>
            <a:off x="3328416" y="2075688"/>
            <a:ext cx="2487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23" name="UI text"/>
          <p:cNvSpPr txBox="1"/>
          <p:nvPr/>
        </p:nvSpPr>
        <p:spPr>
          <a:xfrm>
            <a:off x="3438144" y="2185416"/>
            <a:ext cx="1088136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40"/>
              </a:lnSpc>
              <a:spcBef>
                <a:spcPts val="0"/>
              </a:spcBef>
              <a:buNone/>
            </a:pPr>
            <a:r>
              <a:rPr lang="en-US" sz="52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DG &amp; store</a:t>
            </a:r>
            <a:endParaRPr lang="en-US" sz="520" dirty="0">
              <a:latin typeface="Inter"/>
            </a:endParaRPr>
          </a:p>
        </p:txBody>
      </p:sp>
      <p:sp>
        <p:nvSpPr>
          <p:cNvPr id="124" name="UI text"/>
          <p:cNvSpPr txBox="1"/>
          <p:nvPr/>
        </p:nvSpPr>
        <p:spPr>
          <a:xfrm>
            <a:off x="3438144" y="2313432"/>
            <a:ext cx="108813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68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DG-01 · BLR-014</a:t>
            </a:r>
            <a:endParaRPr lang="en-US" sz="640" dirty="0">
              <a:latin typeface="Inter SemiBold"/>
            </a:endParaRPr>
          </a:p>
        </p:txBody>
      </p:sp>
      <p:sp>
        <p:nvSpPr>
          <p:cNvPr id="125" name="UI text"/>
          <p:cNvSpPr txBox="1"/>
          <p:nvPr/>
        </p:nvSpPr>
        <p:spPr>
          <a:xfrm>
            <a:off x="4617720" y="2185416"/>
            <a:ext cx="1088136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40"/>
              </a:lnSpc>
              <a:spcBef>
                <a:spcPts val="0"/>
              </a:spcBef>
              <a:buNone/>
            </a:pPr>
            <a:r>
              <a:rPr lang="en-US" sz="52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Trigger</a:t>
            </a:r>
            <a:endParaRPr lang="en-US" sz="520" dirty="0">
              <a:latin typeface="Inter"/>
            </a:endParaRPr>
          </a:p>
        </p:txBody>
      </p:sp>
      <p:sp>
        <p:nvSpPr>
          <p:cNvPr id="126" name="UI text"/>
          <p:cNvSpPr txBox="1"/>
          <p:nvPr/>
        </p:nvSpPr>
        <p:spPr>
          <a:xfrm>
            <a:off x="4617720" y="2313432"/>
            <a:ext cx="108813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68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Running hours · 250 h</a:t>
            </a:r>
            <a:endParaRPr lang="en-US" sz="640" dirty="0">
              <a:latin typeface="Inter SemiBold"/>
            </a:endParaRPr>
          </a:p>
        </p:txBody>
      </p:sp>
      <p:sp>
        <p:nvSpPr>
          <p:cNvPr id="127" name="UI text"/>
          <p:cNvSpPr txBox="1"/>
          <p:nvPr/>
        </p:nvSpPr>
        <p:spPr>
          <a:xfrm>
            <a:off x="3438144" y="2532888"/>
            <a:ext cx="1088136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40"/>
              </a:lnSpc>
              <a:spcBef>
                <a:spcPts val="0"/>
              </a:spcBef>
              <a:buNone/>
            </a:pPr>
            <a:r>
              <a:rPr lang="en-US" sz="52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AMC vendor</a:t>
            </a:r>
            <a:endParaRPr lang="en-US" sz="520" dirty="0">
              <a:latin typeface="Inter"/>
            </a:endParaRPr>
          </a:p>
        </p:txBody>
      </p:sp>
      <p:sp>
        <p:nvSpPr>
          <p:cNvPr id="128" name="UI text"/>
          <p:cNvSpPr txBox="1"/>
          <p:nvPr/>
        </p:nvSpPr>
        <p:spPr>
          <a:xfrm>
            <a:off x="3438144" y="2660904"/>
            <a:ext cx="108813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68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GenServ Engineers</a:t>
            </a:r>
            <a:endParaRPr lang="en-US" sz="640" dirty="0">
              <a:latin typeface="Inter SemiBold"/>
            </a:endParaRPr>
          </a:p>
        </p:txBody>
      </p:sp>
      <p:sp>
        <p:nvSpPr>
          <p:cNvPr id="129" name="UI text"/>
          <p:cNvSpPr txBox="1"/>
          <p:nvPr/>
        </p:nvSpPr>
        <p:spPr>
          <a:xfrm>
            <a:off x="4617720" y="2532888"/>
            <a:ext cx="1088136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40"/>
              </a:lnSpc>
              <a:spcBef>
                <a:spcPts val="0"/>
              </a:spcBef>
              <a:buNone/>
            </a:pPr>
            <a:r>
              <a:rPr lang="en-US" sz="52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SPOC</a:t>
            </a:r>
            <a:endParaRPr lang="en-US" sz="520" dirty="0">
              <a:latin typeface="Inter"/>
            </a:endParaRPr>
          </a:p>
        </p:txBody>
      </p:sp>
      <p:sp>
        <p:nvSpPr>
          <p:cNvPr id="130" name="UI text"/>
          <p:cNvSpPr txBox="1"/>
          <p:nvPr/>
        </p:nvSpPr>
        <p:spPr>
          <a:xfrm>
            <a:off x="4617720" y="2660904"/>
            <a:ext cx="108813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68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A. Mehta</a:t>
            </a:r>
            <a:endParaRPr lang="en-US" sz="640" dirty="0">
              <a:latin typeface="Inter SemiBold"/>
            </a:endParaRPr>
          </a:p>
        </p:txBody>
      </p:sp>
      <p:grpSp>
        <p:nvGrpSpPr>
          <p:cNvPr id="131" name="Stepper"/>
          <p:cNvGrpSpPr/>
          <p:nvPr/>
        </p:nvGrpSpPr>
        <p:grpSpPr>
          <a:xfrm>
            <a:off x="3383280" y="3118104"/>
            <a:ext cx="2377440" cy="228600"/>
            <a:chOff x="3383280" y="3118104"/>
            <a:chExt cx="2377440" cy="228600"/>
          </a:xfrm>
        </p:grpSpPr>
        <p:cxnSp>
          <p:nvCxnSpPr>
            <p:cNvPr id="132" name="Step link"/>
            <p:cNvCxnSpPr/>
            <p:nvPr/>
          </p:nvCxnSpPr>
          <p:spPr>
            <a:xfrm>
              <a:off x="3483864" y="3168396"/>
              <a:ext cx="405079" cy="0"/>
            </a:xfrm>
            <a:prstGeom prst="straightConnector1">
              <a:avLst/>
            </a:prstGeom>
            <a:noFill/>
            <a:ln w="9525">
              <a:solidFill>
                <a:srgbClr val="305EFF"/>
              </a:solidFill>
              <a:round/>
            </a:ln>
          </p:spPr>
        </p:cxnSp>
        <p:cxnSp>
          <p:nvCxnSpPr>
            <p:cNvPr id="133" name="Step link"/>
            <p:cNvCxnSpPr/>
            <p:nvPr/>
          </p:nvCxnSpPr>
          <p:spPr>
            <a:xfrm>
              <a:off x="3939235" y="3168396"/>
              <a:ext cx="405079" cy="0"/>
            </a:xfrm>
            <a:prstGeom prst="straightConnector1">
              <a:avLst/>
            </a:prstGeom>
            <a:noFill/>
            <a:ln w="9525">
              <a:solidFill>
                <a:srgbClr val="305EFF"/>
              </a:solidFill>
              <a:round/>
            </a:ln>
          </p:spPr>
        </p:cxnSp>
        <p:cxnSp>
          <p:nvCxnSpPr>
            <p:cNvPr id="134" name="Step link"/>
            <p:cNvCxnSpPr/>
            <p:nvPr/>
          </p:nvCxnSpPr>
          <p:spPr>
            <a:xfrm>
              <a:off x="4394606" y="3168396"/>
              <a:ext cx="405079" cy="0"/>
            </a:xfrm>
            <a:prstGeom prst="straightConnector1">
              <a:avLst/>
            </a:prstGeom>
            <a:noFill/>
            <a:ln w="9525">
              <a:solidFill>
                <a:srgbClr val="CBD5E2"/>
              </a:solidFill>
              <a:round/>
            </a:ln>
          </p:spPr>
        </p:cxnSp>
        <p:cxnSp>
          <p:nvCxnSpPr>
            <p:cNvPr id="135" name="Step link"/>
            <p:cNvCxnSpPr/>
            <p:nvPr/>
          </p:nvCxnSpPr>
          <p:spPr>
            <a:xfrm>
              <a:off x="4849978" y="3168396"/>
              <a:ext cx="405079" cy="0"/>
            </a:xfrm>
            <a:prstGeom prst="straightConnector1">
              <a:avLst/>
            </a:prstGeom>
            <a:noFill/>
            <a:ln w="9525">
              <a:solidFill>
                <a:srgbClr val="CBD5E2"/>
              </a:solidFill>
              <a:round/>
            </a:ln>
          </p:spPr>
        </p:cxnSp>
        <p:cxnSp>
          <p:nvCxnSpPr>
            <p:cNvPr id="136" name="Step link"/>
            <p:cNvCxnSpPr/>
            <p:nvPr/>
          </p:nvCxnSpPr>
          <p:spPr>
            <a:xfrm>
              <a:off x="5305349" y="3168396"/>
              <a:ext cx="405079" cy="0"/>
            </a:xfrm>
            <a:prstGeom prst="straightConnector1">
              <a:avLst/>
            </a:prstGeom>
            <a:noFill/>
            <a:ln w="9525">
              <a:solidFill>
                <a:srgbClr val="CBD5E2"/>
              </a:solidFill>
              <a:round/>
            </a:ln>
          </p:spPr>
        </p:cxnSp>
        <p:sp>
          <p:nvSpPr>
            <p:cNvPr id="137" name="Step"/>
            <p:cNvSpPr/>
            <p:nvPr/>
          </p:nvSpPr>
          <p:spPr>
            <a:xfrm>
              <a:off x="3383280" y="3118104"/>
              <a:ext cx="100584" cy="100584"/>
            </a:xfrm>
            <a:prstGeom prst="ellipse">
              <a:avLst/>
            </a:prstGeom>
            <a:solidFill>
              <a:srgbClr val="305E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38" name="Icon check"/>
            <p:cNvSpPr/>
            <p:nvPr/>
          </p:nvSpPr>
          <p:spPr>
            <a:xfrm>
              <a:off x="3406140" y="3140964"/>
              <a:ext cx="54864" cy="5486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6000"/>
                  </a:moveTo>
                  <a:lnTo>
                    <a:pt x="9000" y="17000"/>
                  </a:lnTo>
                  <a:lnTo>
                    <a:pt x="4000" y="12000"/>
                  </a:lnTo>
                </a:path>
              </a:pathLst>
            </a:custGeom>
            <a:noFill/>
            <a:ln w="7620" cap="rnd">
              <a:solidFill>
                <a:srgbClr val="FFFFFF"/>
              </a:solidFill>
              <a:round/>
            </a:ln>
          </p:spPr>
        </p:sp>
        <p:sp>
          <p:nvSpPr>
            <p:cNvPr id="139" name="UI text"/>
            <p:cNvSpPr txBox="1"/>
            <p:nvPr/>
          </p:nvSpPr>
          <p:spPr>
            <a:xfrm>
              <a:off x="3204972" y="3246120"/>
              <a:ext cx="457200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440"/>
                </a:lnSpc>
                <a:spcBef>
                  <a:spcPts val="0"/>
                </a:spcBef>
                <a:buNone/>
              </a:pPr>
              <a:r>
                <a:rPr lang="en-US" sz="440" b="0" i="0" spc="0" dirty="0">
                  <a:solidFill>
                    <a:srgbClr val="192839"/>
                  </a:solidFill>
                  <a:latin typeface="Inter"/>
                  <a:ea typeface="Inter"/>
                  <a:cs typeface="Inter"/>
                  <a:sym typeface="Inter"/>
                </a:rPr>
                <a:t>Created</a:t>
              </a:r>
              <a:endParaRPr lang="en-US" sz="440" dirty="0">
                <a:latin typeface="Inter"/>
              </a:endParaRPr>
            </a:p>
          </p:txBody>
        </p:sp>
        <p:sp>
          <p:nvSpPr>
            <p:cNvPr id="140" name="Step"/>
            <p:cNvSpPr/>
            <p:nvPr/>
          </p:nvSpPr>
          <p:spPr>
            <a:xfrm>
              <a:off x="3838651" y="3118104"/>
              <a:ext cx="100584" cy="100584"/>
            </a:xfrm>
            <a:prstGeom prst="ellipse">
              <a:avLst/>
            </a:prstGeom>
            <a:solidFill>
              <a:srgbClr val="305E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1" name="Icon check"/>
            <p:cNvSpPr/>
            <p:nvPr/>
          </p:nvSpPr>
          <p:spPr>
            <a:xfrm>
              <a:off x="3861511" y="3140964"/>
              <a:ext cx="54864" cy="5486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6000"/>
                  </a:moveTo>
                  <a:lnTo>
                    <a:pt x="9000" y="17000"/>
                  </a:lnTo>
                  <a:lnTo>
                    <a:pt x="4000" y="12000"/>
                  </a:lnTo>
                </a:path>
              </a:pathLst>
            </a:custGeom>
            <a:noFill/>
            <a:ln w="7620" cap="rnd">
              <a:solidFill>
                <a:srgbClr val="FFFFFF"/>
              </a:solidFill>
              <a:round/>
            </a:ln>
          </p:spPr>
        </p:sp>
        <p:sp>
          <p:nvSpPr>
            <p:cNvPr id="142" name="UI text"/>
            <p:cNvSpPr txBox="1"/>
            <p:nvPr/>
          </p:nvSpPr>
          <p:spPr>
            <a:xfrm>
              <a:off x="3660343" y="3246120"/>
              <a:ext cx="457200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440"/>
                </a:lnSpc>
                <a:spcBef>
                  <a:spcPts val="0"/>
                </a:spcBef>
                <a:buNone/>
              </a:pPr>
              <a:r>
                <a:rPr lang="en-US" sz="440" b="0" i="0" spc="0" dirty="0">
                  <a:solidFill>
                    <a:srgbClr val="192839"/>
                  </a:solidFill>
                  <a:latin typeface="Inter"/>
                  <a:ea typeface="Inter"/>
                  <a:cs typeface="Inter"/>
                  <a:sym typeface="Inter"/>
                </a:rPr>
                <a:t>Assigned</a:t>
              </a:r>
              <a:endParaRPr lang="en-US" sz="440" dirty="0">
                <a:latin typeface="Inter"/>
              </a:endParaRPr>
            </a:p>
          </p:txBody>
        </p:sp>
        <p:sp>
          <p:nvSpPr>
            <p:cNvPr id="143" name="Step"/>
            <p:cNvSpPr/>
            <p:nvPr/>
          </p:nvSpPr>
          <p:spPr>
            <a:xfrm>
              <a:off x="4294022" y="3118104"/>
              <a:ext cx="100584" cy="10058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305EFF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4" name="Step dot"/>
            <p:cNvSpPr/>
            <p:nvPr/>
          </p:nvSpPr>
          <p:spPr>
            <a:xfrm>
              <a:off x="4326026" y="3150108"/>
              <a:ext cx="36576" cy="36576"/>
            </a:xfrm>
            <a:prstGeom prst="ellipse">
              <a:avLst/>
            </a:prstGeom>
            <a:solidFill>
              <a:srgbClr val="305E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5" name="UI text"/>
            <p:cNvSpPr txBox="1"/>
            <p:nvPr/>
          </p:nvSpPr>
          <p:spPr>
            <a:xfrm>
              <a:off x="4115714" y="3246120"/>
              <a:ext cx="457200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440"/>
                </a:lnSpc>
                <a:spcBef>
                  <a:spcPts val="0"/>
                </a:spcBef>
                <a:buNone/>
              </a:pPr>
              <a:r>
                <a:rPr lang="en-US" sz="440" b="0" i="0" spc="0" dirty="0">
                  <a:solidFill>
                    <a:srgbClr val="19283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Acknowledged</a:t>
              </a:r>
              <a:endParaRPr lang="en-US" sz="440" dirty="0">
                <a:latin typeface="Inter SemiBold"/>
              </a:endParaRPr>
            </a:p>
          </p:txBody>
        </p:sp>
        <p:sp>
          <p:nvSpPr>
            <p:cNvPr id="146" name="Step"/>
            <p:cNvSpPr/>
            <p:nvPr/>
          </p:nvSpPr>
          <p:spPr>
            <a:xfrm>
              <a:off x="4749394" y="3118104"/>
              <a:ext cx="100584" cy="1005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7" name="UI text"/>
            <p:cNvSpPr txBox="1"/>
            <p:nvPr/>
          </p:nvSpPr>
          <p:spPr>
            <a:xfrm>
              <a:off x="4571086" y="3246120"/>
              <a:ext cx="457200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440"/>
                </a:lnSpc>
                <a:spcBef>
                  <a:spcPts val="0"/>
                </a:spcBef>
                <a:buNone/>
              </a:pPr>
              <a:r>
                <a:rPr lang="en-US" sz="44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In progress</a:t>
              </a:r>
              <a:endParaRPr lang="en-US" sz="440" dirty="0">
                <a:latin typeface="Inter"/>
              </a:endParaRPr>
            </a:p>
          </p:txBody>
        </p:sp>
        <p:sp>
          <p:nvSpPr>
            <p:cNvPr id="148" name="Step"/>
            <p:cNvSpPr/>
            <p:nvPr/>
          </p:nvSpPr>
          <p:spPr>
            <a:xfrm>
              <a:off x="5204765" y="3118104"/>
              <a:ext cx="100584" cy="1005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9" name="UI text"/>
            <p:cNvSpPr txBox="1"/>
            <p:nvPr/>
          </p:nvSpPr>
          <p:spPr>
            <a:xfrm>
              <a:off x="5026457" y="3246120"/>
              <a:ext cx="457200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440"/>
                </a:lnSpc>
                <a:spcBef>
                  <a:spcPts val="0"/>
                </a:spcBef>
                <a:buNone/>
              </a:pPr>
              <a:r>
                <a:rPr lang="en-US" sz="44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Submitted</a:t>
              </a:r>
              <a:endParaRPr lang="en-US" sz="440" dirty="0">
                <a:latin typeface="Inter"/>
              </a:endParaRPr>
            </a:p>
          </p:txBody>
        </p:sp>
        <p:sp>
          <p:nvSpPr>
            <p:cNvPr id="150" name="Step"/>
            <p:cNvSpPr/>
            <p:nvPr/>
          </p:nvSpPr>
          <p:spPr>
            <a:xfrm>
              <a:off x="5660136" y="3118104"/>
              <a:ext cx="100584" cy="1005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1" name="UI text"/>
            <p:cNvSpPr txBox="1"/>
            <p:nvPr/>
          </p:nvSpPr>
          <p:spPr>
            <a:xfrm>
              <a:off x="5481828" y="3246120"/>
              <a:ext cx="457200" cy="91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440"/>
                </a:lnSpc>
                <a:spcBef>
                  <a:spcPts val="0"/>
                </a:spcBef>
                <a:buNone/>
              </a:pPr>
              <a:r>
                <a:rPr lang="en-US" sz="44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Completed</a:t>
              </a:r>
              <a:endParaRPr lang="en-US" sz="440" dirty="0">
                <a:latin typeface="Inter"/>
              </a:endParaRPr>
            </a:p>
          </p:txBody>
        </p:sp>
      </p:grpSp>
      <p:sp>
        <p:nvSpPr>
          <p:cNvPr id="152" name="Icon siren"/>
          <p:cNvSpPr/>
          <p:nvPr/>
        </p:nvSpPr>
        <p:spPr>
          <a:xfrm>
            <a:off x="3328416" y="3561588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7000" y="18000"/>
                </a:moveTo>
                <a:lnTo>
                  <a:pt x="7000" y="12000"/>
                </a:lnTo>
                <a:cubicBezTo>
                  <a:pt x="7000" y="9239"/>
                  <a:pt x="9239" y="7000"/>
                  <a:pt x="12000" y="7000"/>
                </a:cubicBezTo>
                <a:cubicBezTo>
                  <a:pt x="14761" y="7000"/>
                  <a:pt x="17000" y="9239"/>
                  <a:pt x="17000" y="12000"/>
                </a:cubicBezTo>
                <a:lnTo>
                  <a:pt x="17000" y="18000"/>
                </a:lnTo>
              </a:path>
              <a:path w="24000" h="24000" fill="none">
                <a:moveTo>
                  <a:pt x="5000" y="21000"/>
                </a:moveTo>
                <a:cubicBezTo>
                  <a:pt x="5000" y="21552"/>
                  <a:pt x="5448" y="22000"/>
                  <a:pt x="6000" y="22000"/>
                </a:cubicBezTo>
                <a:lnTo>
                  <a:pt x="18000" y="22000"/>
                </a:lnTo>
                <a:cubicBezTo>
                  <a:pt x="18552" y="22000"/>
                  <a:pt x="19000" y="21552"/>
                  <a:pt x="19000" y="21000"/>
                </a:cubicBezTo>
                <a:lnTo>
                  <a:pt x="19000" y="20000"/>
                </a:lnTo>
                <a:cubicBezTo>
                  <a:pt x="19000" y="18895"/>
                  <a:pt x="18105" y="18000"/>
                  <a:pt x="17000" y="18000"/>
                </a:cubicBezTo>
                <a:lnTo>
                  <a:pt x="7000" y="18000"/>
                </a:lnTo>
                <a:cubicBezTo>
                  <a:pt x="5895" y="18000"/>
                  <a:pt x="5000" y="18895"/>
                  <a:pt x="5000" y="20000"/>
                </a:cubicBezTo>
                <a:close/>
              </a:path>
              <a:path w="24000" h="24000" fill="none">
                <a:moveTo>
                  <a:pt x="21000" y="12000"/>
                </a:moveTo>
                <a:lnTo>
                  <a:pt x="22000" y="12000"/>
                </a:lnTo>
              </a:path>
              <a:path w="24000" h="24000" fill="none">
                <a:moveTo>
                  <a:pt x="18500" y="4500"/>
                </a:moveTo>
                <a:lnTo>
                  <a:pt x="18000" y="5000"/>
                </a:lnTo>
              </a:path>
              <a:path w="24000" h="24000" fill="none">
                <a:moveTo>
                  <a:pt x="2000" y="12000"/>
                </a:moveTo>
                <a:lnTo>
                  <a:pt x="3000" y="12000"/>
                </a:lnTo>
              </a:path>
              <a:path w="24000" h="24000" fill="none">
                <a:moveTo>
                  <a:pt x="12000" y="2000"/>
                </a:moveTo>
                <a:lnTo>
                  <a:pt x="12000" y="3000"/>
                </a:lnTo>
              </a:path>
              <a:path w="24000" h="24000" fill="none">
                <a:moveTo>
                  <a:pt x="4929" y="4929"/>
                </a:moveTo>
                <a:lnTo>
                  <a:pt x="5636" y="5636"/>
                </a:lnTo>
              </a:path>
              <a:path w="24000" h="24000" fill="none">
                <a:moveTo>
                  <a:pt x="12000" y="12000"/>
                </a:moveTo>
                <a:lnTo>
                  <a:pt x="12000" y="18000"/>
                </a:lnTo>
              </a:path>
            </a:pathLst>
          </a:custGeom>
          <a:noFill/>
          <a:ln w="11735" cap="rnd">
            <a:solidFill>
              <a:srgbClr val="D92D20"/>
            </a:solidFill>
            <a:round/>
          </a:ln>
        </p:spPr>
      </p:sp>
      <p:sp>
        <p:nvSpPr>
          <p:cNvPr id="153" name="UI text"/>
          <p:cNvSpPr txBox="1"/>
          <p:nvPr/>
        </p:nvSpPr>
        <p:spPr>
          <a:xfrm>
            <a:off x="3511296" y="3547872"/>
            <a:ext cx="230428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20"/>
              </a:lnSpc>
              <a:spcBef>
                <a:spcPts val="0"/>
              </a:spcBef>
              <a:buNone/>
            </a:pPr>
            <a:r>
              <a:rPr lang="en-US" sz="60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Breakdowns  </a:t>
            </a:r>
            <a:r>
              <a:rPr lang="en-US" sz="60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raised in the platform by the store user</a:t>
            </a:r>
            <a:endParaRPr lang="en-US" sz="600" dirty="0">
              <a:latin typeface="Inter SemiBold"/>
            </a:endParaRPr>
          </a:p>
        </p:txBody>
      </p:sp>
      <p:sp>
        <p:nvSpPr>
          <p:cNvPr id="154" name="Next strip"/>
          <p:cNvSpPr/>
          <p:nvPr/>
        </p:nvSpPr>
        <p:spPr>
          <a:xfrm>
            <a:off x="3328416" y="3767328"/>
            <a:ext cx="2487168" cy="237744"/>
          </a:xfrm>
          <a:prstGeom prst="roundRect">
            <a:avLst>
              <a:gd name="adj" fmla="val 15385"/>
            </a:avLst>
          </a:prstGeom>
          <a:solidFill>
            <a:srgbClr val="E7F6FE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55" name="Icon move-right"/>
          <p:cNvSpPr/>
          <p:nvPr/>
        </p:nvSpPr>
        <p:spPr>
          <a:xfrm>
            <a:off x="3419856" y="3822192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8000" y="8000"/>
                </a:moveTo>
                <a:lnTo>
                  <a:pt x="22000" y="12000"/>
                </a:lnTo>
                <a:lnTo>
                  <a:pt x="18000" y="16000"/>
                </a:lnTo>
              </a:path>
              <a:path w="24000" h="24000" fill="none">
                <a:moveTo>
                  <a:pt x="2000" y="12000"/>
                </a:moveTo>
                <a:lnTo>
                  <a:pt x="22000" y="12000"/>
                </a:lnTo>
              </a:path>
            </a:pathLst>
          </a:custGeom>
          <a:noFill/>
          <a:ln w="11735" cap="rnd">
            <a:solidFill>
              <a:srgbClr val="0F78AD"/>
            </a:solidFill>
            <a:round/>
          </a:ln>
        </p:spPr>
      </p:sp>
      <p:sp>
        <p:nvSpPr>
          <p:cNvPr id="156" name="UI text"/>
          <p:cNvSpPr txBox="1"/>
          <p:nvPr/>
        </p:nvSpPr>
        <p:spPr>
          <a:xfrm>
            <a:off x="3602736" y="3767328"/>
            <a:ext cx="2121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20"/>
              </a:lnSpc>
              <a:spcBef>
                <a:spcPts val="0"/>
              </a:spcBef>
              <a:buNone/>
            </a:pPr>
            <a:r>
              <a:rPr lang="en-US" sz="600" b="0" i="0" spc="0" dirty="0">
                <a:solidFill>
                  <a:srgbClr val="0F78AD"/>
                </a:solidFill>
                <a:latin typeface="Inter"/>
                <a:ea typeface="Inter"/>
                <a:cs typeface="Inter"/>
                <a:sym typeface="Inter"/>
              </a:rPr>
              <a:t>Next: the AMC vendor acknowledges and attends</a:t>
            </a:r>
            <a:endParaRPr lang="en-US" sz="600" dirty="0">
              <a:latin typeface="Inter"/>
            </a:endParaRPr>
          </a:p>
        </p:txBody>
      </p:sp>
      <p:sp>
        <p:nvSpPr>
          <p:cNvPr id="157" name="Phone"/>
          <p:cNvSpPr/>
          <p:nvPr/>
        </p:nvSpPr>
        <p:spPr>
          <a:xfrm>
            <a:off x="6793992" y="1298448"/>
            <a:ext cx="1481328" cy="2761488"/>
          </a:xfrm>
          <a:prstGeom prst="roundRect">
            <a:avLst>
              <a:gd name="adj" fmla="val 12346"/>
            </a:avLst>
          </a:prstGeom>
          <a:solidFill>
            <a:srgbClr val="192839"/>
          </a:solidFill>
          <a:ln>
            <a:noFill/>
          </a:ln>
          <a:effectLst>
            <a:outerShdw blurRad="152400" dist="19050" dir="5400000" algn="t" rotWithShape="0">
              <a:srgbClr val="192839">
                <a:alpha val="9000"/>
              </a:srgbClr>
            </a:outerShdw>
          </a:effectLst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58" name="Screen"/>
          <p:cNvSpPr/>
          <p:nvPr/>
        </p:nvSpPr>
        <p:spPr>
          <a:xfrm>
            <a:off x="6839712" y="1344168"/>
            <a:ext cx="1389888" cy="2670048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59" name="UI text"/>
          <p:cNvSpPr txBox="1"/>
          <p:nvPr/>
        </p:nvSpPr>
        <p:spPr>
          <a:xfrm>
            <a:off x="6967728" y="1380744"/>
            <a:ext cx="36576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52"/>
              </a:lnSpc>
              <a:spcBef>
                <a:spcPts val="0"/>
              </a:spcBef>
              <a:buNone/>
            </a:pPr>
            <a:r>
              <a:rPr lang="en-US" sz="46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9:41</a:t>
            </a:r>
            <a:endParaRPr lang="en-US" sz="460" dirty="0">
              <a:latin typeface="Inter SemiBold"/>
            </a:endParaRPr>
          </a:p>
        </p:txBody>
      </p:sp>
      <p:sp>
        <p:nvSpPr>
          <p:cNvPr id="160" name="Icon signal"/>
          <p:cNvSpPr/>
          <p:nvPr/>
        </p:nvSpPr>
        <p:spPr>
          <a:xfrm>
            <a:off x="7827264" y="1399032"/>
            <a:ext cx="82296" cy="822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" y="20000"/>
                </a:moveTo>
                <a:lnTo>
                  <a:pt x="2010" y="20000"/>
                </a:lnTo>
              </a:path>
              <a:path w="24000" h="24000" fill="none">
                <a:moveTo>
                  <a:pt x="7000" y="20000"/>
                </a:moveTo>
                <a:lnTo>
                  <a:pt x="7000" y="16000"/>
                </a:lnTo>
              </a:path>
              <a:path w="24000" h="24000" fill="none">
                <a:moveTo>
                  <a:pt x="12000" y="20000"/>
                </a:moveTo>
                <a:lnTo>
                  <a:pt x="12000" y="12000"/>
                </a:lnTo>
              </a:path>
              <a:path w="24000" h="24000" fill="none">
                <a:moveTo>
                  <a:pt x="17000" y="20000"/>
                </a:moveTo>
                <a:lnTo>
                  <a:pt x="17000" y="8000"/>
                </a:lnTo>
              </a:path>
              <a:path w="24000" h="24000" fill="none">
                <a:moveTo>
                  <a:pt x="22000" y="4000"/>
                </a:moveTo>
                <a:lnTo>
                  <a:pt x="22000" y="20000"/>
                </a:lnTo>
              </a:path>
            </a:pathLst>
          </a:custGeom>
          <a:noFill/>
          <a:ln w="7544" cap="rnd">
            <a:solidFill>
              <a:srgbClr val="192839"/>
            </a:solidFill>
            <a:round/>
          </a:ln>
        </p:spPr>
      </p:sp>
      <p:sp>
        <p:nvSpPr>
          <p:cNvPr id="161" name="Icon wifi"/>
          <p:cNvSpPr/>
          <p:nvPr/>
        </p:nvSpPr>
        <p:spPr>
          <a:xfrm>
            <a:off x="7936992" y="1399032"/>
            <a:ext cx="82296" cy="822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0000"/>
                </a:moveTo>
                <a:lnTo>
                  <a:pt x="12010" y="20000"/>
                </a:lnTo>
              </a:path>
              <a:path w="24000" h="24000" fill="none">
                <a:moveTo>
                  <a:pt x="2000" y="8820"/>
                </a:moveTo>
                <a:cubicBezTo>
                  <a:pt x="7694" y="3727"/>
                  <a:pt x="16306" y="3727"/>
                  <a:pt x="22000" y="8820"/>
                </a:cubicBezTo>
              </a:path>
              <a:path w="24000" h="24000" fill="none">
                <a:moveTo>
                  <a:pt x="5000" y="12859"/>
                </a:moveTo>
                <a:cubicBezTo>
                  <a:pt x="8888" y="9048"/>
                  <a:pt x="15112" y="9048"/>
                  <a:pt x="19000" y="12859"/>
                </a:cubicBezTo>
              </a:path>
              <a:path w="24000" h="24000" fill="none">
                <a:moveTo>
                  <a:pt x="8500" y="16429"/>
                </a:moveTo>
                <a:cubicBezTo>
                  <a:pt x="10444" y="14523"/>
                  <a:pt x="13556" y="14523"/>
                  <a:pt x="15500" y="16429"/>
                </a:cubicBezTo>
              </a:path>
            </a:pathLst>
          </a:custGeom>
          <a:noFill/>
          <a:ln w="7544" cap="rnd">
            <a:solidFill>
              <a:srgbClr val="192839"/>
            </a:solidFill>
            <a:round/>
          </a:ln>
        </p:spPr>
      </p:sp>
      <p:sp>
        <p:nvSpPr>
          <p:cNvPr id="162" name="Icon battery-medium"/>
          <p:cNvSpPr/>
          <p:nvPr/>
        </p:nvSpPr>
        <p:spPr>
          <a:xfrm>
            <a:off x="8046720" y="1399032"/>
            <a:ext cx="82296" cy="822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7000"/>
                </a:moveTo>
                <a:lnTo>
                  <a:pt x="16000" y="7000"/>
                </a:lnTo>
                <a:cubicBezTo>
                  <a:pt x="17105" y="7000"/>
                  <a:pt x="18000" y="7895"/>
                  <a:pt x="18000" y="9000"/>
                </a:cubicBezTo>
                <a:lnTo>
                  <a:pt x="18000" y="15000"/>
                </a:lnTo>
                <a:cubicBezTo>
                  <a:pt x="18000" y="16105"/>
                  <a:pt x="17105" y="17000"/>
                  <a:pt x="16000" y="17000"/>
                </a:cubicBezTo>
                <a:lnTo>
                  <a:pt x="4000" y="17000"/>
                </a:lnTo>
                <a:cubicBezTo>
                  <a:pt x="2895" y="17000"/>
                  <a:pt x="2000" y="16105"/>
                  <a:pt x="2000" y="15000"/>
                </a:cubicBezTo>
                <a:lnTo>
                  <a:pt x="2000" y="9000"/>
                </a:lnTo>
                <a:cubicBezTo>
                  <a:pt x="2000" y="7895"/>
                  <a:pt x="2895" y="7000"/>
                  <a:pt x="4000" y="7000"/>
                </a:cubicBezTo>
                <a:close/>
              </a:path>
              <a:path w="24000" h="24000" fill="none">
                <a:moveTo>
                  <a:pt x="22000" y="11000"/>
                </a:moveTo>
                <a:lnTo>
                  <a:pt x="22000" y="13000"/>
                </a:lnTo>
              </a:path>
              <a:path w="24000" h="24000" fill="none">
                <a:moveTo>
                  <a:pt x="6000" y="11000"/>
                </a:moveTo>
                <a:lnTo>
                  <a:pt x="6000" y="13000"/>
                </a:lnTo>
              </a:path>
              <a:path w="24000" h="24000" fill="none">
                <a:moveTo>
                  <a:pt x="10000" y="11000"/>
                </a:moveTo>
                <a:lnTo>
                  <a:pt x="10000" y="13000"/>
                </a:lnTo>
              </a:path>
            </a:pathLst>
          </a:custGeom>
          <a:noFill/>
          <a:ln w="7544" cap="rnd">
            <a:solidFill>
              <a:srgbClr val="192839"/>
            </a:solidFill>
            <a:round/>
          </a:ln>
        </p:spPr>
      </p:sp>
      <p:sp>
        <p:nvSpPr>
          <p:cNvPr id="163" name="Notch"/>
          <p:cNvSpPr/>
          <p:nvPr/>
        </p:nvSpPr>
        <p:spPr>
          <a:xfrm>
            <a:off x="7370064" y="1344168"/>
            <a:ext cx="329184" cy="64008"/>
          </a:xfrm>
          <a:prstGeom prst="roundRect">
            <a:avLst>
              <a:gd name="adj" fmla="val 50000"/>
            </a:avLst>
          </a:prstGeom>
          <a:solidFill>
            <a:srgbClr val="192839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64" name="App header"/>
          <p:cNvSpPr/>
          <p:nvPr/>
        </p:nvSpPr>
        <p:spPr>
          <a:xfrm>
            <a:off x="6839712" y="1527048"/>
            <a:ext cx="1389888" cy="237744"/>
          </a:xfrm>
          <a:prstGeom prst="rect">
            <a:avLst/>
          </a:prstGeom>
          <a:solidFill>
            <a:srgbClr val="305E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grpSp>
        <p:nvGrpSpPr>
          <p:cNvPr id="165" name="IOsense mark"/>
          <p:cNvGrpSpPr/>
          <p:nvPr/>
        </p:nvGrpSpPr>
        <p:grpSpPr>
          <a:xfrm>
            <a:off x="6931152" y="1581912"/>
            <a:ext cx="128016" cy="128016"/>
            <a:chOff x="6931152" y="1581912"/>
            <a:chExt cx="128016" cy="128016"/>
          </a:xfrm>
        </p:grpSpPr>
        <p:sp>
          <p:nvSpPr>
            <p:cNvPr id="166" name="IOsense tile"/>
            <p:cNvSpPr/>
            <p:nvPr/>
          </p:nvSpPr>
          <p:spPr>
            <a:xfrm>
              <a:off x="6931152" y="1581912"/>
              <a:ext cx="128016" cy="128016"/>
            </a:xfrm>
            <a:prstGeom prst="roundRect">
              <a:avLst>
                <a:gd name="adj" fmla="val 8601"/>
              </a:avLst>
            </a:prstGeom>
            <a:solidFill>
              <a:srgbClr val="342DF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67" name="IOsense monogram"/>
            <p:cNvSpPr/>
            <p:nvPr/>
          </p:nvSpPr>
          <p:spPr>
            <a:xfrm>
              <a:off x="6931152" y="1581912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82000" h="182000">
                  <a:moveTo>
                    <a:pt x="64203" y="108445"/>
                  </a:moveTo>
                  <a:lnTo>
                    <a:pt x="45789" y="56179"/>
                  </a:lnTo>
                  <a:lnTo>
                    <a:pt x="38955" y="77205"/>
                  </a:lnTo>
                  <a:lnTo>
                    <a:pt x="50047" y="85556"/>
                  </a:lnTo>
                  <a:lnTo>
                    <a:pt x="52025" y="94299"/>
                  </a:lnTo>
                  <a:lnTo>
                    <a:pt x="31889" y="79753"/>
                  </a:lnTo>
                  <a:lnTo>
                    <a:pt x="46378" y="36445"/>
                  </a:lnTo>
                  <a:lnTo>
                    <a:pt x="64203" y="88988"/>
                  </a:lnTo>
                  <a:lnTo>
                    <a:pt x="81834" y="37215"/>
                  </a:lnTo>
                  <a:lnTo>
                    <a:pt x="95889" y="80938"/>
                  </a:lnTo>
                  <a:lnTo>
                    <a:pt x="75792" y="95376"/>
                  </a:lnTo>
                  <a:lnTo>
                    <a:pt x="77971" y="85948"/>
                  </a:lnTo>
                  <a:lnTo>
                    <a:pt x="88660" y="77890"/>
                  </a:lnTo>
                  <a:lnTo>
                    <a:pt x="81531" y="57064"/>
                  </a:lnTo>
                  <a:lnTo>
                    <a:pt x="64203" y="1084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68" name="UI text"/>
          <p:cNvSpPr txBox="1"/>
          <p:nvPr/>
        </p:nvSpPr>
        <p:spPr>
          <a:xfrm>
            <a:off x="7104888" y="1527048"/>
            <a:ext cx="841248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l">
              <a:lnSpc>
                <a:spcPts val="648"/>
              </a:lnSpc>
              <a:spcBef>
                <a:spcPts val="0"/>
              </a:spcBef>
              <a:buNone/>
            </a:pPr>
            <a:r>
              <a:rPr lang="en-US" sz="540" b="0" i="0" spc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My work orders</a:t>
            </a:r>
            <a:endParaRPr lang="en-US" sz="540" dirty="0">
              <a:latin typeface="Inter SemiBold"/>
            </a:endParaRPr>
          </a:p>
        </p:txBody>
      </p:sp>
      <p:sp>
        <p:nvSpPr>
          <p:cNvPr id="169" name="Icon circle-user"/>
          <p:cNvSpPr/>
          <p:nvPr/>
        </p:nvSpPr>
        <p:spPr>
          <a:xfrm>
            <a:off x="8010144" y="1591056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</a:path>
              <a:path w="24000" h="24000" fill="none"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  <a:path w="24000" h="24000" fill="none">
                <a:moveTo>
                  <a:pt x="7000" y="20662"/>
                </a:moveTo>
                <a:lnTo>
                  <a:pt x="7000" y="19000"/>
                </a:lnTo>
                <a:cubicBezTo>
                  <a:pt x="7000" y="17895"/>
                  <a:pt x="7895" y="17000"/>
                  <a:pt x="9000" y="17000"/>
                </a:cubicBezTo>
                <a:lnTo>
                  <a:pt x="15000" y="17000"/>
                </a:lnTo>
                <a:cubicBezTo>
                  <a:pt x="16105" y="17000"/>
                  <a:pt x="17000" y="17895"/>
                  <a:pt x="17000" y="19000"/>
                </a:cubicBezTo>
                <a:lnTo>
                  <a:pt x="17000" y="20662"/>
                </a:lnTo>
              </a:path>
            </a:pathLst>
          </a:custGeom>
          <a:noFill/>
          <a:ln w="10058" cap="rnd">
            <a:solidFill>
              <a:srgbClr val="FFFFFF"/>
            </a:solidFill>
            <a:round/>
          </a:ln>
        </p:spPr>
      </p:sp>
      <p:sp>
        <p:nvSpPr>
          <p:cNvPr id="170" name="UI text"/>
          <p:cNvSpPr txBox="1"/>
          <p:nvPr/>
        </p:nvSpPr>
        <p:spPr>
          <a:xfrm>
            <a:off x="6931152" y="1783080"/>
            <a:ext cx="1207008" cy="100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40"/>
              </a:lnSpc>
              <a:spcBef>
                <a:spcPts val="0"/>
              </a:spcBef>
              <a:buNone/>
            </a:pPr>
            <a:r>
              <a:rPr lang="en-US" sz="420" b="0" i="0" spc="0" dirty="0">
                <a:solidFill>
                  <a:srgbClr val="768EA7"/>
                </a:solidFill>
                <a:latin typeface="Inter"/>
                <a:ea typeface="Inter"/>
                <a:cs typeface="Inter"/>
                <a:sym typeface="Inter"/>
              </a:rPr>
              <a:t>AMC Vendor SPOC · GenServ Engineers</a:t>
            </a:r>
            <a:endParaRPr lang="en-US" sz="420" dirty="0">
              <a:latin typeface="Inter"/>
            </a:endParaRPr>
          </a:p>
        </p:txBody>
      </p:sp>
      <p:sp>
        <p:nvSpPr>
          <p:cNvPr id="171" name="Home indicator"/>
          <p:cNvSpPr/>
          <p:nvPr/>
        </p:nvSpPr>
        <p:spPr>
          <a:xfrm>
            <a:off x="7351776" y="3968496"/>
            <a:ext cx="365760" cy="27432"/>
          </a:xfrm>
          <a:prstGeom prst="roundRect">
            <a:avLst>
              <a:gd name="adj" fmla="val 50000"/>
            </a:avLst>
          </a:prstGeom>
          <a:solidFill>
            <a:srgbClr val="90A5BB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72" name="Card"/>
          <p:cNvSpPr/>
          <p:nvPr/>
        </p:nvSpPr>
        <p:spPr>
          <a:xfrm>
            <a:off x="6922008" y="1911096"/>
            <a:ext cx="122529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73" name="UI text"/>
          <p:cNvSpPr txBox="1"/>
          <p:nvPr/>
        </p:nvSpPr>
        <p:spPr>
          <a:xfrm>
            <a:off x="7004304" y="1956816"/>
            <a:ext cx="1060704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2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1928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MWO-0217</a:t>
            </a:r>
            <a:r>
              <a:rPr lang="en-US" sz="5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  ·  Preventive</a:t>
            </a:r>
            <a:endParaRPr lang="en-US" sz="580" dirty="0">
              <a:latin typeface="Inter SemiBold"/>
            </a:endParaRPr>
          </a:p>
        </p:txBody>
      </p:sp>
      <p:sp>
        <p:nvSpPr>
          <p:cNvPr id="174" name="UI text"/>
          <p:cNvSpPr txBox="1"/>
          <p:nvPr/>
        </p:nvSpPr>
        <p:spPr>
          <a:xfrm>
            <a:off x="7004304" y="2084832"/>
            <a:ext cx="1060704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20"/>
              </a:lnSpc>
              <a:spcBef>
                <a:spcPts val="0"/>
              </a:spcBef>
              <a:buNone/>
            </a:pPr>
            <a:r>
              <a:rPr lang="en-US" sz="4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DG-01 · BLR-014 · 250 h reached</a:t>
            </a:r>
            <a:endParaRPr lang="en-US" sz="480" dirty="0">
              <a:latin typeface="Inter"/>
            </a:endParaRPr>
          </a:p>
        </p:txBody>
      </p:sp>
      <p:grpSp>
        <p:nvGrpSpPr>
          <p:cNvPr id="175" name="Badge"/>
          <p:cNvGrpSpPr/>
          <p:nvPr/>
        </p:nvGrpSpPr>
        <p:grpSpPr>
          <a:xfrm>
            <a:off x="7004304" y="2203704"/>
            <a:ext cx="507933" cy="118872"/>
            <a:chOff x="7004304" y="2203704"/>
            <a:chExt cx="507933" cy="118872"/>
          </a:xfrm>
        </p:grpSpPr>
        <p:sp>
          <p:nvSpPr>
            <p:cNvPr id="176" name="Badge"/>
            <p:cNvSpPr/>
            <p:nvPr/>
          </p:nvSpPr>
          <p:spPr>
            <a:xfrm>
              <a:off x="7004304" y="2203704"/>
              <a:ext cx="507933" cy="118872"/>
            </a:xfrm>
            <a:prstGeom prst="roundRect">
              <a:avLst>
                <a:gd name="adj" fmla="val 25000"/>
              </a:avLst>
            </a:prstGeom>
            <a:solidFill>
              <a:srgbClr val="E7F6FE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77" name="Icon wrench"/>
            <p:cNvSpPr/>
            <p:nvPr/>
          </p:nvSpPr>
          <p:spPr>
            <a:xfrm>
              <a:off x="7050024" y="2227478"/>
              <a:ext cx="71323" cy="71323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700" y="6300"/>
                  </a:moveTo>
                  <a:cubicBezTo>
                    <a:pt x="14319" y="6689"/>
                    <a:pt x="14319" y="7311"/>
                    <a:pt x="14700" y="7700"/>
                  </a:cubicBezTo>
                  <a:lnTo>
                    <a:pt x="16300" y="9300"/>
                  </a:lnTo>
                  <a:cubicBezTo>
                    <a:pt x="16689" y="9681"/>
                    <a:pt x="17311" y="9681"/>
                    <a:pt x="17700" y="9300"/>
                  </a:cubicBezTo>
                  <a:lnTo>
                    <a:pt x="21470" y="5530"/>
                  </a:lnTo>
                  <a:cubicBezTo>
                    <a:pt x="22500" y="7805"/>
                    <a:pt x="22012" y="10480"/>
                    <a:pt x="20246" y="12246"/>
                  </a:cubicBezTo>
                  <a:cubicBezTo>
                    <a:pt x="18480" y="14012"/>
                    <a:pt x="15805" y="14500"/>
                    <a:pt x="13530" y="13470"/>
                  </a:cubicBezTo>
                  <a:lnTo>
                    <a:pt x="6620" y="20380"/>
                  </a:lnTo>
                  <a:cubicBezTo>
                    <a:pt x="5792" y="21208"/>
                    <a:pt x="4448" y="21208"/>
                    <a:pt x="3620" y="20380"/>
                  </a:cubicBezTo>
                  <a:cubicBezTo>
                    <a:pt x="2792" y="19552"/>
                    <a:pt x="2792" y="18208"/>
                    <a:pt x="3620" y="17380"/>
                  </a:cubicBezTo>
                  <a:lnTo>
                    <a:pt x="10530" y="10470"/>
                  </a:lnTo>
                  <a:cubicBezTo>
                    <a:pt x="9500" y="8195"/>
                    <a:pt x="9988" y="5520"/>
                    <a:pt x="11754" y="3754"/>
                  </a:cubicBezTo>
                  <a:cubicBezTo>
                    <a:pt x="13520" y="1988"/>
                    <a:pt x="16195" y="1500"/>
                    <a:pt x="18470" y="2530"/>
                  </a:cubicBezTo>
                  <a:lnTo>
                    <a:pt x="14710" y="6290"/>
                  </a:lnTo>
                  <a:close/>
                </a:path>
              </a:pathLst>
            </a:custGeom>
            <a:noFill/>
            <a:ln w="6538" cap="rnd">
              <a:solidFill>
                <a:srgbClr val="0F78AD"/>
              </a:solidFill>
              <a:round/>
            </a:ln>
          </p:spPr>
        </p:sp>
        <p:sp>
          <p:nvSpPr>
            <p:cNvPr id="178" name="Badge label"/>
            <p:cNvSpPr txBox="1"/>
            <p:nvPr/>
          </p:nvSpPr>
          <p:spPr>
            <a:xfrm>
              <a:off x="7148779" y="2203704"/>
              <a:ext cx="336026" cy="1188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460"/>
                </a:lnSpc>
                <a:spcBef>
                  <a:spcPts val="0"/>
                </a:spcBef>
                <a:buNone/>
              </a:pPr>
              <a:r>
                <a:rPr lang="en-US" sz="460" b="0" i="0" spc="0" dirty="0">
                  <a:solidFill>
                    <a:srgbClr val="0F78A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 progress</a:t>
              </a:r>
              <a:endParaRPr lang="en-US" sz="460" dirty="0">
                <a:latin typeface="Inter SemiBold"/>
              </a:endParaRPr>
            </a:p>
          </p:txBody>
        </p:sp>
      </p:grpSp>
      <p:sp>
        <p:nvSpPr>
          <p:cNvPr id="179" name="UI text"/>
          <p:cNvSpPr txBox="1"/>
          <p:nvPr/>
        </p:nvSpPr>
        <p:spPr>
          <a:xfrm>
            <a:off x="6922008" y="2423160"/>
            <a:ext cx="1225296" cy="100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60"/>
              </a:lnSpc>
              <a:spcBef>
                <a:spcPts val="0"/>
              </a:spcBef>
              <a:buNone/>
            </a:pPr>
            <a:r>
              <a:rPr lang="en-US" sz="440" b="0" i="0" spc="0" dirty="0">
                <a:solidFill>
                  <a:srgbClr val="40566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Action taken *</a:t>
            </a:r>
            <a:endParaRPr lang="en-US" sz="440" dirty="0">
              <a:latin typeface="Inter SemiBold"/>
            </a:endParaRPr>
          </a:p>
        </p:txBody>
      </p:sp>
      <p:sp>
        <p:nvSpPr>
          <p:cNvPr id="180" name="Input"/>
          <p:cNvSpPr/>
          <p:nvPr/>
        </p:nvSpPr>
        <p:spPr>
          <a:xfrm>
            <a:off x="6922008" y="2532888"/>
            <a:ext cx="122529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81" name="UI text"/>
          <p:cNvSpPr txBox="1"/>
          <p:nvPr/>
        </p:nvSpPr>
        <p:spPr>
          <a:xfrm>
            <a:off x="6976872" y="2532888"/>
            <a:ext cx="11155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00" b="0" i="0" spc="0" dirty="0">
                <a:solidFill>
                  <a:srgbClr val="192839"/>
                </a:solidFill>
                <a:latin typeface="Inter"/>
                <a:ea typeface="Inter"/>
                <a:cs typeface="Inter"/>
                <a:sym typeface="Inter"/>
              </a:rPr>
              <a:t>Oil &amp; filter change</a:t>
            </a:r>
            <a:endParaRPr lang="en-US" sz="500" dirty="0">
              <a:latin typeface="Inter"/>
            </a:endParaRPr>
          </a:p>
        </p:txBody>
      </p:sp>
      <p:sp>
        <p:nvSpPr>
          <p:cNvPr id="182" name="UI text"/>
          <p:cNvSpPr txBox="1"/>
          <p:nvPr/>
        </p:nvSpPr>
        <p:spPr>
          <a:xfrm>
            <a:off x="6922008" y="2798064"/>
            <a:ext cx="1225296" cy="100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60"/>
              </a:lnSpc>
              <a:spcBef>
                <a:spcPts val="0"/>
              </a:spcBef>
              <a:buNone/>
            </a:pPr>
            <a:r>
              <a:rPr lang="en-US" sz="440" b="0" i="0" spc="0" dirty="0">
                <a:solidFill>
                  <a:srgbClr val="40566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Parts replaced</a:t>
            </a:r>
            <a:endParaRPr lang="en-US" sz="440" dirty="0">
              <a:latin typeface="Inter SemiBold"/>
            </a:endParaRPr>
          </a:p>
        </p:txBody>
      </p:sp>
      <p:sp>
        <p:nvSpPr>
          <p:cNvPr id="183" name="Input"/>
          <p:cNvSpPr/>
          <p:nvPr/>
        </p:nvSpPr>
        <p:spPr>
          <a:xfrm>
            <a:off x="6922008" y="2907792"/>
            <a:ext cx="1225296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84" name="UI text"/>
          <p:cNvSpPr txBox="1"/>
          <p:nvPr/>
        </p:nvSpPr>
        <p:spPr>
          <a:xfrm>
            <a:off x="6976872" y="2907792"/>
            <a:ext cx="11155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00" b="0" i="0" spc="0" dirty="0">
                <a:solidFill>
                  <a:srgbClr val="192839"/>
                </a:solidFill>
                <a:latin typeface="Inter"/>
                <a:ea typeface="Inter"/>
                <a:cs typeface="Inter"/>
                <a:sym typeface="Inter"/>
              </a:rPr>
              <a:t>Oil filter, fuel filter</a:t>
            </a:r>
            <a:endParaRPr lang="en-US" sz="500" dirty="0">
              <a:latin typeface="Inter"/>
            </a:endParaRPr>
          </a:p>
        </p:txBody>
      </p:sp>
      <p:grpSp>
        <p:nvGrpSpPr>
          <p:cNvPr id="185" name="Check Operational clearance given"/>
          <p:cNvGrpSpPr/>
          <p:nvPr/>
        </p:nvGrpSpPr>
        <p:grpSpPr>
          <a:xfrm>
            <a:off x="6922008" y="3172968"/>
            <a:ext cx="1109674" cy="100584"/>
            <a:chOff x="6922008" y="3172968"/>
            <a:chExt cx="1109674" cy="100584"/>
          </a:xfrm>
        </p:grpSpPr>
        <p:sp>
          <p:nvSpPr>
            <p:cNvPr id="186" name="Check"/>
            <p:cNvSpPr/>
            <p:nvPr/>
          </p:nvSpPr>
          <p:spPr>
            <a:xfrm>
              <a:off x="6922008" y="3172968"/>
              <a:ext cx="100584" cy="100584"/>
            </a:xfrm>
            <a:prstGeom prst="roundRect">
              <a:avLst>
                <a:gd name="adj" fmla="val 18182"/>
              </a:avLst>
            </a:prstGeom>
            <a:solidFill>
              <a:srgbClr val="305E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87" name="Icon check"/>
            <p:cNvSpPr/>
            <p:nvPr/>
          </p:nvSpPr>
          <p:spPr>
            <a:xfrm>
              <a:off x="6940296" y="3191256"/>
              <a:ext cx="64008" cy="6400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6000"/>
                  </a:moveTo>
                  <a:lnTo>
                    <a:pt x="9000" y="17000"/>
                  </a:lnTo>
                  <a:lnTo>
                    <a:pt x="4000" y="12000"/>
                  </a:lnTo>
                </a:path>
              </a:pathLst>
            </a:custGeom>
            <a:noFill/>
            <a:ln w="6350" cap="rnd">
              <a:solidFill>
                <a:srgbClr val="FFFFFF"/>
              </a:solidFill>
              <a:round/>
            </a:ln>
          </p:spPr>
        </p:sp>
        <p:sp>
          <p:nvSpPr>
            <p:cNvPr id="188" name="UI text"/>
            <p:cNvSpPr txBox="1"/>
            <p:nvPr/>
          </p:nvSpPr>
          <p:spPr>
            <a:xfrm>
              <a:off x="7068312" y="3154680"/>
              <a:ext cx="96337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648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192839"/>
                  </a:solidFill>
                  <a:latin typeface="Inter"/>
                  <a:ea typeface="Inter"/>
                  <a:cs typeface="Inter"/>
                  <a:sym typeface="Inter"/>
                </a:rPr>
                <a:t>Operational clearance given</a:t>
              </a:r>
              <a:endParaRPr lang="en-US" sz="540" dirty="0">
                <a:latin typeface="Inter"/>
              </a:endParaRPr>
            </a:p>
          </p:txBody>
        </p:sp>
      </p:grpSp>
      <p:grpSp>
        <p:nvGrpSpPr>
          <p:cNvPr id="189" name="Upload"/>
          <p:cNvGrpSpPr/>
          <p:nvPr/>
        </p:nvGrpSpPr>
        <p:grpSpPr>
          <a:xfrm>
            <a:off x="6922008" y="3328416"/>
            <a:ext cx="1225296" cy="237744"/>
            <a:chOff x="6922008" y="3328416"/>
            <a:chExt cx="1225296" cy="237744"/>
          </a:xfrm>
        </p:grpSpPr>
        <p:sp>
          <p:nvSpPr>
            <p:cNvPr id="190" name="Upload zone"/>
            <p:cNvSpPr/>
            <p:nvPr/>
          </p:nvSpPr>
          <p:spPr>
            <a:xfrm>
              <a:off x="6922008" y="3328416"/>
              <a:ext cx="1225296" cy="237744"/>
            </a:xfrm>
            <a:prstGeom prst="roundRect">
              <a:avLst>
                <a:gd name="adj" fmla="val 11538"/>
              </a:avLst>
            </a:prstGeom>
            <a:solidFill>
              <a:srgbClr val="F8FAFC"/>
            </a:solidFill>
            <a:ln w="6350">
              <a:solidFill>
                <a:srgbClr val="CBD5E2"/>
              </a:solidFill>
              <a:prstDash val="dash"/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91" name="Icon upload"/>
            <p:cNvSpPr/>
            <p:nvPr/>
          </p:nvSpPr>
          <p:spPr>
            <a:xfrm>
              <a:off x="6995160" y="3374136"/>
              <a:ext cx="100584" cy="10058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15000"/>
                  </a:moveTo>
                  <a:lnTo>
                    <a:pt x="21000" y="19000"/>
                  </a:lnTo>
                  <a:cubicBezTo>
                    <a:pt x="21000" y="20105"/>
                    <a:pt x="20105" y="21000"/>
                    <a:pt x="19000" y="21000"/>
                  </a:cubicBezTo>
                  <a:lnTo>
                    <a:pt x="5000" y="21000"/>
                  </a:lnTo>
                  <a:cubicBezTo>
                    <a:pt x="3895" y="21000"/>
                    <a:pt x="3000" y="20105"/>
                    <a:pt x="3000" y="19000"/>
                  </a:cubicBezTo>
                  <a:lnTo>
                    <a:pt x="3000" y="15000"/>
                  </a:lnTo>
                </a:path>
                <a:path w="24000" h="24000" fill="none">
                  <a:moveTo>
                    <a:pt x="17000" y="8000"/>
                  </a:moveTo>
                  <a:lnTo>
                    <a:pt x="12000" y="3000"/>
                  </a:lnTo>
                  <a:lnTo>
                    <a:pt x="7000" y="8000"/>
                  </a:lnTo>
                </a:path>
                <a:path w="24000" h="24000" fill="none">
                  <a:moveTo>
                    <a:pt x="12000" y="3000"/>
                  </a:moveTo>
                  <a:lnTo>
                    <a:pt x="12000" y="15000"/>
                  </a:lnTo>
                </a:path>
              </a:pathLst>
            </a:custGeom>
            <a:noFill/>
            <a:ln w="9220" cap="rnd">
              <a:solidFill>
                <a:srgbClr val="305EFF"/>
              </a:solidFill>
              <a:round/>
            </a:ln>
          </p:spPr>
        </p:sp>
        <p:sp>
          <p:nvSpPr>
            <p:cNvPr id="192" name="UI text"/>
            <p:cNvSpPr txBox="1"/>
            <p:nvPr/>
          </p:nvSpPr>
          <p:spPr>
            <a:xfrm>
              <a:off x="7141464" y="3355848"/>
              <a:ext cx="950976" cy="1188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552"/>
                </a:lnSpc>
                <a:spcBef>
                  <a:spcPts val="0"/>
                </a:spcBef>
                <a:buNone/>
              </a:pPr>
              <a:r>
                <a:rPr lang="en-US" sz="46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Add proof</a:t>
              </a:r>
              <a:endParaRPr lang="en-US" sz="460" dirty="0">
                <a:latin typeface="Inter"/>
              </a:endParaRPr>
            </a:p>
          </p:txBody>
        </p:sp>
        <p:grpSp>
          <p:nvGrpSpPr>
            <p:cNvPr id="193" name="Badge"/>
            <p:cNvGrpSpPr/>
            <p:nvPr/>
          </p:nvGrpSpPr>
          <p:grpSpPr>
            <a:xfrm>
              <a:off x="7141464" y="3474720"/>
              <a:ext cx="657358" cy="100584"/>
              <a:chOff x="7141464" y="3474720"/>
              <a:chExt cx="657358" cy="100584"/>
            </a:xfrm>
          </p:grpSpPr>
          <p:sp>
            <p:nvSpPr>
              <p:cNvPr id="194" name="Badge"/>
              <p:cNvSpPr/>
              <p:nvPr/>
            </p:nvSpPr>
            <p:spPr>
              <a:xfrm>
                <a:off x="7141464" y="3474720"/>
                <a:ext cx="657358" cy="100584"/>
              </a:xfrm>
              <a:prstGeom prst="roundRect">
                <a:avLst>
                  <a:gd name="adj" fmla="val 25000"/>
                </a:avLst>
              </a:prstGeom>
              <a:solidFill>
                <a:srgbClr val="EBFAF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95" name="Icon paperclip"/>
              <p:cNvSpPr/>
              <p:nvPr/>
            </p:nvSpPr>
            <p:spPr>
              <a:xfrm>
                <a:off x="7187184" y="3494837"/>
                <a:ext cx="60350" cy="603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3234" y="20252"/>
                    </a:moveTo>
                    <a:lnTo>
                      <a:pt x="21000" y="12300"/>
                    </a:lnTo>
                  </a:path>
                  <a:path w="24000" h="24000" fill="none">
                    <a:moveTo>
                      <a:pt x="16000" y="6000"/>
                    </a:moveTo>
                    <a:lnTo>
                      <a:pt x="7586" y="14586"/>
                    </a:lnTo>
                    <a:cubicBezTo>
                      <a:pt x="6805" y="15367"/>
                      <a:pt x="6805" y="16633"/>
                      <a:pt x="7586" y="17414"/>
                    </a:cubicBezTo>
                    <a:cubicBezTo>
                      <a:pt x="8367" y="18195"/>
                      <a:pt x="9633" y="18195"/>
                      <a:pt x="10414" y="17414"/>
                    </a:cubicBezTo>
                    <a:lnTo>
                      <a:pt x="18828" y="8828"/>
                    </a:lnTo>
                    <a:cubicBezTo>
                      <a:pt x="20390" y="7266"/>
                      <a:pt x="20390" y="4734"/>
                      <a:pt x="18828" y="3172"/>
                    </a:cubicBezTo>
                    <a:cubicBezTo>
                      <a:pt x="17266" y="1610"/>
                      <a:pt x="14734" y="1610"/>
                      <a:pt x="13172" y="3172"/>
                    </a:cubicBezTo>
                    <a:lnTo>
                      <a:pt x="4757" y="11757"/>
                    </a:lnTo>
                    <a:cubicBezTo>
                      <a:pt x="2414" y="14100"/>
                      <a:pt x="2414" y="17900"/>
                      <a:pt x="4757" y="20243"/>
                    </a:cubicBezTo>
                    <a:cubicBezTo>
                      <a:pt x="7100" y="22586"/>
                      <a:pt x="10900" y="22586"/>
                      <a:pt x="13243" y="20243"/>
                    </a:cubicBezTo>
                  </a:path>
                </a:pathLst>
              </a:custGeom>
              <a:noFill/>
              <a:ln w="6350" cap="rnd">
                <a:solidFill>
                  <a:srgbClr val="008743"/>
                </a:solidFill>
                <a:round/>
              </a:ln>
            </p:spPr>
          </p:sp>
          <p:sp>
            <p:nvSpPr>
              <p:cNvPr id="196" name="Badge label"/>
              <p:cNvSpPr txBox="1"/>
              <p:nvPr/>
            </p:nvSpPr>
            <p:spPr>
              <a:xfrm>
                <a:off x="7274966" y="3474720"/>
                <a:ext cx="496423" cy="100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420"/>
                  </a:lnSpc>
                  <a:spcBef>
                    <a:spcPts val="0"/>
                  </a:spcBef>
                  <a:buNone/>
                </a:pPr>
                <a:r>
                  <a:rPr lang="en-US" sz="420" b="0" i="0" spc="0" dirty="0">
                    <a:solidFill>
                      <a:srgbClr val="00874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service-report.pdf</a:t>
                </a:r>
                <a:endParaRPr lang="en-US" sz="420" dirty="0">
                  <a:latin typeface="Inter SemiBold"/>
                </a:endParaRPr>
              </a:p>
            </p:txBody>
          </p:sp>
        </p:grpSp>
      </p:grpSp>
      <p:grpSp>
        <p:nvGrpSpPr>
          <p:cNvPr id="197" name="Button Submit maintenance"/>
          <p:cNvGrpSpPr/>
          <p:nvPr/>
        </p:nvGrpSpPr>
        <p:grpSpPr>
          <a:xfrm>
            <a:off x="6922008" y="3621024"/>
            <a:ext cx="1225296" cy="219456"/>
            <a:chOff x="6922008" y="3621024"/>
            <a:chExt cx="1225296" cy="219456"/>
          </a:xfrm>
        </p:grpSpPr>
        <p:sp>
          <p:nvSpPr>
            <p:cNvPr id="198" name="Button"/>
            <p:cNvSpPr/>
            <p:nvPr/>
          </p:nvSpPr>
          <p:spPr>
            <a:xfrm>
              <a:off x="6922008" y="3621024"/>
              <a:ext cx="1225296" cy="219456"/>
            </a:xfrm>
            <a:prstGeom prst="roundRect">
              <a:avLst>
                <a:gd name="adj" fmla="val 12500"/>
              </a:avLst>
            </a:prstGeom>
            <a:solidFill>
              <a:srgbClr val="305E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99" name="Icon send"/>
            <p:cNvSpPr/>
            <p:nvPr/>
          </p:nvSpPr>
          <p:spPr>
            <a:xfrm>
              <a:off x="7113730" y="3680460"/>
              <a:ext cx="100584" cy="10058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536" y="21686"/>
                  </a:moveTo>
                  <a:cubicBezTo>
                    <a:pt x="14614" y="21880"/>
                    <a:pt x="14804" y="22005"/>
                    <a:pt x="15013" y="22000"/>
                  </a:cubicBezTo>
                  <a:cubicBezTo>
                    <a:pt x="15222" y="21994"/>
                    <a:pt x="15405" y="21860"/>
                    <a:pt x="15473" y="21662"/>
                  </a:cubicBezTo>
                  <a:lnTo>
                    <a:pt x="21973" y="2662"/>
                  </a:lnTo>
                  <a:cubicBezTo>
                    <a:pt x="22038" y="2481"/>
                    <a:pt x="21993" y="2279"/>
                    <a:pt x="21857" y="2143"/>
                  </a:cubicBezTo>
                  <a:cubicBezTo>
                    <a:pt x="21721" y="2007"/>
                    <a:pt x="21519" y="1962"/>
                    <a:pt x="21338" y="2027"/>
                  </a:cubicBezTo>
                  <a:lnTo>
                    <a:pt x="2338" y="8527"/>
                  </a:lnTo>
                  <a:cubicBezTo>
                    <a:pt x="2140" y="8595"/>
                    <a:pt x="2006" y="8778"/>
                    <a:pt x="2000" y="8987"/>
                  </a:cubicBezTo>
                  <a:cubicBezTo>
                    <a:pt x="1995" y="9196"/>
                    <a:pt x="2120" y="9386"/>
                    <a:pt x="2314" y="9464"/>
                  </a:cubicBezTo>
                  <a:lnTo>
                    <a:pt x="10244" y="12644"/>
                  </a:lnTo>
                  <a:cubicBezTo>
                    <a:pt x="10751" y="12847"/>
                    <a:pt x="11152" y="13248"/>
                    <a:pt x="11356" y="13754"/>
                  </a:cubicBezTo>
                  <a:close/>
                </a:path>
                <a:path w="24000" h="24000" fill="none">
                  <a:moveTo>
                    <a:pt x="21854" y="2147"/>
                  </a:moveTo>
                  <a:lnTo>
                    <a:pt x="10914" y="13086"/>
                  </a:lnTo>
                </a:path>
              </a:pathLst>
            </a:custGeom>
            <a:noFill/>
            <a:ln w="9220" cap="rnd">
              <a:solidFill>
                <a:srgbClr val="FFFFFF"/>
              </a:solidFill>
              <a:round/>
            </a:ln>
          </p:spPr>
        </p:sp>
        <p:sp>
          <p:nvSpPr>
            <p:cNvPr id="200" name="Button label"/>
            <p:cNvSpPr txBox="1"/>
            <p:nvPr/>
          </p:nvSpPr>
          <p:spPr>
            <a:xfrm>
              <a:off x="7250890" y="3621024"/>
              <a:ext cx="741267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60"/>
                </a:lnSpc>
                <a:spcBef>
                  <a:spcPts val="0"/>
                </a:spcBef>
                <a:buNone/>
              </a:pPr>
              <a:r>
                <a:rPr lang="en-US" sz="56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Submit maintenance</a:t>
              </a:r>
              <a:endParaRPr lang="en-US" sz="560" dirty="0">
                <a:latin typeface="Inter SemiBold"/>
              </a:endParaRPr>
            </a:p>
          </p:txBody>
        </p:sp>
      </p:grpSp>
      <p:sp>
        <p:nvSpPr>
          <p:cNvPr id="201" name="Caption"/>
          <p:cNvSpPr txBox="1"/>
          <p:nvPr/>
        </p:nvSpPr>
        <p:spPr>
          <a:xfrm>
            <a:off x="274320" y="4169664"/>
            <a:ext cx="2670048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buNone/>
            </a:pPr>
            <a:r>
              <a:rPr lang="en-US" sz="7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Rules set once per DG. </a:t>
            </a:r>
            <a:r>
              <a:rPr lang="en-US" sz="70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Running-hours limit or fixed period — whichever comes first raises the work order.</a:t>
            </a:r>
            <a:endParaRPr lang="en-US" sz="700" dirty="0">
              <a:latin typeface="Inter SemiBold"/>
            </a:endParaRPr>
          </a:p>
        </p:txBody>
      </p:sp>
      <p:sp>
        <p:nvSpPr>
          <p:cNvPr id="202" name="Caption"/>
          <p:cNvSpPr txBox="1"/>
          <p:nvPr/>
        </p:nvSpPr>
        <p:spPr>
          <a:xfrm>
            <a:off x="3236976" y="4169664"/>
            <a:ext cx="2670048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buNone/>
            </a:pPr>
            <a:r>
              <a:rPr lang="en-US" sz="7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Raised and assigned. </a:t>
            </a:r>
            <a:r>
              <a:rPr lang="en-US" sz="70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Preventive from the trigger, breakdown from the store; routed to the AMC vendor.</a:t>
            </a:r>
            <a:endParaRPr lang="en-US" sz="700" dirty="0">
              <a:latin typeface="Inter SemiBold"/>
            </a:endParaRPr>
          </a:p>
        </p:txBody>
      </p:sp>
      <p:sp>
        <p:nvSpPr>
          <p:cNvPr id="203" name="Caption"/>
          <p:cNvSpPr txBox="1"/>
          <p:nvPr/>
        </p:nvSpPr>
        <p:spPr>
          <a:xfrm>
            <a:off x="6199632" y="4169664"/>
            <a:ext cx="2670048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buNone/>
            </a:pPr>
            <a:r>
              <a:rPr lang="en-US" sz="70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Vendor closes it. </a:t>
            </a:r>
            <a:r>
              <a:rPr lang="en-US" sz="70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Action taken, parts replaced, clearance and proof, submitted from a phone.</a:t>
            </a:r>
            <a:endParaRPr lang="en-US" sz="700" dirty="0">
              <a:latin typeface="Inter SemiBold"/>
            </a:endParaRPr>
          </a:p>
        </p:txBody>
      </p:sp>
      <p:grpSp>
        <p:nvGrpSpPr>
          <p:cNvPr id="204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205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DG Online Monitoring Proposal  ·  Flipkart Minutes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206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98AC3BB7-24E6-46D3-9568-B13A1A6A3211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9456"/>
            <a:ext cx="8650224" cy="722376"/>
            <a:chOff x="274320" y="219456"/>
            <a:chExt cx="8650224" cy="722376"/>
          </a:xfrm>
        </p:grpSpPr>
        <p:sp>
          <p:nvSpPr>
            <p:cNvPr id="4" name="Eyebrow"/>
            <p:cNvSpPr txBox="1"/>
            <p:nvPr/>
          </p:nvSpPr>
          <p:spPr>
            <a:xfrm>
              <a:off x="274320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BOTH WORKFLOWS  ·  DEPLOYMENT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5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Network Architecture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6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Faclon supplies the field hardware and the cloud; data flows from each DG to IOsense and out to users, vendors and Oracle Fusion.</a:t>
              </a:r>
              <a:endParaRPr lang="en-US" sz="850" dirty="0">
                <a:latin typeface="Inter"/>
              </a:endParaRPr>
            </a:p>
          </p:txBody>
        </p:sp>
        <p:grpSp>
          <p:nvGrpSpPr>
            <p:cNvPr id="7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8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" name="Zone"/>
          <p:cNvSpPr/>
          <p:nvPr/>
        </p:nvSpPr>
        <p:spPr>
          <a:xfrm>
            <a:off x="274320" y="1115568"/>
            <a:ext cx="2286000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9525">
            <a:solidFill>
              <a:srgbClr val="CBD5E2"/>
            </a:solidFill>
            <a:prstDash val="dash"/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grpSp>
        <p:nvGrpSpPr>
          <p:cNvPr id="20" name="Zone DARK STORE  ·  PER SITE"/>
          <p:cNvGrpSpPr/>
          <p:nvPr/>
        </p:nvGrpSpPr>
        <p:grpSpPr>
          <a:xfrm>
            <a:off x="384048" y="1197864"/>
            <a:ext cx="2103120" cy="146304"/>
            <a:chOff x="384048" y="1197864"/>
            <a:chExt cx="2103120" cy="146304"/>
          </a:xfrm>
        </p:grpSpPr>
        <p:sp>
          <p:nvSpPr>
            <p:cNvPr id="21" name="Icon store"/>
            <p:cNvSpPr/>
            <p:nvPr/>
          </p:nvSpPr>
          <p:spPr>
            <a:xfrm>
              <a:off x="384048" y="1197864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" y="7000"/>
                  </a:moveTo>
                  <a:lnTo>
                    <a:pt x="6410" y="2590"/>
                  </a:lnTo>
                  <a:cubicBezTo>
                    <a:pt x="6786" y="2212"/>
                    <a:pt x="7297" y="2000"/>
                    <a:pt x="7830" y="2000"/>
                  </a:cubicBezTo>
                  <a:lnTo>
                    <a:pt x="16170" y="2000"/>
                  </a:lnTo>
                  <a:cubicBezTo>
                    <a:pt x="16703" y="2000"/>
                    <a:pt x="17214" y="2212"/>
                    <a:pt x="17590" y="2590"/>
                  </a:cubicBezTo>
                  <a:lnTo>
                    <a:pt x="22000" y="7000"/>
                  </a:lnTo>
                </a:path>
                <a:path w="24000" h="24000" fill="none">
                  <a:moveTo>
                    <a:pt x="4000" y="12000"/>
                  </a:move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12000"/>
                  </a:lnTo>
                </a:path>
                <a:path w="24000" h="24000" fill="none">
                  <a:moveTo>
                    <a:pt x="15000" y="22000"/>
                  </a:moveTo>
                  <a:lnTo>
                    <a:pt x="15000" y="18000"/>
                  </a:lnTo>
                  <a:cubicBezTo>
                    <a:pt x="15000" y="16895"/>
                    <a:pt x="14105" y="16000"/>
                    <a:pt x="13000" y="16000"/>
                  </a:cubicBezTo>
                  <a:lnTo>
                    <a:pt x="11000" y="16000"/>
                  </a:lnTo>
                  <a:cubicBezTo>
                    <a:pt x="9895" y="16000"/>
                    <a:pt x="9000" y="16895"/>
                    <a:pt x="9000" y="18000"/>
                  </a:cubicBezTo>
                  <a:lnTo>
                    <a:pt x="9000" y="22000"/>
                  </a:lnTo>
                </a:path>
                <a:path w="24000" h="24000" fill="none">
                  <a:moveTo>
                    <a:pt x="2000" y="7000"/>
                  </a:moveTo>
                  <a:lnTo>
                    <a:pt x="22000" y="7000"/>
                  </a:lnTo>
                </a:path>
                <a:path w="24000" h="24000" fill="none">
                  <a:moveTo>
                    <a:pt x="22000" y="7000"/>
                  </a:moveTo>
                  <a:lnTo>
                    <a:pt x="22000" y="10000"/>
                  </a:lnTo>
                  <a:cubicBezTo>
                    <a:pt x="22000" y="11105"/>
                    <a:pt x="21105" y="12000"/>
                    <a:pt x="20000" y="12000"/>
                  </a:cubicBezTo>
                  <a:cubicBezTo>
                    <a:pt x="19416" y="11968"/>
                    <a:pt x="18858" y="11747"/>
                    <a:pt x="18410" y="11370"/>
                  </a:cubicBezTo>
                  <a:cubicBezTo>
                    <a:pt x="18165" y="11193"/>
                    <a:pt x="17835" y="11193"/>
                    <a:pt x="17590" y="11370"/>
                  </a:cubicBezTo>
                  <a:cubicBezTo>
                    <a:pt x="17142" y="11747"/>
                    <a:pt x="16584" y="11968"/>
                    <a:pt x="16000" y="12000"/>
                  </a:cubicBezTo>
                  <a:cubicBezTo>
                    <a:pt x="15416" y="11968"/>
                    <a:pt x="14858" y="11747"/>
                    <a:pt x="14410" y="11370"/>
                  </a:cubicBezTo>
                  <a:cubicBezTo>
                    <a:pt x="14165" y="11193"/>
                    <a:pt x="13835" y="11193"/>
                    <a:pt x="13590" y="11370"/>
                  </a:cubicBezTo>
                  <a:cubicBezTo>
                    <a:pt x="13142" y="11747"/>
                    <a:pt x="12584" y="11968"/>
                    <a:pt x="12000" y="12000"/>
                  </a:cubicBezTo>
                  <a:cubicBezTo>
                    <a:pt x="11416" y="11968"/>
                    <a:pt x="10858" y="11747"/>
                    <a:pt x="10410" y="11370"/>
                  </a:cubicBezTo>
                  <a:cubicBezTo>
                    <a:pt x="10165" y="11193"/>
                    <a:pt x="9835" y="11193"/>
                    <a:pt x="9590" y="11370"/>
                  </a:cubicBezTo>
                  <a:cubicBezTo>
                    <a:pt x="9142" y="11747"/>
                    <a:pt x="8584" y="11968"/>
                    <a:pt x="8000" y="12000"/>
                  </a:cubicBezTo>
                  <a:cubicBezTo>
                    <a:pt x="7416" y="11968"/>
                    <a:pt x="6858" y="11747"/>
                    <a:pt x="6410" y="11370"/>
                  </a:cubicBezTo>
                  <a:cubicBezTo>
                    <a:pt x="6165" y="11193"/>
                    <a:pt x="5835" y="11193"/>
                    <a:pt x="5590" y="11370"/>
                  </a:cubicBezTo>
                  <a:cubicBezTo>
                    <a:pt x="5142" y="11747"/>
                    <a:pt x="4584" y="11968"/>
                    <a:pt x="4000" y="12000"/>
                  </a:cubicBezTo>
                  <a:cubicBezTo>
                    <a:pt x="2895" y="12000"/>
                    <a:pt x="2000" y="11105"/>
                    <a:pt x="2000" y="10000"/>
                  </a:cubicBezTo>
                  <a:lnTo>
                    <a:pt x="2000" y="7000"/>
                  </a:lnTo>
                </a:path>
              </a:pathLst>
            </a:custGeom>
            <a:noFill/>
            <a:ln w="11735" cap="rnd">
              <a:solidFill>
                <a:srgbClr val="165FF2"/>
              </a:solidFill>
              <a:round/>
            </a:ln>
          </p:spPr>
        </p:sp>
        <p:sp>
          <p:nvSpPr>
            <p:cNvPr id="22" name="Zone label"/>
            <p:cNvSpPr txBox="1"/>
            <p:nvPr/>
          </p:nvSpPr>
          <p:spPr>
            <a:xfrm>
              <a:off x="566928" y="1188720"/>
              <a:ext cx="192024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60"/>
                </a:lnSpc>
                <a:spcBef>
                  <a:spcPts val="0"/>
                </a:spcBef>
                <a:buNone/>
              </a:pPr>
              <a:r>
                <a:rPr lang="en-US" sz="660" b="0" i="0" cap="all" spc="82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DARK STORE  ·  PER SITE</a:t>
              </a:r>
              <a:endParaRPr lang="en-US" sz="660" dirty="0">
                <a:latin typeface="Inter SemiBold"/>
              </a:endParaRPr>
            </a:p>
          </p:txBody>
        </p:sp>
      </p:grpSp>
      <p:sp>
        <p:nvSpPr>
          <p:cNvPr id="23" name="Zone"/>
          <p:cNvSpPr/>
          <p:nvPr/>
        </p:nvSpPr>
        <p:spPr>
          <a:xfrm>
            <a:off x="2926080" y="1115568"/>
            <a:ext cx="2926080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9525">
            <a:solidFill>
              <a:srgbClr val="CBD5E2"/>
            </a:solidFill>
            <a:prstDash val="dash"/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grpSp>
        <p:nvGrpSpPr>
          <p:cNvPr id="24" name="Zone IOSENSE CLOUD  ·  FACLON-HOSTED"/>
          <p:cNvGrpSpPr/>
          <p:nvPr/>
        </p:nvGrpSpPr>
        <p:grpSpPr>
          <a:xfrm>
            <a:off x="3035808" y="1197864"/>
            <a:ext cx="2743200" cy="146304"/>
            <a:chOff x="3035808" y="1197864"/>
            <a:chExt cx="2743200" cy="146304"/>
          </a:xfrm>
        </p:grpSpPr>
        <p:sp>
          <p:nvSpPr>
            <p:cNvPr id="25" name="Icon cloud"/>
            <p:cNvSpPr/>
            <p:nvPr/>
          </p:nvSpPr>
          <p:spPr>
            <a:xfrm>
              <a:off x="3035808" y="1197864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7500" y="19000"/>
                  </a:moveTo>
                  <a:lnTo>
                    <a:pt x="9000" y="19000"/>
                  </a:lnTo>
                  <a:cubicBezTo>
                    <a:pt x="5396" y="18999"/>
                    <a:pt x="2381" y="16261"/>
                    <a:pt x="2034" y="12674"/>
                  </a:cubicBezTo>
                  <a:cubicBezTo>
                    <a:pt x="1687" y="9086"/>
                    <a:pt x="4121" y="5822"/>
                    <a:pt x="7659" y="5130"/>
                  </a:cubicBezTo>
                  <a:cubicBezTo>
                    <a:pt x="11196" y="4438"/>
                    <a:pt x="14680" y="6546"/>
                    <a:pt x="15710" y="10000"/>
                  </a:cubicBezTo>
                  <a:lnTo>
                    <a:pt x="17500" y="10000"/>
                  </a:lnTo>
                  <a:cubicBezTo>
                    <a:pt x="19985" y="10000"/>
                    <a:pt x="22000" y="12015"/>
                    <a:pt x="22000" y="14500"/>
                  </a:cubicBezTo>
                  <a:cubicBezTo>
                    <a:pt x="22000" y="16985"/>
                    <a:pt x="19985" y="19000"/>
                    <a:pt x="17500" y="19000"/>
                  </a:cubicBezTo>
                  <a:close/>
                </a:path>
              </a:pathLst>
            </a:custGeom>
            <a:noFill/>
            <a:ln w="11735" cap="rnd">
              <a:solidFill>
                <a:srgbClr val="165FF2"/>
              </a:solidFill>
              <a:round/>
            </a:ln>
          </p:spPr>
        </p:sp>
        <p:sp>
          <p:nvSpPr>
            <p:cNvPr id="26" name="Zone label"/>
            <p:cNvSpPr txBox="1"/>
            <p:nvPr/>
          </p:nvSpPr>
          <p:spPr>
            <a:xfrm>
              <a:off x="3218688" y="1188720"/>
              <a:ext cx="256032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60"/>
                </a:lnSpc>
                <a:spcBef>
                  <a:spcPts val="0"/>
                </a:spcBef>
                <a:buNone/>
              </a:pPr>
              <a:r>
                <a:rPr lang="en-US" sz="660" b="0" i="0" cap="all" spc="82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IOSENSE CLOUD  ·  FACLON-HOSTED</a:t>
              </a:r>
              <a:endParaRPr lang="en-US" sz="660" dirty="0">
                <a:latin typeface="Inter SemiBold"/>
              </a:endParaRPr>
            </a:p>
          </p:txBody>
        </p:sp>
      </p:grpSp>
      <p:sp>
        <p:nvSpPr>
          <p:cNvPr id="27" name="Zone"/>
          <p:cNvSpPr/>
          <p:nvPr/>
        </p:nvSpPr>
        <p:spPr>
          <a:xfrm>
            <a:off x="6217920" y="1115568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9525">
            <a:solidFill>
              <a:srgbClr val="CBD5E2"/>
            </a:solidFill>
            <a:prstDash val="dash"/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grpSp>
        <p:nvGrpSpPr>
          <p:cNvPr id="28" name="Zone USERS &amp; FLIPKART SYSTEMS"/>
          <p:cNvGrpSpPr/>
          <p:nvPr/>
        </p:nvGrpSpPr>
        <p:grpSpPr>
          <a:xfrm>
            <a:off x="6327648" y="1197864"/>
            <a:ext cx="2468880" cy="146304"/>
            <a:chOff x="6327648" y="1197864"/>
            <a:chExt cx="2468880" cy="146304"/>
          </a:xfrm>
        </p:grpSpPr>
        <p:sp>
          <p:nvSpPr>
            <p:cNvPr id="29" name="Icon users-round"/>
            <p:cNvSpPr/>
            <p:nvPr/>
          </p:nvSpPr>
          <p:spPr>
            <a:xfrm>
              <a:off x="6327648" y="1197864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8000" y="21000"/>
                  </a:moveTo>
                  <a:cubicBezTo>
                    <a:pt x="18000" y="16582"/>
                    <a:pt x="14418" y="13000"/>
                    <a:pt x="10000" y="13000"/>
                  </a:cubicBezTo>
                  <a:cubicBezTo>
                    <a:pt x="5582" y="13000"/>
                    <a:pt x="2000" y="16582"/>
                    <a:pt x="2000" y="21000"/>
                  </a:cubicBezTo>
                </a:path>
                <a:path w="24000" h="24000" fill="none">
                  <a:moveTo>
                    <a:pt x="15000" y="8000"/>
                  </a:moveTo>
                  <a:cubicBezTo>
                    <a:pt x="15000" y="10761"/>
                    <a:pt x="12761" y="13000"/>
                    <a:pt x="10000" y="13000"/>
                  </a:cubicBezTo>
                  <a:cubicBezTo>
                    <a:pt x="7239" y="13000"/>
                    <a:pt x="5000" y="10761"/>
                    <a:pt x="5000" y="8000"/>
                  </a:cubicBezTo>
                  <a:cubicBezTo>
                    <a:pt x="5000" y="5239"/>
                    <a:pt x="7239" y="3000"/>
                    <a:pt x="10000" y="3000"/>
                  </a:cubicBezTo>
                  <a:cubicBezTo>
                    <a:pt x="12761" y="3000"/>
                    <a:pt x="15000" y="5239"/>
                    <a:pt x="15000" y="8000"/>
                  </a:cubicBezTo>
                  <a:close/>
                </a:path>
                <a:path w="24000" h="24000" fill="none">
                  <a:moveTo>
                    <a:pt x="22000" y="20000"/>
                  </a:moveTo>
                  <a:cubicBezTo>
                    <a:pt x="22000" y="16630"/>
                    <a:pt x="20000" y="13500"/>
                    <a:pt x="18000" y="12000"/>
                  </a:cubicBezTo>
                  <a:cubicBezTo>
                    <a:pt x="19335" y="10998"/>
                    <a:pt x="20082" y="9396"/>
                    <a:pt x="19992" y="7730"/>
                  </a:cubicBezTo>
                  <a:cubicBezTo>
                    <a:pt x="19902" y="6063"/>
                    <a:pt x="18986" y="4551"/>
                    <a:pt x="17550" y="3700"/>
                  </a:cubicBezTo>
                </a:path>
              </a:pathLst>
            </a:custGeom>
            <a:noFill/>
            <a:ln w="11735" cap="rnd">
              <a:solidFill>
                <a:srgbClr val="165FF2"/>
              </a:solidFill>
              <a:round/>
            </a:ln>
          </p:spPr>
        </p:sp>
        <p:sp>
          <p:nvSpPr>
            <p:cNvPr id="30" name="Zone label"/>
            <p:cNvSpPr txBox="1"/>
            <p:nvPr/>
          </p:nvSpPr>
          <p:spPr>
            <a:xfrm>
              <a:off x="6510528" y="1188720"/>
              <a:ext cx="228600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60"/>
                </a:lnSpc>
                <a:spcBef>
                  <a:spcPts val="0"/>
                </a:spcBef>
                <a:buNone/>
              </a:pPr>
              <a:r>
                <a:rPr lang="en-US" sz="660" b="0" i="0" cap="all" spc="82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USERS &amp; FLIPKART SYSTEMS</a:t>
              </a:r>
              <a:endParaRPr lang="en-US" sz="660" dirty="0">
                <a:latin typeface="Inter SemiBold"/>
              </a:endParaRPr>
            </a:p>
          </p:txBody>
        </p:sp>
      </p:grpSp>
      <p:grpSp>
        <p:nvGrpSpPr>
          <p:cNvPr id="31" name="DG + existing controller"/>
          <p:cNvGrpSpPr/>
          <p:nvPr/>
        </p:nvGrpSpPr>
        <p:grpSpPr>
          <a:xfrm>
            <a:off x="384048" y="1417320"/>
            <a:ext cx="2066544" cy="582168"/>
            <a:chOff x="384048" y="1417320"/>
            <a:chExt cx="2066544" cy="582168"/>
          </a:xfrm>
        </p:grpSpPr>
        <p:sp>
          <p:nvSpPr>
            <p:cNvPr id="32" name="DG + existing controller"/>
            <p:cNvSpPr/>
            <p:nvPr/>
          </p:nvSpPr>
          <p:spPr>
            <a:xfrm>
              <a:off x="384048" y="1417320"/>
              <a:ext cx="2066544" cy="582168"/>
            </a:xfrm>
            <a:prstGeom prst="roundRect">
              <a:avLst>
                <a:gd name="adj" fmla="val 10995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3" name="Icon box"/>
            <p:cNvSpPr/>
            <p:nvPr/>
          </p:nvSpPr>
          <p:spPr>
            <a:xfrm>
              <a:off x="448056" y="1481328"/>
              <a:ext cx="219456" cy="219456"/>
            </a:xfrm>
            <a:prstGeom prst="roundRect">
              <a:avLst>
                <a:gd name="adj" fmla="val 20833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4" name="Icon zap"/>
            <p:cNvSpPr/>
            <p:nvPr/>
          </p:nvSpPr>
          <p:spPr>
            <a:xfrm>
              <a:off x="493776" y="1527048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14000"/>
                  </a:moveTo>
                  <a:cubicBezTo>
                    <a:pt x="3614" y="14001"/>
                    <a:pt x="3261" y="13780"/>
                    <a:pt x="3095" y="13432"/>
                  </a:cubicBezTo>
                  <a:cubicBezTo>
                    <a:pt x="2928" y="13083"/>
                    <a:pt x="2977" y="12670"/>
                    <a:pt x="3220" y="12370"/>
                  </a:cubicBezTo>
                  <a:lnTo>
                    <a:pt x="13120" y="2170"/>
                  </a:lnTo>
                  <a:cubicBezTo>
                    <a:pt x="13273" y="1993"/>
                    <a:pt x="13528" y="1946"/>
                    <a:pt x="13734" y="2057"/>
                  </a:cubicBezTo>
                  <a:cubicBezTo>
                    <a:pt x="13940" y="2167"/>
                    <a:pt x="14042" y="2405"/>
                    <a:pt x="13980" y="2630"/>
                  </a:cubicBezTo>
                  <a:lnTo>
                    <a:pt x="12060" y="8650"/>
                  </a:lnTo>
                  <a:cubicBezTo>
                    <a:pt x="11945" y="8958"/>
                    <a:pt x="11988" y="9302"/>
                    <a:pt x="12176" y="9571"/>
                  </a:cubicBezTo>
                  <a:cubicBezTo>
                    <a:pt x="12364" y="9841"/>
                    <a:pt x="12672" y="10001"/>
                    <a:pt x="13000" y="10000"/>
                  </a:cubicBezTo>
                  <a:lnTo>
                    <a:pt x="20000" y="10000"/>
                  </a:lnTo>
                  <a:cubicBezTo>
                    <a:pt x="20386" y="9999"/>
                    <a:pt x="20739" y="10220"/>
                    <a:pt x="20905" y="10568"/>
                  </a:cubicBezTo>
                  <a:cubicBezTo>
                    <a:pt x="21072" y="10917"/>
                    <a:pt x="21023" y="11330"/>
                    <a:pt x="20780" y="11630"/>
                  </a:cubicBezTo>
                  <a:lnTo>
                    <a:pt x="10880" y="21830"/>
                  </a:lnTo>
                  <a:cubicBezTo>
                    <a:pt x="10727" y="22007"/>
                    <a:pt x="10472" y="22054"/>
                    <a:pt x="10266" y="21943"/>
                  </a:cubicBezTo>
                  <a:cubicBezTo>
                    <a:pt x="10060" y="21833"/>
                    <a:pt x="9958" y="21595"/>
                    <a:pt x="10020" y="21370"/>
                  </a:cubicBezTo>
                  <a:lnTo>
                    <a:pt x="11940" y="15350"/>
                  </a:lnTo>
                  <a:cubicBezTo>
                    <a:pt x="12055" y="15042"/>
                    <a:pt x="12012" y="14698"/>
                    <a:pt x="11824" y="14429"/>
                  </a:cubicBezTo>
                  <a:cubicBezTo>
                    <a:pt x="11636" y="14159"/>
                    <a:pt x="11328" y="13999"/>
                    <a:pt x="11000" y="14000"/>
                  </a:cubicBezTo>
                  <a:close/>
                </a:path>
              </a:pathLst>
            </a:custGeom>
            <a:noFill/>
            <a:ln w="11735" cap="rnd">
              <a:solidFill>
                <a:srgbClr val="165FF2"/>
              </a:solidFill>
              <a:round/>
            </a:ln>
          </p:spPr>
        </p:sp>
        <p:sp>
          <p:nvSpPr>
            <p:cNvPr id="35" name="DG + existing controller text"/>
            <p:cNvSpPr txBox="1"/>
            <p:nvPr/>
          </p:nvSpPr>
          <p:spPr>
            <a:xfrm>
              <a:off x="758952" y="1481328"/>
              <a:ext cx="16276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DG + existing controller</a:t>
              </a:r>
              <a:endParaRPr lang="en-US" sz="660" dirty="0">
                <a:latin typeface="Inter SemiBold"/>
              </a:endParaRPr>
            </a:p>
            <a:p>
              <a:pPr algn="l">
                <a:lnSpc>
                  <a:spcPts val="710"/>
                </a:lnSpc>
                <a:spcBef>
                  <a:spcPts val="100"/>
                </a:spcBef>
                <a:buNone/>
              </a:pPr>
              <a:r>
                <a:rPr lang="en-US" sz="60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One or more DGs per store, each with its own DG ID</a:t>
              </a:r>
              <a:endParaRPr lang="en-US" sz="600" dirty="0">
                <a:latin typeface="Inter"/>
              </a:endParaRPr>
            </a:p>
          </p:txBody>
        </p:sp>
        <p:grpSp>
          <p:nvGrpSpPr>
            <p:cNvPr id="36" name="Chip Controller make TBC"/>
            <p:cNvGrpSpPr/>
            <p:nvPr/>
          </p:nvGrpSpPr>
          <p:grpSpPr>
            <a:xfrm>
              <a:off x="758952" y="1816608"/>
              <a:ext cx="794119" cy="118872"/>
              <a:chOff x="758952" y="1816608"/>
              <a:chExt cx="794119" cy="118872"/>
            </a:xfrm>
          </p:grpSpPr>
          <p:sp>
            <p:nvSpPr>
              <p:cNvPr id="37" name="Chip fill"/>
              <p:cNvSpPr/>
              <p:nvPr/>
            </p:nvSpPr>
            <p:spPr>
              <a:xfrm>
                <a:off x="758952" y="1816608"/>
                <a:ext cx="794119" cy="118872"/>
              </a:xfrm>
              <a:prstGeom prst="roundRect">
                <a:avLst>
                  <a:gd name="adj" fmla="val 20000"/>
                </a:avLst>
              </a:prstGeom>
              <a:solidFill>
                <a:srgbClr val="E9690C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38" name="Chip label"/>
              <p:cNvSpPr txBox="1"/>
              <p:nvPr/>
            </p:nvSpPr>
            <p:spPr>
              <a:xfrm>
                <a:off x="813816" y="1816608"/>
                <a:ext cx="711823" cy="118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40"/>
                  </a:lnSpc>
                  <a:spcBef>
                    <a:spcPts val="0"/>
                  </a:spcBef>
                  <a:buNone/>
                </a:pPr>
                <a:r>
                  <a:rPr lang="en-US" sz="540" b="0" i="0" spc="0" dirty="0">
                    <a:solidFill>
                      <a:srgbClr val="C65C1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Controller make TBC</a:t>
                </a:r>
                <a:endParaRPr lang="en-US" sz="540" dirty="0">
                  <a:latin typeface="Inter SemiBold"/>
                </a:endParaRPr>
              </a:p>
            </p:txBody>
          </p:sp>
        </p:grpSp>
      </p:grpSp>
      <p:grpSp>
        <p:nvGrpSpPr>
          <p:cNvPr id="39" name="IoT device + gateway"/>
          <p:cNvGrpSpPr/>
          <p:nvPr/>
        </p:nvGrpSpPr>
        <p:grpSpPr>
          <a:xfrm>
            <a:off x="384048" y="2081784"/>
            <a:ext cx="2066544" cy="582168"/>
            <a:chOff x="384048" y="2081784"/>
            <a:chExt cx="2066544" cy="582168"/>
          </a:xfrm>
        </p:grpSpPr>
        <p:sp>
          <p:nvSpPr>
            <p:cNvPr id="40" name="IoT device + gateway"/>
            <p:cNvSpPr/>
            <p:nvPr/>
          </p:nvSpPr>
          <p:spPr>
            <a:xfrm>
              <a:off x="384048" y="2081784"/>
              <a:ext cx="2066544" cy="582168"/>
            </a:xfrm>
            <a:prstGeom prst="roundRect">
              <a:avLst>
                <a:gd name="adj" fmla="val 10995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1" name="Icon box"/>
            <p:cNvSpPr/>
            <p:nvPr/>
          </p:nvSpPr>
          <p:spPr>
            <a:xfrm>
              <a:off x="448056" y="2145792"/>
              <a:ext cx="219456" cy="219456"/>
            </a:xfrm>
            <a:prstGeom prst="roundRect">
              <a:avLst>
                <a:gd name="adj" fmla="val 20833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2" name="Icon router"/>
            <p:cNvSpPr/>
            <p:nvPr/>
          </p:nvSpPr>
          <p:spPr>
            <a:xfrm>
              <a:off x="493776" y="2191512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14000"/>
                  </a:moveTo>
                  <a:lnTo>
                    <a:pt x="20000" y="14000"/>
                  </a:lnTo>
                  <a:cubicBezTo>
                    <a:pt x="21105" y="14000"/>
                    <a:pt x="22000" y="14895"/>
                    <a:pt x="22000" y="16000"/>
                  </a:cubicBezTo>
                  <a:lnTo>
                    <a:pt x="22000" y="20000"/>
                  </a:lnTo>
                  <a:cubicBezTo>
                    <a:pt x="22000" y="21105"/>
                    <a:pt x="21105" y="22000"/>
                    <a:pt x="20000" y="22000"/>
                  </a:cubicBezTo>
                  <a:lnTo>
                    <a:pt x="4000" y="22000"/>
                  </a:lnTo>
                  <a:cubicBezTo>
                    <a:pt x="2895" y="22000"/>
                    <a:pt x="2000" y="21105"/>
                    <a:pt x="2000" y="20000"/>
                  </a:cubicBezTo>
                  <a:lnTo>
                    <a:pt x="2000" y="16000"/>
                  </a:lnTo>
                  <a:cubicBezTo>
                    <a:pt x="2000" y="14895"/>
                    <a:pt x="2895" y="14000"/>
                    <a:pt x="4000" y="14000"/>
                  </a:cubicBezTo>
                  <a:close/>
                </a:path>
                <a:path w="24000" h="24000" fill="none">
                  <a:moveTo>
                    <a:pt x="6010" y="18000"/>
                  </a:moveTo>
                  <a:lnTo>
                    <a:pt x="6000" y="18000"/>
                  </a:lnTo>
                </a:path>
                <a:path w="24000" h="24000" fill="none">
                  <a:moveTo>
                    <a:pt x="10010" y="18000"/>
                  </a:moveTo>
                  <a:lnTo>
                    <a:pt x="10000" y="18000"/>
                  </a:lnTo>
                </a:path>
                <a:path w="24000" h="24000" fill="none">
                  <a:moveTo>
                    <a:pt x="15000" y="10000"/>
                  </a:moveTo>
                  <a:lnTo>
                    <a:pt x="15000" y="14000"/>
                  </a:lnTo>
                </a:path>
                <a:path w="24000" h="24000" fill="none">
                  <a:moveTo>
                    <a:pt x="17840" y="7170"/>
                  </a:moveTo>
                  <a:cubicBezTo>
                    <a:pt x="17090" y="6419"/>
                    <a:pt x="16072" y="5997"/>
                    <a:pt x="15010" y="5997"/>
                  </a:cubicBezTo>
                  <a:cubicBezTo>
                    <a:pt x="13948" y="5997"/>
                    <a:pt x="12930" y="6419"/>
                    <a:pt x="12180" y="7170"/>
                  </a:cubicBezTo>
                </a:path>
                <a:path w="24000" h="24000" fill="none">
                  <a:moveTo>
                    <a:pt x="20660" y="4340"/>
                  </a:moveTo>
                  <a:cubicBezTo>
                    <a:pt x="17536" y="1218"/>
                    <a:pt x="12474" y="1218"/>
                    <a:pt x="9350" y="4340"/>
                  </a:cubicBezTo>
                </a:path>
              </a:pathLst>
            </a:custGeom>
            <a:noFill/>
            <a:ln w="11735" cap="rnd">
              <a:solidFill>
                <a:srgbClr val="165FF2"/>
              </a:solidFill>
              <a:round/>
            </a:ln>
          </p:spPr>
        </p:sp>
        <p:sp>
          <p:nvSpPr>
            <p:cNvPr id="43" name="IoT device + gateway text"/>
            <p:cNvSpPr txBox="1"/>
            <p:nvPr/>
          </p:nvSpPr>
          <p:spPr>
            <a:xfrm>
              <a:off x="758952" y="2145792"/>
              <a:ext cx="16276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IoT device + gateway</a:t>
              </a:r>
              <a:endParaRPr lang="en-US" sz="660" dirty="0">
                <a:latin typeface="Inter SemiBold"/>
              </a:endParaRPr>
            </a:p>
            <a:p>
              <a:pPr algn="l">
                <a:lnSpc>
                  <a:spcPts val="710"/>
                </a:lnSpc>
                <a:spcBef>
                  <a:spcPts val="100"/>
                </a:spcBef>
                <a:buNone/>
              </a:pPr>
              <a:r>
                <a:rPr lang="en-US" sz="60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Supplied, installed and commissioned by Faclon</a:t>
              </a:r>
              <a:endParaRPr lang="en-US" sz="600" dirty="0">
                <a:latin typeface="Inter"/>
              </a:endParaRPr>
            </a:p>
          </p:txBody>
        </p:sp>
        <p:grpSp>
          <p:nvGrpSpPr>
            <p:cNvPr id="44" name="Chip RS-485 / Modbus"/>
            <p:cNvGrpSpPr/>
            <p:nvPr/>
          </p:nvGrpSpPr>
          <p:grpSpPr>
            <a:xfrm>
              <a:off x="758952" y="2481072"/>
              <a:ext cx="693392" cy="118872"/>
              <a:chOff x="758952" y="2481072"/>
              <a:chExt cx="693392" cy="118872"/>
            </a:xfrm>
          </p:grpSpPr>
          <p:sp>
            <p:nvSpPr>
              <p:cNvPr id="45" name="Chip fill"/>
              <p:cNvSpPr/>
              <p:nvPr/>
            </p:nvSpPr>
            <p:spPr>
              <a:xfrm>
                <a:off x="758952" y="2481072"/>
                <a:ext cx="693392" cy="118872"/>
              </a:xfrm>
              <a:prstGeom prst="roundRect">
                <a:avLst>
                  <a:gd name="adj" fmla="val 2000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46" name="Chip label"/>
              <p:cNvSpPr txBox="1"/>
              <p:nvPr/>
            </p:nvSpPr>
            <p:spPr>
              <a:xfrm>
                <a:off x="813816" y="2481072"/>
                <a:ext cx="611096" cy="118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40"/>
                  </a:lnSpc>
                  <a:spcBef>
                    <a:spcPts val="0"/>
                  </a:spcBef>
                  <a:buNone/>
                </a:pPr>
                <a:r>
                  <a:rPr lang="en-US" sz="540" b="0" i="0" spc="0" dirty="0">
                    <a:solidFill>
                      <a:srgbClr val="0E3FA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RS-485 / Modbus</a:t>
                </a:r>
                <a:endParaRPr lang="en-US" sz="540" dirty="0">
                  <a:latin typeface="Inter SemiBold"/>
                </a:endParaRPr>
              </a:p>
            </p:txBody>
          </p:sp>
        </p:grpSp>
      </p:grpSp>
      <p:grpSp>
        <p:nvGrpSpPr>
          <p:cNvPr id="47" name="Connectivity"/>
          <p:cNvGrpSpPr/>
          <p:nvPr/>
        </p:nvGrpSpPr>
        <p:grpSpPr>
          <a:xfrm>
            <a:off x="384048" y="2746248"/>
            <a:ext cx="2066544" cy="491998"/>
            <a:chOff x="384048" y="2746248"/>
            <a:chExt cx="2066544" cy="491998"/>
          </a:xfrm>
        </p:grpSpPr>
        <p:sp>
          <p:nvSpPr>
            <p:cNvPr id="48" name="Connectivity"/>
            <p:cNvSpPr/>
            <p:nvPr/>
          </p:nvSpPr>
          <p:spPr>
            <a:xfrm>
              <a:off x="384048" y="2746248"/>
              <a:ext cx="2066544" cy="491998"/>
            </a:xfrm>
            <a:prstGeom prst="roundRect">
              <a:avLst>
                <a:gd name="adj" fmla="val 1301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9" name="Icon box"/>
            <p:cNvSpPr/>
            <p:nvPr/>
          </p:nvSpPr>
          <p:spPr>
            <a:xfrm>
              <a:off x="448056" y="2810256"/>
              <a:ext cx="219456" cy="219456"/>
            </a:xfrm>
            <a:prstGeom prst="roundRect">
              <a:avLst>
                <a:gd name="adj" fmla="val 20833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50" name="Icon wifi"/>
            <p:cNvSpPr/>
            <p:nvPr/>
          </p:nvSpPr>
          <p:spPr>
            <a:xfrm>
              <a:off x="493776" y="2855976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20000"/>
                  </a:moveTo>
                  <a:lnTo>
                    <a:pt x="12010" y="20000"/>
                  </a:lnTo>
                </a:path>
                <a:path w="24000" h="24000" fill="none">
                  <a:moveTo>
                    <a:pt x="2000" y="8820"/>
                  </a:moveTo>
                  <a:cubicBezTo>
                    <a:pt x="7694" y="3727"/>
                    <a:pt x="16306" y="3727"/>
                    <a:pt x="22000" y="8820"/>
                  </a:cubicBezTo>
                </a:path>
                <a:path w="24000" h="24000" fill="none">
                  <a:moveTo>
                    <a:pt x="5000" y="12859"/>
                  </a:moveTo>
                  <a:cubicBezTo>
                    <a:pt x="8888" y="9048"/>
                    <a:pt x="15112" y="9048"/>
                    <a:pt x="19000" y="12859"/>
                  </a:cubicBezTo>
                </a:path>
                <a:path w="24000" h="24000" fill="none">
                  <a:moveTo>
                    <a:pt x="8500" y="16429"/>
                  </a:moveTo>
                  <a:cubicBezTo>
                    <a:pt x="10444" y="14523"/>
                    <a:pt x="13556" y="14523"/>
                    <a:pt x="15500" y="16429"/>
                  </a:cubicBezTo>
                </a:path>
              </a:pathLst>
            </a:custGeom>
            <a:noFill/>
            <a:ln w="11735" cap="rnd">
              <a:solidFill>
                <a:srgbClr val="165FF2"/>
              </a:solidFill>
              <a:round/>
            </a:ln>
          </p:spPr>
        </p:sp>
        <p:sp>
          <p:nvSpPr>
            <p:cNvPr id="51" name="Connectivity text"/>
            <p:cNvSpPr txBox="1"/>
            <p:nvPr/>
          </p:nvSpPr>
          <p:spPr>
            <a:xfrm>
              <a:off x="758952" y="2810256"/>
              <a:ext cx="1627632" cy="1993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Connectivity</a:t>
              </a:r>
              <a:endParaRPr lang="en-US" sz="660" dirty="0">
                <a:latin typeface="Inter SemiBold"/>
              </a:endParaRPr>
            </a:p>
            <a:p>
              <a:pPr algn="l">
                <a:lnSpc>
                  <a:spcPts val="710"/>
                </a:lnSpc>
                <a:spcBef>
                  <a:spcPts val="100"/>
                </a:spcBef>
                <a:buNone/>
              </a:pPr>
              <a:r>
                <a:rPr lang="en-US" sz="60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4G SIM and data plan from Faclon</a:t>
              </a:r>
              <a:endParaRPr lang="en-US" sz="600" dirty="0">
                <a:latin typeface="Inter"/>
              </a:endParaRPr>
            </a:p>
          </p:txBody>
        </p:sp>
        <p:grpSp>
          <p:nvGrpSpPr>
            <p:cNvPr id="52" name="Chip Faclon supplied"/>
            <p:cNvGrpSpPr/>
            <p:nvPr/>
          </p:nvGrpSpPr>
          <p:grpSpPr>
            <a:xfrm>
              <a:off x="758952" y="3055366"/>
              <a:ext cx="631559" cy="118872"/>
              <a:chOff x="758952" y="3055366"/>
              <a:chExt cx="631559" cy="118872"/>
            </a:xfrm>
          </p:grpSpPr>
          <p:sp>
            <p:nvSpPr>
              <p:cNvPr id="53" name="Chip fill"/>
              <p:cNvSpPr/>
              <p:nvPr/>
            </p:nvSpPr>
            <p:spPr>
              <a:xfrm>
                <a:off x="758952" y="3055366"/>
                <a:ext cx="631559" cy="118872"/>
              </a:xfrm>
              <a:prstGeom prst="roundRect">
                <a:avLst>
                  <a:gd name="adj" fmla="val 20000"/>
                </a:avLst>
              </a:prstGeom>
              <a:solidFill>
                <a:srgbClr val="165FF2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54" name="Chip label"/>
              <p:cNvSpPr txBox="1"/>
              <p:nvPr/>
            </p:nvSpPr>
            <p:spPr>
              <a:xfrm>
                <a:off x="813816" y="3055366"/>
                <a:ext cx="549263" cy="118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40"/>
                  </a:lnSpc>
                  <a:spcBef>
                    <a:spcPts val="0"/>
                  </a:spcBef>
                  <a:buNone/>
                </a:pPr>
                <a:r>
                  <a:rPr lang="en-US" sz="540" b="0" i="0" spc="0" dirty="0">
                    <a:solidFill>
                      <a:srgbClr val="0E3FA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Faclon supplied</a:t>
                </a:r>
                <a:endParaRPr lang="en-US" sz="540" dirty="0">
                  <a:latin typeface="Inter SemiBold"/>
                </a:endParaRPr>
              </a:p>
            </p:txBody>
          </p:sp>
        </p:grpSp>
      </p:grpSp>
      <p:cxnSp>
        <p:nvCxnSpPr>
          <p:cNvPr id="55" name="DG link"/>
          <p:cNvCxnSpPr/>
          <p:nvPr/>
        </p:nvCxnSpPr>
        <p:spPr>
          <a:xfrm>
            <a:off x="576072" y="1982724"/>
            <a:ext cx="0" cy="9906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sp>
        <p:nvSpPr>
          <p:cNvPr id="56" name="Server card"/>
          <p:cNvSpPr/>
          <p:nvPr/>
        </p:nvSpPr>
        <p:spPr>
          <a:xfrm>
            <a:off x="3054096" y="1444752"/>
            <a:ext cx="2670048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B8D0FD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7" name="Server icon box"/>
          <p:cNvSpPr/>
          <p:nvPr/>
        </p:nvSpPr>
        <p:spPr>
          <a:xfrm>
            <a:off x="3145536" y="153619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4F8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8" name="Icon server"/>
          <p:cNvSpPr/>
          <p:nvPr/>
        </p:nvSpPr>
        <p:spPr>
          <a:xfrm>
            <a:off x="3195828" y="1586484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2000"/>
                </a:moveTo>
                <a:lnTo>
                  <a:pt x="20000" y="2000"/>
                </a:lnTo>
                <a:cubicBezTo>
                  <a:pt x="21105" y="2000"/>
                  <a:pt x="22000" y="2895"/>
                  <a:pt x="22000" y="4000"/>
                </a:cubicBezTo>
                <a:lnTo>
                  <a:pt x="22000" y="8000"/>
                </a:lnTo>
                <a:cubicBezTo>
                  <a:pt x="22000" y="9105"/>
                  <a:pt x="21105" y="10000"/>
                  <a:pt x="20000" y="10000"/>
                </a:cubicBezTo>
                <a:lnTo>
                  <a:pt x="4000" y="10000"/>
                </a:lnTo>
                <a:cubicBezTo>
                  <a:pt x="2895" y="10000"/>
                  <a:pt x="2000" y="9105"/>
                  <a:pt x="2000" y="8000"/>
                </a:cubicBezTo>
                <a:lnTo>
                  <a:pt x="2000" y="4000"/>
                </a:lnTo>
                <a:cubicBezTo>
                  <a:pt x="2000" y="2895"/>
                  <a:pt x="2895" y="2000"/>
                  <a:pt x="4000" y="2000"/>
                </a:cubicBezTo>
                <a:close/>
              </a:path>
              <a:path w="24000" h="24000" fill="none">
                <a:moveTo>
                  <a:pt x="4000" y="14000"/>
                </a:moveTo>
                <a:lnTo>
                  <a:pt x="20000" y="14000"/>
                </a:lnTo>
                <a:cubicBezTo>
                  <a:pt x="21105" y="14000"/>
                  <a:pt x="22000" y="14895"/>
                  <a:pt x="22000" y="16000"/>
                </a:cubicBezTo>
                <a:lnTo>
                  <a:pt x="22000" y="20000"/>
                </a:lnTo>
                <a:cubicBezTo>
                  <a:pt x="22000" y="21105"/>
                  <a:pt x="21105" y="22000"/>
                  <a:pt x="20000" y="22000"/>
                </a:cubicBezTo>
                <a:lnTo>
                  <a:pt x="4000" y="22000"/>
                </a:lnTo>
                <a:cubicBezTo>
                  <a:pt x="2895" y="22000"/>
                  <a:pt x="2000" y="21105"/>
                  <a:pt x="2000" y="20000"/>
                </a:cubicBezTo>
                <a:lnTo>
                  <a:pt x="2000" y="16000"/>
                </a:lnTo>
                <a:cubicBezTo>
                  <a:pt x="2000" y="14895"/>
                  <a:pt x="2895" y="14000"/>
                  <a:pt x="4000" y="14000"/>
                </a:cubicBezTo>
                <a:close/>
              </a:path>
              <a:path w="24000" h="24000" fill="none">
                <a:moveTo>
                  <a:pt x="6000" y="6000"/>
                </a:moveTo>
                <a:lnTo>
                  <a:pt x="6010" y="6000"/>
                </a:lnTo>
              </a:path>
              <a:path w="24000" h="24000" fill="none">
                <a:moveTo>
                  <a:pt x="6000" y="18000"/>
                </a:moveTo>
                <a:lnTo>
                  <a:pt x="6010" y="18000"/>
                </a:lnTo>
              </a:path>
            </a:pathLst>
          </a:custGeom>
          <a:noFill/>
          <a:ln w="12573" cap="rnd">
            <a:solidFill>
              <a:srgbClr val="165FF2"/>
            </a:solidFill>
            <a:round/>
          </a:ln>
        </p:spPr>
      </p:sp>
      <p:sp>
        <p:nvSpPr>
          <p:cNvPr id="59" name="Server title"/>
          <p:cNvSpPr txBox="1"/>
          <p:nvPr/>
        </p:nvSpPr>
        <p:spPr>
          <a:xfrm>
            <a:off x="3465576" y="1527048"/>
            <a:ext cx="21671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820"/>
              </a:lnSpc>
              <a:spcBef>
                <a:spcPts val="0"/>
              </a:spcBef>
              <a:buNone/>
            </a:pPr>
            <a:r>
              <a:rPr lang="en-US" sz="72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IOsense cloud</a:t>
            </a:r>
            <a:endParaRPr lang="en-US" sz="720" dirty="0">
              <a:latin typeface="Inter SemiBold"/>
            </a:endParaRPr>
          </a:p>
          <a:p>
            <a:pPr algn="l">
              <a:lnSpc>
                <a:spcPts val="730"/>
              </a:lnSpc>
              <a:spcBef>
                <a:spcPts val="100"/>
              </a:spcBef>
              <a:buNone/>
            </a:pPr>
            <a:r>
              <a:rPr lang="en-US" sz="620" b="0" i="0" spc="0" dirty="0">
                <a:solidFill>
                  <a:srgbClr val="6C849D"/>
                </a:solidFill>
                <a:latin typeface="Inter"/>
                <a:ea typeface="Inter"/>
                <a:cs typeface="Inter"/>
                <a:sym typeface="Inter"/>
              </a:rPr>
              <a:t>Hosted and operated by Faclon Labs; accessed over HTTPS</a:t>
            </a:r>
            <a:endParaRPr lang="en-US" sz="620" dirty="0">
              <a:latin typeface="Inter"/>
            </a:endParaRPr>
          </a:p>
        </p:txBody>
      </p:sp>
      <p:sp>
        <p:nvSpPr>
          <p:cNvPr id="60" name="Layer platform"/>
          <p:cNvSpPr/>
          <p:nvPr/>
        </p:nvSpPr>
        <p:spPr>
          <a:xfrm>
            <a:off x="3145536" y="1901952"/>
            <a:ext cx="2487168" cy="274320"/>
          </a:xfrm>
          <a:prstGeom prst="roundRect">
            <a:avLst>
              <a:gd name="adj" fmla="val 16667"/>
            </a:avLst>
          </a:prstGeom>
          <a:solidFill>
            <a:srgbClr val="0C1927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61" name="Icon layers"/>
          <p:cNvSpPr/>
          <p:nvPr/>
        </p:nvSpPr>
        <p:spPr>
          <a:xfrm>
            <a:off x="3227832" y="1975104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</a:path>
              <a:path w="24000" h="24000" fill="none"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</a:path>
              <a:path w="24000" h="24000" fill="none"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11735" cap="rnd">
            <a:solidFill>
              <a:srgbClr val="FFFFFF"/>
            </a:solidFill>
            <a:round/>
          </a:ln>
        </p:spPr>
      </p:sp>
      <p:sp>
        <p:nvSpPr>
          <p:cNvPr id="62" name="Layer label"/>
          <p:cNvSpPr txBox="1"/>
          <p:nvPr/>
        </p:nvSpPr>
        <p:spPr>
          <a:xfrm>
            <a:off x="3419856" y="1901952"/>
            <a:ext cx="21671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00"/>
              </a:lnSpc>
              <a:spcBef>
                <a:spcPts val="0"/>
              </a:spcBef>
              <a:buNone/>
            </a:pPr>
            <a:r>
              <a:rPr lang="en-US" sz="680" b="0" i="0" spc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IOsense platform</a:t>
            </a:r>
            <a:r>
              <a:rPr lang="en-US" sz="620" b="0" i="0" spc="0" dirty="0">
                <a:solidFill>
                  <a:srgbClr val="B1C1D2"/>
                </a:solidFill>
                <a:latin typeface="Inter"/>
                <a:ea typeface="Inter"/>
                <a:cs typeface="Inter"/>
                <a:sym typeface="Inter"/>
              </a:rPr>
              <a:t>  ·  onboarding, data, dashboards</a:t>
            </a:r>
            <a:endParaRPr lang="en-US" sz="680" dirty="0">
              <a:latin typeface="Inter SemiBold"/>
            </a:endParaRPr>
          </a:p>
        </p:txBody>
      </p:sp>
      <p:sp>
        <p:nvSpPr>
          <p:cNvPr id="63" name="Layer app"/>
          <p:cNvSpPr/>
          <p:nvPr/>
        </p:nvSpPr>
        <p:spPr>
          <a:xfrm>
            <a:off x="3145536" y="2249424"/>
            <a:ext cx="2487168" cy="274320"/>
          </a:xfrm>
          <a:prstGeom prst="roundRect">
            <a:avLst>
              <a:gd name="adj" fmla="val 16667"/>
            </a:avLst>
          </a:prstGeom>
          <a:solidFill>
            <a:srgbClr val="165FF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64" name="Icon app-window"/>
          <p:cNvSpPr/>
          <p:nvPr/>
        </p:nvSpPr>
        <p:spPr>
          <a:xfrm>
            <a:off x="3227832" y="2322576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  <a:path w="24000" h="24000" fill="none">
                <a:moveTo>
                  <a:pt x="10000" y="4000"/>
                </a:moveTo>
                <a:lnTo>
                  <a:pt x="10000" y="8000"/>
                </a:lnTo>
              </a:path>
              <a:path w="24000" h="24000" fill="none">
                <a:moveTo>
                  <a:pt x="2000" y="8000"/>
                </a:moveTo>
                <a:lnTo>
                  <a:pt x="22000" y="8000"/>
                </a:lnTo>
              </a:path>
              <a:path w="24000" h="24000" fill="none">
                <a:moveTo>
                  <a:pt x="6000" y="4000"/>
                </a:moveTo>
                <a:lnTo>
                  <a:pt x="6000" y="8000"/>
                </a:lnTo>
              </a:path>
            </a:pathLst>
          </a:custGeom>
          <a:noFill/>
          <a:ln w="11735" cap="rnd">
            <a:solidFill>
              <a:srgbClr val="FFFFFF"/>
            </a:solidFill>
            <a:round/>
          </a:ln>
        </p:spPr>
      </p:sp>
      <p:sp>
        <p:nvSpPr>
          <p:cNvPr id="65" name="Layer label"/>
          <p:cNvSpPr txBox="1"/>
          <p:nvPr/>
        </p:nvSpPr>
        <p:spPr>
          <a:xfrm>
            <a:off x="3419856" y="2249424"/>
            <a:ext cx="21671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00"/>
              </a:lnSpc>
              <a:spcBef>
                <a:spcPts val="0"/>
              </a:spcBef>
              <a:buNone/>
            </a:pPr>
            <a:r>
              <a:rPr lang="en-US" sz="680" b="0" i="0" spc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DG Fuel Management &amp; Maintenance Application</a:t>
            </a:r>
            <a:endParaRPr lang="en-US" sz="680" dirty="0">
              <a:latin typeface="Inter SemiBold"/>
            </a:endParaRPr>
          </a:p>
        </p:txBody>
      </p:sp>
      <p:sp>
        <p:nvSpPr>
          <p:cNvPr id="66" name="Server note"/>
          <p:cNvSpPr txBox="1"/>
          <p:nvPr/>
        </p:nvSpPr>
        <p:spPr>
          <a:xfrm>
            <a:off x="3145536" y="2596896"/>
            <a:ext cx="2487168" cy="2819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Evaluates low-fuel and PM conditions, creates and assigns work orders, sends the initial notification, serves dashboards, transaction views and downloads by role.</a:t>
            </a:r>
            <a:endParaRPr lang="en-US" sz="620" dirty="0">
              <a:latin typeface="Inter"/>
            </a:endParaRPr>
          </a:p>
        </p:txBody>
      </p:sp>
      <p:cxnSp>
        <p:nvCxnSpPr>
          <p:cNvPr id="67" name="Link 1"/>
          <p:cNvCxnSpPr/>
          <p:nvPr/>
        </p:nvCxnSpPr>
        <p:spPr>
          <a:xfrm>
            <a:off x="2450592" y="2372868"/>
            <a:ext cx="603504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grpSp>
        <p:nvGrpSpPr>
          <p:cNvPr id="68" name="Badge 1"/>
          <p:cNvGrpSpPr/>
          <p:nvPr/>
        </p:nvGrpSpPr>
        <p:grpSpPr>
          <a:xfrm>
            <a:off x="2542032" y="2171700"/>
            <a:ext cx="146304" cy="146304"/>
            <a:chOff x="2542032" y="2171700"/>
            <a:chExt cx="146304" cy="146304"/>
          </a:xfrm>
        </p:grpSpPr>
        <p:sp>
          <p:nvSpPr>
            <p:cNvPr id="69" name="Badge"/>
            <p:cNvSpPr/>
            <p:nvPr/>
          </p:nvSpPr>
          <p:spPr>
            <a:xfrm>
              <a:off x="2542032" y="2171700"/>
              <a:ext cx="146304" cy="14630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70" name="Badge number"/>
            <p:cNvSpPr txBox="1"/>
            <p:nvPr/>
          </p:nvSpPr>
          <p:spPr>
            <a:xfrm>
              <a:off x="2542032" y="2171700"/>
              <a:ext cx="1463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</a:t>
              </a:r>
              <a:endParaRPr lang="en-US" sz="600" dirty="0">
                <a:latin typeface="TASA Orbiter SemiBold"/>
              </a:endParaRPr>
            </a:p>
          </p:txBody>
        </p:sp>
      </p:grpSp>
      <p:sp>
        <p:nvSpPr>
          <p:cNvPr id="71" name="Link label"/>
          <p:cNvSpPr txBox="1"/>
          <p:nvPr/>
        </p:nvSpPr>
        <p:spPr>
          <a:xfrm>
            <a:off x="2496312" y="2427732"/>
            <a:ext cx="548640" cy="1097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MQTT / HTTPS push</a:t>
            </a:r>
            <a:endParaRPr lang="en-US" sz="560" dirty="0">
              <a:latin typeface="Inter"/>
            </a:endParaRPr>
          </a:p>
        </p:txBody>
      </p:sp>
      <p:grpSp>
        <p:nvGrpSpPr>
          <p:cNvPr id="72" name="Flipkart users"/>
          <p:cNvGrpSpPr/>
          <p:nvPr/>
        </p:nvGrpSpPr>
        <p:grpSpPr>
          <a:xfrm>
            <a:off x="6327648" y="1417320"/>
            <a:ext cx="2432304" cy="327406"/>
            <a:chOff x="6327648" y="1417320"/>
            <a:chExt cx="2432304" cy="327406"/>
          </a:xfrm>
        </p:grpSpPr>
        <p:sp>
          <p:nvSpPr>
            <p:cNvPr id="73" name="Flipkart users"/>
            <p:cNvSpPr/>
            <p:nvPr/>
          </p:nvSpPr>
          <p:spPr>
            <a:xfrm>
              <a:off x="6327648" y="1417320"/>
              <a:ext cx="2432304" cy="327406"/>
            </a:xfrm>
            <a:prstGeom prst="roundRect">
              <a:avLst>
                <a:gd name="adj" fmla="val 1955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74" name="Icon box"/>
            <p:cNvSpPr/>
            <p:nvPr/>
          </p:nvSpPr>
          <p:spPr>
            <a:xfrm>
              <a:off x="6391656" y="1481328"/>
              <a:ext cx="219456" cy="219456"/>
            </a:xfrm>
            <a:prstGeom prst="roundRect">
              <a:avLst>
                <a:gd name="adj" fmla="val 20833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75" name="Icon users-round"/>
            <p:cNvSpPr/>
            <p:nvPr/>
          </p:nvSpPr>
          <p:spPr>
            <a:xfrm>
              <a:off x="6437376" y="1527048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8000" y="21000"/>
                  </a:moveTo>
                  <a:cubicBezTo>
                    <a:pt x="18000" y="16582"/>
                    <a:pt x="14418" y="13000"/>
                    <a:pt x="10000" y="13000"/>
                  </a:cubicBezTo>
                  <a:cubicBezTo>
                    <a:pt x="5582" y="13000"/>
                    <a:pt x="2000" y="16582"/>
                    <a:pt x="2000" y="21000"/>
                  </a:cubicBezTo>
                </a:path>
                <a:path w="24000" h="24000" fill="none">
                  <a:moveTo>
                    <a:pt x="15000" y="8000"/>
                  </a:moveTo>
                  <a:cubicBezTo>
                    <a:pt x="15000" y="10761"/>
                    <a:pt x="12761" y="13000"/>
                    <a:pt x="10000" y="13000"/>
                  </a:cubicBezTo>
                  <a:cubicBezTo>
                    <a:pt x="7239" y="13000"/>
                    <a:pt x="5000" y="10761"/>
                    <a:pt x="5000" y="8000"/>
                  </a:cubicBezTo>
                  <a:cubicBezTo>
                    <a:pt x="5000" y="5239"/>
                    <a:pt x="7239" y="3000"/>
                    <a:pt x="10000" y="3000"/>
                  </a:cubicBezTo>
                  <a:cubicBezTo>
                    <a:pt x="12761" y="3000"/>
                    <a:pt x="15000" y="5239"/>
                    <a:pt x="15000" y="8000"/>
                  </a:cubicBezTo>
                  <a:close/>
                </a:path>
                <a:path w="24000" h="24000" fill="none">
                  <a:moveTo>
                    <a:pt x="22000" y="20000"/>
                  </a:moveTo>
                  <a:cubicBezTo>
                    <a:pt x="22000" y="16630"/>
                    <a:pt x="20000" y="13500"/>
                    <a:pt x="18000" y="12000"/>
                  </a:cubicBezTo>
                  <a:cubicBezTo>
                    <a:pt x="19335" y="10998"/>
                    <a:pt x="20082" y="9396"/>
                    <a:pt x="19992" y="7730"/>
                  </a:cubicBezTo>
                  <a:cubicBezTo>
                    <a:pt x="19902" y="6063"/>
                    <a:pt x="18986" y="4551"/>
                    <a:pt x="17550" y="3700"/>
                  </a:cubicBezTo>
                </a:path>
              </a:pathLst>
            </a:custGeom>
            <a:noFill/>
            <a:ln w="11735" cap="rnd">
              <a:solidFill>
                <a:srgbClr val="165FF2"/>
              </a:solidFill>
              <a:round/>
            </a:ln>
          </p:spPr>
        </p:sp>
        <p:sp>
          <p:nvSpPr>
            <p:cNvPr id="76" name="Flipkart users text"/>
            <p:cNvSpPr txBox="1"/>
            <p:nvPr/>
          </p:nvSpPr>
          <p:spPr>
            <a:xfrm>
              <a:off x="6702552" y="1481328"/>
              <a:ext cx="1993392" cy="1993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Flipkart users</a:t>
              </a:r>
              <a:endParaRPr lang="en-US" sz="660" dirty="0">
                <a:latin typeface="Inter SemiBold"/>
              </a:endParaRPr>
            </a:p>
            <a:p>
              <a:pPr algn="l">
                <a:lnSpc>
                  <a:spcPts val="710"/>
                </a:lnSpc>
                <a:spcBef>
                  <a:spcPts val="100"/>
                </a:spcBef>
                <a:buNone/>
              </a:pPr>
              <a:r>
                <a:rPr lang="en-US" sz="60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Store · Central · Super Admin · maintenance team</a:t>
              </a:r>
              <a:endParaRPr lang="en-US" sz="600" dirty="0">
                <a:latin typeface="Inter"/>
              </a:endParaRPr>
            </a:p>
          </p:txBody>
        </p:sp>
      </p:grpSp>
      <p:cxnSp>
        <p:nvCxnSpPr>
          <p:cNvPr id="77" name="Link 2"/>
          <p:cNvCxnSpPr/>
          <p:nvPr/>
        </p:nvCxnSpPr>
        <p:spPr>
          <a:xfrm>
            <a:off x="5724144" y="1581023"/>
            <a:ext cx="603504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headEnd type="triangle" w="med" len="med"/>
          </a:ln>
        </p:spPr>
      </p:cxnSp>
      <p:grpSp>
        <p:nvGrpSpPr>
          <p:cNvPr id="78" name="Badge 2"/>
          <p:cNvGrpSpPr/>
          <p:nvPr/>
        </p:nvGrpSpPr>
        <p:grpSpPr>
          <a:xfrm>
            <a:off x="5797296" y="1407287"/>
            <a:ext cx="146304" cy="146304"/>
            <a:chOff x="5797296" y="1407287"/>
            <a:chExt cx="146304" cy="146304"/>
          </a:xfrm>
        </p:grpSpPr>
        <p:sp>
          <p:nvSpPr>
            <p:cNvPr id="79" name="Badge"/>
            <p:cNvSpPr/>
            <p:nvPr/>
          </p:nvSpPr>
          <p:spPr>
            <a:xfrm>
              <a:off x="5797296" y="1407287"/>
              <a:ext cx="146304" cy="14630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0" name="Badge number"/>
            <p:cNvSpPr txBox="1"/>
            <p:nvPr/>
          </p:nvSpPr>
          <p:spPr>
            <a:xfrm>
              <a:off x="5797296" y="1407287"/>
              <a:ext cx="1463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2</a:t>
              </a:r>
              <a:endParaRPr lang="en-US" sz="600" dirty="0">
                <a:latin typeface="TASA Orbiter SemiBold"/>
              </a:endParaRPr>
            </a:p>
          </p:txBody>
        </p:sp>
      </p:grpSp>
      <p:grpSp>
        <p:nvGrpSpPr>
          <p:cNvPr id="81" name="Vendor SPOCs"/>
          <p:cNvGrpSpPr/>
          <p:nvPr/>
        </p:nvGrpSpPr>
        <p:grpSpPr>
          <a:xfrm>
            <a:off x="6327648" y="1790446"/>
            <a:ext cx="2432304" cy="327406"/>
            <a:chOff x="6327648" y="1790446"/>
            <a:chExt cx="2432304" cy="327406"/>
          </a:xfrm>
        </p:grpSpPr>
        <p:sp>
          <p:nvSpPr>
            <p:cNvPr id="82" name="Vendor SPOCs"/>
            <p:cNvSpPr/>
            <p:nvPr/>
          </p:nvSpPr>
          <p:spPr>
            <a:xfrm>
              <a:off x="6327648" y="1790446"/>
              <a:ext cx="2432304" cy="327406"/>
            </a:xfrm>
            <a:prstGeom prst="roundRect">
              <a:avLst>
                <a:gd name="adj" fmla="val 1955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3" name="Icon box"/>
            <p:cNvSpPr/>
            <p:nvPr/>
          </p:nvSpPr>
          <p:spPr>
            <a:xfrm>
              <a:off x="6391656" y="1854454"/>
              <a:ext cx="219456" cy="219456"/>
            </a:xfrm>
            <a:prstGeom prst="roundRect">
              <a:avLst>
                <a:gd name="adj" fmla="val 20833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4" name="Icon user-check"/>
            <p:cNvSpPr/>
            <p:nvPr/>
          </p:nvSpPr>
          <p:spPr>
            <a:xfrm>
              <a:off x="6437376" y="1900174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16000" y="11000"/>
                  </a:moveTo>
                  <a:lnTo>
                    <a:pt x="18000" y="13000"/>
                  </a:lnTo>
                  <a:lnTo>
                    <a:pt x="22000" y="9000"/>
                  </a:lnTo>
                </a:path>
              </a:pathLst>
            </a:custGeom>
            <a:noFill/>
            <a:ln w="11735" cap="rnd">
              <a:solidFill>
                <a:srgbClr val="165FF2"/>
              </a:solidFill>
              <a:round/>
            </a:ln>
          </p:spPr>
        </p:sp>
        <p:sp>
          <p:nvSpPr>
            <p:cNvPr id="85" name="Vendor SPOCs text"/>
            <p:cNvSpPr txBox="1"/>
            <p:nvPr/>
          </p:nvSpPr>
          <p:spPr>
            <a:xfrm>
              <a:off x="6702552" y="1854454"/>
              <a:ext cx="1993392" cy="1993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Vendor SPOCs</a:t>
              </a:r>
              <a:endParaRPr lang="en-US" sz="660" dirty="0">
                <a:latin typeface="Inter SemiBold"/>
              </a:endParaRPr>
            </a:p>
            <a:p>
              <a:pPr algn="l">
                <a:lnSpc>
                  <a:spcPts val="710"/>
                </a:lnSpc>
                <a:spcBef>
                  <a:spcPts val="100"/>
                </a:spcBef>
                <a:buNone/>
              </a:pPr>
              <a:r>
                <a:rPr lang="en-US" sz="60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Refilling &amp; AMC vendors · mobile-responsive web</a:t>
              </a:r>
              <a:endParaRPr lang="en-US" sz="600" dirty="0">
                <a:latin typeface="Inter"/>
              </a:endParaRPr>
            </a:p>
          </p:txBody>
        </p:sp>
      </p:grpSp>
      <p:cxnSp>
        <p:nvCxnSpPr>
          <p:cNvPr id="86" name="Link 3"/>
          <p:cNvCxnSpPr/>
          <p:nvPr/>
        </p:nvCxnSpPr>
        <p:spPr>
          <a:xfrm>
            <a:off x="5724144" y="1954149"/>
            <a:ext cx="603504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headEnd type="triangle" w="med" len="med"/>
          </a:ln>
        </p:spPr>
      </p:cxnSp>
      <p:grpSp>
        <p:nvGrpSpPr>
          <p:cNvPr id="87" name="Badge 3"/>
          <p:cNvGrpSpPr/>
          <p:nvPr/>
        </p:nvGrpSpPr>
        <p:grpSpPr>
          <a:xfrm>
            <a:off x="5797296" y="1780413"/>
            <a:ext cx="146304" cy="146304"/>
            <a:chOff x="5797296" y="1780413"/>
            <a:chExt cx="146304" cy="146304"/>
          </a:xfrm>
        </p:grpSpPr>
        <p:sp>
          <p:nvSpPr>
            <p:cNvPr id="88" name="Badge"/>
            <p:cNvSpPr/>
            <p:nvPr/>
          </p:nvSpPr>
          <p:spPr>
            <a:xfrm>
              <a:off x="5797296" y="1780413"/>
              <a:ext cx="146304" cy="14630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9" name="Badge number"/>
            <p:cNvSpPr txBox="1"/>
            <p:nvPr/>
          </p:nvSpPr>
          <p:spPr>
            <a:xfrm>
              <a:off x="5797296" y="1780413"/>
              <a:ext cx="1463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3</a:t>
              </a:r>
              <a:endParaRPr lang="en-US" sz="600" dirty="0">
                <a:latin typeface="TASA Orbiter SemiBold"/>
              </a:endParaRPr>
            </a:p>
          </p:txBody>
        </p:sp>
      </p:grpSp>
      <p:grpSp>
        <p:nvGrpSpPr>
          <p:cNvPr id="90" name="Notifications"/>
          <p:cNvGrpSpPr/>
          <p:nvPr/>
        </p:nvGrpSpPr>
        <p:grpSpPr>
          <a:xfrm>
            <a:off x="6327648" y="2163572"/>
            <a:ext cx="2432304" cy="491998"/>
            <a:chOff x="6327648" y="2163572"/>
            <a:chExt cx="2432304" cy="491998"/>
          </a:xfrm>
        </p:grpSpPr>
        <p:sp>
          <p:nvSpPr>
            <p:cNvPr id="91" name="Notifications"/>
            <p:cNvSpPr/>
            <p:nvPr/>
          </p:nvSpPr>
          <p:spPr>
            <a:xfrm>
              <a:off x="6327648" y="2163572"/>
              <a:ext cx="2432304" cy="491998"/>
            </a:xfrm>
            <a:prstGeom prst="roundRect">
              <a:avLst>
                <a:gd name="adj" fmla="val 1301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2" name="Icon box"/>
            <p:cNvSpPr/>
            <p:nvPr/>
          </p:nvSpPr>
          <p:spPr>
            <a:xfrm>
              <a:off x="6391656" y="2227580"/>
              <a:ext cx="219456" cy="219456"/>
            </a:xfrm>
            <a:prstGeom prst="roundRect">
              <a:avLst>
                <a:gd name="adj" fmla="val 20833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3" name="Icon bell"/>
            <p:cNvSpPr/>
            <p:nvPr/>
          </p:nvSpPr>
          <p:spPr>
            <a:xfrm>
              <a:off x="6437376" y="227330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268" y="21000"/>
                  </a:moveTo>
                  <a:cubicBezTo>
                    <a:pt x="10625" y="21619"/>
                    <a:pt x="11286" y="22000"/>
                    <a:pt x="12000" y="22000"/>
                  </a:cubicBezTo>
                  <a:cubicBezTo>
                    <a:pt x="12714" y="22000"/>
                    <a:pt x="13375" y="21619"/>
                    <a:pt x="13732" y="21000"/>
                  </a:cubicBezTo>
                </a:path>
                <a:path w="24000" h="24000" fill="none">
                  <a:moveTo>
                    <a:pt x="3262" y="15326"/>
                  </a:moveTo>
                  <a:cubicBezTo>
                    <a:pt x="2995" y="15619"/>
                    <a:pt x="2926" y="16041"/>
                    <a:pt x="3086" y="16403"/>
                  </a:cubicBezTo>
                  <a:cubicBezTo>
                    <a:pt x="3245" y="16766"/>
                    <a:pt x="3604" y="17000"/>
                    <a:pt x="4000" y="17000"/>
                  </a:cubicBezTo>
                  <a:lnTo>
                    <a:pt x="20000" y="17000"/>
                  </a:lnTo>
                  <a:cubicBezTo>
                    <a:pt x="20396" y="17000"/>
                    <a:pt x="20755" y="16767"/>
                    <a:pt x="20915" y="16405"/>
                  </a:cubicBezTo>
                  <a:cubicBezTo>
                    <a:pt x="21075" y="16042"/>
                    <a:pt x="21006" y="15620"/>
                    <a:pt x="20740" y="15327"/>
                  </a:cubicBezTo>
                  <a:cubicBezTo>
                    <a:pt x="19410" y="13956"/>
                    <a:pt x="18000" y="12499"/>
                    <a:pt x="18000" y="8000"/>
                  </a:cubicBezTo>
                  <a:cubicBezTo>
                    <a:pt x="18000" y="4686"/>
                    <a:pt x="15314" y="2000"/>
                    <a:pt x="12000" y="2000"/>
                  </a:cubicBezTo>
                  <a:cubicBezTo>
                    <a:pt x="8686" y="2000"/>
                    <a:pt x="6000" y="4686"/>
                    <a:pt x="6000" y="8000"/>
                  </a:cubicBezTo>
                  <a:cubicBezTo>
                    <a:pt x="6000" y="12499"/>
                    <a:pt x="4589" y="13956"/>
                    <a:pt x="3262" y="15326"/>
                  </a:cubicBezTo>
                </a:path>
              </a:pathLst>
            </a:custGeom>
            <a:noFill/>
            <a:ln w="11735" cap="rnd">
              <a:solidFill>
                <a:srgbClr val="165FF2"/>
              </a:solidFill>
              <a:round/>
            </a:ln>
          </p:spPr>
        </p:sp>
        <p:sp>
          <p:nvSpPr>
            <p:cNvPr id="94" name="Notifications text"/>
            <p:cNvSpPr txBox="1"/>
            <p:nvPr/>
          </p:nvSpPr>
          <p:spPr>
            <a:xfrm>
              <a:off x="6702552" y="2227580"/>
              <a:ext cx="1993392" cy="1993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Notifications</a:t>
              </a:r>
              <a:endParaRPr lang="en-US" sz="660" dirty="0">
                <a:latin typeface="Inter SemiBold"/>
              </a:endParaRPr>
            </a:p>
            <a:p>
              <a:pPr algn="l">
                <a:lnSpc>
                  <a:spcPts val="710"/>
                </a:lnSpc>
                <a:spcBef>
                  <a:spcPts val="100"/>
                </a:spcBef>
                <a:buNone/>
              </a:pPr>
              <a:r>
                <a:rPr lang="en-US" sz="60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Email · WhatsApp · in-app</a:t>
              </a:r>
              <a:endParaRPr lang="en-US" sz="600" dirty="0">
                <a:latin typeface="Inter"/>
              </a:endParaRPr>
            </a:p>
          </p:txBody>
        </p:sp>
        <p:grpSp>
          <p:nvGrpSpPr>
            <p:cNvPr id="95" name="Chip WhatsApp Business account TBC"/>
            <p:cNvGrpSpPr/>
            <p:nvPr/>
          </p:nvGrpSpPr>
          <p:grpSpPr>
            <a:xfrm>
              <a:off x="6702552" y="2472690"/>
              <a:ext cx="1220541" cy="118872"/>
              <a:chOff x="6702552" y="2472690"/>
              <a:chExt cx="1220541" cy="118872"/>
            </a:xfrm>
          </p:grpSpPr>
          <p:sp>
            <p:nvSpPr>
              <p:cNvPr id="96" name="Chip fill"/>
              <p:cNvSpPr/>
              <p:nvPr/>
            </p:nvSpPr>
            <p:spPr>
              <a:xfrm>
                <a:off x="6702552" y="2472690"/>
                <a:ext cx="1220541" cy="118872"/>
              </a:xfrm>
              <a:prstGeom prst="roundRect">
                <a:avLst>
                  <a:gd name="adj" fmla="val 20000"/>
                </a:avLst>
              </a:prstGeom>
              <a:solidFill>
                <a:srgbClr val="E9690C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97" name="Chip label"/>
              <p:cNvSpPr txBox="1"/>
              <p:nvPr/>
            </p:nvSpPr>
            <p:spPr>
              <a:xfrm>
                <a:off x="6757416" y="2472690"/>
                <a:ext cx="1138245" cy="118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40"/>
                  </a:lnSpc>
                  <a:spcBef>
                    <a:spcPts val="0"/>
                  </a:spcBef>
                  <a:buNone/>
                </a:pPr>
                <a:r>
                  <a:rPr lang="en-US" sz="540" b="0" i="0" spc="0" dirty="0">
                    <a:solidFill>
                      <a:srgbClr val="C65C1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WhatsApp Business account TBC</a:t>
                </a:r>
                <a:endParaRPr lang="en-US" sz="540" dirty="0">
                  <a:latin typeface="Inter SemiBold"/>
                </a:endParaRPr>
              </a:p>
            </p:txBody>
          </p:sp>
        </p:grpSp>
      </p:grpSp>
      <p:cxnSp>
        <p:nvCxnSpPr>
          <p:cNvPr id="98" name="Link 4"/>
          <p:cNvCxnSpPr/>
          <p:nvPr/>
        </p:nvCxnSpPr>
        <p:spPr>
          <a:xfrm>
            <a:off x="5724144" y="2409571"/>
            <a:ext cx="603504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grpSp>
        <p:nvGrpSpPr>
          <p:cNvPr id="99" name="Badge 4"/>
          <p:cNvGrpSpPr/>
          <p:nvPr/>
        </p:nvGrpSpPr>
        <p:grpSpPr>
          <a:xfrm>
            <a:off x="5797296" y="2235835"/>
            <a:ext cx="146304" cy="146304"/>
            <a:chOff x="5797296" y="2235835"/>
            <a:chExt cx="146304" cy="146304"/>
          </a:xfrm>
        </p:grpSpPr>
        <p:sp>
          <p:nvSpPr>
            <p:cNvPr id="100" name="Badge"/>
            <p:cNvSpPr/>
            <p:nvPr/>
          </p:nvSpPr>
          <p:spPr>
            <a:xfrm>
              <a:off x="5797296" y="2235835"/>
              <a:ext cx="146304" cy="14630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01" name="Badge number"/>
            <p:cNvSpPr txBox="1"/>
            <p:nvPr/>
          </p:nvSpPr>
          <p:spPr>
            <a:xfrm>
              <a:off x="5797296" y="2235835"/>
              <a:ext cx="1463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4</a:t>
              </a:r>
              <a:endParaRPr lang="en-US" sz="600" dirty="0">
                <a:latin typeface="TASA Orbiter SemiBold"/>
              </a:endParaRPr>
            </a:p>
          </p:txBody>
        </p:sp>
      </p:grpSp>
      <p:grpSp>
        <p:nvGrpSpPr>
          <p:cNvPr id="102" name="Oracle Fusion"/>
          <p:cNvGrpSpPr/>
          <p:nvPr/>
        </p:nvGrpSpPr>
        <p:grpSpPr>
          <a:xfrm>
            <a:off x="6327648" y="2701290"/>
            <a:ext cx="2432304" cy="491998"/>
            <a:chOff x="6327648" y="2701290"/>
            <a:chExt cx="2432304" cy="491998"/>
          </a:xfrm>
        </p:grpSpPr>
        <p:sp>
          <p:nvSpPr>
            <p:cNvPr id="103" name="Oracle Fusion"/>
            <p:cNvSpPr/>
            <p:nvPr/>
          </p:nvSpPr>
          <p:spPr>
            <a:xfrm>
              <a:off x="6327648" y="2701290"/>
              <a:ext cx="2432304" cy="491998"/>
            </a:xfrm>
            <a:prstGeom prst="roundRect">
              <a:avLst>
                <a:gd name="adj" fmla="val 1301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04" name="Icon box"/>
            <p:cNvSpPr/>
            <p:nvPr/>
          </p:nvSpPr>
          <p:spPr>
            <a:xfrm>
              <a:off x="6391656" y="2765298"/>
              <a:ext cx="219456" cy="219456"/>
            </a:xfrm>
            <a:prstGeom prst="roundRect">
              <a:avLst>
                <a:gd name="adj" fmla="val 20833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05" name="Icon plug-zap"/>
            <p:cNvSpPr/>
            <p:nvPr/>
          </p:nvSpPr>
          <p:spPr>
            <a:xfrm>
              <a:off x="6437376" y="2811018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300" y="20300"/>
                  </a:moveTo>
                  <a:cubicBezTo>
                    <a:pt x="6750" y="20752"/>
                    <a:pt x="7362" y="21006"/>
                    <a:pt x="8000" y="21006"/>
                  </a:cubicBezTo>
                  <a:cubicBezTo>
                    <a:pt x="8638" y="21006"/>
                    <a:pt x="9250" y="20752"/>
                    <a:pt x="9700" y="20300"/>
                  </a:cubicBezTo>
                  <a:lnTo>
                    <a:pt x="12000" y="18000"/>
                  </a:lnTo>
                  <a:lnTo>
                    <a:pt x="6000" y="12000"/>
                  </a:lnTo>
                  <a:lnTo>
                    <a:pt x="3700" y="14300"/>
                  </a:lnTo>
                  <a:cubicBezTo>
                    <a:pt x="3248" y="14750"/>
                    <a:pt x="2994" y="15362"/>
                    <a:pt x="2994" y="16000"/>
                  </a:cubicBezTo>
                  <a:cubicBezTo>
                    <a:pt x="2994" y="16638"/>
                    <a:pt x="3248" y="17250"/>
                    <a:pt x="3700" y="17700"/>
                  </a:cubicBezTo>
                  <a:close/>
                </a:path>
                <a:path w="24000" h="24000" fill="none">
                  <a:moveTo>
                    <a:pt x="2000" y="22000"/>
                  </a:moveTo>
                  <a:lnTo>
                    <a:pt x="5000" y="19000"/>
                  </a:lnTo>
                </a:path>
                <a:path w="24000" h="24000" fill="none">
                  <a:moveTo>
                    <a:pt x="7500" y="13500"/>
                  </a:moveTo>
                  <a:lnTo>
                    <a:pt x="10000" y="11000"/>
                  </a:lnTo>
                </a:path>
                <a:path w="24000" h="24000" fill="none">
                  <a:moveTo>
                    <a:pt x="10500" y="16500"/>
                  </a:moveTo>
                  <a:lnTo>
                    <a:pt x="13000" y="14000"/>
                  </a:lnTo>
                </a:path>
                <a:path w="24000" h="24000" fill="none">
                  <a:moveTo>
                    <a:pt x="18000" y="3000"/>
                  </a:moveTo>
                  <a:lnTo>
                    <a:pt x="14000" y="7000"/>
                  </a:lnTo>
                  <a:lnTo>
                    <a:pt x="20000" y="7000"/>
                  </a:lnTo>
                  <a:lnTo>
                    <a:pt x="16000" y="11000"/>
                  </a:lnTo>
                </a:path>
              </a:pathLst>
            </a:custGeom>
            <a:noFill/>
            <a:ln w="11735" cap="rnd">
              <a:solidFill>
                <a:srgbClr val="165FF2"/>
              </a:solidFill>
              <a:round/>
            </a:ln>
          </p:spPr>
        </p:sp>
        <p:sp>
          <p:nvSpPr>
            <p:cNvPr id="106" name="Oracle Fusion text"/>
            <p:cNvSpPr txBox="1"/>
            <p:nvPr/>
          </p:nvSpPr>
          <p:spPr>
            <a:xfrm>
              <a:off x="6702552" y="2765298"/>
              <a:ext cx="1993392" cy="1993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6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Oracle Fusion</a:t>
              </a:r>
              <a:endParaRPr lang="en-US" sz="660" dirty="0">
                <a:latin typeface="Inter SemiBold"/>
              </a:endParaRPr>
            </a:p>
            <a:p>
              <a:pPr algn="l">
                <a:lnSpc>
                  <a:spcPts val="710"/>
                </a:lnSpc>
                <a:spcBef>
                  <a:spcPts val="100"/>
                </a:spcBef>
                <a:buNone/>
              </a:pPr>
              <a:r>
                <a:rPr lang="en-US" sz="600" b="0" i="0" spc="0" dirty="0">
                  <a:solidFill>
                    <a:srgbClr val="6C849D"/>
                  </a:solidFill>
                  <a:latin typeface="Inter"/>
                  <a:ea typeface="Inter"/>
                  <a:cs typeface="Inter"/>
                  <a:sym typeface="Inter"/>
                </a:rPr>
                <a:t>Invoice payload via API</a:t>
              </a:r>
              <a:endParaRPr lang="en-US" sz="600" dirty="0">
                <a:latin typeface="Inter"/>
              </a:endParaRPr>
            </a:p>
          </p:txBody>
        </p:sp>
        <p:grpSp>
          <p:nvGrpSpPr>
            <p:cNvPr id="107" name="Chip Interface spec TBC"/>
            <p:cNvGrpSpPr/>
            <p:nvPr/>
          </p:nvGrpSpPr>
          <p:grpSpPr>
            <a:xfrm>
              <a:off x="6702552" y="3010408"/>
              <a:ext cx="745085" cy="118872"/>
              <a:chOff x="6702552" y="3010408"/>
              <a:chExt cx="745085" cy="118872"/>
            </a:xfrm>
          </p:grpSpPr>
          <p:sp>
            <p:nvSpPr>
              <p:cNvPr id="108" name="Chip fill"/>
              <p:cNvSpPr/>
              <p:nvPr/>
            </p:nvSpPr>
            <p:spPr>
              <a:xfrm>
                <a:off x="6702552" y="3010408"/>
                <a:ext cx="745085" cy="118872"/>
              </a:xfrm>
              <a:prstGeom prst="roundRect">
                <a:avLst>
                  <a:gd name="adj" fmla="val 20000"/>
                </a:avLst>
              </a:prstGeom>
              <a:solidFill>
                <a:srgbClr val="E9690C">
                  <a:alpha val="9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 sz="700"/>
              </a:p>
            </p:txBody>
          </p:sp>
          <p:sp>
            <p:nvSpPr>
              <p:cNvPr id="109" name="Chip label"/>
              <p:cNvSpPr txBox="1"/>
              <p:nvPr/>
            </p:nvSpPr>
            <p:spPr>
              <a:xfrm>
                <a:off x="6757416" y="3010408"/>
                <a:ext cx="662789" cy="118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rtlCol="0">
                <a:noAutofit/>
              </a:bodyPr>
              <a:lstStyle/>
              <a:p>
                <a:pPr algn="l">
                  <a:lnSpc>
                    <a:spcPts val="540"/>
                  </a:lnSpc>
                  <a:spcBef>
                    <a:spcPts val="0"/>
                  </a:spcBef>
                  <a:buNone/>
                </a:pPr>
                <a:r>
                  <a:rPr lang="en-US" sz="540" b="0" i="0" spc="0" dirty="0">
                    <a:solidFill>
                      <a:srgbClr val="C65C1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Interface spec TBC</a:t>
                </a:r>
                <a:endParaRPr lang="en-US" sz="540" dirty="0">
                  <a:latin typeface="Inter SemiBold"/>
                </a:endParaRPr>
              </a:p>
            </p:txBody>
          </p:sp>
        </p:grpSp>
      </p:grpSp>
      <p:cxnSp>
        <p:nvCxnSpPr>
          <p:cNvPr id="110" name="Link 5"/>
          <p:cNvCxnSpPr/>
          <p:nvPr/>
        </p:nvCxnSpPr>
        <p:spPr>
          <a:xfrm>
            <a:off x="5724144" y="2947289"/>
            <a:ext cx="603504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  <a:tailEnd type="triangle" w="med" len="med"/>
          </a:ln>
        </p:spPr>
      </p:cxnSp>
      <p:grpSp>
        <p:nvGrpSpPr>
          <p:cNvPr id="111" name="Badge 5"/>
          <p:cNvGrpSpPr/>
          <p:nvPr/>
        </p:nvGrpSpPr>
        <p:grpSpPr>
          <a:xfrm>
            <a:off x="5797296" y="2773553"/>
            <a:ext cx="146304" cy="146304"/>
            <a:chOff x="5797296" y="2773553"/>
            <a:chExt cx="146304" cy="146304"/>
          </a:xfrm>
        </p:grpSpPr>
        <p:sp>
          <p:nvSpPr>
            <p:cNvPr id="112" name="Badge"/>
            <p:cNvSpPr/>
            <p:nvPr/>
          </p:nvSpPr>
          <p:spPr>
            <a:xfrm>
              <a:off x="5797296" y="2773553"/>
              <a:ext cx="146304" cy="14630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13" name="Badge number"/>
            <p:cNvSpPr txBox="1"/>
            <p:nvPr/>
          </p:nvSpPr>
          <p:spPr>
            <a:xfrm>
              <a:off x="5797296" y="2773553"/>
              <a:ext cx="1463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5</a:t>
              </a:r>
              <a:endParaRPr lang="en-US" sz="600" dirty="0">
                <a:latin typeface="TASA Orbiter SemiBold"/>
              </a:endParaRPr>
            </a:p>
          </p:txBody>
        </p:sp>
      </p:grpSp>
      <p:sp>
        <p:nvSpPr>
          <p:cNvPr id="114" name="Table header"/>
          <p:cNvSpPr/>
          <p:nvPr/>
        </p:nvSpPr>
        <p:spPr>
          <a:xfrm>
            <a:off x="274320" y="3291840"/>
            <a:ext cx="8595360" cy="182880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15" name="Th"/>
          <p:cNvSpPr txBox="1"/>
          <p:nvPr/>
        </p:nvSpPr>
        <p:spPr>
          <a:xfrm>
            <a:off x="329184" y="32918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60" dirty="0">
                <a:solidFill>
                  <a:srgbClr val="40566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REF</a:t>
            </a:r>
            <a:endParaRPr lang="en-US" sz="560" dirty="0">
              <a:latin typeface="Inter SemiBold"/>
            </a:endParaRPr>
          </a:p>
        </p:txBody>
      </p:sp>
      <p:sp>
        <p:nvSpPr>
          <p:cNvPr id="116" name="Th"/>
          <p:cNvSpPr txBox="1"/>
          <p:nvPr/>
        </p:nvSpPr>
        <p:spPr>
          <a:xfrm>
            <a:off x="694944" y="32918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60" dirty="0">
                <a:solidFill>
                  <a:srgbClr val="40566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LINK / COMPONENT</a:t>
            </a:r>
            <a:endParaRPr lang="en-US" sz="560" dirty="0">
              <a:latin typeface="Inter SemiBold"/>
            </a:endParaRPr>
          </a:p>
        </p:txBody>
      </p:sp>
      <p:sp>
        <p:nvSpPr>
          <p:cNvPr id="117" name="Th"/>
          <p:cNvSpPr txBox="1"/>
          <p:nvPr/>
        </p:nvSpPr>
        <p:spPr>
          <a:xfrm>
            <a:off x="2249424" y="3291840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60" dirty="0">
                <a:solidFill>
                  <a:srgbClr val="40566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FLOWS</a:t>
            </a:r>
            <a:endParaRPr lang="en-US" sz="560" dirty="0">
              <a:latin typeface="Inter SemiBold"/>
            </a:endParaRPr>
          </a:p>
        </p:txBody>
      </p:sp>
      <p:sp>
        <p:nvSpPr>
          <p:cNvPr id="118" name="Th"/>
          <p:cNvSpPr txBox="1"/>
          <p:nvPr/>
        </p:nvSpPr>
        <p:spPr>
          <a:xfrm>
            <a:off x="4946904" y="3291840"/>
            <a:ext cx="2697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60" dirty="0">
                <a:solidFill>
                  <a:srgbClr val="40566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CONFIGURATION TO SET UP</a:t>
            </a:r>
            <a:endParaRPr lang="en-US" sz="560" dirty="0">
              <a:latin typeface="Inter SemiBold"/>
            </a:endParaRPr>
          </a:p>
        </p:txBody>
      </p:sp>
      <p:sp>
        <p:nvSpPr>
          <p:cNvPr id="119" name="Th"/>
          <p:cNvSpPr txBox="1"/>
          <p:nvPr/>
        </p:nvSpPr>
        <p:spPr>
          <a:xfrm>
            <a:off x="7735824" y="329184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60" dirty="0">
                <a:solidFill>
                  <a:srgbClr val="40566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STATUS</a:t>
            </a:r>
            <a:endParaRPr lang="en-US" sz="560" dirty="0">
              <a:latin typeface="Inter SemiBold"/>
            </a:endParaRPr>
          </a:p>
        </p:txBody>
      </p:sp>
      <p:grpSp>
        <p:nvGrpSpPr>
          <p:cNvPr id="120" name="Badge 1"/>
          <p:cNvGrpSpPr/>
          <p:nvPr/>
        </p:nvGrpSpPr>
        <p:grpSpPr>
          <a:xfrm>
            <a:off x="338328" y="3490976"/>
            <a:ext cx="146304" cy="146304"/>
            <a:chOff x="338328" y="3490976"/>
            <a:chExt cx="146304" cy="146304"/>
          </a:xfrm>
        </p:grpSpPr>
        <p:sp>
          <p:nvSpPr>
            <p:cNvPr id="121" name="Badge"/>
            <p:cNvSpPr/>
            <p:nvPr/>
          </p:nvSpPr>
          <p:spPr>
            <a:xfrm>
              <a:off x="338328" y="3490976"/>
              <a:ext cx="146304" cy="14630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22" name="Badge number"/>
            <p:cNvSpPr txBox="1"/>
            <p:nvPr/>
          </p:nvSpPr>
          <p:spPr>
            <a:xfrm>
              <a:off x="338328" y="3490976"/>
              <a:ext cx="1463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</a:t>
              </a:r>
              <a:endParaRPr lang="en-US" sz="600" dirty="0">
                <a:latin typeface="TASA Orbiter SemiBold"/>
              </a:endParaRPr>
            </a:p>
          </p:txBody>
        </p:sp>
      </p:grpSp>
      <p:sp>
        <p:nvSpPr>
          <p:cNvPr id="123" name="Td"/>
          <p:cNvSpPr txBox="1"/>
          <p:nvPr/>
        </p:nvSpPr>
        <p:spPr>
          <a:xfrm>
            <a:off x="694944" y="3474720"/>
            <a:ext cx="144475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DG controller → IoT device</a:t>
            </a:r>
            <a:endParaRPr lang="en-US" sz="640" dirty="0">
              <a:latin typeface="Inter SemiBold"/>
            </a:endParaRPr>
          </a:p>
        </p:txBody>
      </p:sp>
      <p:sp>
        <p:nvSpPr>
          <p:cNvPr id="124" name="Td"/>
          <p:cNvSpPr txBox="1"/>
          <p:nvPr/>
        </p:nvSpPr>
        <p:spPr>
          <a:xfrm>
            <a:off x="2249424" y="3474720"/>
            <a:ext cx="258775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Fuel %, litres, running hours, kWh, operating status per DG</a:t>
            </a:r>
            <a:endParaRPr lang="en-US" sz="620" dirty="0">
              <a:latin typeface="Inter"/>
            </a:endParaRPr>
          </a:p>
        </p:txBody>
      </p:sp>
      <p:sp>
        <p:nvSpPr>
          <p:cNvPr id="125" name="Td"/>
          <p:cNvSpPr txBox="1"/>
          <p:nvPr/>
        </p:nvSpPr>
        <p:spPr>
          <a:xfrm>
            <a:off x="4946904" y="3474720"/>
            <a:ext cx="267919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Controller make / model and Modbus register map per DG</a:t>
            </a:r>
            <a:endParaRPr lang="en-US" sz="620" dirty="0">
              <a:latin typeface="Inter"/>
            </a:endParaRPr>
          </a:p>
        </p:txBody>
      </p:sp>
      <p:grpSp>
        <p:nvGrpSpPr>
          <p:cNvPr id="126" name="Chip TBC"/>
          <p:cNvGrpSpPr/>
          <p:nvPr/>
        </p:nvGrpSpPr>
        <p:grpSpPr>
          <a:xfrm>
            <a:off x="7735824" y="3495548"/>
            <a:ext cx="378239" cy="137160"/>
            <a:chOff x="7735824" y="3495548"/>
            <a:chExt cx="378239" cy="137160"/>
          </a:xfrm>
        </p:grpSpPr>
        <p:sp>
          <p:nvSpPr>
            <p:cNvPr id="127" name="Chip fill"/>
            <p:cNvSpPr/>
            <p:nvPr/>
          </p:nvSpPr>
          <p:spPr>
            <a:xfrm>
              <a:off x="7735824" y="3495548"/>
              <a:ext cx="378239" cy="137160"/>
            </a:xfrm>
            <a:prstGeom prst="roundRect">
              <a:avLst>
                <a:gd name="adj" fmla="val 20000"/>
              </a:avLst>
            </a:prstGeom>
            <a:solidFill>
              <a:srgbClr val="E9690C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28" name="Icon circle-help"/>
            <p:cNvSpPr/>
            <p:nvPr/>
          </p:nvSpPr>
          <p:spPr>
            <a:xfrm>
              <a:off x="7795260" y="3521608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7795" cap="rnd">
              <a:solidFill>
                <a:srgbClr val="C65C10"/>
              </a:solidFill>
              <a:round/>
            </a:ln>
          </p:spPr>
        </p:sp>
        <p:sp>
          <p:nvSpPr>
            <p:cNvPr id="129" name="Chip label"/>
            <p:cNvSpPr txBox="1"/>
            <p:nvPr/>
          </p:nvSpPr>
          <p:spPr>
            <a:xfrm>
              <a:off x="7907731" y="3495548"/>
              <a:ext cx="17889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C65C1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TBC</a:t>
              </a:r>
              <a:endParaRPr lang="en-US" sz="580" dirty="0">
                <a:latin typeface="Inter SemiBold"/>
              </a:endParaRPr>
            </a:p>
          </p:txBody>
        </p:sp>
      </p:grpSp>
      <p:cxnSp>
        <p:nvCxnSpPr>
          <p:cNvPr id="130" name="Row divider"/>
          <p:cNvCxnSpPr/>
          <p:nvPr/>
        </p:nvCxnSpPr>
        <p:spPr>
          <a:xfrm>
            <a:off x="274320" y="3653536"/>
            <a:ext cx="8595360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grpSp>
        <p:nvGrpSpPr>
          <p:cNvPr id="131" name="Badge 2"/>
          <p:cNvGrpSpPr/>
          <p:nvPr/>
        </p:nvGrpSpPr>
        <p:grpSpPr>
          <a:xfrm>
            <a:off x="338328" y="3669792"/>
            <a:ext cx="146304" cy="146304"/>
            <a:chOff x="338328" y="3669792"/>
            <a:chExt cx="146304" cy="146304"/>
          </a:xfrm>
        </p:grpSpPr>
        <p:sp>
          <p:nvSpPr>
            <p:cNvPr id="132" name="Badge"/>
            <p:cNvSpPr/>
            <p:nvPr/>
          </p:nvSpPr>
          <p:spPr>
            <a:xfrm>
              <a:off x="338328" y="3669792"/>
              <a:ext cx="146304" cy="14630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33" name="Badge number"/>
            <p:cNvSpPr txBox="1"/>
            <p:nvPr/>
          </p:nvSpPr>
          <p:spPr>
            <a:xfrm>
              <a:off x="338328" y="3669792"/>
              <a:ext cx="1463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2</a:t>
              </a:r>
              <a:endParaRPr lang="en-US" sz="600" dirty="0">
                <a:latin typeface="TASA Orbiter SemiBold"/>
              </a:endParaRPr>
            </a:p>
          </p:txBody>
        </p:sp>
      </p:grpSp>
      <p:sp>
        <p:nvSpPr>
          <p:cNvPr id="134" name="Td"/>
          <p:cNvSpPr txBox="1"/>
          <p:nvPr/>
        </p:nvSpPr>
        <p:spPr>
          <a:xfrm>
            <a:off x="694944" y="3653536"/>
            <a:ext cx="144475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Gateway → IOsense cloud</a:t>
            </a:r>
            <a:endParaRPr lang="en-US" sz="640" dirty="0">
              <a:latin typeface="Inter SemiBold"/>
            </a:endParaRPr>
          </a:p>
        </p:txBody>
      </p:sp>
      <p:sp>
        <p:nvSpPr>
          <p:cNvPr id="135" name="Td"/>
          <p:cNvSpPr txBox="1"/>
          <p:nvPr/>
        </p:nvSpPr>
        <p:spPr>
          <a:xfrm>
            <a:off x="2249424" y="3653536"/>
            <a:ext cx="258775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Buffered DG data pushed over MQTT / HTTPS on the Faclon 4G SIM</a:t>
            </a:r>
            <a:endParaRPr lang="en-US" sz="620" dirty="0">
              <a:latin typeface="Inter"/>
            </a:endParaRPr>
          </a:p>
        </p:txBody>
      </p:sp>
      <p:sp>
        <p:nvSpPr>
          <p:cNvPr id="136" name="Td"/>
          <p:cNvSpPr txBox="1"/>
          <p:nvPr/>
        </p:nvSpPr>
        <p:spPr>
          <a:xfrm>
            <a:off x="4946904" y="3653536"/>
            <a:ext cx="267919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Supplied, installed and commissioned by Faclon</a:t>
            </a:r>
            <a:endParaRPr lang="en-US" sz="620" dirty="0">
              <a:latin typeface="Inter"/>
            </a:endParaRPr>
          </a:p>
        </p:txBody>
      </p:sp>
      <p:grpSp>
        <p:nvGrpSpPr>
          <p:cNvPr id="137" name="Chip Defined"/>
          <p:cNvGrpSpPr/>
          <p:nvPr/>
        </p:nvGrpSpPr>
        <p:grpSpPr>
          <a:xfrm>
            <a:off x="7735824" y="3674364"/>
            <a:ext cx="506469" cy="137160"/>
            <a:chOff x="7735824" y="3674364"/>
            <a:chExt cx="506469" cy="137160"/>
          </a:xfrm>
        </p:grpSpPr>
        <p:sp>
          <p:nvSpPr>
            <p:cNvPr id="138" name="Chip fill"/>
            <p:cNvSpPr/>
            <p:nvPr/>
          </p:nvSpPr>
          <p:spPr>
            <a:xfrm>
              <a:off x="7735824" y="3674364"/>
              <a:ext cx="506469" cy="137160"/>
            </a:xfrm>
            <a:prstGeom prst="roundRect">
              <a:avLst>
                <a:gd name="adj" fmla="val 20000"/>
              </a:avLst>
            </a:prstGeom>
            <a:solidFill>
              <a:srgbClr val="00A251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39" name="Icon circle-check"/>
            <p:cNvSpPr/>
            <p:nvPr/>
          </p:nvSpPr>
          <p:spPr>
            <a:xfrm>
              <a:off x="7795260" y="3700424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7795" cap="rnd">
              <a:solidFill>
                <a:srgbClr val="008743"/>
              </a:solidFill>
              <a:round/>
            </a:ln>
          </p:spPr>
        </p:sp>
        <p:sp>
          <p:nvSpPr>
            <p:cNvPr id="140" name="Chip label"/>
            <p:cNvSpPr txBox="1"/>
            <p:nvPr/>
          </p:nvSpPr>
          <p:spPr>
            <a:xfrm>
              <a:off x="7907731" y="3674364"/>
              <a:ext cx="30713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00874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Defined</a:t>
              </a:r>
              <a:endParaRPr lang="en-US" sz="580" dirty="0">
                <a:latin typeface="Inter SemiBold"/>
              </a:endParaRPr>
            </a:p>
          </p:txBody>
        </p:sp>
      </p:grpSp>
      <p:cxnSp>
        <p:nvCxnSpPr>
          <p:cNvPr id="141" name="Row divider"/>
          <p:cNvCxnSpPr/>
          <p:nvPr/>
        </p:nvCxnSpPr>
        <p:spPr>
          <a:xfrm>
            <a:off x="274320" y="3832352"/>
            <a:ext cx="8595360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grpSp>
        <p:nvGrpSpPr>
          <p:cNvPr id="142" name="Badge 3"/>
          <p:cNvGrpSpPr/>
          <p:nvPr/>
        </p:nvGrpSpPr>
        <p:grpSpPr>
          <a:xfrm>
            <a:off x="338328" y="3848608"/>
            <a:ext cx="146304" cy="146304"/>
            <a:chOff x="338328" y="3848608"/>
            <a:chExt cx="146304" cy="146304"/>
          </a:xfrm>
        </p:grpSpPr>
        <p:sp>
          <p:nvSpPr>
            <p:cNvPr id="143" name="Badge"/>
            <p:cNvSpPr/>
            <p:nvPr/>
          </p:nvSpPr>
          <p:spPr>
            <a:xfrm>
              <a:off x="338328" y="3848608"/>
              <a:ext cx="146304" cy="14630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4" name="Badge number"/>
            <p:cNvSpPr txBox="1"/>
            <p:nvPr/>
          </p:nvSpPr>
          <p:spPr>
            <a:xfrm>
              <a:off x="338328" y="3848608"/>
              <a:ext cx="1463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3</a:t>
              </a:r>
              <a:endParaRPr lang="en-US" sz="600" dirty="0">
                <a:latin typeface="TASA Orbiter SemiBold"/>
              </a:endParaRPr>
            </a:p>
          </p:txBody>
        </p:sp>
      </p:grpSp>
      <p:sp>
        <p:nvSpPr>
          <p:cNvPr id="145" name="Td"/>
          <p:cNvSpPr txBox="1"/>
          <p:nvPr/>
        </p:nvSpPr>
        <p:spPr>
          <a:xfrm>
            <a:off x="694944" y="3832352"/>
            <a:ext cx="144475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Flipkart &amp; vendor users ↔ app</a:t>
            </a:r>
            <a:endParaRPr lang="en-US" sz="640" dirty="0">
              <a:latin typeface="Inter SemiBold"/>
            </a:endParaRPr>
          </a:p>
        </p:txBody>
      </p:sp>
      <p:sp>
        <p:nvSpPr>
          <p:cNvPr id="146" name="Td"/>
          <p:cNvSpPr txBox="1"/>
          <p:nvPr/>
        </p:nvSpPr>
        <p:spPr>
          <a:xfrm>
            <a:off x="2249424" y="3832352"/>
            <a:ext cx="258775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Dashboards, masters, work orders, vendor submissions, downloads</a:t>
            </a:r>
            <a:endParaRPr lang="en-US" sz="620" dirty="0">
              <a:latin typeface="Inter"/>
            </a:endParaRPr>
          </a:p>
        </p:txBody>
      </p:sp>
      <p:sp>
        <p:nvSpPr>
          <p:cNvPr id="147" name="Td"/>
          <p:cNvSpPr txBox="1"/>
          <p:nvPr/>
        </p:nvSpPr>
        <p:spPr>
          <a:xfrm>
            <a:off x="4946904" y="3832352"/>
            <a:ext cx="267919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User list and roles; store, DG, vendor and SPOC masters</a:t>
            </a:r>
            <a:endParaRPr lang="en-US" sz="620" dirty="0">
              <a:latin typeface="Inter"/>
            </a:endParaRPr>
          </a:p>
        </p:txBody>
      </p:sp>
      <p:grpSp>
        <p:nvGrpSpPr>
          <p:cNvPr id="148" name="Chip TBC"/>
          <p:cNvGrpSpPr/>
          <p:nvPr/>
        </p:nvGrpSpPr>
        <p:grpSpPr>
          <a:xfrm>
            <a:off x="7735824" y="3853180"/>
            <a:ext cx="378239" cy="137160"/>
            <a:chOff x="7735824" y="3853180"/>
            <a:chExt cx="378239" cy="137160"/>
          </a:xfrm>
        </p:grpSpPr>
        <p:sp>
          <p:nvSpPr>
            <p:cNvPr id="149" name="Chip fill"/>
            <p:cNvSpPr/>
            <p:nvPr/>
          </p:nvSpPr>
          <p:spPr>
            <a:xfrm>
              <a:off x="7735824" y="3853180"/>
              <a:ext cx="378239" cy="137160"/>
            </a:xfrm>
            <a:prstGeom prst="roundRect">
              <a:avLst>
                <a:gd name="adj" fmla="val 20000"/>
              </a:avLst>
            </a:prstGeom>
            <a:solidFill>
              <a:srgbClr val="E9690C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0" name="Icon circle-help"/>
            <p:cNvSpPr/>
            <p:nvPr/>
          </p:nvSpPr>
          <p:spPr>
            <a:xfrm>
              <a:off x="7795260" y="3879240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7795" cap="rnd">
              <a:solidFill>
                <a:srgbClr val="C65C10"/>
              </a:solidFill>
              <a:round/>
            </a:ln>
          </p:spPr>
        </p:sp>
        <p:sp>
          <p:nvSpPr>
            <p:cNvPr id="151" name="Chip label"/>
            <p:cNvSpPr txBox="1"/>
            <p:nvPr/>
          </p:nvSpPr>
          <p:spPr>
            <a:xfrm>
              <a:off x="7907731" y="3853180"/>
              <a:ext cx="17889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C65C1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TBC</a:t>
              </a:r>
              <a:endParaRPr lang="en-US" sz="580" dirty="0">
                <a:latin typeface="Inter SemiBold"/>
              </a:endParaRPr>
            </a:p>
          </p:txBody>
        </p:sp>
      </p:grpSp>
      <p:cxnSp>
        <p:nvCxnSpPr>
          <p:cNvPr id="152" name="Row divider"/>
          <p:cNvCxnSpPr/>
          <p:nvPr/>
        </p:nvCxnSpPr>
        <p:spPr>
          <a:xfrm>
            <a:off x="274320" y="4011168"/>
            <a:ext cx="8595360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grpSp>
        <p:nvGrpSpPr>
          <p:cNvPr id="153" name="Badge 4"/>
          <p:cNvGrpSpPr/>
          <p:nvPr/>
        </p:nvGrpSpPr>
        <p:grpSpPr>
          <a:xfrm>
            <a:off x="338328" y="4027424"/>
            <a:ext cx="146304" cy="146304"/>
            <a:chOff x="338328" y="4027424"/>
            <a:chExt cx="146304" cy="146304"/>
          </a:xfrm>
        </p:grpSpPr>
        <p:sp>
          <p:nvSpPr>
            <p:cNvPr id="154" name="Badge"/>
            <p:cNvSpPr/>
            <p:nvPr/>
          </p:nvSpPr>
          <p:spPr>
            <a:xfrm>
              <a:off x="338328" y="4027424"/>
              <a:ext cx="146304" cy="14630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5" name="Badge number"/>
            <p:cNvSpPr txBox="1"/>
            <p:nvPr/>
          </p:nvSpPr>
          <p:spPr>
            <a:xfrm>
              <a:off x="338328" y="4027424"/>
              <a:ext cx="1463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4</a:t>
              </a:r>
              <a:endParaRPr lang="en-US" sz="600" dirty="0">
                <a:latin typeface="TASA Orbiter SemiBold"/>
              </a:endParaRPr>
            </a:p>
          </p:txBody>
        </p:sp>
      </p:grpSp>
      <p:sp>
        <p:nvSpPr>
          <p:cNvPr id="156" name="Td"/>
          <p:cNvSpPr txBox="1"/>
          <p:nvPr/>
        </p:nvSpPr>
        <p:spPr>
          <a:xfrm>
            <a:off x="694944" y="4011168"/>
            <a:ext cx="144475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Application → notifications</a:t>
            </a:r>
            <a:endParaRPr lang="en-US" sz="640" dirty="0">
              <a:latin typeface="Inter SemiBold"/>
            </a:endParaRPr>
          </a:p>
        </p:txBody>
      </p:sp>
      <p:sp>
        <p:nvSpPr>
          <p:cNvPr id="157" name="Td"/>
          <p:cNvSpPr txBox="1"/>
          <p:nvPr/>
        </p:nvSpPr>
        <p:spPr>
          <a:xfrm>
            <a:off x="2249424" y="4011168"/>
            <a:ext cx="258775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Initial work-order notification</a:t>
            </a:r>
            <a:endParaRPr lang="en-US" sz="620" dirty="0">
              <a:latin typeface="Inter"/>
            </a:endParaRPr>
          </a:p>
        </p:txBody>
      </p:sp>
      <p:sp>
        <p:nvSpPr>
          <p:cNvPr id="158" name="Td"/>
          <p:cNvSpPr txBox="1"/>
          <p:nvPr/>
        </p:nvSpPr>
        <p:spPr>
          <a:xfrm>
            <a:off x="4946904" y="4011168"/>
            <a:ext cx="267919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Email sender; WhatsApp Business account and templates</a:t>
            </a:r>
            <a:endParaRPr lang="en-US" sz="620" dirty="0">
              <a:latin typeface="Inter"/>
            </a:endParaRPr>
          </a:p>
        </p:txBody>
      </p:sp>
      <p:grpSp>
        <p:nvGrpSpPr>
          <p:cNvPr id="159" name="Chip TBC"/>
          <p:cNvGrpSpPr/>
          <p:nvPr/>
        </p:nvGrpSpPr>
        <p:grpSpPr>
          <a:xfrm>
            <a:off x="7735824" y="4031996"/>
            <a:ext cx="378239" cy="137160"/>
            <a:chOff x="7735824" y="4031996"/>
            <a:chExt cx="378239" cy="137160"/>
          </a:xfrm>
        </p:grpSpPr>
        <p:sp>
          <p:nvSpPr>
            <p:cNvPr id="160" name="Chip fill"/>
            <p:cNvSpPr/>
            <p:nvPr/>
          </p:nvSpPr>
          <p:spPr>
            <a:xfrm>
              <a:off x="7735824" y="4031996"/>
              <a:ext cx="378239" cy="137160"/>
            </a:xfrm>
            <a:prstGeom prst="roundRect">
              <a:avLst>
                <a:gd name="adj" fmla="val 20000"/>
              </a:avLst>
            </a:prstGeom>
            <a:solidFill>
              <a:srgbClr val="E9690C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61" name="Icon circle-help"/>
            <p:cNvSpPr/>
            <p:nvPr/>
          </p:nvSpPr>
          <p:spPr>
            <a:xfrm>
              <a:off x="7795260" y="4058056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7795" cap="rnd">
              <a:solidFill>
                <a:srgbClr val="C65C10"/>
              </a:solidFill>
              <a:round/>
            </a:ln>
          </p:spPr>
        </p:sp>
        <p:sp>
          <p:nvSpPr>
            <p:cNvPr id="162" name="Chip label"/>
            <p:cNvSpPr txBox="1"/>
            <p:nvPr/>
          </p:nvSpPr>
          <p:spPr>
            <a:xfrm>
              <a:off x="7907731" y="4031996"/>
              <a:ext cx="17889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C65C1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TBC</a:t>
              </a:r>
              <a:endParaRPr lang="en-US" sz="580" dirty="0">
                <a:latin typeface="Inter SemiBold"/>
              </a:endParaRPr>
            </a:p>
          </p:txBody>
        </p:sp>
      </p:grpSp>
      <p:cxnSp>
        <p:nvCxnSpPr>
          <p:cNvPr id="163" name="Row divider"/>
          <p:cNvCxnSpPr/>
          <p:nvPr/>
        </p:nvCxnSpPr>
        <p:spPr>
          <a:xfrm>
            <a:off x="274320" y="4189984"/>
            <a:ext cx="8595360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grpSp>
        <p:nvGrpSpPr>
          <p:cNvPr id="164" name="Badge 5"/>
          <p:cNvGrpSpPr/>
          <p:nvPr/>
        </p:nvGrpSpPr>
        <p:grpSpPr>
          <a:xfrm>
            <a:off x="338328" y="4206240"/>
            <a:ext cx="146304" cy="146304"/>
            <a:chOff x="338328" y="4206240"/>
            <a:chExt cx="146304" cy="146304"/>
          </a:xfrm>
        </p:grpSpPr>
        <p:sp>
          <p:nvSpPr>
            <p:cNvPr id="165" name="Badge"/>
            <p:cNvSpPr/>
            <p:nvPr/>
          </p:nvSpPr>
          <p:spPr>
            <a:xfrm>
              <a:off x="338328" y="4206240"/>
              <a:ext cx="146304" cy="146304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66" name="Badge number"/>
            <p:cNvSpPr txBox="1"/>
            <p:nvPr/>
          </p:nvSpPr>
          <p:spPr>
            <a:xfrm>
              <a:off x="338328" y="4206240"/>
              <a:ext cx="1463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5</a:t>
              </a:r>
              <a:endParaRPr lang="en-US" sz="600" dirty="0">
                <a:latin typeface="TASA Orbiter SemiBold"/>
              </a:endParaRPr>
            </a:p>
          </p:txBody>
        </p:sp>
      </p:grpSp>
      <p:sp>
        <p:nvSpPr>
          <p:cNvPr id="167" name="Td"/>
          <p:cNvSpPr txBox="1"/>
          <p:nvPr/>
        </p:nvSpPr>
        <p:spPr>
          <a:xfrm>
            <a:off x="694944" y="4189984"/>
            <a:ext cx="144475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Application → Oracle Fusion</a:t>
            </a:r>
            <a:endParaRPr lang="en-US" sz="640" dirty="0">
              <a:latin typeface="Inter SemiBold"/>
            </a:endParaRPr>
          </a:p>
        </p:txBody>
      </p:sp>
      <p:sp>
        <p:nvSpPr>
          <p:cNvPr id="168" name="Td"/>
          <p:cNvSpPr txBox="1"/>
          <p:nvPr/>
        </p:nvSpPr>
        <p:spPr>
          <a:xfrm>
            <a:off x="2249424" y="4189984"/>
            <a:ext cx="258775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Invoice payload with refill and fuel line items; API response logged</a:t>
            </a:r>
            <a:endParaRPr lang="en-US" sz="620" dirty="0">
              <a:latin typeface="Inter"/>
            </a:endParaRPr>
          </a:p>
        </p:txBody>
      </p:sp>
      <p:sp>
        <p:nvSpPr>
          <p:cNvPr id="169" name="Td"/>
          <p:cNvSpPr txBox="1"/>
          <p:nvPr/>
        </p:nvSpPr>
        <p:spPr>
          <a:xfrm>
            <a:off x="4946904" y="4189984"/>
            <a:ext cx="267919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Fusion API spec, authentication, codes and payload</a:t>
            </a:r>
            <a:endParaRPr lang="en-US" sz="620" dirty="0">
              <a:latin typeface="Inter"/>
            </a:endParaRPr>
          </a:p>
        </p:txBody>
      </p:sp>
      <p:grpSp>
        <p:nvGrpSpPr>
          <p:cNvPr id="170" name="Chip TBC"/>
          <p:cNvGrpSpPr/>
          <p:nvPr/>
        </p:nvGrpSpPr>
        <p:grpSpPr>
          <a:xfrm>
            <a:off x="7735824" y="4210812"/>
            <a:ext cx="378239" cy="137160"/>
            <a:chOff x="7735824" y="4210812"/>
            <a:chExt cx="378239" cy="137160"/>
          </a:xfrm>
        </p:grpSpPr>
        <p:sp>
          <p:nvSpPr>
            <p:cNvPr id="171" name="Chip fill"/>
            <p:cNvSpPr/>
            <p:nvPr/>
          </p:nvSpPr>
          <p:spPr>
            <a:xfrm>
              <a:off x="7735824" y="4210812"/>
              <a:ext cx="378239" cy="137160"/>
            </a:xfrm>
            <a:prstGeom prst="roundRect">
              <a:avLst>
                <a:gd name="adj" fmla="val 20000"/>
              </a:avLst>
            </a:prstGeom>
            <a:solidFill>
              <a:srgbClr val="E9690C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72" name="Icon circle-help"/>
            <p:cNvSpPr/>
            <p:nvPr/>
          </p:nvSpPr>
          <p:spPr>
            <a:xfrm>
              <a:off x="7795260" y="4236872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7795" cap="rnd">
              <a:solidFill>
                <a:srgbClr val="C65C10"/>
              </a:solidFill>
              <a:round/>
            </a:ln>
          </p:spPr>
        </p:sp>
        <p:sp>
          <p:nvSpPr>
            <p:cNvPr id="173" name="Chip label"/>
            <p:cNvSpPr txBox="1"/>
            <p:nvPr/>
          </p:nvSpPr>
          <p:spPr>
            <a:xfrm>
              <a:off x="7907731" y="4210812"/>
              <a:ext cx="17889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C65C1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TBC</a:t>
              </a:r>
              <a:endParaRPr lang="en-US" sz="580" dirty="0">
                <a:latin typeface="Inter SemiBold"/>
              </a:endParaRPr>
            </a:p>
          </p:txBody>
        </p:sp>
      </p:grpSp>
      <p:cxnSp>
        <p:nvCxnSpPr>
          <p:cNvPr id="174" name="Row divider"/>
          <p:cNvCxnSpPr/>
          <p:nvPr/>
        </p:nvCxnSpPr>
        <p:spPr>
          <a:xfrm>
            <a:off x="274320" y="4368800"/>
            <a:ext cx="8595360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sp>
        <p:nvSpPr>
          <p:cNvPr id="175" name="Dot"/>
          <p:cNvSpPr/>
          <p:nvPr/>
        </p:nvSpPr>
        <p:spPr>
          <a:xfrm>
            <a:off x="384048" y="4430776"/>
            <a:ext cx="54864" cy="54864"/>
          </a:xfrm>
          <a:prstGeom prst="ellipse">
            <a:avLst/>
          </a:prstGeom>
          <a:solidFill>
            <a:srgbClr val="CBD5E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76" name="Td"/>
          <p:cNvSpPr txBox="1"/>
          <p:nvPr/>
        </p:nvSpPr>
        <p:spPr>
          <a:xfrm>
            <a:off x="694944" y="4368800"/>
            <a:ext cx="144475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Hosting</a:t>
            </a:r>
            <a:endParaRPr lang="en-US" sz="640" dirty="0">
              <a:latin typeface="Inter SemiBold"/>
            </a:endParaRPr>
          </a:p>
        </p:txBody>
      </p:sp>
      <p:sp>
        <p:nvSpPr>
          <p:cNvPr id="177" name="Td"/>
          <p:cNvSpPr txBox="1"/>
          <p:nvPr/>
        </p:nvSpPr>
        <p:spPr>
          <a:xfrm>
            <a:off x="2249424" y="4368800"/>
            <a:ext cx="258775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IOsense platform and the application</a:t>
            </a:r>
            <a:endParaRPr lang="en-US" sz="620" dirty="0">
              <a:latin typeface="Inter"/>
            </a:endParaRPr>
          </a:p>
        </p:txBody>
      </p:sp>
      <p:sp>
        <p:nvSpPr>
          <p:cNvPr id="178" name="Td"/>
          <p:cNvSpPr txBox="1"/>
          <p:nvPr/>
        </p:nvSpPr>
        <p:spPr>
          <a:xfrm>
            <a:off x="4946904" y="4368800"/>
            <a:ext cx="267919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Faclon-hosted cloud; HTTPS access over the internet</a:t>
            </a:r>
            <a:endParaRPr lang="en-US" sz="620" dirty="0">
              <a:latin typeface="Inter"/>
            </a:endParaRPr>
          </a:p>
        </p:txBody>
      </p:sp>
      <p:grpSp>
        <p:nvGrpSpPr>
          <p:cNvPr id="179" name="Chip Defined"/>
          <p:cNvGrpSpPr/>
          <p:nvPr/>
        </p:nvGrpSpPr>
        <p:grpSpPr>
          <a:xfrm>
            <a:off x="7735824" y="4389628"/>
            <a:ext cx="506469" cy="137160"/>
            <a:chOff x="7735824" y="4389628"/>
            <a:chExt cx="506469" cy="137160"/>
          </a:xfrm>
        </p:grpSpPr>
        <p:sp>
          <p:nvSpPr>
            <p:cNvPr id="180" name="Chip fill"/>
            <p:cNvSpPr/>
            <p:nvPr/>
          </p:nvSpPr>
          <p:spPr>
            <a:xfrm>
              <a:off x="7735824" y="4389628"/>
              <a:ext cx="506469" cy="137160"/>
            </a:xfrm>
            <a:prstGeom prst="roundRect">
              <a:avLst>
                <a:gd name="adj" fmla="val 20000"/>
              </a:avLst>
            </a:prstGeom>
            <a:solidFill>
              <a:srgbClr val="00A251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81" name="Icon circle-check"/>
            <p:cNvSpPr/>
            <p:nvPr/>
          </p:nvSpPr>
          <p:spPr>
            <a:xfrm>
              <a:off x="7795260" y="4415688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7795" cap="rnd">
              <a:solidFill>
                <a:srgbClr val="008743"/>
              </a:solidFill>
              <a:round/>
            </a:ln>
          </p:spPr>
        </p:sp>
        <p:sp>
          <p:nvSpPr>
            <p:cNvPr id="182" name="Chip label"/>
            <p:cNvSpPr txBox="1"/>
            <p:nvPr/>
          </p:nvSpPr>
          <p:spPr>
            <a:xfrm>
              <a:off x="7907731" y="4389628"/>
              <a:ext cx="30713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00874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Defined</a:t>
              </a:r>
              <a:endParaRPr lang="en-US" sz="580" dirty="0">
                <a:latin typeface="Inter SemiBold"/>
              </a:endParaRPr>
            </a:p>
          </p:txBody>
        </p:sp>
      </p:grpSp>
      <p:cxnSp>
        <p:nvCxnSpPr>
          <p:cNvPr id="183" name="Row divider"/>
          <p:cNvCxnSpPr/>
          <p:nvPr/>
        </p:nvCxnSpPr>
        <p:spPr>
          <a:xfrm>
            <a:off x="274320" y="4547616"/>
            <a:ext cx="8595360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sp>
        <p:nvSpPr>
          <p:cNvPr id="184" name="Dot"/>
          <p:cNvSpPr/>
          <p:nvPr/>
        </p:nvSpPr>
        <p:spPr>
          <a:xfrm>
            <a:off x="384048" y="4609592"/>
            <a:ext cx="54864" cy="54864"/>
          </a:xfrm>
          <a:prstGeom prst="ellipse">
            <a:avLst/>
          </a:prstGeom>
          <a:solidFill>
            <a:srgbClr val="CBD5E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85" name="Td"/>
          <p:cNvSpPr txBox="1"/>
          <p:nvPr/>
        </p:nvSpPr>
        <p:spPr>
          <a:xfrm>
            <a:off x="694944" y="4547616"/>
            <a:ext cx="144475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retention</a:t>
            </a:r>
            <a:endParaRPr lang="en-US" sz="640" dirty="0">
              <a:latin typeface="Inter SemiBold"/>
            </a:endParaRPr>
          </a:p>
        </p:txBody>
      </p:sp>
      <p:sp>
        <p:nvSpPr>
          <p:cNvPr id="186" name="Td"/>
          <p:cNvSpPr txBox="1"/>
          <p:nvPr/>
        </p:nvSpPr>
        <p:spPr>
          <a:xfrm>
            <a:off x="2249424" y="4547616"/>
            <a:ext cx="258775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Telemetry, transactions, audit history</a:t>
            </a:r>
            <a:endParaRPr lang="en-US" sz="620" dirty="0">
              <a:latin typeface="Inter"/>
            </a:endParaRPr>
          </a:p>
        </p:txBody>
      </p:sp>
      <p:sp>
        <p:nvSpPr>
          <p:cNvPr id="187" name="Td"/>
          <p:cNvSpPr txBox="1"/>
          <p:nvPr/>
        </p:nvSpPr>
        <p:spPr>
          <a:xfrm>
            <a:off x="4946904" y="4547616"/>
            <a:ext cx="2679192" cy="178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4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IOsense platform data-retention policy</a:t>
            </a:r>
            <a:endParaRPr lang="en-US" sz="620" dirty="0">
              <a:latin typeface="Inter"/>
            </a:endParaRPr>
          </a:p>
        </p:txBody>
      </p:sp>
      <p:grpSp>
        <p:nvGrpSpPr>
          <p:cNvPr id="188" name="Chip Defined"/>
          <p:cNvGrpSpPr/>
          <p:nvPr/>
        </p:nvGrpSpPr>
        <p:grpSpPr>
          <a:xfrm>
            <a:off x="7735824" y="4568444"/>
            <a:ext cx="506469" cy="137160"/>
            <a:chOff x="7735824" y="4568444"/>
            <a:chExt cx="506469" cy="137160"/>
          </a:xfrm>
        </p:grpSpPr>
        <p:sp>
          <p:nvSpPr>
            <p:cNvPr id="189" name="Chip fill"/>
            <p:cNvSpPr/>
            <p:nvPr/>
          </p:nvSpPr>
          <p:spPr>
            <a:xfrm>
              <a:off x="7735824" y="4568444"/>
              <a:ext cx="506469" cy="137160"/>
            </a:xfrm>
            <a:prstGeom prst="roundRect">
              <a:avLst>
                <a:gd name="adj" fmla="val 20000"/>
              </a:avLst>
            </a:prstGeom>
            <a:solidFill>
              <a:srgbClr val="00A251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90" name="Icon circle-check"/>
            <p:cNvSpPr/>
            <p:nvPr/>
          </p:nvSpPr>
          <p:spPr>
            <a:xfrm>
              <a:off x="7795260" y="4594504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7795" cap="rnd">
              <a:solidFill>
                <a:srgbClr val="008743"/>
              </a:solidFill>
              <a:round/>
            </a:ln>
          </p:spPr>
        </p:sp>
        <p:sp>
          <p:nvSpPr>
            <p:cNvPr id="191" name="Chip label"/>
            <p:cNvSpPr txBox="1"/>
            <p:nvPr/>
          </p:nvSpPr>
          <p:spPr>
            <a:xfrm>
              <a:off x="7907731" y="4568444"/>
              <a:ext cx="30713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00874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Defined</a:t>
              </a:r>
              <a:endParaRPr lang="en-US" sz="580" dirty="0">
                <a:latin typeface="Inter SemiBold"/>
              </a:endParaRPr>
            </a:p>
          </p:txBody>
        </p:sp>
      </p:grpSp>
      <p:cxnSp>
        <p:nvCxnSpPr>
          <p:cNvPr id="192" name="Row divider"/>
          <p:cNvCxnSpPr/>
          <p:nvPr/>
        </p:nvCxnSpPr>
        <p:spPr>
          <a:xfrm>
            <a:off x="274320" y="4726432"/>
            <a:ext cx="8595360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grpSp>
        <p:nvGrpSpPr>
          <p:cNvPr id="193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194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DG Online Monitoring Proposal  ·  Flipkart Minutes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95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9F38D2CD-B981-4A54-89AE-33C4BB549051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9456"/>
            <a:ext cx="8650224" cy="722376"/>
            <a:chOff x="274320" y="219456"/>
            <a:chExt cx="8650224" cy="722376"/>
          </a:xfrm>
        </p:grpSpPr>
        <p:sp>
          <p:nvSpPr>
            <p:cNvPr id="4" name="Eyebrow"/>
            <p:cNvSpPr txBox="1"/>
            <p:nvPr/>
          </p:nvSpPr>
          <p:spPr>
            <a:xfrm>
              <a:off x="274320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BOTH WORKFLOWS  ·  SCOPE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5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Scope of Work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6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What Faclon Labs delivers and what Flipkart provides for the DG monitoring, refilling and maintenance workflows.</a:t>
              </a:r>
              <a:endParaRPr lang="en-US" sz="850" dirty="0">
                <a:latin typeface="Inter"/>
              </a:endParaRPr>
            </a:p>
          </p:txBody>
        </p:sp>
        <p:grpSp>
          <p:nvGrpSpPr>
            <p:cNvPr id="7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8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" name="Column header Faclon Labs scope"/>
          <p:cNvGrpSpPr/>
          <p:nvPr/>
        </p:nvGrpSpPr>
        <p:grpSpPr>
          <a:xfrm>
            <a:off x="274320" y="1051560"/>
            <a:ext cx="5532120" cy="274320"/>
            <a:chOff x="274320" y="1051560"/>
            <a:chExt cx="5532120" cy="274320"/>
          </a:xfrm>
        </p:grpSpPr>
        <p:sp>
          <p:nvSpPr>
            <p:cNvPr id="20" name="Column header"/>
            <p:cNvSpPr/>
            <p:nvPr/>
          </p:nvSpPr>
          <p:spPr>
            <a:xfrm>
              <a:off x="274320" y="1051560"/>
              <a:ext cx="5532120" cy="274320"/>
            </a:xfrm>
            <a:prstGeom prst="roundRect">
              <a:avLst>
                <a:gd name="adj" fmla="val 20000"/>
              </a:avLst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1" name="Icon package"/>
            <p:cNvSpPr/>
            <p:nvPr/>
          </p:nvSpPr>
          <p:spPr>
            <a:xfrm>
              <a:off x="393192" y="1124712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1000" y="21730"/>
                  </a:moveTo>
                  <a:cubicBezTo>
                    <a:pt x="11619" y="22087"/>
                    <a:pt x="12381" y="22087"/>
                    <a:pt x="13000" y="21730"/>
                  </a:cubicBezTo>
                  <a:lnTo>
                    <a:pt x="20000" y="17730"/>
                  </a:lnTo>
                  <a:cubicBezTo>
                    <a:pt x="20618" y="17373"/>
                    <a:pt x="20999" y="16714"/>
                    <a:pt x="21000" y="16000"/>
                  </a:cubicBezTo>
                  <a:lnTo>
                    <a:pt x="21000" y="8000"/>
                  </a:lnTo>
                  <a:cubicBezTo>
                    <a:pt x="20999" y="7286"/>
                    <a:pt x="20618" y="6627"/>
                    <a:pt x="20000" y="6270"/>
                  </a:cubicBezTo>
                  <a:lnTo>
                    <a:pt x="13000" y="2270"/>
                  </a:lnTo>
                  <a:cubicBezTo>
                    <a:pt x="12381" y="1913"/>
                    <a:pt x="11619" y="1913"/>
                    <a:pt x="11000" y="2270"/>
                  </a:cubicBezTo>
                  <a:lnTo>
                    <a:pt x="4000" y="6270"/>
                  </a:lnTo>
                  <a:cubicBezTo>
                    <a:pt x="3382" y="6627"/>
                    <a:pt x="3001" y="7286"/>
                    <a:pt x="3000" y="8000"/>
                  </a:cubicBezTo>
                  <a:lnTo>
                    <a:pt x="3000" y="16000"/>
                  </a:lnTo>
                  <a:cubicBezTo>
                    <a:pt x="3001" y="16714"/>
                    <a:pt x="3382" y="17373"/>
                    <a:pt x="4000" y="17730"/>
                  </a:cubicBezTo>
                  <a:close/>
                </a:path>
                <a:path w="24000" h="24000" fill="none">
                  <a:moveTo>
                    <a:pt x="12000" y="22000"/>
                  </a:moveTo>
                  <a:lnTo>
                    <a:pt x="12000" y="12000"/>
                  </a:lnTo>
                </a:path>
                <a:path w="24000" h="24000" fill="none">
                  <a:moveTo>
                    <a:pt x="3290" y="7000"/>
                  </a:moveTo>
                  <a:lnTo>
                    <a:pt x="12000" y="12000"/>
                  </a:lnTo>
                  <a:lnTo>
                    <a:pt x="20710" y="7000"/>
                  </a:lnTo>
                </a:path>
                <a:path w="24000" h="24000" fill="none">
                  <a:moveTo>
                    <a:pt x="7500" y="4270"/>
                  </a:moveTo>
                  <a:lnTo>
                    <a:pt x="16500" y="9420"/>
                  </a:lnTo>
                </a:path>
              </a:pathLst>
            </a:custGeom>
            <a:noFill/>
            <a:ln w="11735" cap="rnd">
              <a:solidFill>
                <a:srgbClr val="FFFFFF"/>
              </a:solidFill>
              <a:round/>
            </a:ln>
          </p:spPr>
        </p:sp>
        <p:sp>
          <p:nvSpPr>
            <p:cNvPr id="22" name="Column title"/>
            <p:cNvSpPr txBox="1"/>
            <p:nvPr/>
          </p:nvSpPr>
          <p:spPr>
            <a:xfrm>
              <a:off x="640080" y="1051560"/>
              <a:ext cx="5074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Faclon Labs scope</a:t>
              </a:r>
              <a:r>
                <a:rPr lang="en-US" sz="640" b="0" i="0" spc="0" dirty="0">
                  <a:solidFill>
                    <a:srgbClr val="DCE8FE"/>
                  </a:solidFill>
                  <a:latin typeface="Inter"/>
                  <a:ea typeface="Inter"/>
                  <a:cs typeface="Inter"/>
                  <a:sym typeface="Inter"/>
                </a:rPr>
                <a:t>   design, build, integrate, deploy and support</a:t>
              </a:r>
              <a:endParaRPr lang="en-US" sz="700" dirty="0">
                <a:latin typeface="Inter SemiBold"/>
              </a:endParaRPr>
            </a:p>
          </p:txBody>
        </p:sp>
      </p:grpSp>
      <p:grpSp>
        <p:nvGrpSpPr>
          <p:cNvPr id="23" name="Column header Flipkart scope"/>
          <p:cNvGrpSpPr/>
          <p:nvPr/>
        </p:nvGrpSpPr>
        <p:grpSpPr>
          <a:xfrm>
            <a:off x="5943600" y="1051560"/>
            <a:ext cx="2926080" cy="274320"/>
            <a:chOff x="5943600" y="1051560"/>
            <a:chExt cx="2926080" cy="274320"/>
          </a:xfrm>
        </p:grpSpPr>
        <p:sp>
          <p:nvSpPr>
            <p:cNvPr id="24" name="Column header"/>
            <p:cNvSpPr/>
            <p:nvPr/>
          </p:nvSpPr>
          <p:spPr>
            <a:xfrm>
              <a:off x="5943600" y="1051560"/>
              <a:ext cx="2926080" cy="274320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5" name="Icon building-2"/>
            <p:cNvSpPr/>
            <p:nvPr/>
          </p:nvSpPr>
          <p:spPr>
            <a:xfrm>
              <a:off x="6062472" y="1124712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lnTo>
                    <a:pt x="6000" y="4000"/>
                  </a:lnTo>
                  <a:cubicBezTo>
                    <a:pt x="6000" y="2895"/>
                    <a:pt x="6895" y="2000"/>
                    <a:pt x="8000" y="2000"/>
                  </a:cubicBezTo>
                  <a:lnTo>
                    <a:pt x="16000" y="2000"/>
                  </a:lnTo>
                  <a:cubicBezTo>
                    <a:pt x="17105" y="2000"/>
                    <a:pt x="18000" y="2895"/>
                    <a:pt x="18000" y="4000"/>
                  </a:cubicBezTo>
                  <a:lnTo>
                    <a:pt x="18000" y="22000"/>
                  </a:lnTo>
                  <a:close/>
                </a:path>
                <a:path w="24000" h="24000" fill="none">
                  <a:moveTo>
                    <a:pt x="6000" y="12000"/>
                  </a:moveTo>
                  <a:lnTo>
                    <a:pt x="4000" y="12000"/>
                  </a:lnTo>
                  <a:cubicBezTo>
                    <a:pt x="2895" y="12000"/>
                    <a:pt x="2000" y="12895"/>
                    <a:pt x="2000" y="14000"/>
                  </a:cubicBezTo>
                  <a:lnTo>
                    <a:pt x="2000" y="20000"/>
                  </a:lnTo>
                  <a:cubicBezTo>
                    <a:pt x="2000" y="21105"/>
                    <a:pt x="2895" y="22000"/>
                    <a:pt x="4000" y="22000"/>
                  </a:cubicBezTo>
                  <a:lnTo>
                    <a:pt x="6000" y="22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20000" y="9000"/>
                  </a:lnTo>
                  <a:cubicBezTo>
                    <a:pt x="21105" y="9000"/>
                    <a:pt x="22000" y="9895"/>
                    <a:pt x="22000" y="11000"/>
                  </a:cubicBezTo>
                  <a:lnTo>
                    <a:pt x="22000" y="20000"/>
                  </a:lnTo>
                  <a:cubicBezTo>
                    <a:pt x="22000" y="21105"/>
                    <a:pt x="21105" y="22000"/>
                    <a:pt x="20000" y="22000"/>
                  </a:cubicBezTo>
                  <a:lnTo>
                    <a:pt x="18000" y="22000"/>
                  </a:lnTo>
                </a:path>
                <a:path w="24000" h="24000" fill="none">
                  <a:moveTo>
                    <a:pt x="10000" y="6000"/>
                  </a:moveTo>
                  <a:lnTo>
                    <a:pt x="14000" y="6000"/>
                  </a:lnTo>
                </a:path>
                <a:path w="24000" h="24000" fill="none">
                  <a:moveTo>
                    <a:pt x="10000" y="10000"/>
                  </a:moveTo>
                  <a:lnTo>
                    <a:pt x="14000" y="10000"/>
                  </a:lnTo>
                </a:path>
                <a:path w="24000" h="24000" fill="none">
                  <a:moveTo>
                    <a:pt x="10000" y="14000"/>
                  </a:moveTo>
                  <a:lnTo>
                    <a:pt x="14000" y="14000"/>
                  </a:lnTo>
                </a:path>
                <a:path w="24000" h="24000" fill="none">
                  <a:moveTo>
                    <a:pt x="10000" y="18000"/>
                  </a:moveTo>
                  <a:lnTo>
                    <a:pt x="14000" y="18000"/>
                  </a:lnTo>
                </a:path>
              </a:pathLst>
            </a:custGeom>
            <a:noFill/>
            <a:ln w="11735" cap="rnd">
              <a:solidFill>
                <a:srgbClr val="40566D"/>
              </a:solidFill>
              <a:round/>
            </a:ln>
          </p:spPr>
        </p:sp>
        <p:sp>
          <p:nvSpPr>
            <p:cNvPr id="26" name="Column title"/>
            <p:cNvSpPr txBox="1"/>
            <p:nvPr/>
          </p:nvSpPr>
          <p:spPr>
            <a:xfrm>
              <a:off x="6309360" y="1051560"/>
              <a:ext cx="24688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5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Flipkart scope</a:t>
              </a:r>
              <a:r>
                <a:rPr lang="en-US" sz="64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   inputs, access and infrastructure</a:t>
              </a:r>
              <a:endParaRPr lang="en-US" sz="700" dirty="0">
                <a:latin typeface="Inter SemiBold"/>
              </a:endParaRPr>
            </a:p>
          </p:txBody>
        </p:sp>
      </p:grpSp>
      <p:grpSp>
        <p:nvGrpSpPr>
          <p:cNvPr id="27" name="Group Hardware, connectivity &amp; installation"/>
          <p:cNvGrpSpPr/>
          <p:nvPr/>
        </p:nvGrpSpPr>
        <p:grpSpPr>
          <a:xfrm>
            <a:off x="274320" y="1417320"/>
            <a:ext cx="5532120" cy="526999"/>
            <a:chOff x="274320" y="1417320"/>
            <a:chExt cx="5532120" cy="526999"/>
          </a:xfrm>
        </p:grpSpPr>
        <p:sp>
          <p:nvSpPr>
            <p:cNvPr id="28" name="Group card"/>
            <p:cNvSpPr/>
            <p:nvPr/>
          </p:nvSpPr>
          <p:spPr>
            <a:xfrm>
              <a:off x="274320" y="1417320"/>
              <a:ext cx="5532120" cy="526999"/>
            </a:xfrm>
            <a:prstGeom prst="roundRect">
              <a:avLst>
                <a:gd name="adj" fmla="val 13881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9" name="Icon box"/>
            <p:cNvSpPr/>
            <p:nvPr/>
          </p:nvSpPr>
          <p:spPr>
            <a:xfrm>
              <a:off x="356616" y="1499616"/>
              <a:ext cx="237744" cy="237744"/>
            </a:xfrm>
            <a:prstGeom prst="roundRect">
              <a:avLst>
                <a:gd name="adj" fmla="val 19231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0" name="Icon cpu"/>
            <p:cNvSpPr/>
            <p:nvPr/>
          </p:nvSpPr>
          <p:spPr>
            <a:xfrm>
              <a:off x="411480" y="155448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4000"/>
                  </a:moveTo>
                  <a:lnTo>
                    <a:pt x="18000" y="4000"/>
                  </a:lnTo>
                  <a:cubicBezTo>
                    <a:pt x="19105" y="4000"/>
                    <a:pt x="20000" y="4895"/>
                    <a:pt x="20000" y="6000"/>
                  </a:cubicBezTo>
                  <a:lnTo>
                    <a:pt x="20000" y="18000"/>
                  </a:lnTo>
                  <a:cubicBezTo>
                    <a:pt x="20000" y="19105"/>
                    <a:pt x="19105" y="20000"/>
                    <a:pt x="18000" y="20000"/>
                  </a:cubicBezTo>
                  <a:lnTo>
                    <a:pt x="6000" y="20000"/>
                  </a:lnTo>
                  <a:cubicBezTo>
                    <a:pt x="4895" y="20000"/>
                    <a:pt x="4000" y="19105"/>
                    <a:pt x="4000" y="18000"/>
                  </a:cubicBezTo>
                  <a:lnTo>
                    <a:pt x="4000" y="6000"/>
                  </a:lnTo>
                  <a:cubicBezTo>
                    <a:pt x="4000" y="4895"/>
                    <a:pt x="4895" y="4000"/>
                    <a:pt x="6000" y="4000"/>
                  </a:cubicBezTo>
                  <a:close/>
                </a:path>
                <a:path w="24000" h="24000" fill="none">
                  <a:moveTo>
                    <a:pt x="10000" y="9000"/>
                  </a:moveTo>
                  <a:lnTo>
                    <a:pt x="14000" y="9000"/>
                  </a:lnTo>
                  <a:cubicBezTo>
                    <a:pt x="14552" y="9000"/>
                    <a:pt x="15000" y="9448"/>
                    <a:pt x="15000" y="10000"/>
                  </a:cubicBezTo>
                  <a:lnTo>
                    <a:pt x="15000" y="14000"/>
                  </a:lnTo>
                  <a:cubicBezTo>
                    <a:pt x="15000" y="14552"/>
                    <a:pt x="14552" y="15000"/>
                    <a:pt x="14000" y="15000"/>
                  </a:cubicBezTo>
                  <a:lnTo>
                    <a:pt x="10000" y="15000"/>
                  </a:lnTo>
                  <a:cubicBezTo>
                    <a:pt x="9448" y="15000"/>
                    <a:pt x="9000" y="14552"/>
                    <a:pt x="9000" y="14000"/>
                  </a:cubicBezTo>
                  <a:lnTo>
                    <a:pt x="9000" y="10000"/>
                  </a:lnTo>
                  <a:cubicBezTo>
                    <a:pt x="9000" y="9448"/>
                    <a:pt x="9448" y="9000"/>
                    <a:pt x="10000" y="9000"/>
                  </a:cubicBezTo>
                  <a:close/>
                </a:path>
                <a:path w="24000" h="24000" fill="none">
                  <a:moveTo>
                    <a:pt x="15000" y="2000"/>
                  </a:moveTo>
                  <a:lnTo>
                    <a:pt x="15000" y="4000"/>
                  </a:lnTo>
                </a:path>
                <a:path w="24000" h="24000" fill="none">
                  <a:moveTo>
                    <a:pt x="15000" y="20000"/>
                  </a:moveTo>
                  <a:lnTo>
                    <a:pt x="15000" y="22000"/>
                  </a:lnTo>
                </a:path>
                <a:path w="24000" h="24000" fill="none">
                  <a:moveTo>
                    <a:pt x="2000" y="15000"/>
                  </a:moveTo>
                  <a:lnTo>
                    <a:pt x="4000" y="15000"/>
                  </a:lnTo>
                </a:path>
                <a:path w="24000" h="24000" fill="none">
                  <a:moveTo>
                    <a:pt x="2000" y="9000"/>
                  </a:moveTo>
                  <a:lnTo>
                    <a:pt x="4000" y="9000"/>
                  </a:lnTo>
                </a:path>
                <a:path w="24000" h="24000" fill="none">
                  <a:moveTo>
                    <a:pt x="20000" y="15000"/>
                  </a:moveTo>
                  <a:lnTo>
                    <a:pt x="22000" y="15000"/>
                  </a:lnTo>
                </a:path>
                <a:path w="24000" h="24000" fill="none">
                  <a:moveTo>
                    <a:pt x="20000" y="9000"/>
                  </a:moveTo>
                  <a:lnTo>
                    <a:pt x="22000" y="9000"/>
                  </a:lnTo>
                </a:path>
                <a:path w="24000" h="24000" fill="none">
                  <a:moveTo>
                    <a:pt x="9000" y="2000"/>
                  </a:moveTo>
                  <a:lnTo>
                    <a:pt x="9000" y="4000"/>
                  </a:lnTo>
                </a:path>
                <a:path w="24000" h="24000" fill="none">
                  <a:moveTo>
                    <a:pt x="9000" y="20000"/>
                  </a:moveTo>
                  <a:lnTo>
                    <a:pt x="9000" y="22000"/>
                  </a:lnTo>
                </a:path>
              </a:pathLst>
            </a:custGeom>
            <a:noFill/>
            <a:ln w="11735" cap="rnd">
              <a:solidFill>
                <a:srgbClr val="165FF2"/>
              </a:solidFill>
              <a:round/>
            </a:ln>
          </p:spPr>
        </p:sp>
        <p:sp>
          <p:nvSpPr>
            <p:cNvPr id="31" name="Group title"/>
            <p:cNvSpPr txBox="1"/>
            <p:nvPr/>
          </p:nvSpPr>
          <p:spPr>
            <a:xfrm>
              <a:off x="685800" y="1490472"/>
              <a:ext cx="503834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50"/>
                </a:lnSpc>
                <a:spcBef>
                  <a:spcPts val="0"/>
                </a:spcBef>
                <a:buNone/>
              </a:pPr>
              <a:r>
                <a:rPr lang="en-US" sz="7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Hardware, connectivity &amp; installation</a:t>
              </a:r>
              <a:endParaRPr lang="en-US" sz="740" dirty="0">
                <a:latin typeface="Inter SemiBold"/>
              </a:endParaRPr>
            </a:p>
          </p:txBody>
        </p:sp>
        <p:sp>
          <p:nvSpPr>
            <p:cNvPr id="32" name="Bullets"/>
            <p:cNvSpPr txBox="1"/>
            <p:nvPr/>
          </p:nvSpPr>
          <p:spPr>
            <a:xfrm>
              <a:off x="685800" y="1645920"/>
              <a:ext cx="5038344" cy="2161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 marL="100584" indent="-100584">
                <a:lnSpc>
                  <a:spcPts val="779"/>
                </a:lnSpc>
                <a:spcBef>
                  <a:spcPts val="0"/>
                </a:spcBef>
                <a:buClr>
                  <a:srgbClr val="165FF2"/>
                </a:buClr>
                <a:buSzPct val="100000"/>
                <a:buFont typeface="Arial"/>
                <a:buChar char="•"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Supply: 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IoT device and gateway per store, 4G SIM and data — warranty and hardware AMC included</a:t>
              </a:r>
              <a:endParaRPr lang="en-US" sz="660" dirty="0">
                <a:latin typeface="Inter SemiBold"/>
              </a:endParaRPr>
            </a:p>
            <a:p>
              <a:pPr algn="l" marL="100584" indent="-100584">
                <a:lnSpc>
                  <a:spcPts val="779"/>
                </a:lnSpc>
                <a:spcBef>
                  <a:spcPts val="144"/>
                </a:spcBef>
                <a:buClr>
                  <a:srgbClr val="165FF2"/>
                </a:buClr>
                <a:buSzPct val="100000"/>
                <a:buFont typeface="Arial"/>
                <a:buChar char="•"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Install &amp; integrate: 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commissioning at every store; existing DG controller read over RS-485 / Modbus</a:t>
              </a:r>
              <a:endParaRPr lang="en-US" sz="660" dirty="0">
                <a:latin typeface="Inter SemiBold"/>
              </a:endParaRPr>
            </a:p>
          </p:txBody>
        </p:sp>
      </p:grpSp>
      <p:grpSp>
        <p:nvGrpSpPr>
          <p:cNvPr id="33" name="Group DG monitoring on IOsense"/>
          <p:cNvGrpSpPr/>
          <p:nvPr/>
        </p:nvGrpSpPr>
        <p:grpSpPr>
          <a:xfrm>
            <a:off x="274320" y="2008327"/>
            <a:ext cx="5532120" cy="409804"/>
            <a:chOff x="274320" y="2008327"/>
            <a:chExt cx="5532120" cy="409804"/>
          </a:xfrm>
        </p:grpSpPr>
        <p:sp>
          <p:nvSpPr>
            <p:cNvPr id="34" name="Group card"/>
            <p:cNvSpPr/>
            <p:nvPr/>
          </p:nvSpPr>
          <p:spPr>
            <a:xfrm>
              <a:off x="274320" y="2008327"/>
              <a:ext cx="5532120" cy="409804"/>
            </a:xfrm>
            <a:prstGeom prst="roundRect">
              <a:avLst>
                <a:gd name="adj" fmla="val 17851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5" name="Icon box"/>
            <p:cNvSpPr/>
            <p:nvPr/>
          </p:nvSpPr>
          <p:spPr>
            <a:xfrm>
              <a:off x="356616" y="2090623"/>
              <a:ext cx="237744" cy="237744"/>
            </a:xfrm>
            <a:prstGeom prst="roundRect">
              <a:avLst>
                <a:gd name="adj" fmla="val 19231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6" name="Icon activity"/>
            <p:cNvSpPr/>
            <p:nvPr/>
          </p:nvSpPr>
          <p:spPr>
            <a:xfrm>
              <a:off x="411480" y="2145487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lnTo>
                    <a:pt x="19520" y="12000"/>
                  </a:lnTo>
                  <a:cubicBezTo>
                    <a:pt x="18622" y="11998"/>
                    <a:pt x="17833" y="12595"/>
                    <a:pt x="17590" y="13460"/>
                  </a:cubicBezTo>
                  <a:lnTo>
                    <a:pt x="15240" y="21820"/>
                  </a:lnTo>
                  <a:cubicBezTo>
                    <a:pt x="15209" y="21927"/>
                    <a:pt x="15111" y="22000"/>
                    <a:pt x="15000" y="22000"/>
                  </a:cubicBezTo>
                  <a:cubicBezTo>
                    <a:pt x="14889" y="22000"/>
                    <a:pt x="14791" y="21927"/>
                    <a:pt x="14760" y="21820"/>
                  </a:cubicBezTo>
                  <a:lnTo>
                    <a:pt x="9240" y="2180"/>
                  </a:lnTo>
                  <a:cubicBezTo>
                    <a:pt x="9209" y="2073"/>
                    <a:pt x="9111" y="2000"/>
                    <a:pt x="9000" y="2000"/>
                  </a:cubicBezTo>
                  <a:cubicBezTo>
                    <a:pt x="8889" y="2000"/>
                    <a:pt x="8791" y="2073"/>
                    <a:pt x="8760" y="2180"/>
                  </a:cubicBezTo>
                  <a:lnTo>
                    <a:pt x="6410" y="10540"/>
                  </a:lnTo>
                  <a:cubicBezTo>
                    <a:pt x="6168" y="11401"/>
                    <a:pt x="5384" y="11997"/>
                    <a:pt x="4490" y="12000"/>
                  </a:cubicBezTo>
                  <a:lnTo>
                    <a:pt x="2000" y="12000"/>
                  </a:lnTo>
                </a:path>
              </a:pathLst>
            </a:custGeom>
            <a:noFill/>
            <a:ln w="11735" cap="rnd">
              <a:solidFill>
                <a:srgbClr val="165FF2"/>
              </a:solidFill>
              <a:round/>
            </a:ln>
          </p:spPr>
        </p:sp>
        <p:sp>
          <p:nvSpPr>
            <p:cNvPr id="37" name="Group title"/>
            <p:cNvSpPr txBox="1"/>
            <p:nvPr/>
          </p:nvSpPr>
          <p:spPr>
            <a:xfrm>
              <a:off x="685800" y="2081479"/>
              <a:ext cx="503834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50"/>
                </a:lnSpc>
                <a:spcBef>
                  <a:spcPts val="0"/>
                </a:spcBef>
                <a:buNone/>
              </a:pPr>
              <a:r>
                <a:rPr lang="en-US" sz="7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DG monitoring on IOsense</a:t>
              </a:r>
              <a:endParaRPr lang="en-US" sz="740" dirty="0">
                <a:latin typeface="Inter SemiBold"/>
              </a:endParaRPr>
            </a:p>
          </p:txBody>
        </p:sp>
        <p:sp>
          <p:nvSpPr>
            <p:cNvPr id="38" name="Bullets"/>
            <p:cNvSpPr txBox="1"/>
            <p:nvPr/>
          </p:nvSpPr>
          <p:spPr>
            <a:xfrm>
              <a:off x="685800" y="2236927"/>
              <a:ext cx="5038344" cy="989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 marL="100584" indent="-100584">
                <a:lnSpc>
                  <a:spcPts val="779"/>
                </a:lnSpc>
                <a:spcBef>
                  <a:spcPts val="0"/>
                </a:spcBef>
                <a:buClr>
                  <a:srgbClr val="165FF2"/>
                </a:buClr>
                <a:buSzPct val="100000"/>
                <a:buFont typeface="Arial"/>
                <a:buChar char="•"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Live DG views: 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fuel level, volume, running hours, kWh and status; store, city and zone views</a:t>
              </a:r>
              <a:endParaRPr lang="en-US" sz="660" dirty="0">
                <a:latin typeface="Inter SemiBold"/>
              </a:endParaRPr>
            </a:p>
          </p:txBody>
        </p:sp>
      </p:grpSp>
      <p:grpSp>
        <p:nvGrpSpPr>
          <p:cNvPr id="39" name="Group Workflow 01  ·  Fuel management &amp; vendor refilling"/>
          <p:cNvGrpSpPr/>
          <p:nvPr/>
        </p:nvGrpSpPr>
        <p:grpSpPr>
          <a:xfrm>
            <a:off x="274320" y="2482139"/>
            <a:ext cx="5532120" cy="526999"/>
            <a:chOff x="274320" y="2482139"/>
            <a:chExt cx="5532120" cy="526999"/>
          </a:xfrm>
        </p:grpSpPr>
        <p:sp>
          <p:nvSpPr>
            <p:cNvPr id="40" name="Group card"/>
            <p:cNvSpPr/>
            <p:nvPr/>
          </p:nvSpPr>
          <p:spPr>
            <a:xfrm>
              <a:off x="274320" y="2482139"/>
              <a:ext cx="5532120" cy="526999"/>
            </a:xfrm>
            <a:prstGeom prst="roundRect">
              <a:avLst>
                <a:gd name="adj" fmla="val 13881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1" name="Icon box"/>
            <p:cNvSpPr/>
            <p:nvPr/>
          </p:nvSpPr>
          <p:spPr>
            <a:xfrm>
              <a:off x="356616" y="2564435"/>
              <a:ext cx="237744" cy="237744"/>
            </a:xfrm>
            <a:prstGeom prst="roundRect">
              <a:avLst>
                <a:gd name="adj" fmla="val 19231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2" name="Icon fuel"/>
            <p:cNvSpPr/>
            <p:nvPr/>
          </p:nvSpPr>
          <p:spPr>
            <a:xfrm>
              <a:off x="411480" y="2619299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22000"/>
                  </a:moveTo>
                  <a:lnTo>
                    <a:pt x="15000" y="22000"/>
                  </a:lnTo>
                </a:path>
                <a:path w="24000" h="24000" fill="none">
                  <a:moveTo>
                    <a:pt x="4000" y="9000"/>
                  </a:moveTo>
                  <a:lnTo>
                    <a:pt x="14000" y="9000"/>
                  </a:lnTo>
                </a:path>
                <a:path w="24000" h="24000" fill="none">
                  <a:moveTo>
                    <a:pt x="14000" y="22000"/>
                  </a:moveTo>
                  <a:lnTo>
                    <a:pt x="14000" y="4000"/>
                  </a:lnTo>
                  <a:cubicBezTo>
                    <a:pt x="14000" y="2895"/>
                    <a:pt x="13105" y="2000"/>
                    <a:pt x="12000" y="2000"/>
                  </a:cubicBez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2000"/>
                  </a:lnTo>
                </a:path>
                <a:path w="24000" h="24000" fill="none">
                  <a:moveTo>
                    <a:pt x="14000" y="13000"/>
                  </a:moveTo>
                  <a:lnTo>
                    <a:pt x="16000" y="13000"/>
                  </a:lnTo>
                  <a:cubicBezTo>
                    <a:pt x="17105" y="13000"/>
                    <a:pt x="18000" y="13895"/>
                    <a:pt x="18000" y="15000"/>
                  </a:cubicBezTo>
                  <a:lnTo>
                    <a:pt x="18000" y="17000"/>
                  </a:lnTo>
                  <a:cubicBezTo>
                    <a:pt x="18000" y="18105"/>
                    <a:pt x="18895" y="19000"/>
                    <a:pt x="20000" y="19000"/>
                  </a:cubicBezTo>
                  <a:cubicBezTo>
                    <a:pt x="21105" y="19000"/>
                    <a:pt x="22000" y="18105"/>
                    <a:pt x="22000" y="17000"/>
                  </a:cubicBezTo>
                  <a:lnTo>
                    <a:pt x="22000" y="9830"/>
                  </a:lnTo>
                  <a:cubicBezTo>
                    <a:pt x="22000" y="9297"/>
                    <a:pt x="21788" y="8786"/>
                    <a:pt x="21410" y="8410"/>
                  </a:cubicBezTo>
                  <a:lnTo>
                    <a:pt x="18000" y="5000"/>
                  </a:lnTo>
                </a:path>
              </a:pathLst>
            </a:custGeom>
            <a:noFill/>
            <a:ln w="11735" cap="rnd">
              <a:solidFill>
                <a:srgbClr val="165FF2"/>
              </a:solidFill>
              <a:round/>
            </a:ln>
          </p:spPr>
        </p:sp>
        <p:sp>
          <p:nvSpPr>
            <p:cNvPr id="43" name="Group title"/>
            <p:cNvSpPr txBox="1"/>
            <p:nvPr/>
          </p:nvSpPr>
          <p:spPr>
            <a:xfrm>
              <a:off x="685800" y="2555291"/>
              <a:ext cx="503834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50"/>
                </a:lnSpc>
                <a:spcBef>
                  <a:spcPts val="0"/>
                </a:spcBef>
                <a:buNone/>
              </a:pPr>
              <a:r>
                <a:rPr lang="en-US" sz="7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Workflow 01  ·  Fuel management &amp; vendor refilling</a:t>
              </a:r>
              <a:endParaRPr lang="en-US" sz="740" dirty="0">
                <a:latin typeface="Inter SemiBold"/>
              </a:endParaRPr>
            </a:p>
          </p:txBody>
        </p:sp>
        <p:sp>
          <p:nvSpPr>
            <p:cNvPr id="44" name="Bullets"/>
            <p:cNvSpPr txBox="1"/>
            <p:nvPr/>
          </p:nvSpPr>
          <p:spPr>
            <a:xfrm>
              <a:off x="685800" y="2710739"/>
              <a:ext cx="5038344" cy="2161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 marL="100584" indent="-100584">
                <a:lnSpc>
                  <a:spcPts val="779"/>
                </a:lnSpc>
                <a:spcBef>
                  <a:spcPts val="0"/>
                </a:spcBef>
                <a:buClr>
                  <a:srgbClr val="165FF2"/>
                </a:buClr>
                <a:buSzPct val="100000"/>
                <a:buFont typeface="Arial"/>
                <a:buChar char="•"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Masters &amp; settings: 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store, DG, vendor &amp; SPOC masters; low-fuel limits; waiting time; rate cards</a:t>
              </a:r>
              <a:endParaRPr lang="en-US" sz="660" dirty="0">
                <a:latin typeface="Inter SemiBold"/>
              </a:endParaRPr>
            </a:p>
            <a:p>
              <a:pPr algn="l" marL="100584" indent="-100584">
                <a:lnSpc>
                  <a:spcPts val="779"/>
                </a:lnSpc>
                <a:spcBef>
                  <a:spcPts val="144"/>
                </a:spcBef>
                <a:buClr>
                  <a:srgbClr val="165FF2"/>
                </a:buClr>
                <a:buSzPct val="100000"/>
                <a:buFont typeface="Arial"/>
                <a:buChar char="•"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Refill cycle: 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alert → work order → assignment → vendor portal → completion, with audit history</a:t>
              </a:r>
              <a:endParaRPr lang="en-US" sz="660" dirty="0">
                <a:latin typeface="Inter SemiBold"/>
              </a:endParaRPr>
            </a:p>
          </p:txBody>
        </p:sp>
      </p:grpSp>
      <p:grpSp>
        <p:nvGrpSpPr>
          <p:cNvPr id="45" name="Group Workflow 02  ·  Preventive &amp; breakdown maintenance"/>
          <p:cNvGrpSpPr/>
          <p:nvPr/>
        </p:nvGrpSpPr>
        <p:grpSpPr>
          <a:xfrm>
            <a:off x="274320" y="3073146"/>
            <a:ext cx="5532120" cy="409804"/>
            <a:chOff x="274320" y="3073146"/>
            <a:chExt cx="5532120" cy="409804"/>
          </a:xfrm>
        </p:grpSpPr>
        <p:sp>
          <p:nvSpPr>
            <p:cNvPr id="46" name="Group card"/>
            <p:cNvSpPr/>
            <p:nvPr/>
          </p:nvSpPr>
          <p:spPr>
            <a:xfrm>
              <a:off x="274320" y="3073146"/>
              <a:ext cx="5532120" cy="409804"/>
            </a:xfrm>
            <a:prstGeom prst="roundRect">
              <a:avLst>
                <a:gd name="adj" fmla="val 17851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7" name="Icon box"/>
            <p:cNvSpPr/>
            <p:nvPr/>
          </p:nvSpPr>
          <p:spPr>
            <a:xfrm>
              <a:off x="356616" y="3155442"/>
              <a:ext cx="237744" cy="237744"/>
            </a:xfrm>
            <a:prstGeom prst="roundRect">
              <a:avLst>
                <a:gd name="adj" fmla="val 19231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8" name="Icon wrench"/>
            <p:cNvSpPr/>
            <p:nvPr/>
          </p:nvSpPr>
          <p:spPr>
            <a:xfrm>
              <a:off x="411480" y="3210306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4700" y="6300"/>
                  </a:moveTo>
                  <a:cubicBezTo>
                    <a:pt x="14319" y="6689"/>
                    <a:pt x="14319" y="7311"/>
                    <a:pt x="14700" y="7700"/>
                  </a:cubicBezTo>
                  <a:lnTo>
                    <a:pt x="16300" y="9300"/>
                  </a:lnTo>
                  <a:cubicBezTo>
                    <a:pt x="16689" y="9681"/>
                    <a:pt x="17311" y="9681"/>
                    <a:pt x="17700" y="9300"/>
                  </a:cubicBezTo>
                  <a:lnTo>
                    <a:pt x="21470" y="5530"/>
                  </a:lnTo>
                  <a:cubicBezTo>
                    <a:pt x="22500" y="7805"/>
                    <a:pt x="22012" y="10480"/>
                    <a:pt x="20246" y="12246"/>
                  </a:cubicBezTo>
                  <a:cubicBezTo>
                    <a:pt x="18480" y="14012"/>
                    <a:pt x="15805" y="14500"/>
                    <a:pt x="13530" y="13470"/>
                  </a:cubicBezTo>
                  <a:lnTo>
                    <a:pt x="6620" y="20380"/>
                  </a:lnTo>
                  <a:cubicBezTo>
                    <a:pt x="5792" y="21208"/>
                    <a:pt x="4448" y="21208"/>
                    <a:pt x="3620" y="20380"/>
                  </a:cubicBezTo>
                  <a:cubicBezTo>
                    <a:pt x="2792" y="19552"/>
                    <a:pt x="2792" y="18208"/>
                    <a:pt x="3620" y="17380"/>
                  </a:cubicBezTo>
                  <a:lnTo>
                    <a:pt x="10530" y="10470"/>
                  </a:lnTo>
                  <a:cubicBezTo>
                    <a:pt x="9500" y="8195"/>
                    <a:pt x="9988" y="5520"/>
                    <a:pt x="11754" y="3754"/>
                  </a:cubicBezTo>
                  <a:cubicBezTo>
                    <a:pt x="13520" y="1988"/>
                    <a:pt x="16195" y="1500"/>
                    <a:pt x="18470" y="2530"/>
                  </a:cubicBezTo>
                  <a:lnTo>
                    <a:pt x="14710" y="6290"/>
                  </a:lnTo>
                  <a:close/>
                </a:path>
              </a:pathLst>
            </a:custGeom>
            <a:noFill/>
            <a:ln w="11735" cap="rnd">
              <a:solidFill>
                <a:srgbClr val="165FF2"/>
              </a:solidFill>
              <a:round/>
            </a:ln>
          </p:spPr>
        </p:sp>
        <p:sp>
          <p:nvSpPr>
            <p:cNvPr id="49" name="Group title"/>
            <p:cNvSpPr txBox="1"/>
            <p:nvPr/>
          </p:nvSpPr>
          <p:spPr>
            <a:xfrm>
              <a:off x="685800" y="3146298"/>
              <a:ext cx="503834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50"/>
                </a:lnSpc>
                <a:spcBef>
                  <a:spcPts val="0"/>
                </a:spcBef>
                <a:buNone/>
              </a:pPr>
              <a:r>
                <a:rPr lang="en-US" sz="7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Workflow 02  ·  Preventive &amp; breakdown maintenance</a:t>
              </a:r>
              <a:endParaRPr lang="en-US" sz="740" dirty="0">
                <a:latin typeface="Inter SemiBold"/>
              </a:endParaRPr>
            </a:p>
          </p:txBody>
        </p:sp>
        <p:sp>
          <p:nvSpPr>
            <p:cNvPr id="50" name="Bullets"/>
            <p:cNvSpPr txBox="1"/>
            <p:nvPr/>
          </p:nvSpPr>
          <p:spPr>
            <a:xfrm>
              <a:off x="685800" y="3301746"/>
              <a:ext cx="5038344" cy="989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 marL="100584" indent="-100584">
                <a:lnSpc>
                  <a:spcPts val="779"/>
                </a:lnSpc>
                <a:spcBef>
                  <a:spcPts val="0"/>
                </a:spcBef>
                <a:buClr>
                  <a:srgbClr val="165FF2"/>
                </a:buClr>
                <a:buSzPct val="100000"/>
                <a:buFont typeface="Arial"/>
                <a:buChar char="•"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PM &amp; breakdown: 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triggers per DG; work order to the AMC vendor; details and proof; shared history</a:t>
              </a:r>
              <a:endParaRPr lang="en-US" sz="660" dirty="0">
                <a:latin typeface="Inter SemiBold"/>
              </a:endParaRPr>
            </a:p>
          </p:txBody>
        </p:sp>
      </p:grpSp>
      <p:grpSp>
        <p:nvGrpSpPr>
          <p:cNvPr id="51" name="Group Billing, Oracle Fusion &amp; services"/>
          <p:cNvGrpSpPr/>
          <p:nvPr/>
        </p:nvGrpSpPr>
        <p:grpSpPr>
          <a:xfrm>
            <a:off x="274320" y="3546958"/>
            <a:ext cx="5532120" cy="526999"/>
            <a:chOff x="274320" y="3546958"/>
            <a:chExt cx="5532120" cy="526999"/>
          </a:xfrm>
        </p:grpSpPr>
        <p:sp>
          <p:nvSpPr>
            <p:cNvPr id="52" name="Group card"/>
            <p:cNvSpPr/>
            <p:nvPr/>
          </p:nvSpPr>
          <p:spPr>
            <a:xfrm>
              <a:off x="274320" y="3546958"/>
              <a:ext cx="5532120" cy="526999"/>
            </a:xfrm>
            <a:prstGeom prst="roundRect">
              <a:avLst>
                <a:gd name="adj" fmla="val 13881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53" name="Icon box"/>
            <p:cNvSpPr/>
            <p:nvPr/>
          </p:nvSpPr>
          <p:spPr>
            <a:xfrm>
              <a:off x="356616" y="3629254"/>
              <a:ext cx="237744" cy="237744"/>
            </a:xfrm>
            <a:prstGeom prst="roundRect">
              <a:avLst>
                <a:gd name="adj" fmla="val 19231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54" name="Icon receipt"/>
            <p:cNvSpPr/>
            <p:nvPr/>
          </p:nvSpPr>
          <p:spPr>
            <a:xfrm>
              <a:off x="411480" y="3684118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2000"/>
                  </a:moveTo>
                  <a:lnTo>
                    <a:pt x="4000" y="22000"/>
                  </a:lnTo>
                  <a:lnTo>
                    <a:pt x="6000" y="21000"/>
                  </a:lnTo>
                  <a:lnTo>
                    <a:pt x="8000" y="22000"/>
                  </a:lnTo>
                  <a:lnTo>
                    <a:pt x="10000" y="21000"/>
                  </a:lnTo>
                  <a:lnTo>
                    <a:pt x="12000" y="22000"/>
                  </a:lnTo>
                  <a:lnTo>
                    <a:pt x="14000" y="21000"/>
                  </a:lnTo>
                  <a:lnTo>
                    <a:pt x="16000" y="22000"/>
                  </a:lnTo>
                  <a:lnTo>
                    <a:pt x="18000" y="21000"/>
                  </a:lnTo>
                  <a:lnTo>
                    <a:pt x="20000" y="22000"/>
                  </a:lnTo>
                  <a:lnTo>
                    <a:pt x="20000" y="2000"/>
                  </a:lnTo>
                  <a:lnTo>
                    <a:pt x="18000" y="3000"/>
                  </a:lnTo>
                  <a:lnTo>
                    <a:pt x="16000" y="2000"/>
                  </a:lnTo>
                  <a:lnTo>
                    <a:pt x="14000" y="3000"/>
                  </a:lnTo>
                  <a:lnTo>
                    <a:pt x="12000" y="2000"/>
                  </a:lnTo>
                  <a:lnTo>
                    <a:pt x="10000" y="3000"/>
                  </a:lnTo>
                  <a:lnTo>
                    <a:pt x="8000" y="2000"/>
                  </a:lnTo>
                  <a:lnTo>
                    <a:pt x="6000" y="3000"/>
                  </a:lnTo>
                  <a:close/>
                </a:path>
                <a:path w="24000" h="24000" fill="none">
                  <a:moveTo>
                    <a:pt x="16000" y="8000"/>
                  </a:moveTo>
                  <a:lnTo>
                    <a:pt x="10000" y="8000"/>
                  </a:lnTo>
                  <a:cubicBezTo>
                    <a:pt x="8895" y="8000"/>
                    <a:pt x="8000" y="8895"/>
                    <a:pt x="8000" y="10000"/>
                  </a:cubicBezTo>
                  <a:cubicBezTo>
                    <a:pt x="8000" y="11105"/>
                    <a:pt x="8895" y="12000"/>
                    <a:pt x="10000" y="12000"/>
                  </a:cubicBezTo>
                  <a:lnTo>
                    <a:pt x="14000" y="12000"/>
                  </a:lnTo>
                  <a:cubicBezTo>
                    <a:pt x="15105" y="12000"/>
                    <a:pt x="16000" y="12895"/>
                    <a:pt x="16000" y="14000"/>
                  </a:cubicBezTo>
                  <a:cubicBezTo>
                    <a:pt x="16000" y="15105"/>
                    <a:pt x="15105" y="16000"/>
                    <a:pt x="14000" y="16000"/>
                  </a:cubicBezTo>
                  <a:lnTo>
                    <a:pt x="8000" y="16000"/>
                  </a:lnTo>
                </a:path>
                <a:path w="24000" h="24000" fill="none">
                  <a:moveTo>
                    <a:pt x="12000" y="17500"/>
                  </a:moveTo>
                  <a:lnTo>
                    <a:pt x="12000" y="6500"/>
                  </a:lnTo>
                </a:path>
              </a:pathLst>
            </a:custGeom>
            <a:noFill/>
            <a:ln w="11735" cap="rnd">
              <a:solidFill>
                <a:srgbClr val="165FF2"/>
              </a:solidFill>
              <a:round/>
            </a:ln>
          </p:spPr>
        </p:sp>
        <p:sp>
          <p:nvSpPr>
            <p:cNvPr id="55" name="Group title"/>
            <p:cNvSpPr txBox="1"/>
            <p:nvPr/>
          </p:nvSpPr>
          <p:spPr>
            <a:xfrm>
              <a:off x="685800" y="3620110"/>
              <a:ext cx="503834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850"/>
                </a:lnSpc>
                <a:spcBef>
                  <a:spcPts val="0"/>
                </a:spcBef>
                <a:buNone/>
              </a:pPr>
              <a:r>
                <a:rPr lang="en-US" sz="74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Billing, Oracle Fusion &amp; services</a:t>
              </a:r>
              <a:endParaRPr lang="en-US" sz="740" dirty="0">
                <a:latin typeface="Inter SemiBold"/>
              </a:endParaRPr>
            </a:p>
          </p:txBody>
        </p:sp>
        <p:sp>
          <p:nvSpPr>
            <p:cNvPr id="56" name="Bullets"/>
            <p:cNvSpPr txBox="1"/>
            <p:nvPr/>
          </p:nvSpPr>
          <p:spPr>
            <a:xfrm>
              <a:off x="685800" y="3775558"/>
              <a:ext cx="5038344" cy="2161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 marL="100584" indent="-100584">
                <a:lnSpc>
                  <a:spcPts val="779"/>
                </a:lnSpc>
                <a:spcBef>
                  <a:spcPts val="0"/>
                </a:spcBef>
                <a:buClr>
                  <a:srgbClr val="165FF2"/>
                </a:buClr>
                <a:buSzPct val="100000"/>
                <a:buFont typeface="Arial"/>
                <a:buChar char="•"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Billing to Fusion: 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line items, eligible transactions, invoice upload, locking, posting to Oracle Fusion</a:t>
              </a:r>
              <a:endParaRPr lang="en-US" sz="660" dirty="0">
                <a:latin typeface="Inter SemiBold"/>
              </a:endParaRPr>
            </a:p>
            <a:p>
              <a:pPr algn="l" marL="100584" indent="-100584">
                <a:lnSpc>
                  <a:spcPts val="779"/>
                </a:lnSpc>
                <a:spcBef>
                  <a:spcPts val="144"/>
                </a:spcBef>
                <a:buClr>
                  <a:srgbClr val="165FF2"/>
                </a:buClr>
                <a:buSzPct val="100000"/>
                <a:buFont typeface="Arial"/>
                <a:buChar char="•"/>
              </a:pPr>
              <a:r>
                <a:rPr lang="en-US" sz="6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Also included: </a:t>
              </a: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notifications, dashboards and downloads  ·  SOP  ·  training  ·  UAT  ·  go-live support</a:t>
              </a:r>
              <a:endParaRPr lang="en-US" sz="660" dirty="0">
                <a:latin typeface="Inter SemiBold"/>
              </a:endParaRPr>
            </a:p>
          </p:txBody>
        </p:sp>
      </p:grpSp>
      <p:sp>
        <p:nvSpPr>
          <p:cNvPr id="57" name="Optional strip"/>
          <p:cNvSpPr/>
          <p:nvPr/>
        </p:nvSpPr>
        <p:spPr>
          <a:xfrm>
            <a:off x="274320" y="4137965"/>
            <a:ext cx="5532120" cy="274320"/>
          </a:xfrm>
          <a:prstGeom prst="roundRect">
            <a:avLst>
              <a:gd name="adj" fmla="val 20000"/>
            </a:avLst>
          </a:prstGeom>
          <a:solidFill>
            <a:srgbClr val="FFF7F0"/>
          </a:solidFill>
          <a:ln w="6350">
            <a:solidFill>
              <a:srgbClr val="E9690C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8" name="Icon receipt"/>
          <p:cNvSpPr/>
          <p:nvPr/>
        </p:nvSpPr>
        <p:spPr>
          <a:xfrm>
            <a:off x="384048" y="4211117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2000"/>
                </a:moveTo>
                <a:lnTo>
                  <a:pt x="4000" y="22000"/>
                </a:lnTo>
                <a:lnTo>
                  <a:pt x="6000" y="21000"/>
                </a:lnTo>
                <a:lnTo>
                  <a:pt x="8000" y="22000"/>
                </a:lnTo>
                <a:lnTo>
                  <a:pt x="10000" y="21000"/>
                </a:lnTo>
                <a:lnTo>
                  <a:pt x="12000" y="22000"/>
                </a:lnTo>
                <a:lnTo>
                  <a:pt x="14000" y="21000"/>
                </a:lnTo>
                <a:lnTo>
                  <a:pt x="16000" y="22000"/>
                </a:lnTo>
                <a:lnTo>
                  <a:pt x="18000" y="21000"/>
                </a:lnTo>
                <a:lnTo>
                  <a:pt x="20000" y="22000"/>
                </a:lnTo>
                <a:lnTo>
                  <a:pt x="20000" y="2000"/>
                </a:lnTo>
                <a:lnTo>
                  <a:pt x="18000" y="3000"/>
                </a:lnTo>
                <a:lnTo>
                  <a:pt x="16000" y="2000"/>
                </a:lnTo>
                <a:lnTo>
                  <a:pt x="14000" y="3000"/>
                </a:lnTo>
                <a:lnTo>
                  <a:pt x="12000" y="2000"/>
                </a:lnTo>
                <a:lnTo>
                  <a:pt x="10000" y="3000"/>
                </a:lnTo>
                <a:lnTo>
                  <a:pt x="8000" y="2000"/>
                </a:lnTo>
                <a:lnTo>
                  <a:pt x="6000" y="3000"/>
                </a:lnTo>
                <a:close/>
              </a:path>
              <a:path w="24000" h="24000" fill="none">
                <a:moveTo>
                  <a:pt x="16000" y="8000"/>
                </a:moveTo>
                <a:lnTo>
                  <a:pt x="10000" y="8000"/>
                </a:lnTo>
                <a:cubicBezTo>
                  <a:pt x="8895" y="8000"/>
                  <a:pt x="8000" y="8895"/>
                  <a:pt x="8000" y="10000"/>
                </a:cubicBezTo>
                <a:cubicBezTo>
                  <a:pt x="8000" y="11105"/>
                  <a:pt x="8895" y="12000"/>
                  <a:pt x="10000" y="12000"/>
                </a:cubicBezTo>
                <a:lnTo>
                  <a:pt x="14000" y="12000"/>
                </a:lnTo>
                <a:cubicBezTo>
                  <a:pt x="15105" y="12000"/>
                  <a:pt x="16000" y="12895"/>
                  <a:pt x="16000" y="14000"/>
                </a:cubicBezTo>
                <a:cubicBezTo>
                  <a:pt x="16000" y="15105"/>
                  <a:pt x="15105" y="16000"/>
                  <a:pt x="14000" y="16000"/>
                </a:cubicBezTo>
                <a:lnTo>
                  <a:pt x="8000" y="16000"/>
                </a:lnTo>
              </a:path>
              <a:path w="24000" h="24000" fill="none">
                <a:moveTo>
                  <a:pt x="12000" y="17500"/>
                </a:moveTo>
                <a:lnTo>
                  <a:pt x="12000" y="6500"/>
                </a:lnTo>
              </a:path>
            </a:pathLst>
          </a:custGeom>
          <a:noFill/>
          <a:ln w="11735" cap="rnd">
            <a:solidFill>
              <a:srgbClr val="C65C10"/>
            </a:solidFill>
            <a:round/>
          </a:ln>
        </p:spPr>
      </p:sp>
      <p:sp>
        <p:nvSpPr>
          <p:cNvPr id="59" name="Optional text"/>
          <p:cNvSpPr txBox="1"/>
          <p:nvPr/>
        </p:nvSpPr>
        <p:spPr>
          <a:xfrm>
            <a:off x="585216" y="4137965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80" b="0" i="0" spc="0" dirty="0">
                <a:solidFill>
                  <a:srgbClr val="C65C1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Optional scope  ·  </a:t>
            </a:r>
            <a:r>
              <a:rPr lang="en-US" sz="66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automated report scheduling and distribution — schedule and recipients to be finalised</a:t>
            </a:r>
            <a:endParaRPr lang="en-US" sz="680" dirty="0">
              <a:latin typeface="Inter SemiBold"/>
            </a:endParaRPr>
          </a:p>
        </p:txBody>
      </p:sp>
      <p:sp>
        <p:nvSpPr>
          <p:cNvPr id="60" name="Flipkart scope card"/>
          <p:cNvSpPr/>
          <p:nvPr/>
        </p:nvSpPr>
        <p:spPr>
          <a:xfrm>
            <a:off x="5943600" y="1417320"/>
            <a:ext cx="2926080" cy="299496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61" name="Icon database"/>
          <p:cNvSpPr/>
          <p:nvPr/>
        </p:nvSpPr>
        <p:spPr>
          <a:xfrm>
            <a:off x="6053328" y="1513332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</a:path>
              <a:path w="24000" h="24000" fill="none"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</a:path>
              <a:path w="24000" h="24000" fill="none"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1735" cap="rnd">
            <a:solidFill>
              <a:srgbClr val="40566D"/>
            </a:solidFill>
            <a:round/>
          </a:ln>
        </p:spPr>
      </p:sp>
      <p:sp>
        <p:nvSpPr>
          <p:cNvPr id="62" name="Scope item"/>
          <p:cNvSpPr txBox="1"/>
          <p:nvPr/>
        </p:nvSpPr>
        <p:spPr>
          <a:xfrm>
            <a:off x="6254496" y="1508760"/>
            <a:ext cx="2468880" cy="195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7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Store master (zone, city, store, email IDs), DG master and the user list with roles</a:t>
            </a:r>
            <a:endParaRPr lang="en-US" sz="660" dirty="0">
              <a:latin typeface="Inter"/>
            </a:endParaRPr>
          </a:p>
        </p:txBody>
      </p:sp>
      <p:cxnSp>
        <p:nvCxnSpPr>
          <p:cNvPr id="63" name="Divider"/>
          <p:cNvCxnSpPr/>
          <p:nvPr/>
        </p:nvCxnSpPr>
        <p:spPr>
          <a:xfrm>
            <a:off x="6053328" y="1824592"/>
            <a:ext cx="2706624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sp>
        <p:nvSpPr>
          <p:cNvPr id="64" name="Icon users-round"/>
          <p:cNvSpPr/>
          <p:nvPr/>
        </p:nvSpPr>
        <p:spPr>
          <a:xfrm>
            <a:off x="6053328" y="1949416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8000" y="21000"/>
                </a:moveTo>
                <a:cubicBezTo>
                  <a:pt x="18000" y="16582"/>
                  <a:pt x="14418" y="13000"/>
                  <a:pt x="10000" y="13000"/>
                </a:cubicBezTo>
                <a:cubicBezTo>
                  <a:pt x="5582" y="13000"/>
                  <a:pt x="2000" y="16582"/>
                  <a:pt x="2000" y="21000"/>
                </a:cubicBezTo>
              </a:path>
              <a:path w="24000" h="24000" fill="none">
                <a:moveTo>
                  <a:pt x="15000" y="8000"/>
                </a:moveTo>
                <a:cubicBezTo>
                  <a:pt x="15000" y="10761"/>
                  <a:pt x="12761" y="13000"/>
                  <a:pt x="10000" y="13000"/>
                </a:cubicBezTo>
                <a:cubicBezTo>
                  <a:pt x="7239" y="13000"/>
                  <a:pt x="5000" y="10761"/>
                  <a:pt x="5000" y="8000"/>
                </a:cubicBezTo>
                <a:cubicBezTo>
                  <a:pt x="5000" y="5239"/>
                  <a:pt x="7239" y="3000"/>
                  <a:pt x="10000" y="3000"/>
                </a:cubicBezTo>
                <a:cubicBezTo>
                  <a:pt x="12761" y="3000"/>
                  <a:pt x="15000" y="5239"/>
                  <a:pt x="15000" y="8000"/>
                </a:cubicBezTo>
                <a:close/>
              </a:path>
              <a:path w="24000" h="24000" fill="none">
                <a:moveTo>
                  <a:pt x="22000" y="20000"/>
                </a:moveTo>
                <a:cubicBezTo>
                  <a:pt x="22000" y="16630"/>
                  <a:pt x="20000" y="13500"/>
                  <a:pt x="18000" y="12000"/>
                </a:cubicBezTo>
                <a:cubicBezTo>
                  <a:pt x="19335" y="10998"/>
                  <a:pt x="20082" y="9396"/>
                  <a:pt x="19992" y="7730"/>
                </a:cubicBezTo>
                <a:cubicBezTo>
                  <a:pt x="19902" y="6063"/>
                  <a:pt x="18986" y="4551"/>
                  <a:pt x="17550" y="3700"/>
                </a:cubicBezTo>
              </a:path>
            </a:pathLst>
          </a:custGeom>
          <a:noFill/>
          <a:ln w="11735" cap="rnd">
            <a:solidFill>
              <a:srgbClr val="40566D"/>
            </a:solidFill>
            <a:round/>
          </a:ln>
        </p:spPr>
      </p:sp>
      <p:sp>
        <p:nvSpPr>
          <p:cNvPr id="65" name="Scope item"/>
          <p:cNvSpPr txBox="1"/>
          <p:nvPr/>
        </p:nvSpPr>
        <p:spPr>
          <a:xfrm>
            <a:off x="6254496" y="1944844"/>
            <a:ext cx="2468880" cy="195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7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Refilling and AMC vendor list, SPOC contacts, vendor-to-DG mapping and rate cards</a:t>
            </a:r>
            <a:endParaRPr lang="en-US" sz="660" dirty="0">
              <a:latin typeface="Inter"/>
            </a:endParaRPr>
          </a:p>
        </p:txBody>
      </p:sp>
      <p:cxnSp>
        <p:nvCxnSpPr>
          <p:cNvPr id="66" name="Divider"/>
          <p:cNvCxnSpPr/>
          <p:nvPr/>
        </p:nvCxnSpPr>
        <p:spPr>
          <a:xfrm>
            <a:off x="6053328" y="2260676"/>
            <a:ext cx="2706624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sp>
        <p:nvSpPr>
          <p:cNvPr id="67" name="Icon sliders-horizontal"/>
          <p:cNvSpPr/>
          <p:nvPr/>
        </p:nvSpPr>
        <p:spPr>
          <a:xfrm>
            <a:off x="6053328" y="2385500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4000"/>
                </a:moveTo>
                <a:lnTo>
                  <a:pt x="14000" y="4000"/>
                </a:lnTo>
              </a:path>
              <a:path w="24000" h="24000" fill="none">
                <a:moveTo>
                  <a:pt x="10000" y="4000"/>
                </a:moveTo>
                <a:lnTo>
                  <a:pt x="3000" y="4000"/>
                </a:lnTo>
              </a:path>
              <a:path w="24000" h="24000" fill="none">
                <a:moveTo>
                  <a:pt x="21000" y="12000"/>
                </a:moveTo>
                <a:lnTo>
                  <a:pt x="12000" y="12000"/>
                </a:lnTo>
              </a:path>
              <a:path w="24000" h="24000" fill="none">
                <a:moveTo>
                  <a:pt x="8000" y="12000"/>
                </a:moveTo>
                <a:lnTo>
                  <a:pt x="3000" y="12000"/>
                </a:lnTo>
              </a:path>
              <a:path w="24000" h="24000" fill="none">
                <a:moveTo>
                  <a:pt x="21000" y="20000"/>
                </a:moveTo>
                <a:lnTo>
                  <a:pt x="16000" y="20000"/>
                </a:lnTo>
              </a:path>
              <a:path w="24000" h="24000" fill="none">
                <a:moveTo>
                  <a:pt x="12000" y="20000"/>
                </a:moveTo>
                <a:lnTo>
                  <a:pt x="3000" y="20000"/>
                </a:lnTo>
              </a:path>
              <a:path w="24000" h="24000" fill="none">
                <a:moveTo>
                  <a:pt x="14000" y="2000"/>
                </a:moveTo>
                <a:lnTo>
                  <a:pt x="14000" y="6000"/>
                </a:lnTo>
              </a:path>
              <a:path w="24000" h="24000" fill="none">
                <a:moveTo>
                  <a:pt x="8000" y="10000"/>
                </a:moveTo>
                <a:lnTo>
                  <a:pt x="8000" y="14000"/>
                </a:lnTo>
              </a:path>
              <a:path w="24000" h="24000" fill="none">
                <a:moveTo>
                  <a:pt x="16000" y="18000"/>
                </a:moveTo>
                <a:lnTo>
                  <a:pt x="16000" y="22000"/>
                </a:lnTo>
              </a:path>
            </a:pathLst>
          </a:custGeom>
          <a:noFill/>
          <a:ln w="11735" cap="rnd">
            <a:solidFill>
              <a:srgbClr val="40566D"/>
            </a:solidFill>
            <a:round/>
          </a:ln>
        </p:spPr>
      </p:sp>
      <p:sp>
        <p:nvSpPr>
          <p:cNvPr id="68" name="Scope item"/>
          <p:cNvSpPr txBox="1"/>
          <p:nvPr/>
        </p:nvSpPr>
        <p:spPr>
          <a:xfrm>
            <a:off x="6254496" y="2380928"/>
            <a:ext cx="2468880" cy="195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7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Low-fuel limits, waiting time and PM settings (running-hours limit / fixed period) per DG</a:t>
            </a:r>
            <a:endParaRPr lang="en-US" sz="660" dirty="0">
              <a:latin typeface="Inter"/>
            </a:endParaRPr>
          </a:p>
        </p:txBody>
      </p:sp>
      <p:cxnSp>
        <p:nvCxnSpPr>
          <p:cNvPr id="69" name="Divider"/>
          <p:cNvCxnSpPr/>
          <p:nvPr/>
        </p:nvCxnSpPr>
        <p:spPr>
          <a:xfrm>
            <a:off x="6053328" y="2696760"/>
            <a:ext cx="2706624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sp>
        <p:nvSpPr>
          <p:cNvPr id="70" name="Icon map-pin"/>
          <p:cNvSpPr/>
          <p:nvPr/>
        </p:nvSpPr>
        <p:spPr>
          <a:xfrm>
            <a:off x="6053328" y="2821584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0000"/>
                </a:moveTo>
                <a:cubicBezTo>
                  <a:pt x="20000" y="14993"/>
                  <a:pt x="14461" y="20193"/>
                  <a:pt x="12601" y="21799"/>
                </a:cubicBezTo>
                <a:cubicBezTo>
                  <a:pt x="12245" y="22067"/>
                  <a:pt x="11755" y="22067"/>
                  <a:pt x="11399" y="21799"/>
                </a:cubicBezTo>
                <a:cubicBezTo>
                  <a:pt x="9539" y="20193"/>
                  <a:pt x="4000" y="14993"/>
                  <a:pt x="4000" y="10000"/>
                </a:cubicBezTo>
                <a:cubicBezTo>
                  <a:pt x="4000" y="5582"/>
                  <a:pt x="7582" y="2000"/>
                  <a:pt x="12000" y="2000"/>
                </a:cubicBezTo>
                <a:cubicBezTo>
                  <a:pt x="16418" y="2000"/>
                  <a:pt x="20000" y="5582"/>
                  <a:pt x="20000" y="10000"/>
                </a:cubicBezTo>
              </a:path>
              <a:path w="24000" h="24000" fill="none"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</a:pathLst>
          </a:custGeom>
          <a:noFill/>
          <a:ln w="11735" cap="rnd">
            <a:solidFill>
              <a:srgbClr val="40566D"/>
            </a:solidFill>
            <a:round/>
          </a:ln>
        </p:spPr>
      </p:sp>
      <p:sp>
        <p:nvSpPr>
          <p:cNvPr id="71" name="Scope item"/>
          <p:cNvSpPr txBox="1"/>
          <p:nvPr/>
        </p:nvSpPr>
        <p:spPr>
          <a:xfrm>
            <a:off x="6254496" y="2817012"/>
            <a:ext cx="2468880" cy="195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7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Site access to each store and DG for installation and commissioning</a:t>
            </a:r>
            <a:endParaRPr lang="en-US" sz="660" dirty="0">
              <a:latin typeface="Inter"/>
            </a:endParaRPr>
          </a:p>
        </p:txBody>
      </p:sp>
      <p:cxnSp>
        <p:nvCxnSpPr>
          <p:cNvPr id="72" name="Divider"/>
          <p:cNvCxnSpPr/>
          <p:nvPr/>
        </p:nvCxnSpPr>
        <p:spPr>
          <a:xfrm>
            <a:off x="6053328" y="3132844"/>
            <a:ext cx="2706624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sp>
        <p:nvSpPr>
          <p:cNvPr id="73" name="Icon zap"/>
          <p:cNvSpPr/>
          <p:nvPr/>
        </p:nvSpPr>
        <p:spPr>
          <a:xfrm>
            <a:off x="6053328" y="3257669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14000"/>
                </a:moveTo>
                <a:cubicBezTo>
                  <a:pt x="3614" y="14001"/>
                  <a:pt x="3261" y="13780"/>
                  <a:pt x="3095" y="13432"/>
                </a:cubicBezTo>
                <a:cubicBezTo>
                  <a:pt x="2928" y="13083"/>
                  <a:pt x="2977" y="12670"/>
                  <a:pt x="3220" y="12370"/>
                </a:cubicBezTo>
                <a:lnTo>
                  <a:pt x="13120" y="2170"/>
                </a:lnTo>
                <a:cubicBezTo>
                  <a:pt x="13273" y="1993"/>
                  <a:pt x="13528" y="1946"/>
                  <a:pt x="13734" y="2057"/>
                </a:cubicBezTo>
                <a:cubicBezTo>
                  <a:pt x="13940" y="2167"/>
                  <a:pt x="14042" y="2405"/>
                  <a:pt x="13980" y="2630"/>
                </a:cubicBezTo>
                <a:lnTo>
                  <a:pt x="12060" y="8650"/>
                </a:lnTo>
                <a:cubicBezTo>
                  <a:pt x="11945" y="8958"/>
                  <a:pt x="11988" y="9302"/>
                  <a:pt x="12176" y="9571"/>
                </a:cubicBezTo>
                <a:cubicBezTo>
                  <a:pt x="12364" y="9841"/>
                  <a:pt x="12672" y="10001"/>
                  <a:pt x="13000" y="10000"/>
                </a:cubicBezTo>
                <a:lnTo>
                  <a:pt x="20000" y="10000"/>
                </a:lnTo>
                <a:cubicBezTo>
                  <a:pt x="20386" y="9999"/>
                  <a:pt x="20739" y="10220"/>
                  <a:pt x="20905" y="10568"/>
                </a:cubicBezTo>
                <a:cubicBezTo>
                  <a:pt x="21072" y="10917"/>
                  <a:pt x="21023" y="11330"/>
                  <a:pt x="20780" y="11630"/>
                </a:cubicBezTo>
                <a:lnTo>
                  <a:pt x="10880" y="21830"/>
                </a:lnTo>
                <a:cubicBezTo>
                  <a:pt x="10727" y="22007"/>
                  <a:pt x="10472" y="22054"/>
                  <a:pt x="10266" y="21943"/>
                </a:cubicBezTo>
                <a:cubicBezTo>
                  <a:pt x="10060" y="21833"/>
                  <a:pt x="9958" y="21595"/>
                  <a:pt x="10020" y="21370"/>
                </a:cubicBezTo>
                <a:lnTo>
                  <a:pt x="11940" y="15350"/>
                </a:lnTo>
                <a:cubicBezTo>
                  <a:pt x="12055" y="15042"/>
                  <a:pt x="12012" y="14698"/>
                  <a:pt x="11824" y="14429"/>
                </a:cubicBezTo>
                <a:cubicBezTo>
                  <a:pt x="11636" y="14159"/>
                  <a:pt x="11328" y="13999"/>
                  <a:pt x="11000" y="14000"/>
                </a:cubicBezTo>
                <a:close/>
              </a:path>
            </a:pathLst>
          </a:custGeom>
          <a:noFill/>
          <a:ln w="11735" cap="rnd">
            <a:solidFill>
              <a:srgbClr val="40566D"/>
            </a:solidFill>
            <a:round/>
          </a:ln>
        </p:spPr>
      </p:sp>
      <p:sp>
        <p:nvSpPr>
          <p:cNvPr id="74" name="Scope item"/>
          <p:cNvSpPr txBox="1"/>
          <p:nvPr/>
        </p:nvSpPr>
        <p:spPr>
          <a:xfrm>
            <a:off x="6254496" y="3253097"/>
            <a:ext cx="2468880" cy="195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7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Power supply and mounting space for the gateway; store network access where used</a:t>
            </a:r>
            <a:endParaRPr lang="en-US" sz="660" dirty="0">
              <a:latin typeface="Inter"/>
            </a:endParaRPr>
          </a:p>
        </p:txBody>
      </p:sp>
      <p:cxnSp>
        <p:nvCxnSpPr>
          <p:cNvPr id="75" name="Divider"/>
          <p:cNvCxnSpPr/>
          <p:nvPr/>
        </p:nvCxnSpPr>
        <p:spPr>
          <a:xfrm>
            <a:off x="6053328" y="3568929"/>
            <a:ext cx="2706624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sp>
        <p:nvSpPr>
          <p:cNvPr id="76" name="Icon plug-zap"/>
          <p:cNvSpPr/>
          <p:nvPr/>
        </p:nvSpPr>
        <p:spPr>
          <a:xfrm>
            <a:off x="6053328" y="3693753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300" y="20300"/>
                </a:moveTo>
                <a:cubicBezTo>
                  <a:pt x="6750" y="20752"/>
                  <a:pt x="7362" y="21006"/>
                  <a:pt x="8000" y="21006"/>
                </a:cubicBezTo>
                <a:cubicBezTo>
                  <a:pt x="8638" y="21006"/>
                  <a:pt x="9250" y="20752"/>
                  <a:pt x="9700" y="20300"/>
                </a:cubicBezTo>
                <a:lnTo>
                  <a:pt x="12000" y="18000"/>
                </a:lnTo>
                <a:lnTo>
                  <a:pt x="6000" y="12000"/>
                </a:lnTo>
                <a:lnTo>
                  <a:pt x="3700" y="14300"/>
                </a:lnTo>
                <a:cubicBezTo>
                  <a:pt x="3248" y="14750"/>
                  <a:pt x="2994" y="15362"/>
                  <a:pt x="2994" y="16000"/>
                </a:cubicBezTo>
                <a:cubicBezTo>
                  <a:pt x="2994" y="16638"/>
                  <a:pt x="3248" y="17250"/>
                  <a:pt x="3700" y="17700"/>
                </a:cubicBezTo>
                <a:close/>
              </a:path>
              <a:path w="24000" h="24000" fill="none">
                <a:moveTo>
                  <a:pt x="2000" y="22000"/>
                </a:moveTo>
                <a:lnTo>
                  <a:pt x="5000" y="19000"/>
                </a:lnTo>
              </a:path>
              <a:path w="24000" h="24000" fill="none">
                <a:moveTo>
                  <a:pt x="7500" y="13500"/>
                </a:moveTo>
                <a:lnTo>
                  <a:pt x="10000" y="11000"/>
                </a:lnTo>
              </a:path>
              <a:path w="24000" h="24000" fill="none">
                <a:moveTo>
                  <a:pt x="10500" y="16500"/>
                </a:moveTo>
                <a:lnTo>
                  <a:pt x="13000" y="14000"/>
                </a:lnTo>
              </a:path>
              <a:path w="24000" h="24000" fill="none">
                <a:moveTo>
                  <a:pt x="18000" y="3000"/>
                </a:moveTo>
                <a:lnTo>
                  <a:pt x="14000" y="7000"/>
                </a:lnTo>
                <a:lnTo>
                  <a:pt x="20000" y="7000"/>
                </a:lnTo>
                <a:lnTo>
                  <a:pt x="16000" y="11000"/>
                </a:lnTo>
              </a:path>
            </a:pathLst>
          </a:custGeom>
          <a:noFill/>
          <a:ln w="11735" cap="rnd">
            <a:solidFill>
              <a:srgbClr val="40566D"/>
            </a:solidFill>
            <a:round/>
          </a:ln>
        </p:spPr>
      </p:sp>
      <p:sp>
        <p:nvSpPr>
          <p:cNvPr id="77" name="Scope item"/>
          <p:cNvSpPr txBox="1"/>
          <p:nvPr/>
        </p:nvSpPr>
        <p:spPr>
          <a:xfrm>
            <a:off x="6254496" y="3689181"/>
            <a:ext cx="2468880" cy="195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7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Oracle Fusion interface specification, authentication and credentials</a:t>
            </a:r>
            <a:endParaRPr lang="en-US" sz="660" dirty="0">
              <a:latin typeface="Inter"/>
            </a:endParaRPr>
          </a:p>
        </p:txBody>
      </p:sp>
      <p:cxnSp>
        <p:nvCxnSpPr>
          <p:cNvPr id="78" name="Divider"/>
          <p:cNvCxnSpPr/>
          <p:nvPr/>
        </p:nvCxnSpPr>
        <p:spPr>
          <a:xfrm>
            <a:off x="6053328" y="4005013"/>
            <a:ext cx="2706624" cy="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sp>
        <p:nvSpPr>
          <p:cNvPr id="79" name="Icon message-circle-more"/>
          <p:cNvSpPr/>
          <p:nvPr/>
        </p:nvSpPr>
        <p:spPr>
          <a:xfrm>
            <a:off x="6053328" y="4129837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7900" y="20000"/>
                </a:moveTo>
                <a:cubicBezTo>
                  <a:pt x="11843" y="22023"/>
                  <a:pt x="16672" y="20874"/>
                  <a:pt x="19282" y="17292"/>
                </a:cubicBezTo>
                <a:cubicBezTo>
                  <a:pt x="21892" y="13710"/>
                  <a:pt x="21505" y="8762"/>
                  <a:pt x="18372" y="5628"/>
                </a:cubicBezTo>
                <a:cubicBezTo>
                  <a:pt x="15238" y="2495"/>
                  <a:pt x="10290" y="2108"/>
                  <a:pt x="6708" y="4718"/>
                </a:cubicBezTo>
                <a:cubicBezTo>
                  <a:pt x="3126" y="7328"/>
                  <a:pt x="1977" y="12157"/>
                  <a:pt x="4000" y="16100"/>
                </a:cubicBezTo>
                <a:lnTo>
                  <a:pt x="2000" y="22000"/>
                </a:lnTo>
                <a:close/>
              </a:path>
              <a:path w="24000" h="24000" fill="none">
                <a:moveTo>
                  <a:pt x="8000" y="12000"/>
                </a:moveTo>
                <a:lnTo>
                  <a:pt x="8010" y="12000"/>
                </a:lnTo>
              </a:path>
              <a:path w="24000" h="24000" fill="none">
                <a:moveTo>
                  <a:pt x="12000" y="12000"/>
                </a:moveTo>
                <a:lnTo>
                  <a:pt x="12010" y="12000"/>
                </a:lnTo>
              </a:path>
              <a:path w="24000" h="24000" fill="none">
                <a:moveTo>
                  <a:pt x="16000" y="12000"/>
                </a:moveTo>
                <a:lnTo>
                  <a:pt x="16010" y="12000"/>
                </a:lnTo>
              </a:path>
            </a:pathLst>
          </a:custGeom>
          <a:noFill/>
          <a:ln w="11735" cap="rnd">
            <a:solidFill>
              <a:srgbClr val="40566D"/>
            </a:solidFill>
            <a:round/>
          </a:ln>
        </p:spPr>
      </p:sp>
      <p:sp>
        <p:nvSpPr>
          <p:cNvPr id="80" name="Scope item"/>
          <p:cNvSpPr txBox="1"/>
          <p:nvPr/>
        </p:nvSpPr>
        <p:spPr>
          <a:xfrm>
            <a:off x="6254496" y="4125265"/>
            <a:ext cx="2468880" cy="195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7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WhatsApp Business account and email sender for the work-order notifications</a:t>
            </a:r>
            <a:endParaRPr lang="en-US" sz="660" dirty="0">
              <a:latin typeface="Inter"/>
            </a:endParaRPr>
          </a:p>
        </p:txBody>
      </p:sp>
      <p:sp>
        <p:nvSpPr>
          <p:cNvPr id="81" name="Responsibility bar"/>
          <p:cNvSpPr/>
          <p:nvPr/>
        </p:nvSpPr>
        <p:spPr>
          <a:xfrm>
            <a:off x="274320" y="4494581"/>
            <a:ext cx="8595360" cy="219456"/>
          </a:xfrm>
          <a:prstGeom prst="roundRect">
            <a:avLst>
              <a:gd name="adj" fmla="val 20833"/>
            </a:avLst>
          </a:prstGeom>
          <a:solidFill>
            <a:srgbClr val="FFF7F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grpSp>
        <p:nvGrpSpPr>
          <p:cNvPr id="82" name="Chip Responsibility to be agreed"/>
          <p:cNvGrpSpPr/>
          <p:nvPr/>
        </p:nvGrpSpPr>
        <p:grpSpPr>
          <a:xfrm>
            <a:off x="329184" y="4535729"/>
            <a:ext cx="1192666" cy="137160"/>
            <a:chOff x="329184" y="4535729"/>
            <a:chExt cx="1192666" cy="137160"/>
          </a:xfrm>
        </p:grpSpPr>
        <p:sp>
          <p:nvSpPr>
            <p:cNvPr id="83" name="Chip fill"/>
            <p:cNvSpPr/>
            <p:nvPr/>
          </p:nvSpPr>
          <p:spPr>
            <a:xfrm>
              <a:off x="329184" y="4535729"/>
              <a:ext cx="1192666" cy="137160"/>
            </a:xfrm>
            <a:prstGeom prst="roundRect">
              <a:avLst>
                <a:gd name="adj" fmla="val 20000"/>
              </a:avLst>
            </a:prstGeom>
            <a:solidFill>
              <a:srgbClr val="E9690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4" name="Icon circle-help"/>
            <p:cNvSpPr/>
            <p:nvPr/>
          </p:nvSpPr>
          <p:spPr>
            <a:xfrm>
              <a:off x="388620" y="4561789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7795" cap="rnd">
              <a:solidFill>
                <a:srgbClr val="FFFFFF"/>
              </a:solidFill>
              <a:round/>
            </a:ln>
          </p:spPr>
        </p:sp>
        <p:sp>
          <p:nvSpPr>
            <p:cNvPr id="85" name="Chip label"/>
            <p:cNvSpPr txBox="1"/>
            <p:nvPr/>
          </p:nvSpPr>
          <p:spPr>
            <a:xfrm>
              <a:off x="501091" y="4535729"/>
              <a:ext cx="99332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Responsibility to be agreed</a:t>
              </a:r>
              <a:endParaRPr lang="en-US" sz="580" dirty="0">
                <a:latin typeface="Inter SemiBold"/>
              </a:endParaRPr>
            </a:p>
          </p:txBody>
        </p:sp>
      </p:grpSp>
      <p:sp>
        <p:nvSpPr>
          <p:cNvPr id="86" name="Responsibility items"/>
          <p:cNvSpPr txBox="1"/>
          <p:nvPr/>
        </p:nvSpPr>
        <p:spPr>
          <a:xfrm>
            <a:off x="1613290" y="4494581"/>
            <a:ext cx="6858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6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Vendor SPOC account creation and onboarding   ·   WhatsApp message-template approval</a:t>
            </a:r>
            <a:endParaRPr lang="en-US" sz="660" dirty="0">
              <a:latin typeface="Inter"/>
            </a:endParaRPr>
          </a:p>
        </p:txBody>
      </p:sp>
      <p:grpSp>
        <p:nvGrpSpPr>
          <p:cNvPr id="87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88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DG Online Monitoring Proposal  ·  Flipkart Minutes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89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209EE73D-A54D-48E4-8BE8-923CACD98400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9456"/>
            <a:ext cx="8650224" cy="722376"/>
            <a:chOff x="274320" y="219456"/>
            <a:chExt cx="8650224" cy="722376"/>
          </a:xfrm>
        </p:grpSpPr>
        <p:sp>
          <p:nvSpPr>
            <p:cNvPr id="4" name="Eyebrow"/>
            <p:cNvSpPr txBox="1"/>
            <p:nvPr/>
          </p:nvSpPr>
          <p:spPr>
            <a:xfrm>
              <a:off x="274320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BOTH WORKFLOWS  ·  DELIVERABLES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5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Software Deliverables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6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One application on the IOsense cloud, delivered as six capabilities.</a:t>
              </a:r>
              <a:endParaRPr lang="en-US" sz="850" dirty="0">
                <a:latin typeface="Inter"/>
              </a:endParaRPr>
            </a:p>
          </p:txBody>
        </p:sp>
        <p:grpSp>
          <p:nvGrpSpPr>
            <p:cNvPr id="7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8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" name="Banner"/>
          <p:cNvSpPr/>
          <p:nvPr/>
        </p:nvSpPr>
        <p:spPr>
          <a:xfrm>
            <a:off x="274320" y="1051560"/>
            <a:ext cx="8595360" cy="310896"/>
          </a:xfrm>
          <a:prstGeom prst="roundRect">
            <a:avLst>
              <a:gd name="adj" fmla="val 20588"/>
            </a:avLst>
          </a:prstGeom>
          <a:solidFill>
            <a:srgbClr val="165FF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0" name="Banner icon box"/>
          <p:cNvSpPr/>
          <p:nvPr/>
        </p:nvSpPr>
        <p:spPr>
          <a:xfrm>
            <a:off x="384048" y="110642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1" name="Icon app-window"/>
          <p:cNvSpPr/>
          <p:nvPr/>
        </p:nvSpPr>
        <p:spPr>
          <a:xfrm>
            <a:off x="420624" y="1143000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  <a:path w="24000" h="24000" fill="none">
                <a:moveTo>
                  <a:pt x="10000" y="4000"/>
                </a:moveTo>
                <a:lnTo>
                  <a:pt x="10000" y="8000"/>
                </a:lnTo>
              </a:path>
              <a:path w="24000" h="24000" fill="none">
                <a:moveTo>
                  <a:pt x="2000" y="8000"/>
                </a:moveTo>
                <a:lnTo>
                  <a:pt x="22000" y="8000"/>
                </a:lnTo>
              </a:path>
              <a:path w="24000" h="24000" fill="none">
                <a:moveTo>
                  <a:pt x="6000" y="4000"/>
                </a:moveTo>
                <a:lnTo>
                  <a:pt x="6000" y="8000"/>
                </a:lnTo>
              </a:path>
            </a:pathLst>
          </a:custGeom>
          <a:noFill/>
          <a:ln w="11735" cap="rnd">
            <a:solidFill>
              <a:srgbClr val="FFFFFF"/>
            </a:solidFill>
            <a:round/>
          </a:ln>
        </p:spPr>
      </p:sp>
      <p:sp>
        <p:nvSpPr>
          <p:cNvPr id="22" name="Deliverable name"/>
          <p:cNvSpPr txBox="1"/>
          <p:nvPr/>
        </p:nvSpPr>
        <p:spPr>
          <a:xfrm>
            <a:off x="676656" y="1051560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buNone/>
            </a:pPr>
            <a:r>
              <a:rPr lang="en-US" sz="950" b="0" i="0" spc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DG Fuel Management &amp; Maintenance Application</a:t>
            </a:r>
            <a:endParaRPr lang="en-US" sz="950" dirty="0">
              <a:latin typeface="Inter SemiBold"/>
            </a:endParaRPr>
          </a:p>
        </p:txBody>
      </p:sp>
      <p:grpSp>
        <p:nvGrpSpPr>
          <p:cNvPr id="23" name="Chip IOsense cloud"/>
          <p:cNvGrpSpPr/>
          <p:nvPr/>
        </p:nvGrpSpPr>
        <p:grpSpPr>
          <a:xfrm>
            <a:off x="7997610" y="1129284"/>
            <a:ext cx="762342" cy="155448"/>
            <a:chOff x="7997610" y="1129284"/>
            <a:chExt cx="762342" cy="155448"/>
          </a:xfrm>
        </p:grpSpPr>
        <p:sp>
          <p:nvSpPr>
            <p:cNvPr id="24" name="Chip fill"/>
            <p:cNvSpPr/>
            <p:nvPr/>
          </p:nvSpPr>
          <p:spPr>
            <a:xfrm>
              <a:off x="7997610" y="1129284"/>
              <a:ext cx="762342" cy="155448"/>
            </a:xfrm>
            <a:prstGeom prst="roundRect">
              <a:avLst>
                <a:gd name="adj" fmla="val 20000"/>
              </a:avLst>
            </a:prstGeom>
            <a:solidFill>
              <a:srgbClr val="0C192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5" name="Icon cloud"/>
            <p:cNvSpPr/>
            <p:nvPr/>
          </p:nvSpPr>
          <p:spPr>
            <a:xfrm>
              <a:off x="8057046" y="1158819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7500" y="19000"/>
                  </a:moveTo>
                  <a:lnTo>
                    <a:pt x="9000" y="19000"/>
                  </a:lnTo>
                  <a:cubicBezTo>
                    <a:pt x="5396" y="18999"/>
                    <a:pt x="2381" y="16261"/>
                    <a:pt x="2034" y="12674"/>
                  </a:cubicBezTo>
                  <a:cubicBezTo>
                    <a:pt x="1687" y="9086"/>
                    <a:pt x="4121" y="5822"/>
                    <a:pt x="7659" y="5130"/>
                  </a:cubicBezTo>
                  <a:cubicBezTo>
                    <a:pt x="11196" y="4438"/>
                    <a:pt x="14680" y="6546"/>
                    <a:pt x="15710" y="10000"/>
                  </a:cubicBezTo>
                  <a:lnTo>
                    <a:pt x="17500" y="10000"/>
                  </a:lnTo>
                  <a:cubicBezTo>
                    <a:pt x="19985" y="10000"/>
                    <a:pt x="22000" y="12015"/>
                    <a:pt x="22000" y="14500"/>
                  </a:cubicBezTo>
                  <a:cubicBezTo>
                    <a:pt x="22000" y="16985"/>
                    <a:pt x="19985" y="19000"/>
                    <a:pt x="17500" y="19000"/>
                  </a:cubicBezTo>
                  <a:close/>
                </a:path>
              </a:pathLst>
            </a:custGeom>
            <a:noFill/>
            <a:ln w="8835" cap="rnd">
              <a:solidFill>
                <a:srgbClr val="FFFFFF"/>
              </a:solidFill>
              <a:round/>
            </a:ln>
          </p:spPr>
        </p:sp>
        <p:sp>
          <p:nvSpPr>
            <p:cNvPr id="26" name="Chip label"/>
            <p:cNvSpPr txBox="1"/>
            <p:nvPr/>
          </p:nvSpPr>
          <p:spPr>
            <a:xfrm>
              <a:off x="8180856" y="1129284"/>
              <a:ext cx="551664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IOsense cloud</a:t>
              </a:r>
              <a:endParaRPr lang="en-US" sz="600" dirty="0">
                <a:latin typeface="Inter SemiBold"/>
              </a:endParaRPr>
            </a:p>
          </p:txBody>
        </p:sp>
      </p:grpSp>
      <p:grpSp>
        <p:nvGrpSpPr>
          <p:cNvPr id="27" name="Chip Mobile-responsive web"/>
          <p:cNvGrpSpPr/>
          <p:nvPr/>
        </p:nvGrpSpPr>
        <p:grpSpPr>
          <a:xfrm>
            <a:off x="6830007" y="1129284"/>
            <a:ext cx="1103595" cy="155448"/>
            <a:chOff x="6830007" y="1129284"/>
            <a:chExt cx="1103595" cy="155448"/>
          </a:xfrm>
        </p:grpSpPr>
        <p:sp>
          <p:nvSpPr>
            <p:cNvPr id="28" name="Chip fill"/>
            <p:cNvSpPr/>
            <p:nvPr/>
          </p:nvSpPr>
          <p:spPr>
            <a:xfrm>
              <a:off x="6830007" y="1129284"/>
              <a:ext cx="1103595" cy="155448"/>
            </a:xfrm>
            <a:prstGeom prst="roundRect">
              <a:avLst>
                <a:gd name="adj" fmla="val 20000"/>
              </a:avLst>
            </a:prstGeom>
            <a:solidFill>
              <a:srgbClr val="0C192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9" name="Icon monitor"/>
            <p:cNvSpPr/>
            <p:nvPr/>
          </p:nvSpPr>
          <p:spPr>
            <a:xfrm>
              <a:off x="6889443" y="1158819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3000"/>
                  </a:moveTo>
                  <a:lnTo>
                    <a:pt x="20000" y="3000"/>
                  </a:lnTo>
                  <a:cubicBezTo>
                    <a:pt x="21105" y="3000"/>
                    <a:pt x="22000" y="3895"/>
                    <a:pt x="22000" y="5000"/>
                  </a:cubicBezTo>
                  <a:lnTo>
                    <a:pt x="22000" y="15000"/>
                  </a:lnTo>
                  <a:cubicBezTo>
                    <a:pt x="22000" y="16105"/>
                    <a:pt x="21105" y="17000"/>
                    <a:pt x="20000" y="17000"/>
                  </a:cubicBezTo>
                  <a:lnTo>
                    <a:pt x="4000" y="17000"/>
                  </a:lnTo>
                  <a:cubicBezTo>
                    <a:pt x="2895" y="17000"/>
                    <a:pt x="2000" y="16105"/>
                    <a:pt x="2000" y="15000"/>
                  </a:cubicBezTo>
                  <a:lnTo>
                    <a:pt x="2000" y="5000"/>
                  </a:lnTo>
                  <a:cubicBezTo>
                    <a:pt x="2000" y="3895"/>
                    <a:pt x="2895" y="3000"/>
                    <a:pt x="4000" y="3000"/>
                  </a:cubicBezTo>
                  <a:close/>
                </a:path>
                <a:path w="24000" h="24000" fill="none">
                  <a:moveTo>
                    <a:pt x="8000" y="21000"/>
                  </a:moveTo>
                  <a:lnTo>
                    <a:pt x="16000" y="21000"/>
                  </a:lnTo>
                </a:path>
                <a:path w="24000" h="24000" fill="none">
                  <a:moveTo>
                    <a:pt x="12000" y="17000"/>
                  </a:moveTo>
                  <a:lnTo>
                    <a:pt x="12000" y="21000"/>
                  </a:lnTo>
                </a:path>
              </a:pathLst>
            </a:custGeom>
            <a:noFill/>
            <a:ln w="8835" cap="rnd">
              <a:solidFill>
                <a:srgbClr val="FFFFFF"/>
              </a:solidFill>
              <a:round/>
            </a:ln>
          </p:spPr>
        </p:sp>
        <p:sp>
          <p:nvSpPr>
            <p:cNvPr id="30" name="Chip label"/>
            <p:cNvSpPr txBox="1"/>
            <p:nvPr/>
          </p:nvSpPr>
          <p:spPr>
            <a:xfrm>
              <a:off x="7013253" y="1129284"/>
              <a:ext cx="892917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600"/>
                </a:lnSpc>
                <a:spcBef>
                  <a:spcPts val="0"/>
                </a:spcBef>
                <a:buNone/>
              </a:pPr>
              <a:r>
                <a:rPr lang="en-US" sz="60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Mobile-responsive web</a:t>
              </a:r>
              <a:endParaRPr lang="en-US" sz="600" dirty="0">
                <a:latin typeface="Inter SemiBold"/>
              </a:endParaRPr>
            </a:p>
          </p:txBody>
        </p:sp>
      </p:grpSp>
      <p:grpSp>
        <p:nvGrpSpPr>
          <p:cNvPr id="31" name="Block 01"/>
          <p:cNvGrpSpPr/>
          <p:nvPr/>
        </p:nvGrpSpPr>
        <p:grpSpPr>
          <a:xfrm>
            <a:off x="274320" y="1481328"/>
            <a:ext cx="2779776" cy="1225296"/>
            <a:chOff x="274320" y="1481328"/>
            <a:chExt cx="2779776" cy="1225296"/>
          </a:xfrm>
        </p:grpSpPr>
        <p:sp>
          <p:nvSpPr>
            <p:cNvPr id="32" name="Block card"/>
            <p:cNvSpPr/>
            <p:nvPr/>
          </p:nvSpPr>
          <p:spPr>
            <a:xfrm>
              <a:off x="274320" y="1481328"/>
              <a:ext cx="2779776" cy="1225296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3" name="Icon tile"/>
            <p:cNvSpPr/>
            <p:nvPr/>
          </p:nvSpPr>
          <p:spPr>
            <a:xfrm>
              <a:off x="420624" y="1645920"/>
              <a:ext cx="365760" cy="365760"/>
            </a:xfrm>
            <a:prstGeom prst="roundRect">
              <a:avLst>
                <a:gd name="adj" fmla="val 17500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4" name="Icon activity"/>
            <p:cNvSpPr/>
            <p:nvPr/>
          </p:nvSpPr>
          <p:spPr>
            <a:xfrm>
              <a:off x="512064" y="173736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lnTo>
                    <a:pt x="19520" y="12000"/>
                  </a:lnTo>
                  <a:cubicBezTo>
                    <a:pt x="18622" y="11998"/>
                    <a:pt x="17833" y="12595"/>
                    <a:pt x="17590" y="13460"/>
                  </a:cubicBezTo>
                  <a:lnTo>
                    <a:pt x="15240" y="21820"/>
                  </a:lnTo>
                  <a:cubicBezTo>
                    <a:pt x="15209" y="21927"/>
                    <a:pt x="15111" y="22000"/>
                    <a:pt x="15000" y="22000"/>
                  </a:cubicBezTo>
                  <a:cubicBezTo>
                    <a:pt x="14889" y="22000"/>
                    <a:pt x="14791" y="21927"/>
                    <a:pt x="14760" y="21820"/>
                  </a:cubicBezTo>
                  <a:lnTo>
                    <a:pt x="9240" y="2180"/>
                  </a:lnTo>
                  <a:cubicBezTo>
                    <a:pt x="9209" y="2073"/>
                    <a:pt x="9111" y="2000"/>
                    <a:pt x="9000" y="2000"/>
                  </a:cubicBezTo>
                  <a:cubicBezTo>
                    <a:pt x="8889" y="2000"/>
                    <a:pt x="8791" y="2073"/>
                    <a:pt x="8760" y="2180"/>
                  </a:cubicBezTo>
                  <a:lnTo>
                    <a:pt x="6410" y="10540"/>
                  </a:lnTo>
                  <a:cubicBezTo>
                    <a:pt x="6168" y="11401"/>
                    <a:pt x="5384" y="11997"/>
                    <a:pt x="4490" y="12000"/>
                  </a:cubicBezTo>
                  <a:lnTo>
                    <a:pt x="2000" y="12000"/>
                  </a:lnTo>
                </a:path>
              </a:pathLst>
            </a:custGeom>
            <a:noFill/>
            <a:ln w="16764" cap="rnd">
              <a:solidFill>
                <a:srgbClr val="165FF2"/>
              </a:solidFill>
              <a:round/>
            </a:ln>
          </p:spPr>
        </p:sp>
        <p:sp>
          <p:nvSpPr>
            <p:cNvPr id="35" name="Block number"/>
            <p:cNvSpPr txBox="1"/>
            <p:nvPr/>
          </p:nvSpPr>
          <p:spPr>
            <a:xfrm>
              <a:off x="2487168" y="1609344"/>
              <a:ext cx="420624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400"/>
                </a:lnSpc>
                <a:spcBef>
                  <a:spcPts val="0"/>
                </a:spcBef>
                <a:buNone/>
              </a:pPr>
              <a:r>
                <a:rPr lang="en-US" sz="13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01</a:t>
              </a:r>
              <a:endParaRPr lang="en-US" sz="1300" dirty="0">
                <a:latin typeface="TASA Orbiter SemiBold"/>
              </a:endParaRPr>
            </a:p>
          </p:txBody>
        </p:sp>
        <p:sp>
          <p:nvSpPr>
            <p:cNvPr id="36" name="Block title"/>
            <p:cNvSpPr txBox="1"/>
            <p:nvPr/>
          </p:nvSpPr>
          <p:spPr>
            <a:xfrm>
              <a:off x="420624" y="2103120"/>
              <a:ext cx="2487168" cy="146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5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DG Monitoring on IOsense</a:t>
              </a:r>
              <a:endParaRPr lang="en-US" sz="1000" dirty="0">
                <a:latin typeface="Inter SemiBold"/>
              </a:endParaRPr>
            </a:p>
          </p:txBody>
        </p:sp>
        <p:sp>
          <p:nvSpPr>
            <p:cNvPr id="37" name="Block line"/>
            <p:cNvSpPr txBox="1"/>
            <p:nvPr/>
          </p:nvSpPr>
          <p:spPr>
            <a:xfrm>
              <a:off x="420624" y="2313178"/>
              <a:ext cx="24871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60"/>
                </a:lnSpc>
                <a:spcBef>
                  <a:spcPts val="0"/>
                </a:spcBef>
                <a:buNone/>
              </a:pPr>
              <a:r>
                <a:rPr lang="en-US" sz="74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Every DG live — fuel level, volume, running hours, energy and operating status, from store to zone.</a:t>
              </a:r>
              <a:endParaRPr lang="en-US" sz="740" dirty="0">
                <a:latin typeface="Inter"/>
              </a:endParaRPr>
            </a:p>
          </p:txBody>
        </p:sp>
      </p:grpSp>
      <p:grpSp>
        <p:nvGrpSpPr>
          <p:cNvPr id="38" name="Block 02"/>
          <p:cNvGrpSpPr/>
          <p:nvPr/>
        </p:nvGrpSpPr>
        <p:grpSpPr>
          <a:xfrm>
            <a:off x="3182112" y="1481328"/>
            <a:ext cx="2779776" cy="1225296"/>
            <a:chOff x="3182112" y="1481328"/>
            <a:chExt cx="2779776" cy="1225296"/>
          </a:xfrm>
        </p:grpSpPr>
        <p:sp>
          <p:nvSpPr>
            <p:cNvPr id="39" name="Block card"/>
            <p:cNvSpPr/>
            <p:nvPr/>
          </p:nvSpPr>
          <p:spPr>
            <a:xfrm>
              <a:off x="3182112" y="1481328"/>
              <a:ext cx="2779776" cy="1225296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0" name="Icon tile"/>
            <p:cNvSpPr/>
            <p:nvPr/>
          </p:nvSpPr>
          <p:spPr>
            <a:xfrm>
              <a:off x="3328416" y="1645920"/>
              <a:ext cx="365760" cy="365760"/>
            </a:xfrm>
            <a:prstGeom prst="roundRect">
              <a:avLst>
                <a:gd name="adj" fmla="val 17500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1" name="Icon bell-ring"/>
            <p:cNvSpPr/>
            <p:nvPr/>
          </p:nvSpPr>
          <p:spPr>
            <a:xfrm>
              <a:off x="3419856" y="173736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268" y="21000"/>
                  </a:moveTo>
                  <a:cubicBezTo>
                    <a:pt x="10625" y="21619"/>
                    <a:pt x="11286" y="22000"/>
                    <a:pt x="12000" y="22000"/>
                  </a:cubicBezTo>
                  <a:cubicBezTo>
                    <a:pt x="12714" y="22000"/>
                    <a:pt x="13375" y="21619"/>
                    <a:pt x="13732" y="21000"/>
                  </a:cubicBezTo>
                </a:path>
                <a:path w="24000" h="24000" fill="none">
                  <a:moveTo>
                    <a:pt x="22000" y="8000"/>
                  </a:moveTo>
                  <a:cubicBezTo>
                    <a:pt x="22000" y="5700"/>
                    <a:pt x="21200" y="3700"/>
                    <a:pt x="20000" y="2000"/>
                  </a:cubicBezTo>
                </a:path>
                <a:path w="24000" h="24000" fill="none">
                  <a:moveTo>
                    <a:pt x="3262" y="15326"/>
                  </a:moveTo>
                  <a:cubicBezTo>
                    <a:pt x="2995" y="15619"/>
                    <a:pt x="2926" y="16041"/>
                    <a:pt x="3086" y="16403"/>
                  </a:cubicBezTo>
                  <a:cubicBezTo>
                    <a:pt x="3245" y="16766"/>
                    <a:pt x="3604" y="17000"/>
                    <a:pt x="4000" y="17000"/>
                  </a:cubicBezTo>
                  <a:lnTo>
                    <a:pt x="20000" y="17000"/>
                  </a:lnTo>
                  <a:cubicBezTo>
                    <a:pt x="20396" y="17000"/>
                    <a:pt x="20755" y="16767"/>
                    <a:pt x="20915" y="16405"/>
                  </a:cubicBezTo>
                  <a:cubicBezTo>
                    <a:pt x="21075" y="16042"/>
                    <a:pt x="21006" y="15620"/>
                    <a:pt x="20740" y="15327"/>
                  </a:cubicBezTo>
                  <a:cubicBezTo>
                    <a:pt x="19410" y="13956"/>
                    <a:pt x="18000" y="12499"/>
                    <a:pt x="18000" y="8000"/>
                  </a:cubicBezTo>
                  <a:cubicBezTo>
                    <a:pt x="18000" y="4686"/>
                    <a:pt x="15314" y="2000"/>
                    <a:pt x="12000" y="2000"/>
                  </a:cubicBezTo>
                  <a:cubicBezTo>
                    <a:pt x="8686" y="2000"/>
                    <a:pt x="6000" y="4686"/>
                    <a:pt x="6000" y="8000"/>
                  </a:cubicBezTo>
                  <a:cubicBezTo>
                    <a:pt x="6000" y="12499"/>
                    <a:pt x="4589" y="13956"/>
                    <a:pt x="3262" y="15326"/>
                  </a:cubicBezTo>
                </a:path>
                <a:path w="24000" h="24000" fill="none">
                  <a:moveTo>
                    <a:pt x="4000" y="2000"/>
                  </a:moveTo>
                  <a:cubicBezTo>
                    <a:pt x="2800" y="3700"/>
                    <a:pt x="2000" y="5700"/>
                    <a:pt x="2000" y="8000"/>
                  </a:cubicBezTo>
                </a:path>
              </a:pathLst>
            </a:custGeom>
            <a:noFill/>
            <a:ln w="16764" cap="rnd">
              <a:solidFill>
                <a:srgbClr val="165FF2"/>
              </a:solidFill>
              <a:round/>
            </a:ln>
          </p:spPr>
        </p:sp>
        <p:sp>
          <p:nvSpPr>
            <p:cNvPr id="42" name="Block number"/>
            <p:cNvSpPr txBox="1"/>
            <p:nvPr/>
          </p:nvSpPr>
          <p:spPr>
            <a:xfrm>
              <a:off x="5394960" y="1609344"/>
              <a:ext cx="420624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400"/>
                </a:lnSpc>
                <a:spcBef>
                  <a:spcPts val="0"/>
                </a:spcBef>
                <a:buNone/>
              </a:pPr>
              <a:r>
                <a:rPr lang="en-US" sz="13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02</a:t>
              </a:r>
              <a:endParaRPr lang="en-US" sz="1300" dirty="0">
                <a:latin typeface="TASA Orbiter SemiBold"/>
              </a:endParaRPr>
            </a:p>
          </p:txBody>
        </p:sp>
        <p:sp>
          <p:nvSpPr>
            <p:cNvPr id="43" name="Block title"/>
            <p:cNvSpPr txBox="1"/>
            <p:nvPr/>
          </p:nvSpPr>
          <p:spPr>
            <a:xfrm>
              <a:off x="3328416" y="2103120"/>
              <a:ext cx="2487168" cy="146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5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Alerts &amp; Work Orders</a:t>
              </a:r>
              <a:endParaRPr lang="en-US" sz="1000" dirty="0">
                <a:latin typeface="Inter SemiBold"/>
              </a:endParaRPr>
            </a:p>
          </p:txBody>
        </p:sp>
        <p:sp>
          <p:nvSpPr>
            <p:cNvPr id="44" name="Block line"/>
            <p:cNvSpPr txBox="1"/>
            <p:nvPr/>
          </p:nvSpPr>
          <p:spPr>
            <a:xfrm>
              <a:off x="3328416" y="2313178"/>
              <a:ext cx="24871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60"/>
                </a:lnSpc>
                <a:spcBef>
                  <a:spcPts val="0"/>
                </a:spcBef>
                <a:buNone/>
              </a:pPr>
              <a:r>
                <a:rPr lang="en-US" sz="74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Low fuel, maintenance due and breakdown raise a work order automatically and assign it to the mapped vendor.</a:t>
              </a:r>
              <a:endParaRPr lang="en-US" sz="740" dirty="0">
                <a:latin typeface="Inter"/>
              </a:endParaRPr>
            </a:p>
          </p:txBody>
        </p:sp>
      </p:grpSp>
      <p:grpSp>
        <p:nvGrpSpPr>
          <p:cNvPr id="45" name="Block 03"/>
          <p:cNvGrpSpPr/>
          <p:nvPr/>
        </p:nvGrpSpPr>
        <p:grpSpPr>
          <a:xfrm>
            <a:off x="6089904" y="1481328"/>
            <a:ext cx="2779776" cy="1225296"/>
            <a:chOff x="6089904" y="1481328"/>
            <a:chExt cx="2779776" cy="1225296"/>
          </a:xfrm>
        </p:grpSpPr>
        <p:sp>
          <p:nvSpPr>
            <p:cNvPr id="46" name="Block card"/>
            <p:cNvSpPr/>
            <p:nvPr/>
          </p:nvSpPr>
          <p:spPr>
            <a:xfrm>
              <a:off x="6089904" y="1481328"/>
              <a:ext cx="2779776" cy="1225296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7" name="Icon tile"/>
            <p:cNvSpPr/>
            <p:nvPr/>
          </p:nvSpPr>
          <p:spPr>
            <a:xfrm>
              <a:off x="6236208" y="1645920"/>
              <a:ext cx="365760" cy="365760"/>
            </a:xfrm>
            <a:prstGeom prst="roundRect">
              <a:avLst>
                <a:gd name="adj" fmla="val 17500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8" name="Icon user-check"/>
            <p:cNvSpPr/>
            <p:nvPr/>
          </p:nvSpPr>
          <p:spPr>
            <a:xfrm>
              <a:off x="6327648" y="173736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16000" y="11000"/>
                  </a:moveTo>
                  <a:lnTo>
                    <a:pt x="18000" y="13000"/>
                  </a:lnTo>
                  <a:lnTo>
                    <a:pt x="22000" y="9000"/>
                  </a:lnTo>
                </a:path>
              </a:pathLst>
            </a:custGeom>
            <a:noFill/>
            <a:ln w="16764" cap="rnd">
              <a:solidFill>
                <a:srgbClr val="165FF2"/>
              </a:solidFill>
              <a:round/>
            </a:ln>
          </p:spPr>
        </p:sp>
        <p:sp>
          <p:nvSpPr>
            <p:cNvPr id="49" name="Block number"/>
            <p:cNvSpPr txBox="1"/>
            <p:nvPr/>
          </p:nvSpPr>
          <p:spPr>
            <a:xfrm>
              <a:off x="8302752" y="1609344"/>
              <a:ext cx="420624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400"/>
                </a:lnSpc>
                <a:spcBef>
                  <a:spcPts val="0"/>
                </a:spcBef>
                <a:buNone/>
              </a:pPr>
              <a:r>
                <a:rPr lang="en-US" sz="13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03</a:t>
              </a:r>
              <a:endParaRPr lang="en-US" sz="1300" dirty="0">
                <a:latin typeface="TASA Orbiter SemiBold"/>
              </a:endParaRPr>
            </a:p>
          </p:txBody>
        </p:sp>
        <p:sp>
          <p:nvSpPr>
            <p:cNvPr id="50" name="Block title"/>
            <p:cNvSpPr txBox="1"/>
            <p:nvPr/>
          </p:nvSpPr>
          <p:spPr>
            <a:xfrm>
              <a:off x="6236208" y="2103120"/>
              <a:ext cx="2487168" cy="146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5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Vendor Portal</a:t>
              </a:r>
              <a:endParaRPr lang="en-US" sz="1000" dirty="0">
                <a:latin typeface="Inter SemiBold"/>
              </a:endParaRPr>
            </a:p>
          </p:txBody>
        </p:sp>
        <p:sp>
          <p:nvSpPr>
            <p:cNvPr id="51" name="Block line"/>
            <p:cNvSpPr txBox="1"/>
            <p:nvPr/>
          </p:nvSpPr>
          <p:spPr>
            <a:xfrm>
              <a:off x="6236208" y="2313178"/>
              <a:ext cx="24871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60"/>
                </a:lnSpc>
                <a:spcBef>
                  <a:spcPts val="0"/>
                </a:spcBef>
                <a:buNone/>
              </a:pPr>
              <a:r>
                <a:rPr lang="en-US" sz="74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Vendor SPOCs acknowledge, execute and submit litres or maintenance details with proof, from any device.</a:t>
              </a:r>
              <a:endParaRPr lang="en-US" sz="740" dirty="0">
                <a:latin typeface="Inter"/>
              </a:endParaRPr>
            </a:p>
          </p:txBody>
        </p:sp>
      </p:grpSp>
      <p:grpSp>
        <p:nvGrpSpPr>
          <p:cNvPr id="52" name="Block 04"/>
          <p:cNvGrpSpPr/>
          <p:nvPr/>
        </p:nvGrpSpPr>
        <p:grpSpPr>
          <a:xfrm>
            <a:off x="274320" y="2834640"/>
            <a:ext cx="2779776" cy="1225296"/>
            <a:chOff x="274320" y="2834640"/>
            <a:chExt cx="2779776" cy="1225296"/>
          </a:xfrm>
        </p:grpSpPr>
        <p:sp>
          <p:nvSpPr>
            <p:cNvPr id="53" name="Block card"/>
            <p:cNvSpPr/>
            <p:nvPr/>
          </p:nvSpPr>
          <p:spPr>
            <a:xfrm>
              <a:off x="274320" y="2834640"/>
              <a:ext cx="2779776" cy="1225296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54" name="Icon tile"/>
            <p:cNvSpPr/>
            <p:nvPr/>
          </p:nvSpPr>
          <p:spPr>
            <a:xfrm>
              <a:off x="420624" y="2999232"/>
              <a:ext cx="365760" cy="365760"/>
            </a:xfrm>
            <a:prstGeom prst="roundRect">
              <a:avLst>
                <a:gd name="adj" fmla="val 17500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55" name="Icon receipt"/>
            <p:cNvSpPr/>
            <p:nvPr/>
          </p:nvSpPr>
          <p:spPr>
            <a:xfrm>
              <a:off x="512064" y="3090672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2000"/>
                  </a:moveTo>
                  <a:lnTo>
                    <a:pt x="4000" y="22000"/>
                  </a:lnTo>
                  <a:lnTo>
                    <a:pt x="6000" y="21000"/>
                  </a:lnTo>
                  <a:lnTo>
                    <a:pt x="8000" y="22000"/>
                  </a:lnTo>
                  <a:lnTo>
                    <a:pt x="10000" y="21000"/>
                  </a:lnTo>
                  <a:lnTo>
                    <a:pt x="12000" y="22000"/>
                  </a:lnTo>
                  <a:lnTo>
                    <a:pt x="14000" y="21000"/>
                  </a:lnTo>
                  <a:lnTo>
                    <a:pt x="16000" y="22000"/>
                  </a:lnTo>
                  <a:lnTo>
                    <a:pt x="18000" y="21000"/>
                  </a:lnTo>
                  <a:lnTo>
                    <a:pt x="20000" y="22000"/>
                  </a:lnTo>
                  <a:lnTo>
                    <a:pt x="20000" y="2000"/>
                  </a:lnTo>
                  <a:lnTo>
                    <a:pt x="18000" y="3000"/>
                  </a:lnTo>
                  <a:lnTo>
                    <a:pt x="16000" y="2000"/>
                  </a:lnTo>
                  <a:lnTo>
                    <a:pt x="14000" y="3000"/>
                  </a:lnTo>
                  <a:lnTo>
                    <a:pt x="12000" y="2000"/>
                  </a:lnTo>
                  <a:lnTo>
                    <a:pt x="10000" y="3000"/>
                  </a:lnTo>
                  <a:lnTo>
                    <a:pt x="8000" y="2000"/>
                  </a:lnTo>
                  <a:lnTo>
                    <a:pt x="6000" y="3000"/>
                  </a:lnTo>
                  <a:close/>
                </a:path>
                <a:path w="24000" h="24000" fill="none">
                  <a:moveTo>
                    <a:pt x="16000" y="8000"/>
                  </a:moveTo>
                  <a:lnTo>
                    <a:pt x="10000" y="8000"/>
                  </a:lnTo>
                  <a:cubicBezTo>
                    <a:pt x="8895" y="8000"/>
                    <a:pt x="8000" y="8895"/>
                    <a:pt x="8000" y="10000"/>
                  </a:cubicBezTo>
                  <a:cubicBezTo>
                    <a:pt x="8000" y="11105"/>
                    <a:pt x="8895" y="12000"/>
                    <a:pt x="10000" y="12000"/>
                  </a:cubicBezTo>
                  <a:lnTo>
                    <a:pt x="14000" y="12000"/>
                  </a:lnTo>
                  <a:cubicBezTo>
                    <a:pt x="15105" y="12000"/>
                    <a:pt x="16000" y="12895"/>
                    <a:pt x="16000" y="14000"/>
                  </a:cubicBezTo>
                  <a:cubicBezTo>
                    <a:pt x="16000" y="15105"/>
                    <a:pt x="15105" y="16000"/>
                    <a:pt x="14000" y="16000"/>
                  </a:cubicBezTo>
                  <a:lnTo>
                    <a:pt x="8000" y="16000"/>
                  </a:lnTo>
                </a:path>
                <a:path w="24000" h="24000" fill="none">
                  <a:moveTo>
                    <a:pt x="12000" y="17500"/>
                  </a:moveTo>
                  <a:lnTo>
                    <a:pt x="12000" y="6500"/>
                  </a:lnTo>
                </a:path>
              </a:pathLst>
            </a:custGeom>
            <a:noFill/>
            <a:ln w="16764" cap="rnd">
              <a:solidFill>
                <a:srgbClr val="165FF2"/>
              </a:solidFill>
              <a:round/>
            </a:ln>
          </p:spPr>
        </p:sp>
        <p:sp>
          <p:nvSpPr>
            <p:cNvPr id="56" name="Block number"/>
            <p:cNvSpPr txBox="1"/>
            <p:nvPr/>
          </p:nvSpPr>
          <p:spPr>
            <a:xfrm>
              <a:off x="2487168" y="2962656"/>
              <a:ext cx="420624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400"/>
                </a:lnSpc>
                <a:spcBef>
                  <a:spcPts val="0"/>
                </a:spcBef>
                <a:buNone/>
              </a:pPr>
              <a:r>
                <a:rPr lang="en-US" sz="13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04</a:t>
              </a:r>
              <a:endParaRPr lang="en-US" sz="1300" dirty="0">
                <a:latin typeface="TASA Orbiter SemiBold"/>
              </a:endParaRPr>
            </a:p>
          </p:txBody>
        </p:sp>
        <p:sp>
          <p:nvSpPr>
            <p:cNvPr id="57" name="Block title"/>
            <p:cNvSpPr txBox="1"/>
            <p:nvPr/>
          </p:nvSpPr>
          <p:spPr>
            <a:xfrm>
              <a:off x="420624" y="3456432"/>
              <a:ext cx="2487168" cy="146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5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Billing &amp; Oracle Fusion</a:t>
              </a:r>
              <a:endParaRPr lang="en-US" sz="1000" dirty="0">
                <a:latin typeface="Inter SemiBold"/>
              </a:endParaRPr>
            </a:p>
          </p:txBody>
        </p:sp>
        <p:sp>
          <p:nvSpPr>
            <p:cNvPr id="58" name="Block line"/>
            <p:cNvSpPr txBox="1"/>
            <p:nvPr/>
          </p:nvSpPr>
          <p:spPr>
            <a:xfrm>
              <a:off x="420624" y="3666490"/>
              <a:ext cx="24871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60"/>
                </a:lnSpc>
                <a:spcBef>
                  <a:spcPts val="0"/>
                </a:spcBef>
                <a:buNone/>
              </a:pPr>
              <a:r>
                <a:rPr lang="en-US" sz="74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Line items per transaction, invoice with upload and locking, posted to Oracle Fusion over the API.</a:t>
              </a:r>
              <a:endParaRPr lang="en-US" sz="740" dirty="0">
                <a:latin typeface="Inter"/>
              </a:endParaRPr>
            </a:p>
          </p:txBody>
        </p:sp>
      </p:grpSp>
      <p:grpSp>
        <p:nvGrpSpPr>
          <p:cNvPr id="59" name="Block 05"/>
          <p:cNvGrpSpPr/>
          <p:nvPr/>
        </p:nvGrpSpPr>
        <p:grpSpPr>
          <a:xfrm>
            <a:off x="3182112" y="2834640"/>
            <a:ext cx="2779776" cy="1225296"/>
            <a:chOff x="3182112" y="2834640"/>
            <a:chExt cx="2779776" cy="1225296"/>
          </a:xfrm>
        </p:grpSpPr>
        <p:sp>
          <p:nvSpPr>
            <p:cNvPr id="60" name="Block card"/>
            <p:cNvSpPr/>
            <p:nvPr/>
          </p:nvSpPr>
          <p:spPr>
            <a:xfrm>
              <a:off x="3182112" y="2834640"/>
              <a:ext cx="2779776" cy="1225296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61" name="Icon tile"/>
            <p:cNvSpPr/>
            <p:nvPr/>
          </p:nvSpPr>
          <p:spPr>
            <a:xfrm>
              <a:off x="3328416" y="2999232"/>
              <a:ext cx="365760" cy="365760"/>
            </a:xfrm>
            <a:prstGeom prst="roundRect">
              <a:avLst>
                <a:gd name="adj" fmla="val 17500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62" name="Icon layout-dashboard"/>
            <p:cNvSpPr/>
            <p:nvPr/>
          </p:nvSpPr>
          <p:spPr>
            <a:xfrm>
              <a:off x="3419856" y="3090672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3000"/>
                  </a:moveTo>
                  <a:lnTo>
                    <a:pt x="9000" y="3000"/>
                  </a:lnTo>
                  <a:cubicBezTo>
                    <a:pt x="9552" y="3000"/>
                    <a:pt x="10000" y="3448"/>
                    <a:pt x="10000" y="4000"/>
                  </a:cubicBezTo>
                  <a:lnTo>
                    <a:pt x="10000" y="11000"/>
                  </a:lnTo>
                  <a:cubicBezTo>
                    <a:pt x="10000" y="11552"/>
                    <a:pt x="9552" y="12000"/>
                    <a:pt x="9000" y="12000"/>
                  </a:cubicBezTo>
                  <a:lnTo>
                    <a:pt x="4000" y="12000"/>
                  </a:lnTo>
                  <a:cubicBezTo>
                    <a:pt x="3448" y="12000"/>
                    <a:pt x="3000" y="11552"/>
                    <a:pt x="3000" y="11000"/>
                  </a:cubicBezTo>
                  <a:lnTo>
                    <a:pt x="3000" y="4000"/>
                  </a:lnTo>
                  <a:cubicBezTo>
                    <a:pt x="3000" y="3448"/>
                    <a:pt x="3448" y="3000"/>
                    <a:pt x="4000" y="3000"/>
                  </a:cubicBezTo>
                  <a:close/>
                </a:path>
                <a:path w="24000" h="24000" fill="none">
                  <a:moveTo>
                    <a:pt x="15000" y="3000"/>
                  </a:moveTo>
                  <a:lnTo>
                    <a:pt x="20000" y="3000"/>
                  </a:lnTo>
                  <a:cubicBezTo>
                    <a:pt x="20552" y="3000"/>
                    <a:pt x="21000" y="3448"/>
                    <a:pt x="21000" y="4000"/>
                  </a:cubicBezTo>
                  <a:lnTo>
                    <a:pt x="21000" y="7000"/>
                  </a:lnTo>
                  <a:cubicBezTo>
                    <a:pt x="21000" y="7552"/>
                    <a:pt x="20552" y="8000"/>
                    <a:pt x="20000" y="8000"/>
                  </a:cubicBezTo>
                  <a:lnTo>
                    <a:pt x="15000" y="8000"/>
                  </a:lnTo>
                  <a:cubicBezTo>
                    <a:pt x="14448" y="8000"/>
                    <a:pt x="14000" y="7552"/>
                    <a:pt x="14000" y="7000"/>
                  </a:cubicBezTo>
                  <a:lnTo>
                    <a:pt x="14000" y="4000"/>
                  </a:lnTo>
                  <a:cubicBezTo>
                    <a:pt x="14000" y="3448"/>
                    <a:pt x="14448" y="3000"/>
                    <a:pt x="15000" y="3000"/>
                  </a:cubicBezTo>
                  <a:close/>
                </a:path>
                <a:path w="24000" h="24000" fill="none">
                  <a:moveTo>
                    <a:pt x="15000" y="12000"/>
                  </a:moveTo>
                  <a:lnTo>
                    <a:pt x="20000" y="12000"/>
                  </a:lnTo>
                  <a:cubicBezTo>
                    <a:pt x="20552" y="12000"/>
                    <a:pt x="21000" y="12448"/>
                    <a:pt x="21000" y="13000"/>
                  </a:cubicBezTo>
                  <a:lnTo>
                    <a:pt x="21000" y="20000"/>
                  </a:lnTo>
                  <a:cubicBezTo>
                    <a:pt x="21000" y="20552"/>
                    <a:pt x="20552" y="21000"/>
                    <a:pt x="20000" y="21000"/>
                  </a:cubicBezTo>
                  <a:lnTo>
                    <a:pt x="15000" y="21000"/>
                  </a:lnTo>
                  <a:cubicBezTo>
                    <a:pt x="14448" y="21000"/>
                    <a:pt x="14000" y="20552"/>
                    <a:pt x="14000" y="20000"/>
                  </a:cubicBezTo>
                  <a:lnTo>
                    <a:pt x="14000" y="13000"/>
                  </a:lnTo>
                  <a:cubicBezTo>
                    <a:pt x="14000" y="12448"/>
                    <a:pt x="14448" y="12000"/>
                    <a:pt x="15000" y="12000"/>
                  </a:cubicBezTo>
                  <a:close/>
                </a:path>
                <a:path w="24000" h="24000" fill="none">
                  <a:moveTo>
                    <a:pt x="4000" y="16000"/>
                  </a:moveTo>
                  <a:lnTo>
                    <a:pt x="9000" y="16000"/>
                  </a:lnTo>
                  <a:cubicBezTo>
                    <a:pt x="9552" y="16000"/>
                    <a:pt x="10000" y="16448"/>
                    <a:pt x="10000" y="17000"/>
                  </a:cubicBezTo>
                  <a:lnTo>
                    <a:pt x="10000" y="20000"/>
                  </a:lnTo>
                  <a:cubicBezTo>
                    <a:pt x="10000" y="20552"/>
                    <a:pt x="9552" y="21000"/>
                    <a:pt x="9000" y="21000"/>
                  </a:cubicBezTo>
                  <a:lnTo>
                    <a:pt x="4000" y="21000"/>
                  </a:lnTo>
                  <a:cubicBezTo>
                    <a:pt x="3448" y="21000"/>
                    <a:pt x="3000" y="20552"/>
                    <a:pt x="3000" y="20000"/>
                  </a:cubicBezTo>
                  <a:lnTo>
                    <a:pt x="3000" y="17000"/>
                  </a:lnTo>
                  <a:cubicBezTo>
                    <a:pt x="3000" y="16448"/>
                    <a:pt x="3448" y="16000"/>
                    <a:pt x="4000" y="16000"/>
                  </a:cubicBezTo>
                  <a:close/>
                </a:path>
              </a:pathLst>
            </a:custGeom>
            <a:noFill/>
            <a:ln w="16764" cap="rnd">
              <a:solidFill>
                <a:srgbClr val="165FF2"/>
              </a:solidFill>
              <a:round/>
            </a:ln>
          </p:spPr>
        </p:sp>
        <p:sp>
          <p:nvSpPr>
            <p:cNvPr id="63" name="Block number"/>
            <p:cNvSpPr txBox="1"/>
            <p:nvPr/>
          </p:nvSpPr>
          <p:spPr>
            <a:xfrm>
              <a:off x="5394960" y="2962656"/>
              <a:ext cx="420624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400"/>
                </a:lnSpc>
                <a:spcBef>
                  <a:spcPts val="0"/>
                </a:spcBef>
                <a:buNone/>
              </a:pPr>
              <a:r>
                <a:rPr lang="en-US" sz="13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05</a:t>
              </a:r>
              <a:endParaRPr lang="en-US" sz="1300" dirty="0">
                <a:latin typeface="TASA Orbiter SemiBold"/>
              </a:endParaRPr>
            </a:p>
          </p:txBody>
        </p:sp>
        <p:sp>
          <p:nvSpPr>
            <p:cNvPr id="64" name="Block title"/>
            <p:cNvSpPr txBox="1"/>
            <p:nvPr/>
          </p:nvSpPr>
          <p:spPr>
            <a:xfrm>
              <a:off x="3328416" y="3456432"/>
              <a:ext cx="2487168" cy="146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5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Dashboards &amp; Reports</a:t>
              </a:r>
              <a:endParaRPr lang="en-US" sz="1000" dirty="0">
                <a:latin typeface="Inter SemiBold"/>
              </a:endParaRPr>
            </a:p>
          </p:txBody>
        </p:sp>
        <p:sp>
          <p:nvSpPr>
            <p:cNvPr id="65" name="Block line"/>
            <p:cNvSpPr txBox="1"/>
            <p:nvPr/>
          </p:nvSpPr>
          <p:spPr>
            <a:xfrm>
              <a:off x="3328416" y="3666490"/>
              <a:ext cx="24871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60"/>
                </a:lnSpc>
                <a:spcBef>
                  <a:spcPts val="0"/>
                </a:spcBef>
                <a:buNone/>
              </a:pPr>
              <a:r>
                <a:rPr lang="en-US" sz="74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Operational and financial views, filters and CSV / Excel downloads, limited to each user's access.</a:t>
              </a:r>
              <a:endParaRPr lang="en-US" sz="740" dirty="0">
                <a:latin typeface="Inter"/>
              </a:endParaRPr>
            </a:p>
          </p:txBody>
        </p:sp>
      </p:grpSp>
      <p:grpSp>
        <p:nvGrpSpPr>
          <p:cNvPr id="66" name="Block 06"/>
          <p:cNvGrpSpPr/>
          <p:nvPr/>
        </p:nvGrpSpPr>
        <p:grpSpPr>
          <a:xfrm>
            <a:off x="6089904" y="2834640"/>
            <a:ext cx="2779776" cy="1225296"/>
            <a:chOff x="6089904" y="2834640"/>
            <a:chExt cx="2779776" cy="1225296"/>
          </a:xfrm>
        </p:grpSpPr>
        <p:sp>
          <p:nvSpPr>
            <p:cNvPr id="67" name="Block card"/>
            <p:cNvSpPr/>
            <p:nvPr/>
          </p:nvSpPr>
          <p:spPr>
            <a:xfrm>
              <a:off x="6089904" y="2834640"/>
              <a:ext cx="2779776" cy="1225296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68" name="Icon tile"/>
            <p:cNvSpPr/>
            <p:nvPr/>
          </p:nvSpPr>
          <p:spPr>
            <a:xfrm>
              <a:off x="6236208" y="2999232"/>
              <a:ext cx="365760" cy="365760"/>
            </a:xfrm>
            <a:prstGeom prst="roundRect">
              <a:avLst>
                <a:gd name="adj" fmla="val 17500"/>
              </a:avLst>
            </a:prstGeom>
            <a:solidFill>
              <a:srgbClr val="F4F8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69" name="Icon shield-check"/>
            <p:cNvSpPr/>
            <p:nvPr/>
          </p:nvSpPr>
          <p:spPr>
            <a:xfrm>
              <a:off x="6327648" y="3090672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0000" y="13000"/>
                  </a:moveTo>
                  <a:cubicBezTo>
                    <a:pt x="20000" y="18000"/>
                    <a:pt x="16500" y="20500"/>
                    <a:pt x="12340" y="21950"/>
                  </a:cubicBezTo>
                  <a:cubicBezTo>
                    <a:pt x="12122" y="22024"/>
                    <a:pt x="11886" y="22020"/>
                    <a:pt x="11670" y="21940"/>
                  </a:cubicBezTo>
                  <a:cubicBezTo>
                    <a:pt x="7500" y="20500"/>
                    <a:pt x="4000" y="18000"/>
                    <a:pt x="4000" y="13000"/>
                  </a:cubicBezTo>
                  <a:lnTo>
                    <a:pt x="4000" y="6000"/>
                  </a:lnTo>
                  <a:cubicBezTo>
                    <a:pt x="4000" y="5448"/>
                    <a:pt x="4448" y="5000"/>
                    <a:pt x="5000" y="5000"/>
                  </a:cubicBezTo>
                  <a:cubicBezTo>
                    <a:pt x="7000" y="5000"/>
                    <a:pt x="9500" y="3800"/>
                    <a:pt x="11240" y="2280"/>
                  </a:cubicBezTo>
                  <a:cubicBezTo>
                    <a:pt x="11678" y="1906"/>
                    <a:pt x="12322" y="1906"/>
                    <a:pt x="12760" y="2280"/>
                  </a:cubicBezTo>
                  <a:cubicBezTo>
                    <a:pt x="14510" y="3810"/>
                    <a:pt x="17000" y="5000"/>
                    <a:pt x="19000" y="5000"/>
                  </a:cubicBezTo>
                  <a:cubicBezTo>
                    <a:pt x="19552" y="5000"/>
                    <a:pt x="20000" y="5448"/>
                    <a:pt x="20000" y="6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6764" cap="rnd">
              <a:solidFill>
                <a:srgbClr val="165FF2"/>
              </a:solidFill>
              <a:round/>
            </a:ln>
          </p:spPr>
        </p:sp>
        <p:sp>
          <p:nvSpPr>
            <p:cNvPr id="70" name="Block number"/>
            <p:cNvSpPr txBox="1"/>
            <p:nvPr/>
          </p:nvSpPr>
          <p:spPr>
            <a:xfrm>
              <a:off x="8302752" y="2962656"/>
              <a:ext cx="420624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400"/>
                </a:lnSpc>
                <a:spcBef>
                  <a:spcPts val="0"/>
                </a:spcBef>
                <a:buNone/>
              </a:pPr>
              <a:r>
                <a:rPr lang="en-US" sz="1300" b="0" i="0" spc="0" dirty="0">
                  <a:solidFill>
                    <a:srgbClr val="CBD5E2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06</a:t>
              </a:r>
              <a:endParaRPr lang="en-US" sz="1300" dirty="0">
                <a:latin typeface="TASA Orbiter SemiBold"/>
              </a:endParaRPr>
            </a:p>
          </p:txBody>
        </p:sp>
        <p:sp>
          <p:nvSpPr>
            <p:cNvPr id="71" name="Block title"/>
            <p:cNvSpPr txBox="1"/>
            <p:nvPr/>
          </p:nvSpPr>
          <p:spPr>
            <a:xfrm>
              <a:off x="6236208" y="3456432"/>
              <a:ext cx="2487168" cy="146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50"/>
                </a:lnSpc>
                <a:spcBef>
                  <a:spcPts val="0"/>
                </a:spcBef>
                <a:buNone/>
              </a:pPr>
              <a:r>
                <a:rPr lang="en-US" sz="100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Access Control &amp; Audit</a:t>
              </a:r>
              <a:endParaRPr lang="en-US" sz="1000" dirty="0">
                <a:latin typeface="Inter SemiBold"/>
              </a:endParaRPr>
            </a:p>
          </p:txBody>
        </p:sp>
        <p:sp>
          <p:nvSpPr>
            <p:cNvPr id="72" name="Block line"/>
            <p:cNvSpPr txBox="1"/>
            <p:nvPr/>
          </p:nvSpPr>
          <p:spPr>
            <a:xfrm>
              <a:off x="6236208" y="3666490"/>
              <a:ext cx="24871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60"/>
                </a:lnSpc>
                <a:spcBef>
                  <a:spcPts val="0"/>
                </a:spcBef>
                <a:buNone/>
              </a:pPr>
              <a:r>
                <a:rPr lang="en-US" sz="74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Store, central, vendor, maintenance and super-admin roles, with a full audit history of every action.</a:t>
              </a:r>
              <a:endParaRPr lang="en-US" sz="740" dirty="0">
                <a:latin typeface="Inter"/>
              </a:endParaRPr>
            </a:p>
          </p:txBody>
        </p:sp>
      </p:grpSp>
      <p:sp>
        <p:nvSpPr>
          <p:cNvPr id="73" name="Services strip"/>
          <p:cNvSpPr/>
          <p:nvPr/>
        </p:nvSpPr>
        <p:spPr>
          <a:xfrm>
            <a:off x="274320" y="4187952"/>
            <a:ext cx="8595360" cy="521208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4" name="Icon package"/>
          <p:cNvSpPr/>
          <p:nvPr/>
        </p:nvSpPr>
        <p:spPr>
          <a:xfrm>
            <a:off x="402336" y="4366260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21730"/>
                </a:moveTo>
                <a:cubicBezTo>
                  <a:pt x="11619" y="22087"/>
                  <a:pt x="12381" y="22087"/>
                  <a:pt x="13000" y="21730"/>
                </a:cubicBezTo>
                <a:lnTo>
                  <a:pt x="20000" y="17730"/>
                </a:lnTo>
                <a:cubicBezTo>
                  <a:pt x="20618" y="17373"/>
                  <a:pt x="20999" y="16714"/>
                  <a:pt x="21000" y="16000"/>
                </a:cubicBezTo>
                <a:lnTo>
                  <a:pt x="21000" y="8000"/>
                </a:lnTo>
                <a:cubicBezTo>
                  <a:pt x="20999" y="7286"/>
                  <a:pt x="20618" y="6627"/>
                  <a:pt x="20000" y="6270"/>
                </a:cubicBezTo>
                <a:lnTo>
                  <a:pt x="13000" y="2270"/>
                </a:lnTo>
                <a:cubicBezTo>
                  <a:pt x="12381" y="1913"/>
                  <a:pt x="11619" y="1913"/>
                  <a:pt x="11000" y="2270"/>
                </a:cubicBezTo>
                <a:lnTo>
                  <a:pt x="4000" y="6270"/>
                </a:lnTo>
                <a:cubicBezTo>
                  <a:pt x="3382" y="6627"/>
                  <a:pt x="3001" y="7286"/>
                  <a:pt x="3000" y="8000"/>
                </a:cubicBezTo>
                <a:lnTo>
                  <a:pt x="3000" y="16000"/>
                </a:lnTo>
                <a:cubicBezTo>
                  <a:pt x="3001" y="16714"/>
                  <a:pt x="3382" y="17373"/>
                  <a:pt x="4000" y="17730"/>
                </a:cubicBezTo>
                <a:close/>
              </a:path>
              <a:path w="24000" h="24000" fill="none">
                <a:moveTo>
                  <a:pt x="12000" y="22000"/>
                </a:moveTo>
                <a:lnTo>
                  <a:pt x="12000" y="12000"/>
                </a:lnTo>
              </a:path>
              <a:path w="24000" h="24000" fill="none">
                <a:moveTo>
                  <a:pt x="3290" y="7000"/>
                </a:moveTo>
                <a:lnTo>
                  <a:pt x="12000" y="12000"/>
                </a:lnTo>
                <a:lnTo>
                  <a:pt x="20710" y="7000"/>
                </a:lnTo>
              </a:path>
              <a:path w="24000" h="24000" fill="none">
                <a:moveTo>
                  <a:pt x="7500" y="4270"/>
                </a:moveTo>
                <a:lnTo>
                  <a:pt x="16500" y="9420"/>
                </a:lnTo>
              </a:path>
            </a:pathLst>
          </a:custGeom>
          <a:noFill/>
          <a:ln w="15088" cap="rnd">
            <a:solidFill>
              <a:srgbClr val="165FF2"/>
            </a:solidFill>
            <a:round/>
          </a:ln>
        </p:spPr>
      </p:sp>
      <p:sp>
        <p:nvSpPr>
          <p:cNvPr id="75" name="Strip title"/>
          <p:cNvSpPr txBox="1"/>
          <p:nvPr/>
        </p:nvSpPr>
        <p:spPr>
          <a:xfrm>
            <a:off x="640080" y="4187952"/>
            <a:ext cx="1188720" cy="5212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buNone/>
            </a:pPr>
            <a:r>
              <a:rPr lang="en-US" sz="7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Services included</a:t>
            </a:r>
            <a:endParaRPr lang="en-US" sz="740" dirty="0">
              <a:latin typeface="Inter SemiBold"/>
            </a:endParaRPr>
          </a:p>
        </p:txBody>
      </p:sp>
      <p:grpSp>
        <p:nvGrpSpPr>
          <p:cNvPr id="76" name="Chip User manual / SOP"/>
          <p:cNvGrpSpPr/>
          <p:nvPr/>
        </p:nvGrpSpPr>
        <p:grpSpPr>
          <a:xfrm>
            <a:off x="1920240" y="4366260"/>
            <a:ext cx="953054" cy="164592"/>
            <a:chOff x="1920240" y="4366260"/>
            <a:chExt cx="953054" cy="164592"/>
          </a:xfrm>
        </p:grpSpPr>
        <p:sp>
          <p:nvSpPr>
            <p:cNvPr id="77" name="Chip fill"/>
            <p:cNvSpPr/>
            <p:nvPr/>
          </p:nvSpPr>
          <p:spPr>
            <a:xfrm>
              <a:off x="1920240" y="4366260"/>
              <a:ext cx="953054" cy="164592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78" name="Icon circle-check"/>
            <p:cNvSpPr/>
            <p:nvPr/>
          </p:nvSpPr>
          <p:spPr>
            <a:xfrm>
              <a:off x="1979676" y="4397532"/>
              <a:ext cx="102047" cy="10204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9354" cap="rnd">
              <a:solidFill>
                <a:srgbClr val="243547"/>
              </a:solidFill>
              <a:round/>
            </a:ln>
          </p:spPr>
        </p:sp>
        <p:sp>
          <p:nvSpPr>
            <p:cNvPr id="79" name="Chip label"/>
            <p:cNvSpPr txBox="1"/>
            <p:nvPr/>
          </p:nvSpPr>
          <p:spPr>
            <a:xfrm>
              <a:off x="2109155" y="4366260"/>
              <a:ext cx="73670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620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24354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User manual / SOP</a:t>
              </a:r>
              <a:endParaRPr lang="en-US" sz="620" dirty="0">
                <a:latin typeface="Inter SemiBold"/>
              </a:endParaRPr>
            </a:p>
          </p:txBody>
        </p:sp>
      </p:grpSp>
      <p:grpSp>
        <p:nvGrpSpPr>
          <p:cNvPr id="80" name="Chip Operator &amp; vendor training"/>
          <p:cNvGrpSpPr/>
          <p:nvPr/>
        </p:nvGrpSpPr>
        <p:grpSpPr>
          <a:xfrm>
            <a:off x="2964734" y="4366260"/>
            <a:ext cx="1251861" cy="164592"/>
            <a:chOff x="2964734" y="4366260"/>
            <a:chExt cx="1251861" cy="164592"/>
          </a:xfrm>
        </p:grpSpPr>
        <p:sp>
          <p:nvSpPr>
            <p:cNvPr id="81" name="Chip fill"/>
            <p:cNvSpPr/>
            <p:nvPr/>
          </p:nvSpPr>
          <p:spPr>
            <a:xfrm>
              <a:off x="2964734" y="4366260"/>
              <a:ext cx="1251861" cy="164592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2" name="Icon circle-check"/>
            <p:cNvSpPr/>
            <p:nvPr/>
          </p:nvSpPr>
          <p:spPr>
            <a:xfrm>
              <a:off x="3024170" y="4397532"/>
              <a:ext cx="102047" cy="10204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9354" cap="rnd">
              <a:solidFill>
                <a:srgbClr val="243547"/>
              </a:solidFill>
              <a:round/>
            </a:ln>
          </p:spPr>
        </p:sp>
        <p:sp>
          <p:nvSpPr>
            <p:cNvPr id="83" name="Chip label"/>
            <p:cNvSpPr txBox="1"/>
            <p:nvPr/>
          </p:nvSpPr>
          <p:spPr>
            <a:xfrm>
              <a:off x="3153649" y="4366260"/>
              <a:ext cx="1035514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620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24354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Operator &amp; vendor training</a:t>
              </a:r>
              <a:endParaRPr lang="en-US" sz="620" dirty="0">
                <a:latin typeface="Inter SemiBold"/>
              </a:endParaRPr>
            </a:p>
          </p:txBody>
        </p:sp>
      </p:grpSp>
      <p:grpSp>
        <p:nvGrpSpPr>
          <p:cNvPr id="84" name="Chip UAT and go-live support"/>
          <p:cNvGrpSpPr/>
          <p:nvPr/>
        </p:nvGrpSpPr>
        <p:grpSpPr>
          <a:xfrm>
            <a:off x="4308036" y="4366260"/>
            <a:ext cx="1169192" cy="164592"/>
            <a:chOff x="4308036" y="4366260"/>
            <a:chExt cx="1169192" cy="164592"/>
          </a:xfrm>
        </p:grpSpPr>
        <p:sp>
          <p:nvSpPr>
            <p:cNvPr id="85" name="Chip fill"/>
            <p:cNvSpPr/>
            <p:nvPr/>
          </p:nvSpPr>
          <p:spPr>
            <a:xfrm>
              <a:off x="4308036" y="4366260"/>
              <a:ext cx="1169192" cy="164592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6" name="Icon circle-check"/>
            <p:cNvSpPr/>
            <p:nvPr/>
          </p:nvSpPr>
          <p:spPr>
            <a:xfrm>
              <a:off x="4367472" y="4397532"/>
              <a:ext cx="102047" cy="10204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9354" cap="rnd">
              <a:solidFill>
                <a:srgbClr val="243547"/>
              </a:solidFill>
              <a:round/>
            </a:ln>
          </p:spPr>
        </p:sp>
        <p:sp>
          <p:nvSpPr>
            <p:cNvPr id="87" name="Chip label"/>
            <p:cNvSpPr txBox="1"/>
            <p:nvPr/>
          </p:nvSpPr>
          <p:spPr>
            <a:xfrm>
              <a:off x="4496951" y="4366260"/>
              <a:ext cx="952845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620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24354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UAT and go-live support</a:t>
              </a:r>
              <a:endParaRPr lang="en-US" sz="620" dirty="0">
                <a:latin typeface="Inter SemiBold"/>
              </a:endParaRPr>
            </a:p>
          </p:txBody>
        </p:sp>
      </p:grpSp>
      <p:grpSp>
        <p:nvGrpSpPr>
          <p:cNvPr id="88" name="Chip Post go-live support"/>
          <p:cNvGrpSpPr/>
          <p:nvPr/>
        </p:nvGrpSpPr>
        <p:grpSpPr>
          <a:xfrm>
            <a:off x="5568668" y="4366260"/>
            <a:ext cx="1017209" cy="164592"/>
            <a:chOff x="5568668" y="4366260"/>
            <a:chExt cx="1017209" cy="164592"/>
          </a:xfrm>
        </p:grpSpPr>
        <p:sp>
          <p:nvSpPr>
            <p:cNvPr id="89" name="Chip fill"/>
            <p:cNvSpPr/>
            <p:nvPr/>
          </p:nvSpPr>
          <p:spPr>
            <a:xfrm>
              <a:off x="5568668" y="4366260"/>
              <a:ext cx="1017209" cy="164592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6350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0" name="Icon circle-check"/>
            <p:cNvSpPr/>
            <p:nvPr/>
          </p:nvSpPr>
          <p:spPr>
            <a:xfrm>
              <a:off x="5628104" y="4397532"/>
              <a:ext cx="102047" cy="102047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9354" cap="rnd">
              <a:solidFill>
                <a:srgbClr val="243547"/>
              </a:solidFill>
              <a:round/>
            </a:ln>
          </p:spPr>
        </p:sp>
        <p:sp>
          <p:nvSpPr>
            <p:cNvPr id="91" name="Chip label"/>
            <p:cNvSpPr txBox="1"/>
            <p:nvPr/>
          </p:nvSpPr>
          <p:spPr>
            <a:xfrm>
              <a:off x="5757583" y="4366260"/>
              <a:ext cx="800862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620"/>
                </a:lnSpc>
                <a:spcBef>
                  <a:spcPts val="0"/>
                </a:spcBef>
                <a:buNone/>
              </a:pPr>
              <a:r>
                <a:rPr lang="en-US" sz="620" b="0" i="0" spc="0" dirty="0">
                  <a:solidFill>
                    <a:srgbClr val="24354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Post go-live support</a:t>
              </a:r>
              <a:endParaRPr lang="en-US" sz="620" dirty="0">
                <a:latin typeface="Inter SemiBold"/>
              </a:endParaRP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93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DG Online Monitoring Proposal  ·  Flipkart Minutes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94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B97EA3DD-79D7-412B-A18E-96876F6270EC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9456"/>
            <a:ext cx="8650224" cy="722376"/>
            <a:chOff x="274320" y="219456"/>
            <a:chExt cx="8650224" cy="722376"/>
          </a:xfrm>
        </p:grpSpPr>
        <p:sp>
          <p:nvSpPr>
            <p:cNvPr id="4" name="Eyebrow"/>
            <p:cNvSpPr txBox="1"/>
            <p:nvPr/>
          </p:nvSpPr>
          <p:spPr>
            <a:xfrm>
              <a:off x="274320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BOTH WORKFLOWS  ·  PLAN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5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Implementation Milestones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6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From kick-off to go-live — hardware, application, billing and Fusion; the week-by-week plan follows on the next slide.</a:t>
              </a:r>
              <a:endParaRPr lang="en-US" sz="850" dirty="0">
                <a:latin typeface="Inter"/>
              </a:endParaRPr>
            </a:p>
          </p:txBody>
        </p:sp>
        <p:grpSp>
          <p:nvGrpSpPr>
            <p:cNvPr id="7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8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" name="Identity"/>
          <p:cNvSpPr/>
          <p:nvPr/>
        </p:nvSpPr>
        <p:spPr>
          <a:xfrm>
            <a:off x="274320" y="1097280"/>
            <a:ext cx="1371600" cy="2103120"/>
          </a:xfrm>
          <a:prstGeom prst="roundRect">
            <a:avLst>
              <a:gd name="adj" fmla="val 5333"/>
            </a:avLst>
          </a:prstGeom>
          <a:solidFill>
            <a:srgbClr val="165FF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0" name="Identity corner"/>
          <p:cNvSpPr/>
          <p:nvPr/>
        </p:nvSpPr>
        <p:spPr>
          <a:xfrm>
            <a:off x="274320" y="1097280"/>
            <a:ext cx="1371600" cy="2103120"/>
          </a:xfrm>
          <a:prstGeom prst="roundRect">
            <a:avLst>
              <a:gd name="adj" fmla="val 5333"/>
            </a:avLst>
          </a:prstGeom>
          <a:solidFill>
            <a:srgbClr val="165FF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1" name="Icon fuel"/>
          <p:cNvSpPr/>
          <p:nvPr/>
        </p:nvSpPr>
        <p:spPr>
          <a:xfrm>
            <a:off x="1298448" y="1243584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22000"/>
                </a:moveTo>
                <a:lnTo>
                  <a:pt x="15000" y="22000"/>
                </a:lnTo>
              </a:path>
              <a:path w="24000" h="24000" fill="none">
                <a:moveTo>
                  <a:pt x="4000" y="9000"/>
                </a:moveTo>
                <a:lnTo>
                  <a:pt x="14000" y="9000"/>
                </a:lnTo>
              </a:path>
              <a:path w="24000" h="24000" fill="none">
                <a:moveTo>
                  <a:pt x="14000" y="22000"/>
                </a:moveTo>
                <a:lnTo>
                  <a:pt x="14000" y="4000"/>
                </a:lnTo>
                <a:cubicBezTo>
                  <a:pt x="14000" y="2895"/>
                  <a:pt x="13105" y="2000"/>
                  <a:pt x="12000" y="2000"/>
                </a:cubicBezTo>
                <a:lnTo>
                  <a:pt x="6000" y="2000"/>
                </a:lnTo>
                <a:cubicBezTo>
                  <a:pt x="4895" y="2000"/>
                  <a:pt x="4000" y="2895"/>
                  <a:pt x="4000" y="4000"/>
                </a:cubicBezTo>
                <a:lnTo>
                  <a:pt x="4000" y="22000"/>
                </a:lnTo>
              </a:path>
              <a:path w="24000" h="24000" fill="none">
                <a:moveTo>
                  <a:pt x="14000" y="13000"/>
                </a:moveTo>
                <a:lnTo>
                  <a:pt x="16000" y="13000"/>
                </a:lnTo>
                <a:cubicBezTo>
                  <a:pt x="17105" y="13000"/>
                  <a:pt x="18000" y="13895"/>
                  <a:pt x="18000" y="15000"/>
                </a:cubicBezTo>
                <a:lnTo>
                  <a:pt x="18000" y="17000"/>
                </a:lnTo>
                <a:cubicBezTo>
                  <a:pt x="18000" y="18105"/>
                  <a:pt x="18895" y="19000"/>
                  <a:pt x="20000" y="19000"/>
                </a:cubicBezTo>
                <a:cubicBezTo>
                  <a:pt x="21105" y="19000"/>
                  <a:pt x="22000" y="18105"/>
                  <a:pt x="22000" y="17000"/>
                </a:cubicBezTo>
                <a:lnTo>
                  <a:pt x="22000" y="9830"/>
                </a:lnTo>
                <a:cubicBezTo>
                  <a:pt x="22000" y="9297"/>
                  <a:pt x="21788" y="8786"/>
                  <a:pt x="21410" y="8410"/>
                </a:cubicBezTo>
                <a:lnTo>
                  <a:pt x="18000" y="5000"/>
                </a:lnTo>
              </a:path>
            </a:pathLst>
          </a:custGeom>
          <a:noFill/>
          <a:ln w="18440" cap="rnd">
            <a:solidFill>
              <a:srgbClr val="FFFFFF"/>
            </a:solidFill>
            <a:round/>
          </a:ln>
        </p:spPr>
      </p:sp>
      <p:sp>
        <p:nvSpPr>
          <p:cNvPr id="22" name="Project number"/>
          <p:cNvSpPr txBox="1"/>
          <p:nvPr/>
        </p:nvSpPr>
        <p:spPr>
          <a:xfrm>
            <a:off x="420624" y="118872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buNone/>
            </a:pPr>
            <a:r>
              <a:rPr lang="en-US" sz="2000" b="0" i="0" spc="0" dirty="0">
                <a:solidFill>
                  <a:srgbClr val="FFFFFF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01–02</a:t>
            </a:r>
            <a:endParaRPr lang="en-US" sz="2000" dirty="0">
              <a:latin typeface="TASA Orbiter SemiBold"/>
            </a:endParaRPr>
          </a:p>
        </p:txBody>
      </p:sp>
      <p:sp>
        <p:nvSpPr>
          <p:cNvPr id="23" name="Project name"/>
          <p:cNvSpPr txBox="1"/>
          <p:nvPr/>
        </p:nvSpPr>
        <p:spPr>
          <a:xfrm>
            <a:off x="420624" y="1664208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buNone/>
            </a:pPr>
            <a:r>
              <a:rPr lang="en-US" sz="1100" b="0" i="0" spc="0" dirty="0">
                <a:solidFill>
                  <a:srgbClr val="FFFFFF"/>
                </a:solidFill>
                <a:latin typeface="TASA Orbiter SemiBold"/>
                <a:ea typeface="TASA Orbiter SemiBold"/>
                <a:cs typeface="TASA Orbiter SemiBold"/>
                <a:sym typeface="TASA Orbiter SemiBold"/>
              </a:rPr>
              <a:t>DG Online Monitoring</a:t>
            </a:r>
            <a:endParaRPr lang="en-US" sz="1100" dirty="0">
              <a:latin typeface="TASA Orbiter SemiBold"/>
            </a:endParaRPr>
          </a:p>
          <a:p>
            <a:pPr algn="l">
              <a:lnSpc>
                <a:spcPts val="800"/>
              </a:lnSpc>
              <a:spcBef>
                <a:spcPts val="200"/>
              </a:spcBef>
              <a:buNone/>
            </a:pPr>
            <a:r>
              <a:rPr lang="en-US" sz="660" b="0" i="0" spc="0" dirty="0">
                <a:solidFill>
                  <a:srgbClr val="DCE8FE"/>
                </a:solidFill>
                <a:latin typeface="Inter"/>
                <a:ea typeface="Inter"/>
                <a:cs typeface="Inter"/>
                <a:sym typeface="Inter"/>
              </a:rPr>
              <a:t>Refilling  ·  Maintenance</a:t>
            </a:r>
            <a:endParaRPr lang="en-US" sz="660" dirty="0">
              <a:latin typeface="Inter"/>
            </a:endParaRPr>
          </a:p>
        </p:txBody>
      </p:sp>
      <p:cxnSp>
        <p:nvCxnSpPr>
          <p:cNvPr id="24" name="Divider"/>
          <p:cNvCxnSpPr/>
          <p:nvPr/>
        </p:nvCxnSpPr>
        <p:spPr>
          <a:xfrm>
            <a:off x="420624" y="2267712"/>
            <a:ext cx="1078992" cy="0"/>
          </a:xfrm>
          <a:prstGeom prst="straightConnector1">
            <a:avLst/>
          </a:prstGeom>
          <a:noFill/>
          <a:ln w="6350">
            <a:solidFill>
              <a:srgbClr val="5A8DF7"/>
            </a:solidFill>
            <a:round/>
          </a:ln>
        </p:spPr>
      </p:cxnSp>
      <p:sp>
        <p:nvSpPr>
          <p:cNvPr id="25" name="Applications label"/>
          <p:cNvSpPr txBox="1"/>
          <p:nvPr/>
        </p:nvSpPr>
        <p:spPr>
          <a:xfrm>
            <a:off x="420624" y="2340864"/>
            <a:ext cx="114300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50"/>
              </a:lnSpc>
              <a:spcBef>
                <a:spcPts val="0"/>
              </a:spcBef>
              <a:buNone/>
            </a:pPr>
            <a:r>
              <a:rPr lang="en-US" sz="550" b="0" i="0" cap="all" spc="82" dirty="0">
                <a:solidFill>
                  <a:srgbClr val="B8D0F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APPLICATION</a:t>
            </a:r>
            <a:endParaRPr lang="en-US" sz="550" dirty="0">
              <a:latin typeface="Inter SemiBold"/>
            </a:endParaRPr>
          </a:p>
        </p:txBody>
      </p:sp>
      <p:sp>
        <p:nvSpPr>
          <p:cNvPr id="26" name="Applications"/>
          <p:cNvSpPr txBox="1"/>
          <p:nvPr/>
        </p:nvSpPr>
        <p:spPr>
          <a:xfrm>
            <a:off x="420624" y="2487168"/>
            <a:ext cx="1143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9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DG Fuel Management &amp; Maintenance Application on the IOsense cloud</a:t>
            </a:r>
            <a:endParaRPr lang="en-US" sz="660" dirty="0">
              <a:latin typeface="Inter SemiBold"/>
            </a:endParaRPr>
          </a:p>
        </p:txBody>
      </p:sp>
      <p:sp>
        <p:nvSpPr>
          <p:cNvPr id="27" name="Milestone panel"/>
          <p:cNvSpPr/>
          <p:nvPr/>
        </p:nvSpPr>
        <p:spPr>
          <a:xfrm>
            <a:off x="1645920" y="1097280"/>
            <a:ext cx="72237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9525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cxnSp>
        <p:nvCxnSpPr>
          <p:cNvPr id="28" name="Track"/>
          <p:cNvCxnSpPr/>
          <p:nvPr/>
        </p:nvCxnSpPr>
        <p:spPr>
          <a:xfrm>
            <a:off x="2362200" y="1517904"/>
            <a:ext cx="5791200" cy="0"/>
          </a:xfrm>
          <a:prstGeom prst="straightConnector1">
            <a:avLst/>
          </a:prstGeom>
          <a:noFill/>
          <a:ln w="19050">
            <a:solidFill>
              <a:srgbClr val="B8D0FD"/>
            </a:solidFill>
            <a:round/>
          </a:ln>
        </p:spPr>
      </p:cxnSp>
      <p:sp>
        <p:nvSpPr>
          <p:cNvPr id="29" name="Milestone circle"/>
          <p:cNvSpPr/>
          <p:nvPr/>
        </p:nvSpPr>
        <p:spPr>
          <a:xfrm>
            <a:off x="2197608" y="1353312"/>
            <a:ext cx="329184" cy="329184"/>
          </a:xfrm>
          <a:prstGeom prst="ellipse">
            <a:avLst/>
          </a:prstGeom>
          <a:solidFill>
            <a:srgbClr val="165FF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30" name="Icon flag"/>
          <p:cNvSpPr/>
          <p:nvPr/>
        </p:nvSpPr>
        <p:spPr>
          <a:xfrm>
            <a:off x="2284476" y="144018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15000"/>
                </a:moveTo>
                <a:cubicBezTo>
                  <a:pt x="4000" y="15000"/>
                  <a:pt x="5000" y="14000"/>
                  <a:pt x="8000" y="14000"/>
                </a:cubicBezTo>
                <a:cubicBezTo>
                  <a:pt x="11000" y="14000"/>
                  <a:pt x="13000" y="16000"/>
                  <a:pt x="16000" y="16000"/>
                </a:cubicBezTo>
                <a:cubicBezTo>
                  <a:pt x="19000" y="16000"/>
                  <a:pt x="20000" y="15000"/>
                  <a:pt x="20000" y="15000"/>
                </a:cubicBezTo>
                <a:lnTo>
                  <a:pt x="20000" y="3000"/>
                </a:lnTo>
                <a:cubicBezTo>
                  <a:pt x="20000" y="3000"/>
                  <a:pt x="19000" y="4000"/>
                  <a:pt x="16000" y="4000"/>
                </a:cubicBezTo>
                <a:cubicBezTo>
                  <a:pt x="13000" y="4000"/>
                  <a:pt x="11000" y="2000"/>
                  <a:pt x="8000" y="2000"/>
                </a:cubicBezTo>
                <a:cubicBezTo>
                  <a:pt x="5000" y="2000"/>
                  <a:pt x="4000" y="3000"/>
                  <a:pt x="4000" y="3000"/>
                </a:cubicBezTo>
                <a:close/>
              </a:path>
              <a:path w="24000" h="24000" fill="none">
                <a:moveTo>
                  <a:pt x="4000" y="22000"/>
                </a:moveTo>
                <a:lnTo>
                  <a:pt x="4000" y="15000"/>
                </a:lnTo>
              </a:path>
            </a:pathLst>
          </a:custGeom>
          <a:noFill/>
          <a:ln w="14249" cap="rnd">
            <a:solidFill>
              <a:srgbClr val="FFFFFF"/>
            </a:solidFill>
            <a:round/>
          </a:ln>
        </p:spPr>
      </p:sp>
      <p:sp>
        <p:nvSpPr>
          <p:cNvPr id="31" name="Milestone label"/>
          <p:cNvSpPr txBox="1"/>
          <p:nvPr/>
        </p:nvSpPr>
        <p:spPr>
          <a:xfrm>
            <a:off x="1783080" y="1773936"/>
            <a:ext cx="115824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82" dirty="0">
                <a:solidFill>
                  <a:srgbClr val="165FF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MILESTONE 1</a:t>
            </a:r>
            <a:endParaRPr lang="en-US" sz="560" dirty="0">
              <a:latin typeface="Inter SemiBold"/>
            </a:endParaRPr>
          </a:p>
        </p:txBody>
      </p:sp>
      <p:sp>
        <p:nvSpPr>
          <p:cNvPr id="32" name="Milestone title"/>
          <p:cNvSpPr txBox="1"/>
          <p:nvPr/>
        </p:nvSpPr>
        <p:spPr>
          <a:xfrm>
            <a:off x="1856232" y="1929384"/>
            <a:ext cx="1011936" cy="218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7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Kick-off &amp; requirement sign-off</a:t>
            </a:r>
            <a:endParaRPr lang="en-US" sz="740" dirty="0">
              <a:latin typeface="Inter SemiBold"/>
            </a:endParaRPr>
          </a:p>
        </p:txBody>
      </p:sp>
      <p:sp>
        <p:nvSpPr>
          <p:cNvPr id="33" name="Milestone description"/>
          <p:cNvSpPr txBox="1"/>
          <p:nvPr/>
        </p:nvSpPr>
        <p:spPr>
          <a:xfrm>
            <a:off x="1856232" y="2184400"/>
            <a:ext cx="1011936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750"/>
              </a:lnSpc>
              <a:spcBef>
                <a:spcPts val="0"/>
              </a:spcBef>
              <a:buNone/>
            </a:pPr>
            <a:r>
              <a:rPr lang="en-US" sz="63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Scope, masters, thresholds, PM settings, billing rates and the Fusion interface signed off</a:t>
            </a:r>
            <a:endParaRPr lang="en-US" sz="630" dirty="0">
              <a:latin typeface="Inter"/>
            </a:endParaRPr>
          </a:p>
        </p:txBody>
      </p:sp>
      <p:grpSp>
        <p:nvGrpSpPr>
          <p:cNvPr id="34" name="Chip Signed-off SRS"/>
          <p:cNvGrpSpPr/>
          <p:nvPr/>
        </p:nvGrpSpPr>
        <p:grpSpPr>
          <a:xfrm>
            <a:off x="1976995" y="2907792"/>
            <a:ext cx="770411" cy="137160"/>
            <a:chOff x="1976995" y="2907792"/>
            <a:chExt cx="770411" cy="137160"/>
          </a:xfrm>
        </p:grpSpPr>
        <p:sp>
          <p:nvSpPr>
            <p:cNvPr id="35" name="Chip fill"/>
            <p:cNvSpPr/>
            <p:nvPr/>
          </p:nvSpPr>
          <p:spPr>
            <a:xfrm>
              <a:off x="1976995" y="2907792"/>
              <a:ext cx="770411" cy="137160"/>
            </a:xfrm>
            <a:prstGeom prst="roundRect">
              <a:avLst>
                <a:gd name="adj" fmla="val 20000"/>
              </a:avLst>
            </a:prstGeom>
            <a:solidFill>
              <a:srgbClr val="00A251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6" name="Icon circle-check"/>
            <p:cNvSpPr/>
            <p:nvPr/>
          </p:nvSpPr>
          <p:spPr>
            <a:xfrm>
              <a:off x="2036431" y="2933852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7795" cap="rnd">
              <a:solidFill>
                <a:srgbClr val="008743"/>
              </a:solidFill>
              <a:round/>
            </a:ln>
          </p:spPr>
        </p:sp>
        <p:sp>
          <p:nvSpPr>
            <p:cNvPr id="37" name="Chip label"/>
            <p:cNvSpPr txBox="1"/>
            <p:nvPr/>
          </p:nvSpPr>
          <p:spPr>
            <a:xfrm>
              <a:off x="2148902" y="2907792"/>
              <a:ext cx="57107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00874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Signed-off SRS</a:t>
              </a:r>
              <a:endParaRPr lang="en-US" sz="580" dirty="0">
                <a:latin typeface="Inter SemiBold"/>
              </a:endParaRPr>
            </a:p>
          </p:txBody>
        </p:sp>
      </p:grpSp>
      <p:sp>
        <p:nvSpPr>
          <p:cNvPr id="38" name="Milestone circle"/>
          <p:cNvSpPr/>
          <p:nvPr/>
        </p:nvSpPr>
        <p:spPr>
          <a:xfrm>
            <a:off x="3355848" y="1353312"/>
            <a:ext cx="329184" cy="329184"/>
          </a:xfrm>
          <a:prstGeom prst="ellipse">
            <a:avLst/>
          </a:prstGeom>
          <a:solidFill>
            <a:srgbClr val="165FF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39" name="Icon cpu"/>
          <p:cNvSpPr/>
          <p:nvPr/>
        </p:nvSpPr>
        <p:spPr>
          <a:xfrm>
            <a:off x="3442716" y="144018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close/>
              </a:path>
              <a:path w="24000" h="24000" fill="none">
                <a:moveTo>
                  <a:pt x="10000" y="9000"/>
                </a:moveTo>
                <a:lnTo>
                  <a:pt x="14000" y="9000"/>
                </a:lnTo>
                <a:cubicBezTo>
                  <a:pt x="14552" y="9000"/>
                  <a:pt x="15000" y="9448"/>
                  <a:pt x="15000" y="10000"/>
                </a:cubicBezTo>
                <a:lnTo>
                  <a:pt x="15000" y="14000"/>
                </a:lnTo>
                <a:cubicBezTo>
                  <a:pt x="15000" y="14552"/>
                  <a:pt x="14552" y="15000"/>
                  <a:pt x="14000" y="15000"/>
                </a:cubicBezTo>
                <a:lnTo>
                  <a:pt x="10000" y="15000"/>
                </a:lnTo>
                <a:cubicBezTo>
                  <a:pt x="9448" y="15000"/>
                  <a:pt x="9000" y="14552"/>
                  <a:pt x="9000" y="14000"/>
                </a:cubicBezTo>
                <a:lnTo>
                  <a:pt x="9000" y="10000"/>
                </a:lnTo>
                <a:cubicBezTo>
                  <a:pt x="9000" y="9448"/>
                  <a:pt x="9448" y="9000"/>
                  <a:pt x="10000" y="9000"/>
                </a:cubicBezTo>
                <a:close/>
              </a:path>
              <a:path w="24000" h="24000" fill="none">
                <a:moveTo>
                  <a:pt x="15000" y="2000"/>
                </a:moveTo>
                <a:lnTo>
                  <a:pt x="15000" y="4000"/>
                </a:lnTo>
              </a:path>
              <a:path w="24000" h="24000" fill="none">
                <a:moveTo>
                  <a:pt x="15000" y="20000"/>
                </a:moveTo>
                <a:lnTo>
                  <a:pt x="15000" y="22000"/>
                </a:lnTo>
              </a:path>
              <a:path w="24000" h="24000" fill="none">
                <a:moveTo>
                  <a:pt x="2000" y="15000"/>
                </a:moveTo>
                <a:lnTo>
                  <a:pt x="4000" y="15000"/>
                </a:lnTo>
              </a:path>
              <a:path w="24000" h="24000" fill="none">
                <a:moveTo>
                  <a:pt x="2000" y="9000"/>
                </a:moveTo>
                <a:lnTo>
                  <a:pt x="4000" y="9000"/>
                </a:lnTo>
              </a:path>
              <a:path w="24000" h="24000" fill="none">
                <a:moveTo>
                  <a:pt x="20000" y="15000"/>
                </a:moveTo>
                <a:lnTo>
                  <a:pt x="22000" y="15000"/>
                </a:lnTo>
              </a:path>
              <a:path w="24000" h="24000" fill="none">
                <a:moveTo>
                  <a:pt x="20000" y="9000"/>
                </a:moveTo>
                <a:lnTo>
                  <a:pt x="22000" y="9000"/>
                </a:lnTo>
              </a:path>
              <a:path w="24000" h="24000" fill="none">
                <a:moveTo>
                  <a:pt x="9000" y="2000"/>
                </a:moveTo>
                <a:lnTo>
                  <a:pt x="9000" y="4000"/>
                </a:lnTo>
              </a:path>
              <a:path w="24000" h="24000" fill="none">
                <a:moveTo>
                  <a:pt x="9000" y="20000"/>
                </a:moveTo>
                <a:lnTo>
                  <a:pt x="9000" y="22000"/>
                </a:lnTo>
              </a:path>
            </a:pathLst>
          </a:custGeom>
          <a:noFill/>
          <a:ln w="14249" cap="rnd">
            <a:solidFill>
              <a:srgbClr val="FFFFFF"/>
            </a:solidFill>
            <a:round/>
          </a:ln>
        </p:spPr>
      </p:sp>
      <p:sp>
        <p:nvSpPr>
          <p:cNvPr id="40" name="Milestone label"/>
          <p:cNvSpPr txBox="1"/>
          <p:nvPr/>
        </p:nvSpPr>
        <p:spPr>
          <a:xfrm>
            <a:off x="2941320" y="1773936"/>
            <a:ext cx="115824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82" dirty="0">
                <a:solidFill>
                  <a:srgbClr val="165FF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MILESTONE 2</a:t>
            </a:r>
            <a:endParaRPr lang="en-US" sz="560" dirty="0">
              <a:latin typeface="Inter SemiBold"/>
            </a:endParaRPr>
          </a:p>
        </p:txBody>
      </p:sp>
      <p:sp>
        <p:nvSpPr>
          <p:cNvPr id="41" name="Milestone title"/>
          <p:cNvSpPr txBox="1"/>
          <p:nvPr/>
        </p:nvSpPr>
        <p:spPr>
          <a:xfrm>
            <a:off x="3014472" y="1929384"/>
            <a:ext cx="1011936" cy="218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7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Hardware supply &amp; installation</a:t>
            </a:r>
            <a:endParaRPr lang="en-US" sz="740" dirty="0">
              <a:latin typeface="Inter SemiBold"/>
            </a:endParaRPr>
          </a:p>
        </p:txBody>
      </p:sp>
      <p:sp>
        <p:nvSpPr>
          <p:cNvPr id="42" name="Milestone description"/>
          <p:cNvSpPr txBox="1"/>
          <p:nvPr/>
        </p:nvSpPr>
        <p:spPr>
          <a:xfrm>
            <a:off x="3014472" y="2184400"/>
            <a:ext cx="1011936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750"/>
              </a:lnSpc>
              <a:spcBef>
                <a:spcPts val="0"/>
              </a:spcBef>
              <a:buNone/>
            </a:pPr>
            <a:r>
              <a:rPr lang="en-US" sz="63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IoT devices, gateways and SIMs delivered, installed and commissioned; DG controllers integrated</a:t>
            </a:r>
            <a:endParaRPr lang="en-US" sz="630" dirty="0">
              <a:latin typeface="Inter"/>
            </a:endParaRPr>
          </a:p>
        </p:txBody>
      </p:sp>
      <p:grpSp>
        <p:nvGrpSpPr>
          <p:cNvPr id="43" name="Chip DGs live on IOsense"/>
          <p:cNvGrpSpPr/>
          <p:nvPr/>
        </p:nvGrpSpPr>
        <p:grpSpPr>
          <a:xfrm>
            <a:off x="3052794" y="2907792"/>
            <a:ext cx="935292" cy="137160"/>
            <a:chOff x="3052794" y="2907792"/>
            <a:chExt cx="935292" cy="137160"/>
          </a:xfrm>
        </p:grpSpPr>
        <p:sp>
          <p:nvSpPr>
            <p:cNvPr id="44" name="Chip fill"/>
            <p:cNvSpPr/>
            <p:nvPr/>
          </p:nvSpPr>
          <p:spPr>
            <a:xfrm>
              <a:off x="3052794" y="2907792"/>
              <a:ext cx="935292" cy="137160"/>
            </a:xfrm>
            <a:prstGeom prst="roundRect">
              <a:avLst>
                <a:gd name="adj" fmla="val 20000"/>
              </a:avLst>
            </a:prstGeom>
            <a:solidFill>
              <a:srgbClr val="00A251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5" name="Icon circle-check"/>
            <p:cNvSpPr/>
            <p:nvPr/>
          </p:nvSpPr>
          <p:spPr>
            <a:xfrm>
              <a:off x="3112230" y="2933852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7795" cap="rnd">
              <a:solidFill>
                <a:srgbClr val="008743"/>
              </a:solidFill>
              <a:round/>
            </a:ln>
          </p:spPr>
        </p:sp>
        <p:sp>
          <p:nvSpPr>
            <p:cNvPr id="46" name="Chip label"/>
            <p:cNvSpPr txBox="1"/>
            <p:nvPr/>
          </p:nvSpPr>
          <p:spPr>
            <a:xfrm>
              <a:off x="3224701" y="2907792"/>
              <a:ext cx="73595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00874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DGs live on IOsense</a:t>
              </a:r>
              <a:endParaRPr lang="en-US" sz="580" dirty="0">
                <a:latin typeface="Inter SemiBold"/>
              </a:endParaRPr>
            </a:p>
          </p:txBody>
        </p:sp>
      </p:grpSp>
      <p:sp>
        <p:nvSpPr>
          <p:cNvPr id="47" name="Milestone circle"/>
          <p:cNvSpPr/>
          <p:nvPr/>
        </p:nvSpPr>
        <p:spPr>
          <a:xfrm>
            <a:off x="4514088" y="1353312"/>
            <a:ext cx="329184" cy="329184"/>
          </a:xfrm>
          <a:prstGeom prst="ellipse">
            <a:avLst/>
          </a:prstGeom>
          <a:solidFill>
            <a:srgbClr val="165FF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48" name="Icon code-xml"/>
          <p:cNvSpPr/>
          <p:nvPr/>
        </p:nvSpPr>
        <p:spPr>
          <a:xfrm>
            <a:off x="4600956" y="144018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8000" y="16000"/>
                </a:moveTo>
                <a:lnTo>
                  <a:pt x="22000" y="12000"/>
                </a:lnTo>
                <a:lnTo>
                  <a:pt x="18000" y="8000"/>
                </a:lnTo>
              </a:path>
              <a:path w="24000" h="24000" fill="none">
                <a:moveTo>
                  <a:pt x="6000" y="8000"/>
                </a:moveTo>
                <a:lnTo>
                  <a:pt x="2000" y="12000"/>
                </a:lnTo>
                <a:lnTo>
                  <a:pt x="6000" y="16000"/>
                </a:lnTo>
              </a:path>
              <a:path w="24000" h="24000" fill="none">
                <a:moveTo>
                  <a:pt x="14500" y="4000"/>
                </a:moveTo>
                <a:lnTo>
                  <a:pt x="9500" y="20000"/>
                </a:lnTo>
              </a:path>
            </a:pathLst>
          </a:custGeom>
          <a:noFill/>
          <a:ln w="14249" cap="rnd">
            <a:solidFill>
              <a:srgbClr val="FFFFFF"/>
            </a:solidFill>
            <a:round/>
          </a:ln>
        </p:spPr>
      </p:sp>
      <p:sp>
        <p:nvSpPr>
          <p:cNvPr id="49" name="Milestone label"/>
          <p:cNvSpPr txBox="1"/>
          <p:nvPr/>
        </p:nvSpPr>
        <p:spPr>
          <a:xfrm>
            <a:off x="4099560" y="1773936"/>
            <a:ext cx="115824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82" dirty="0">
                <a:solidFill>
                  <a:srgbClr val="165FF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MILESTONE 3</a:t>
            </a:r>
            <a:endParaRPr lang="en-US" sz="560" dirty="0">
              <a:latin typeface="Inter SemiBold"/>
            </a:endParaRPr>
          </a:p>
        </p:txBody>
      </p:sp>
      <p:sp>
        <p:nvSpPr>
          <p:cNvPr id="50" name="Milestone title"/>
          <p:cNvSpPr txBox="1"/>
          <p:nvPr/>
        </p:nvSpPr>
        <p:spPr>
          <a:xfrm>
            <a:off x="4172712" y="1929384"/>
            <a:ext cx="1011936" cy="218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7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Application development</a:t>
            </a:r>
            <a:endParaRPr lang="en-US" sz="740" dirty="0">
              <a:latin typeface="Inter SemiBold"/>
            </a:endParaRPr>
          </a:p>
        </p:txBody>
      </p:sp>
      <p:sp>
        <p:nvSpPr>
          <p:cNvPr id="51" name="Milestone description"/>
          <p:cNvSpPr txBox="1"/>
          <p:nvPr/>
        </p:nvSpPr>
        <p:spPr>
          <a:xfrm>
            <a:off x="4172712" y="2184400"/>
            <a:ext cx="1011936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750"/>
              </a:lnSpc>
              <a:spcBef>
                <a:spcPts val="0"/>
              </a:spcBef>
              <a:buNone/>
            </a:pPr>
            <a:r>
              <a:rPr lang="en-US" sz="63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Masters, alert engine, work orders, vendor portal, billing engine and dashboards</a:t>
            </a:r>
            <a:endParaRPr lang="en-US" sz="630" dirty="0">
              <a:latin typeface="Inter"/>
            </a:endParaRPr>
          </a:p>
        </p:txBody>
      </p:sp>
      <p:grpSp>
        <p:nvGrpSpPr>
          <p:cNvPr id="52" name="Chip Build complete"/>
          <p:cNvGrpSpPr/>
          <p:nvPr/>
        </p:nvGrpSpPr>
        <p:grpSpPr>
          <a:xfrm>
            <a:off x="4301065" y="2907792"/>
            <a:ext cx="755230" cy="137160"/>
            <a:chOff x="4301065" y="2907792"/>
            <a:chExt cx="755230" cy="137160"/>
          </a:xfrm>
        </p:grpSpPr>
        <p:sp>
          <p:nvSpPr>
            <p:cNvPr id="53" name="Chip fill"/>
            <p:cNvSpPr/>
            <p:nvPr/>
          </p:nvSpPr>
          <p:spPr>
            <a:xfrm>
              <a:off x="4301065" y="2907792"/>
              <a:ext cx="755230" cy="137160"/>
            </a:xfrm>
            <a:prstGeom prst="roundRect">
              <a:avLst>
                <a:gd name="adj" fmla="val 20000"/>
              </a:avLst>
            </a:prstGeom>
            <a:solidFill>
              <a:srgbClr val="00A251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54" name="Icon circle-check"/>
            <p:cNvSpPr/>
            <p:nvPr/>
          </p:nvSpPr>
          <p:spPr>
            <a:xfrm>
              <a:off x="4360501" y="2933852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7795" cap="rnd">
              <a:solidFill>
                <a:srgbClr val="008743"/>
              </a:solidFill>
              <a:round/>
            </a:ln>
          </p:spPr>
        </p:sp>
        <p:sp>
          <p:nvSpPr>
            <p:cNvPr id="55" name="Chip label"/>
            <p:cNvSpPr txBox="1"/>
            <p:nvPr/>
          </p:nvSpPr>
          <p:spPr>
            <a:xfrm>
              <a:off x="4472972" y="2907792"/>
              <a:ext cx="55589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00874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Build complete</a:t>
              </a:r>
              <a:endParaRPr lang="en-US" sz="580" dirty="0">
                <a:latin typeface="Inter SemiBold"/>
              </a:endParaRPr>
            </a:p>
          </p:txBody>
        </p:sp>
      </p:grpSp>
      <p:sp>
        <p:nvSpPr>
          <p:cNvPr id="56" name="Milestone circle"/>
          <p:cNvSpPr/>
          <p:nvPr/>
        </p:nvSpPr>
        <p:spPr>
          <a:xfrm>
            <a:off x="5672328" y="1353312"/>
            <a:ext cx="329184" cy="329184"/>
          </a:xfrm>
          <a:prstGeom prst="ellipse">
            <a:avLst/>
          </a:prstGeom>
          <a:solidFill>
            <a:srgbClr val="165FF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7" name="Icon plug-zap"/>
          <p:cNvSpPr/>
          <p:nvPr/>
        </p:nvSpPr>
        <p:spPr>
          <a:xfrm>
            <a:off x="5759196" y="144018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300" y="20300"/>
                </a:moveTo>
                <a:cubicBezTo>
                  <a:pt x="6750" y="20752"/>
                  <a:pt x="7362" y="21006"/>
                  <a:pt x="8000" y="21006"/>
                </a:cubicBezTo>
                <a:cubicBezTo>
                  <a:pt x="8638" y="21006"/>
                  <a:pt x="9250" y="20752"/>
                  <a:pt x="9700" y="20300"/>
                </a:cubicBezTo>
                <a:lnTo>
                  <a:pt x="12000" y="18000"/>
                </a:lnTo>
                <a:lnTo>
                  <a:pt x="6000" y="12000"/>
                </a:lnTo>
                <a:lnTo>
                  <a:pt x="3700" y="14300"/>
                </a:lnTo>
                <a:cubicBezTo>
                  <a:pt x="3248" y="14750"/>
                  <a:pt x="2994" y="15362"/>
                  <a:pt x="2994" y="16000"/>
                </a:cubicBezTo>
                <a:cubicBezTo>
                  <a:pt x="2994" y="16638"/>
                  <a:pt x="3248" y="17250"/>
                  <a:pt x="3700" y="17700"/>
                </a:cubicBezTo>
                <a:close/>
              </a:path>
              <a:path w="24000" h="24000" fill="none">
                <a:moveTo>
                  <a:pt x="2000" y="22000"/>
                </a:moveTo>
                <a:lnTo>
                  <a:pt x="5000" y="19000"/>
                </a:lnTo>
              </a:path>
              <a:path w="24000" h="24000" fill="none">
                <a:moveTo>
                  <a:pt x="7500" y="13500"/>
                </a:moveTo>
                <a:lnTo>
                  <a:pt x="10000" y="11000"/>
                </a:lnTo>
              </a:path>
              <a:path w="24000" h="24000" fill="none">
                <a:moveTo>
                  <a:pt x="10500" y="16500"/>
                </a:moveTo>
                <a:lnTo>
                  <a:pt x="13000" y="14000"/>
                </a:lnTo>
              </a:path>
              <a:path w="24000" h="24000" fill="none">
                <a:moveTo>
                  <a:pt x="18000" y="3000"/>
                </a:moveTo>
                <a:lnTo>
                  <a:pt x="14000" y="7000"/>
                </a:lnTo>
                <a:lnTo>
                  <a:pt x="20000" y="7000"/>
                </a:lnTo>
                <a:lnTo>
                  <a:pt x="16000" y="11000"/>
                </a:lnTo>
              </a:path>
            </a:pathLst>
          </a:custGeom>
          <a:noFill/>
          <a:ln w="14249" cap="rnd">
            <a:solidFill>
              <a:srgbClr val="FFFFFF"/>
            </a:solidFill>
            <a:round/>
          </a:ln>
        </p:spPr>
      </p:sp>
      <p:sp>
        <p:nvSpPr>
          <p:cNvPr id="58" name="Milestone label"/>
          <p:cNvSpPr txBox="1"/>
          <p:nvPr/>
        </p:nvSpPr>
        <p:spPr>
          <a:xfrm>
            <a:off x="5257800" y="1773936"/>
            <a:ext cx="115824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82" dirty="0">
                <a:solidFill>
                  <a:srgbClr val="165FF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MILESTONE 4</a:t>
            </a:r>
            <a:endParaRPr lang="en-US" sz="560" dirty="0">
              <a:latin typeface="Inter SemiBold"/>
            </a:endParaRPr>
          </a:p>
        </p:txBody>
      </p:sp>
      <p:sp>
        <p:nvSpPr>
          <p:cNvPr id="59" name="Milestone title"/>
          <p:cNvSpPr txBox="1"/>
          <p:nvPr/>
        </p:nvSpPr>
        <p:spPr>
          <a:xfrm>
            <a:off x="5330952" y="1929384"/>
            <a:ext cx="1011936" cy="218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7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Configuration &amp; integration</a:t>
            </a:r>
            <a:endParaRPr lang="en-US" sz="740" dirty="0">
              <a:latin typeface="Inter SemiBold"/>
            </a:endParaRPr>
          </a:p>
        </p:txBody>
      </p:sp>
      <p:sp>
        <p:nvSpPr>
          <p:cNvPr id="60" name="Milestone description"/>
          <p:cNvSpPr txBox="1"/>
          <p:nvPr/>
        </p:nvSpPr>
        <p:spPr>
          <a:xfrm>
            <a:off x="5330952" y="2184400"/>
            <a:ext cx="1011936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750"/>
              </a:lnSpc>
              <a:spcBef>
                <a:spcPts val="0"/>
              </a:spcBef>
              <a:buNone/>
            </a:pPr>
            <a:r>
              <a:rPr lang="en-US" sz="63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Masters loaded, notifications connected and the Oracle Fusion interface integrated</a:t>
            </a:r>
            <a:endParaRPr lang="en-US" sz="630" dirty="0">
              <a:latin typeface="Inter"/>
            </a:endParaRPr>
          </a:p>
        </p:txBody>
      </p:sp>
      <p:grpSp>
        <p:nvGrpSpPr>
          <p:cNvPr id="61" name="Chip System configured"/>
          <p:cNvGrpSpPr/>
          <p:nvPr/>
        </p:nvGrpSpPr>
        <p:grpSpPr>
          <a:xfrm>
            <a:off x="5386082" y="2907792"/>
            <a:ext cx="901677" cy="137160"/>
            <a:chOff x="5386082" y="2907792"/>
            <a:chExt cx="901677" cy="137160"/>
          </a:xfrm>
        </p:grpSpPr>
        <p:sp>
          <p:nvSpPr>
            <p:cNvPr id="62" name="Chip fill"/>
            <p:cNvSpPr/>
            <p:nvPr/>
          </p:nvSpPr>
          <p:spPr>
            <a:xfrm>
              <a:off x="5386082" y="2907792"/>
              <a:ext cx="901677" cy="137160"/>
            </a:xfrm>
            <a:prstGeom prst="roundRect">
              <a:avLst>
                <a:gd name="adj" fmla="val 20000"/>
              </a:avLst>
            </a:prstGeom>
            <a:solidFill>
              <a:srgbClr val="00A251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63" name="Icon circle-check"/>
            <p:cNvSpPr/>
            <p:nvPr/>
          </p:nvSpPr>
          <p:spPr>
            <a:xfrm>
              <a:off x="5445518" y="2933852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7795" cap="rnd">
              <a:solidFill>
                <a:srgbClr val="008743"/>
              </a:solidFill>
              <a:round/>
            </a:ln>
          </p:spPr>
        </p:sp>
        <p:sp>
          <p:nvSpPr>
            <p:cNvPr id="64" name="Chip label"/>
            <p:cNvSpPr txBox="1"/>
            <p:nvPr/>
          </p:nvSpPr>
          <p:spPr>
            <a:xfrm>
              <a:off x="5557989" y="2907792"/>
              <a:ext cx="70233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00874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configured</a:t>
              </a:r>
              <a:endParaRPr lang="en-US" sz="580" dirty="0">
                <a:latin typeface="Inter SemiBold"/>
              </a:endParaRPr>
            </a:p>
          </p:txBody>
        </p:sp>
      </p:grpSp>
      <p:sp>
        <p:nvSpPr>
          <p:cNvPr id="65" name="Milestone circle"/>
          <p:cNvSpPr/>
          <p:nvPr/>
        </p:nvSpPr>
        <p:spPr>
          <a:xfrm>
            <a:off x="6830568" y="1353312"/>
            <a:ext cx="329184" cy="329184"/>
          </a:xfrm>
          <a:prstGeom prst="ellipse">
            <a:avLst/>
          </a:prstGeom>
          <a:solidFill>
            <a:srgbClr val="165FF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66" name="Icon clipboard-check"/>
          <p:cNvSpPr/>
          <p:nvPr/>
        </p:nvSpPr>
        <p:spPr>
          <a:xfrm>
            <a:off x="6917436" y="144018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</a:path>
              <a:path w="24000" h="24000" fill="none"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</a:path>
              <a:path w="24000" h="24000" fill="none">
                <a:moveTo>
                  <a:pt x="9000" y="14000"/>
                </a:moveTo>
                <a:lnTo>
                  <a:pt x="11000" y="16000"/>
                </a:lnTo>
                <a:lnTo>
                  <a:pt x="15000" y="12000"/>
                </a:lnTo>
              </a:path>
            </a:pathLst>
          </a:custGeom>
          <a:noFill/>
          <a:ln w="14249" cap="rnd">
            <a:solidFill>
              <a:srgbClr val="FFFFFF"/>
            </a:solidFill>
            <a:round/>
          </a:ln>
        </p:spPr>
      </p:sp>
      <p:sp>
        <p:nvSpPr>
          <p:cNvPr id="67" name="Milestone label"/>
          <p:cNvSpPr txBox="1"/>
          <p:nvPr/>
        </p:nvSpPr>
        <p:spPr>
          <a:xfrm>
            <a:off x="6416040" y="1773936"/>
            <a:ext cx="115824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82" dirty="0">
                <a:solidFill>
                  <a:srgbClr val="165FF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MILESTONE 5</a:t>
            </a:r>
            <a:endParaRPr lang="en-US" sz="560" dirty="0">
              <a:latin typeface="Inter SemiBold"/>
            </a:endParaRPr>
          </a:p>
        </p:txBody>
      </p:sp>
      <p:sp>
        <p:nvSpPr>
          <p:cNvPr id="68" name="Milestone title"/>
          <p:cNvSpPr txBox="1"/>
          <p:nvPr/>
        </p:nvSpPr>
        <p:spPr>
          <a:xfrm>
            <a:off x="6489192" y="1929384"/>
            <a:ext cx="1011936" cy="10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7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UAT</a:t>
            </a:r>
            <a:endParaRPr lang="en-US" sz="740" dirty="0">
              <a:latin typeface="Inter SemiBold"/>
            </a:endParaRPr>
          </a:p>
        </p:txBody>
      </p:sp>
      <p:sp>
        <p:nvSpPr>
          <p:cNvPr id="69" name="Milestone description"/>
          <p:cNvSpPr txBox="1"/>
          <p:nvPr/>
        </p:nvSpPr>
        <p:spPr>
          <a:xfrm>
            <a:off x="6489192" y="2075180"/>
            <a:ext cx="1011936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750"/>
              </a:lnSpc>
              <a:spcBef>
                <a:spcPts val="0"/>
              </a:spcBef>
              <a:buNone/>
            </a:pPr>
            <a:r>
              <a:rPr lang="en-US" sz="63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End-to-end refill, maintenance and billing cycles with store, central and vendor users</a:t>
            </a:r>
            <a:endParaRPr lang="en-US" sz="630" dirty="0">
              <a:latin typeface="Inter"/>
            </a:endParaRPr>
          </a:p>
        </p:txBody>
      </p:sp>
      <p:grpSp>
        <p:nvGrpSpPr>
          <p:cNvPr id="70" name="Chip UAT sign-off"/>
          <p:cNvGrpSpPr/>
          <p:nvPr/>
        </p:nvGrpSpPr>
        <p:grpSpPr>
          <a:xfrm>
            <a:off x="6656082" y="2907792"/>
            <a:ext cx="678157" cy="137160"/>
            <a:chOff x="6656082" y="2907792"/>
            <a:chExt cx="678157" cy="137160"/>
          </a:xfrm>
        </p:grpSpPr>
        <p:sp>
          <p:nvSpPr>
            <p:cNvPr id="71" name="Chip fill"/>
            <p:cNvSpPr/>
            <p:nvPr/>
          </p:nvSpPr>
          <p:spPr>
            <a:xfrm>
              <a:off x="6656082" y="2907792"/>
              <a:ext cx="678157" cy="137160"/>
            </a:xfrm>
            <a:prstGeom prst="roundRect">
              <a:avLst>
                <a:gd name="adj" fmla="val 20000"/>
              </a:avLst>
            </a:prstGeom>
            <a:solidFill>
              <a:srgbClr val="00A251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72" name="Icon circle-check"/>
            <p:cNvSpPr/>
            <p:nvPr/>
          </p:nvSpPr>
          <p:spPr>
            <a:xfrm>
              <a:off x="6715518" y="2933852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7795" cap="rnd">
              <a:solidFill>
                <a:srgbClr val="008743"/>
              </a:solidFill>
              <a:round/>
            </a:ln>
          </p:spPr>
        </p:sp>
        <p:sp>
          <p:nvSpPr>
            <p:cNvPr id="73" name="Chip label"/>
            <p:cNvSpPr txBox="1"/>
            <p:nvPr/>
          </p:nvSpPr>
          <p:spPr>
            <a:xfrm>
              <a:off x="6827989" y="2907792"/>
              <a:ext cx="47881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00874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UAT sign-off</a:t>
              </a:r>
              <a:endParaRPr lang="en-US" sz="580" dirty="0">
                <a:latin typeface="Inter SemiBold"/>
              </a:endParaRPr>
            </a:p>
          </p:txBody>
        </p:sp>
      </p:grpSp>
      <p:sp>
        <p:nvSpPr>
          <p:cNvPr id="74" name="Milestone circle"/>
          <p:cNvSpPr/>
          <p:nvPr/>
        </p:nvSpPr>
        <p:spPr>
          <a:xfrm>
            <a:off x="7988808" y="1353312"/>
            <a:ext cx="329184" cy="329184"/>
          </a:xfrm>
          <a:prstGeom prst="ellipse">
            <a:avLst/>
          </a:prstGeom>
          <a:solidFill>
            <a:srgbClr val="0C1927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5" name="Icon rocket"/>
          <p:cNvSpPr/>
          <p:nvPr/>
        </p:nvSpPr>
        <p:spPr>
          <a:xfrm>
            <a:off x="8075676" y="144018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500" y="16500"/>
                </a:moveTo>
                <a:cubicBezTo>
                  <a:pt x="3000" y="17760"/>
                  <a:pt x="2500" y="21500"/>
                  <a:pt x="2500" y="21500"/>
                </a:cubicBezTo>
                <a:cubicBezTo>
                  <a:pt x="2500" y="21500"/>
                  <a:pt x="6240" y="21000"/>
                  <a:pt x="7500" y="19500"/>
                </a:cubicBezTo>
                <a:cubicBezTo>
                  <a:pt x="8210" y="18660"/>
                  <a:pt x="8200" y="17370"/>
                  <a:pt x="7410" y="16590"/>
                </a:cubicBezTo>
                <a:cubicBezTo>
                  <a:pt x="6605" y="15822"/>
                  <a:pt x="5351" y="15783"/>
                  <a:pt x="4500" y="16500"/>
                </a:cubicBezTo>
                <a:close/>
              </a:path>
              <a:path w="24000" h="24000" fill="none">
                <a:moveTo>
                  <a:pt x="12000" y="15000"/>
                </a:moveTo>
                <a:lnTo>
                  <a:pt x="9000" y="12000"/>
                </a:lnTo>
                <a:cubicBezTo>
                  <a:pt x="9532" y="10619"/>
                  <a:pt x="10202" y="9296"/>
                  <a:pt x="11000" y="8050"/>
                </a:cubicBezTo>
                <a:cubicBezTo>
                  <a:pt x="13369" y="4262"/>
                  <a:pt x="17532" y="1972"/>
                  <a:pt x="22000" y="2000"/>
                </a:cubicBezTo>
                <a:cubicBezTo>
                  <a:pt x="22000" y="4720"/>
                  <a:pt x="21220" y="9500"/>
                  <a:pt x="16000" y="13000"/>
                </a:cubicBezTo>
                <a:cubicBezTo>
                  <a:pt x="14737" y="13799"/>
                  <a:pt x="13397" y="14469"/>
                  <a:pt x="12000" y="15000"/>
                </a:cubicBezTo>
                <a:close/>
              </a:path>
              <a:path w="24000" h="24000" fill="none">
                <a:moveTo>
                  <a:pt x="9000" y="12000"/>
                </a:moveTo>
                <a:lnTo>
                  <a:pt x="4000" y="12000"/>
                </a:lnTo>
                <a:cubicBezTo>
                  <a:pt x="4000" y="12000"/>
                  <a:pt x="4550" y="8970"/>
                  <a:pt x="6000" y="8000"/>
                </a:cubicBezTo>
                <a:cubicBezTo>
                  <a:pt x="7620" y="6920"/>
                  <a:pt x="11000" y="8000"/>
                  <a:pt x="11000" y="8000"/>
                </a:cubicBezTo>
              </a:path>
              <a:path w="24000" h="24000" fill="none">
                <a:moveTo>
                  <a:pt x="12000" y="15000"/>
                </a:moveTo>
                <a:lnTo>
                  <a:pt x="12000" y="20000"/>
                </a:lnTo>
                <a:cubicBezTo>
                  <a:pt x="12000" y="20000"/>
                  <a:pt x="15030" y="19450"/>
                  <a:pt x="16000" y="18000"/>
                </a:cubicBezTo>
                <a:cubicBezTo>
                  <a:pt x="17080" y="16380"/>
                  <a:pt x="16000" y="13000"/>
                  <a:pt x="16000" y="13000"/>
                </a:cubicBezTo>
              </a:path>
            </a:pathLst>
          </a:custGeom>
          <a:noFill/>
          <a:ln w="14249" cap="rnd">
            <a:solidFill>
              <a:srgbClr val="FFFFFF"/>
            </a:solidFill>
            <a:round/>
          </a:ln>
        </p:spPr>
      </p:sp>
      <p:sp>
        <p:nvSpPr>
          <p:cNvPr id="76" name="Milestone label"/>
          <p:cNvSpPr txBox="1"/>
          <p:nvPr/>
        </p:nvSpPr>
        <p:spPr>
          <a:xfrm>
            <a:off x="7574280" y="1773936"/>
            <a:ext cx="115824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82" dirty="0">
                <a:solidFill>
                  <a:srgbClr val="165FF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MILESTONE 6</a:t>
            </a:r>
            <a:endParaRPr lang="en-US" sz="560" dirty="0">
              <a:latin typeface="Inter SemiBold"/>
            </a:endParaRPr>
          </a:p>
        </p:txBody>
      </p:sp>
      <p:sp>
        <p:nvSpPr>
          <p:cNvPr id="77" name="Milestone title"/>
          <p:cNvSpPr txBox="1"/>
          <p:nvPr/>
        </p:nvSpPr>
        <p:spPr>
          <a:xfrm>
            <a:off x="7647432" y="1929384"/>
            <a:ext cx="1011936" cy="10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860"/>
              </a:lnSpc>
              <a:spcBef>
                <a:spcPts val="0"/>
              </a:spcBef>
              <a:buNone/>
            </a:pPr>
            <a:r>
              <a:rPr lang="en-US" sz="7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Go-live &amp; handover</a:t>
            </a:r>
            <a:endParaRPr lang="en-US" sz="740" dirty="0">
              <a:latin typeface="Inter SemiBold"/>
            </a:endParaRPr>
          </a:p>
        </p:txBody>
      </p:sp>
      <p:sp>
        <p:nvSpPr>
          <p:cNvPr id="78" name="Milestone description"/>
          <p:cNvSpPr txBox="1"/>
          <p:nvPr/>
        </p:nvSpPr>
        <p:spPr>
          <a:xfrm>
            <a:off x="7647432" y="2075180"/>
            <a:ext cx="1011936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750"/>
              </a:lnSpc>
              <a:spcBef>
                <a:spcPts val="0"/>
              </a:spcBef>
              <a:buNone/>
            </a:pPr>
            <a:r>
              <a:rPr lang="en-US" sz="63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Go-live across stores, user manual / SOP and training; post go-live support begins</a:t>
            </a:r>
            <a:endParaRPr lang="en-US" sz="630" dirty="0">
              <a:latin typeface="Inter"/>
            </a:endParaRPr>
          </a:p>
        </p:txBody>
      </p:sp>
      <p:grpSp>
        <p:nvGrpSpPr>
          <p:cNvPr id="79" name="Chip Live + handover"/>
          <p:cNvGrpSpPr/>
          <p:nvPr/>
        </p:nvGrpSpPr>
        <p:grpSpPr>
          <a:xfrm>
            <a:off x="7755197" y="2907792"/>
            <a:ext cx="796406" cy="137160"/>
            <a:chOff x="7755197" y="2907792"/>
            <a:chExt cx="796406" cy="137160"/>
          </a:xfrm>
        </p:grpSpPr>
        <p:sp>
          <p:nvSpPr>
            <p:cNvPr id="80" name="Chip fill"/>
            <p:cNvSpPr/>
            <p:nvPr/>
          </p:nvSpPr>
          <p:spPr>
            <a:xfrm>
              <a:off x="7755197" y="2907792"/>
              <a:ext cx="796406" cy="137160"/>
            </a:xfrm>
            <a:prstGeom prst="roundRect">
              <a:avLst>
                <a:gd name="adj" fmla="val 20000"/>
              </a:avLst>
            </a:prstGeom>
            <a:solidFill>
              <a:srgbClr val="00A251">
                <a:alpha val="9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1" name="Icon circle-check"/>
            <p:cNvSpPr/>
            <p:nvPr/>
          </p:nvSpPr>
          <p:spPr>
            <a:xfrm>
              <a:off x="7814633" y="2933852"/>
              <a:ext cx="85039" cy="8503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7795" cap="rnd">
              <a:solidFill>
                <a:srgbClr val="008743"/>
              </a:solidFill>
              <a:round/>
            </a:ln>
          </p:spPr>
        </p:sp>
        <p:sp>
          <p:nvSpPr>
            <p:cNvPr id="82" name="Chip label"/>
            <p:cNvSpPr txBox="1"/>
            <p:nvPr/>
          </p:nvSpPr>
          <p:spPr>
            <a:xfrm>
              <a:off x="7927104" y="2907792"/>
              <a:ext cx="59706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00874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Live + handover</a:t>
              </a:r>
              <a:endParaRPr lang="en-US" sz="580" dirty="0">
                <a:latin typeface="Inter SemiBold"/>
              </a:endParaRPr>
            </a:p>
          </p:txBody>
        </p:sp>
      </p:grpSp>
      <p:sp>
        <p:nvSpPr>
          <p:cNvPr id="83" name="Inputs panel"/>
          <p:cNvSpPr/>
          <p:nvPr/>
        </p:nvSpPr>
        <p:spPr>
          <a:xfrm>
            <a:off x="274320" y="3310128"/>
            <a:ext cx="8595360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84" name="Inputs icon box"/>
          <p:cNvSpPr/>
          <p:nvPr/>
        </p:nvSpPr>
        <p:spPr>
          <a:xfrm>
            <a:off x="402336" y="343814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85" name="Icon building-2"/>
          <p:cNvSpPr/>
          <p:nvPr/>
        </p:nvSpPr>
        <p:spPr>
          <a:xfrm>
            <a:off x="457200" y="3493008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lnTo>
                  <a:pt x="6000" y="4000"/>
                </a:lnTo>
                <a:cubicBezTo>
                  <a:pt x="6000" y="2895"/>
                  <a:pt x="6895" y="2000"/>
                  <a:pt x="8000" y="2000"/>
                </a:cubicBezTo>
                <a:lnTo>
                  <a:pt x="16000" y="2000"/>
                </a:lnTo>
                <a:cubicBezTo>
                  <a:pt x="17105" y="2000"/>
                  <a:pt x="18000" y="2895"/>
                  <a:pt x="18000" y="4000"/>
                </a:cubicBezTo>
                <a:lnTo>
                  <a:pt x="18000" y="22000"/>
                </a:lnTo>
                <a:close/>
              </a:path>
              <a:path w="24000" h="24000" fill="none">
                <a:moveTo>
                  <a:pt x="6000" y="12000"/>
                </a:moveTo>
                <a:lnTo>
                  <a:pt x="4000" y="12000"/>
                </a:lnTo>
                <a:cubicBezTo>
                  <a:pt x="2895" y="12000"/>
                  <a:pt x="2000" y="12895"/>
                  <a:pt x="2000" y="14000"/>
                </a:cubicBezTo>
                <a:lnTo>
                  <a:pt x="2000" y="20000"/>
                </a:lnTo>
                <a:cubicBezTo>
                  <a:pt x="2000" y="21105"/>
                  <a:pt x="2895" y="22000"/>
                  <a:pt x="4000" y="22000"/>
                </a:cubicBezTo>
                <a:lnTo>
                  <a:pt x="6000" y="22000"/>
                </a:lnTo>
              </a:path>
              <a:path w="24000" h="24000" fill="none">
                <a:moveTo>
                  <a:pt x="18000" y="9000"/>
                </a:moveTo>
                <a:lnTo>
                  <a:pt x="20000" y="9000"/>
                </a:lnTo>
                <a:cubicBezTo>
                  <a:pt x="21105" y="9000"/>
                  <a:pt x="22000" y="9895"/>
                  <a:pt x="22000" y="11000"/>
                </a:cubicBezTo>
                <a:lnTo>
                  <a:pt x="22000" y="20000"/>
                </a:lnTo>
                <a:cubicBezTo>
                  <a:pt x="22000" y="21105"/>
                  <a:pt x="21105" y="22000"/>
                  <a:pt x="20000" y="22000"/>
                </a:cubicBezTo>
                <a:lnTo>
                  <a:pt x="18000" y="22000"/>
                </a:lnTo>
              </a:path>
              <a:path w="24000" h="24000" fill="none">
                <a:moveTo>
                  <a:pt x="10000" y="6000"/>
                </a:moveTo>
                <a:lnTo>
                  <a:pt x="14000" y="6000"/>
                </a:lnTo>
              </a:path>
              <a:path w="24000" h="24000" fill="none">
                <a:moveTo>
                  <a:pt x="10000" y="10000"/>
                </a:moveTo>
                <a:lnTo>
                  <a:pt x="14000" y="10000"/>
                </a:lnTo>
              </a:path>
              <a:path w="24000" h="24000" fill="none">
                <a:moveTo>
                  <a:pt x="10000" y="14000"/>
                </a:moveTo>
                <a:lnTo>
                  <a:pt x="14000" y="14000"/>
                </a:lnTo>
              </a:path>
              <a:path w="24000" h="24000" fill="none">
                <a:moveTo>
                  <a:pt x="10000" y="18000"/>
                </a:moveTo>
                <a:lnTo>
                  <a:pt x="14000" y="18000"/>
                </a:lnTo>
              </a:path>
            </a:pathLst>
          </a:custGeom>
          <a:noFill/>
          <a:ln w="11735" cap="rnd">
            <a:solidFill>
              <a:srgbClr val="40566D"/>
            </a:solidFill>
            <a:round/>
          </a:ln>
        </p:spPr>
      </p:sp>
      <p:sp>
        <p:nvSpPr>
          <p:cNvPr id="86" name="Inputs title"/>
          <p:cNvSpPr txBox="1"/>
          <p:nvPr/>
        </p:nvSpPr>
        <p:spPr>
          <a:xfrm>
            <a:off x="402336" y="3749040"/>
            <a:ext cx="1143000" cy="987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buNone/>
            </a:pPr>
            <a:r>
              <a:rPr lang="en-US" sz="72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Inputs needed from Flipkart</a:t>
            </a:r>
            <a:endParaRPr lang="en-US" sz="720" dirty="0">
              <a:latin typeface="Inter SemiBold"/>
            </a:endParaRPr>
          </a:p>
          <a:p>
            <a:pPr algn="l">
              <a:lnSpc>
                <a:spcPts val="730"/>
              </a:lnSpc>
              <a:spcBef>
                <a:spcPts val="100"/>
              </a:spcBef>
              <a:buNone/>
            </a:pPr>
            <a:r>
              <a:rPr lang="en-US" sz="620" b="0" i="0" spc="0" dirty="0">
                <a:solidFill>
                  <a:srgbClr val="6C849D"/>
                </a:solidFill>
                <a:latin typeface="Inter"/>
                <a:ea typeface="Inter"/>
                <a:cs typeface="Inter"/>
                <a:sym typeface="Inter"/>
              </a:rPr>
              <a:t>at each milestone, so the plan holds</a:t>
            </a:r>
            <a:endParaRPr lang="en-US" sz="620" dirty="0">
              <a:latin typeface="Inter"/>
            </a:endParaRPr>
          </a:p>
        </p:txBody>
      </p:sp>
      <p:sp>
        <p:nvSpPr>
          <p:cNvPr id="87" name="Inputs label"/>
          <p:cNvSpPr txBox="1"/>
          <p:nvPr/>
        </p:nvSpPr>
        <p:spPr>
          <a:xfrm>
            <a:off x="1837944" y="3438144"/>
            <a:ext cx="1048512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82" dirty="0">
                <a:solidFill>
                  <a:srgbClr val="90A5B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</a:t>
            </a:r>
            <a:endParaRPr lang="en-US" sz="560" dirty="0">
              <a:latin typeface="Inter SemiBold"/>
            </a:endParaRPr>
          </a:p>
        </p:txBody>
      </p:sp>
      <p:grpSp>
        <p:nvGrpSpPr>
          <p:cNvPr id="88" name="Chip SRS sign-off"/>
          <p:cNvGrpSpPr/>
          <p:nvPr/>
        </p:nvGrpSpPr>
        <p:grpSpPr>
          <a:xfrm>
            <a:off x="1837944" y="3611880"/>
            <a:ext cx="684793" cy="155448"/>
            <a:chOff x="1837944" y="3611880"/>
            <a:chExt cx="684793" cy="155448"/>
          </a:xfrm>
        </p:grpSpPr>
        <p:sp>
          <p:nvSpPr>
            <p:cNvPr id="89" name="Chip fill"/>
            <p:cNvSpPr/>
            <p:nvPr/>
          </p:nvSpPr>
          <p:spPr>
            <a:xfrm>
              <a:off x="1837944" y="3611880"/>
              <a:ext cx="684793" cy="155448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0" name="Icon corner-down-right"/>
            <p:cNvSpPr/>
            <p:nvPr/>
          </p:nvSpPr>
          <p:spPr>
            <a:xfrm>
              <a:off x="1897380" y="3641415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0000"/>
                  </a:moveTo>
                  <a:lnTo>
                    <a:pt x="20000" y="15000"/>
                  </a:lnTo>
                  <a:lnTo>
                    <a:pt x="15000" y="20000"/>
                  </a:lnTo>
                </a:path>
                <a:path w="24000" h="24000" fill="none">
                  <a:moveTo>
                    <a:pt x="4000" y="4000"/>
                  </a:moveTo>
                  <a:lnTo>
                    <a:pt x="4000" y="11000"/>
                  </a:lnTo>
                  <a:cubicBezTo>
                    <a:pt x="4000" y="13209"/>
                    <a:pt x="5791" y="15000"/>
                    <a:pt x="8000" y="15000"/>
                  </a:cubicBezTo>
                  <a:lnTo>
                    <a:pt x="20000" y="15000"/>
                  </a:lnTo>
                </a:path>
              </a:pathLst>
            </a:custGeom>
            <a:noFill/>
            <a:ln w="8835" cap="rnd">
              <a:solidFill>
                <a:srgbClr val="40566D"/>
              </a:solidFill>
              <a:round/>
            </a:ln>
          </p:spPr>
        </p:sp>
        <p:sp>
          <p:nvSpPr>
            <p:cNvPr id="91" name="Chip label"/>
            <p:cNvSpPr txBox="1"/>
            <p:nvPr/>
          </p:nvSpPr>
          <p:spPr>
            <a:xfrm>
              <a:off x="2021190" y="3611880"/>
              <a:ext cx="474115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SRS sign-off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92" name="Chip Store &amp; DG masters"/>
          <p:cNvGrpSpPr/>
          <p:nvPr/>
        </p:nvGrpSpPr>
        <p:grpSpPr>
          <a:xfrm>
            <a:off x="1837944" y="3831336"/>
            <a:ext cx="927799" cy="155448"/>
            <a:chOff x="1837944" y="3831336"/>
            <a:chExt cx="927799" cy="155448"/>
          </a:xfrm>
        </p:grpSpPr>
        <p:sp>
          <p:nvSpPr>
            <p:cNvPr id="93" name="Chip fill"/>
            <p:cNvSpPr/>
            <p:nvPr/>
          </p:nvSpPr>
          <p:spPr>
            <a:xfrm>
              <a:off x="1837944" y="3831336"/>
              <a:ext cx="927799" cy="155448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4" name="Icon corner-down-right"/>
            <p:cNvSpPr/>
            <p:nvPr/>
          </p:nvSpPr>
          <p:spPr>
            <a:xfrm>
              <a:off x="1897380" y="3860871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0000"/>
                  </a:moveTo>
                  <a:lnTo>
                    <a:pt x="20000" y="15000"/>
                  </a:lnTo>
                  <a:lnTo>
                    <a:pt x="15000" y="20000"/>
                  </a:lnTo>
                </a:path>
                <a:path w="24000" h="24000" fill="none">
                  <a:moveTo>
                    <a:pt x="4000" y="4000"/>
                  </a:moveTo>
                  <a:lnTo>
                    <a:pt x="4000" y="11000"/>
                  </a:lnTo>
                  <a:cubicBezTo>
                    <a:pt x="4000" y="13209"/>
                    <a:pt x="5791" y="15000"/>
                    <a:pt x="8000" y="15000"/>
                  </a:cubicBezTo>
                  <a:lnTo>
                    <a:pt x="20000" y="15000"/>
                  </a:lnTo>
                </a:path>
              </a:pathLst>
            </a:custGeom>
            <a:noFill/>
            <a:ln w="8835" cap="rnd">
              <a:solidFill>
                <a:srgbClr val="40566D"/>
              </a:solidFill>
              <a:round/>
            </a:ln>
          </p:spPr>
        </p:sp>
        <p:sp>
          <p:nvSpPr>
            <p:cNvPr id="95" name="Chip label"/>
            <p:cNvSpPr txBox="1"/>
            <p:nvPr/>
          </p:nvSpPr>
          <p:spPr>
            <a:xfrm>
              <a:off x="2021190" y="3831336"/>
              <a:ext cx="717121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Store &amp; DG masters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96" name="Chip Limits &amp; PM settings"/>
          <p:cNvGrpSpPr/>
          <p:nvPr/>
        </p:nvGrpSpPr>
        <p:grpSpPr>
          <a:xfrm>
            <a:off x="1837944" y="4050792"/>
            <a:ext cx="956831" cy="155448"/>
            <a:chOff x="1837944" y="4050792"/>
            <a:chExt cx="956831" cy="155448"/>
          </a:xfrm>
        </p:grpSpPr>
        <p:sp>
          <p:nvSpPr>
            <p:cNvPr id="97" name="Chip fill"/>
            <p:cNvSpPr/>
            <p:nvPr/>
          </p:nvSpPr>
          <p:spPr>
            <a:xfrm>
              <a:off x="1837944" y="4050792"/>
              <a:ext cx="956831" cy="155448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8" name="Icon corner-down-right"/>
            <p:cNvSpPr/>
            <p:nvPr/>
          </p:nvSpPr>
          <p:spPr>
            <a:xfrm>
              <a:off x="1897380" y="4080327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0000"/>
                  </a:moveTo>
                  <a:lnTo>
                    <a:pt x="20000" y="15000"/>
                  </a:lnTo>
                  <a:lnTo>
                    <a:pt x="15000" y="20000"/>
                  </a:lnTo>
                </a:path>
                <a:path w="24000" h="24000" fill="none">
                  <a:moveTo>
                    <a:pt x="4000" y="4000"/>
                  </a:moveTo>
                  <a:lnTo>
                    <a:pt x="4000" y="11000"/>
                  </a:lnTo>
                  <a:cubicBezTo>
                    <a:pt x="4000" y="13209"/>
                    <a:pt x="5791" y="15000"/>
                    <a:pt x="8000" y="15000"/>
                  </a:cubicBezTo>
                  <a:lnTo>
                    <a:pt x="20000" y="15000"/>
                  </a:lnTo>
                </a:path>
              </a:pathLst>
            </a:custGeom>
            <a:noFill/>
            <a:ln w="8835" cap="rnd">
              <a:solidFill>
                <a:srgbClr val="40566D"/>
              </a:solidFill>
              <a:round/>
            </a:ln>
          </p:spPr>
        </p:sp>
        <p:sp>
          <p:nvSpPr>
            <p:cNvPr id="99" name="Chip label"/>
            <p:cNvSpPr txBox="1"/>
            <p:nvPr/>
          </p:nvSpPr>
          <p:spPr>
            <a:xfrm>
              <a:off x="2021190" y="4050792"/>
              <a:ext cx="746153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Limits &amp; PM settings</a:t>
              </a:r>
              <a:endParaRPr lang="en-US" sz="580" dirty="0">
                <a:latin typeface="Inter SemiBold"/>
              </a:endParaRPr>
            </a:p>
          </p:txBody>
        </p:sp>
      </p:grpSp>
      <p:cxnSp>
        <p:nvCxnSpPr>
          <p:cNvPr id="100" name="Divider"/>
          <p:cNvCxnSpPr/>
          <p:nvPr/>
        </p:nvCxnSpPr>
        <p:spPr>
          <a:xfrm>
            <a:off x="2923032" y="3438144"/>
            <a:ext cx="0" cy="123444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sp>
        <p:nvSpPr>
          <p:cNvPr id="101" name="Inputs label"/>
          <p:cNvSpPr txBox="1"/>
          <p:nvPr/>
        </p:nvSpPr>
        <p:spPr>
          <a:xfrm>
            <a:off x="2996184" y="3438144"/>
            <a:ext cx="1048512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82" dirty="0">
                <a:solidFill>
                  <a:srgbClr val="90A5B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</a:t>
            </a:r>
            <a:endParaRPr lang="en-US" sz="560" dirty="0">
              <a:latin typeface="Inter SemiBold"/>
            </a:endParaRPr>
          </a:p>
        </p:txBody>
      </p:sp>
      <p:grpSp>
        <p:nvGrpSpPr>
          <p:cNvPr id="102" name="Chip Site access"/>
          <p:cNvGrpSpPr/>
          <p:nvPr/>
        </p:nvGrpSpPr>
        <p:grpSpPr>
          <a:xfrm>
            <a:off x="2996184" y="3611880"/>
            <a:ext cx="645284" cy="155448"/>
            <a:chOff x="2996184" y="3611880"/>
            <a:chExt cx="645284" cy="155448"/>
          </a:xfrm>
        </p:grpSpPr>
        <p:sp>
          <p:nvSpPr>
            <p:cNvPr id="103" name="Chip fill"/>
            <p:cNvSpPr/>
            <p:nvPr/>
          </p:nvSpPr>
          <p:spPr>
            <a:xfrm>
              <a:off x="2996184" y="3611880"/>
              <a:ext cx="645284" cy="155448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04" name="Icon corner-down-right"/>
            <p:cNvSpPr/>
            <p:nvPr/>
          </p:nvSpPr>
          <p:spPr>
            <a:xfrm>
              <a:off x="3055620" y="3641415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0000"/>
                  </a:moveTo>
                  <a:lnTo>
                    <a:pt x="20000" y="15000"/>
                  </a:lnTo>
                  <a:lnTo>
                    <a:pt x="15000" y="20000"/>
                  </a:lnTo>
                </a:path>
                <a:path w="24000" h="24000" fill="none">
                  <a:moveTo>
                    <a:pt x="4000" y="4000"/>
                  </a:moveTo>
                  <a:lnTo>
                    <a:pt x="4000" y="11000"/>
                  </a:lnTo>
                  <a:cubicBezTo>
                    <a:pt x="4000" y="13209"/>
                    <a:pt x="5791" y="15000"/>
                    <a:pt x="8000" y="15000"/>
                  </a:cubicBezTo>
                  <a:lnTo>
                    <a:pt x="20000" y="15000"/>
                  </a:lnTo>
                </a:path>
              </a:pathLst>
            </a:custGeom>
            <a:noFill/>
            <a:ln w="8835" cap="rnd">
              <a:solidFill>
                <a:srgbClr val="40566D"/>
              </a:solidFill>
              <a:round/>
            </a:ln>
          </p:spPr>
        </p:sp>
        <p:sp>
          <p:nvSpPr>
            <p:cNvPr id="105" name="Chip label"/>
            <p:cNvSpPr txBox="1"/>
            <p:nvPr/>
          </p:nvSpPr>
          <p:spPr>
            <a:xfrm>
              <a:off x="3179430" y="3611880"/>
              <a:ext cx="434606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Site access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106" name="Chip Power &amp; mounting"/>
          <p:cNvGrpSpPr/>
          <p:nvPr/>
        </p:nvGrpSpPr>
        <p:grpSpPr>
          <a:xfrm>
            <a:off x="2996184" y="3831336"/>
            <a:ext cx="886028" cy="155448"/>
            <a:chOff x="2996184" y="3831336"/>
            <a:chExt cx="886028" cy="155448"/>
          </a:xfrm>
        </p:grpSpPr>
        <p:sp>
          <p:nvSpPr>
            <p:cNvPr id="107" name="Chip fill"/>
            <p:cNvSpPr/>
            <p:nvPr/>
          </p:nvSpPr>
          <p:spPr>
            <a:xfrm>
              <a:off x="2996184" y="3831336"/>
              <a:ext cx="886028" cy="155448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08" name="Icon corner-down-right"/>
            <p:cNvSpPr/>
            <p:nvPr/>
          </p:nvSpPr>
          <p:spPr>
            <a:xfrm>
              <a:off x="3055620" y="3860871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0000"/>
                  </a:moveTo>
                  <a:lnTo>
                    <a:pt x="20000" y="15000"/>
                  </a:lnTo>
                  <a:lnTo>
                    <a:pt x="15000" y="20000"/>
                  </a:lnTo>
                </a:path>
                <a:path w="24000" h="24000" fill="none">
                  <a:moveTo>
                    <a:pt x="4000" y="4000"/>
                  </a:moveTo>
                  <a:lnTo>
                    <a:pt x="4000" y="11000"/>
                  </a:lnTo>
                  <a:cubicBezTo>
                    <a:pt x="4000" y="13209"/>
                    <a:pt x="5791" y="15000"/>
                    <a:pt x="8000" y="15000"/>
                  </a:cubicBezTo>
                  <a:lnTo>
                    <a:pt x="20000" y="15000"/>
                  </a:lnTo>
                </a:path>
              </a:pathLst>
            </a:custGeom>
            <a:noFill/>
            <a:ln w="8835" cap="rnd">
              <a:solidFill>
                <a:srgbClr val="40566D"/>
              </a:solidFill>
              <a:round/>
            </a:ln>
          </p:spPr>
        </p:sp>
        <p:sp>
          <p:nvSpPr>
            <p:cNvPr id="109" name="Chip label"/>
            <p:cNvSpPr txBox="1"/>
            <p:nvPr/>
          </p:nvSpPr>
          <p:spPr>
            <a:xfrm>
              <a:off x="3179430" y="3831336"/>
              <a:ext cx="675350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Power &amp; mounting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110" name="Chip Store &amp; DG list"/>
          <p:cNvGrpSpPr/>
          <p:nvPr/>
        </p:nvGrpSpPr>
        <p:grpSpPr>
          <a:xfrm>
            <a:off x="2996184" y="4050792"/>
            <a:ext cx="745197" cy="155448"/>
            <a:chOff x="2996184" y="4050792"/>
            <a:chExt cx="745197" cy="155448"/>
          </a:xfrm>
        </p:grpSpPr>
        <p:sp>
          <p:nvSpPr>
            <p:cNvPr id="111" name="Chip fill"/>
            <p:cNvSpPr/>
            <p:nvPr/>
          </p:nvSpPr>
          <p:spPr>
            <a:xfrm>
              <a:off x="2996184" y="4050792"/>
              <a:ext cx="745197" cy="155448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12" name="Icon corner-down-right"/>
            <p:cNvSpPr/>
            <p:nvPr/>
          </p:nvSpPr>
          <p:spPr>
            <a:xfrm>
              <a:off x="3055620" y="4080327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0000"/>
                  </a:moveTo>
                  <a:lnTo>
                    <a:pt x="20000" y="15000"/>
                  </a:lnTo>
                  <a:lnTo>
                    <a:pt x="15000" y="20000"/>
                  </a:lnTo>
                </a:path>
                <a:path w="24000" h="24000" fill="none">
                  <a:moveTo>
                    <a:pt x="4000" y="4000"/>
                  </a:moveTo>
                  <a:lnTo>
                    <a:pt x="4000" y="11000"/>
                  </a:lnTo>
                  <a:cubicBezTo>
                    <a:pt x="4000" y="13209"/>
                    <a:pt x="5791" y="15000"/>
                    <a:pt x="8000" y="15000"/>
                  </a:cubicBezTo>
                  <a:lnTo>
                    <a:pt x="20000" y="15000"/>
                  </a:lnTo>
                </a:path>
              </a:pathLst>
            </a:custGeom>
            <a:noFill/>
            <a:ln w="8835" cap="rnd">
              <a:solidFill>
                <a:srgbClr val="40566D"/>
              </a:solidFill>
              <a:round/>
            </a:ln>
          </p:spPr>
        </p:sp>
        <p:sp>
          <p:nvSpPr>
            <p:cNvPr id="113" name="Chip label"/>
            <p:cNvSpPr txBox="1"/>
            <p:nvPr/>
          </p:nvSpPr>
          <p:spPr>
            <a:xfrm>
              <a:off x="3179430" y="4050792"/>
              <a:ext cx="534519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Store &amp; DG list</a:t>
              </a:r>
              <a:endParaRPr lang="en-US" sz="580" dirty="0">
                <a:latin typeface="Inter SemiBold"/>
              </a:endParaRPr>
            </a:p>
          </p:txBody>
        </p:sp>
      </p:grpSp>
      <p:cxnSp>
        <p:nvCxnSpPr>
          <p:cNvPr id="114" name="Divider"/>
          <p:cNvCxnSpPr/>
          <p:nvPr/>
        </p:nvCxnSpPr>
        <p:spPr>
          <a:xfrm>
            <a:off x="4081272" y="3438144"/>
            <a:ext cx="0" cy="123444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sp>
        <p:nvSpPr>
          <p:cNvPr id="115" name="Inputs label"/>
          <p:cNvSpPr txBox="1"/>
          <p:nvPr/>
        </p:nvSpPr>
        <p:spPr>
          <a:xfrm>
            <a:off x="4154424" y="3438144"/>
            <a:ext cx="1048512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82" dirty="0">
                <a:solidFill>
                  <a:srgbClr val="90A5B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M3</a:t>
            </a:r>
            <a:endParaRPr lang="en-US" sz="560" dirty="0">
              <a:latin typeface="Inter SemiBold"/>
            </a:endParaRPr>
          </a:p>
        </p:txBody>
      </p:sp>
      <p:grpSp>
        <p:nvGrpSpPr>
          <p:cNvPr id="116" name="Chip Clarifications on rules"/>
          <p:cNvGrpSpPr/>
          <p:nvPr/>
        </p:nvGrpSpPr>
        <p:grpSpPr>
          <a:xfrm>
            <a:off x="4154424" y="3611880"/>
            <a:ext cx="1017612" cy="155448"/>
            <a:chOff x="4154424" y="3611880"/>
            <a:chExt cx="1017612" cy="155448"/>
          </a:xfrm>
        </p:grpSpPr>
        <p:sp>
          <p:nvSpPr>
            <p:cNvPr id="117" name="Chip fill"/>
            <p:cNvSpPr/>
            <p:nvPr/>
          </p:nvSpPr>
          <p:spPr>
            <a:xfrm>
              <a:off x="4154424" y="3611880"/>
              <a:ext cx="1017612" cy="155448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18" name="Icon corner-down-right"/>
            <p:cNvSpPr/>
            <p:nvPr/>
          </p:nvSpPr>
          <p:spPr>
            <a:xfrm>
              <a:off x="4213860" y="3641415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0000"/>
                  </a:moveTo>
                  <a:lnTo>
                    <a:pt x="20000" y="15000"/>
                  </a:lnTo>
                  <a:lnTo>
                    <a:pt x="15000" y="20000"/>
                  </a:lnTo>
                </a:path>
                <a:path w="24000" h="24000" fill="none">
                  <a:moveTo>
                    <a:pt x="4000" y="4000"/>
                  </a:moveTo>
                  <a:lnTo>
                    <a:pt x="4000" y="11000"/>
                  </a:lnTo>
                  <a:cubicBezTo>
                    <a:pt x="4000" y="13209"/>
                    <a:pt x="5791" y="15000"/>
                    <a:pt x="8000" y="15000"/>
                  </a:cubicBezTo>
                  <a:lnTo>
                    <a:pt x="20000" y="15000"/>
                  </a:lnTo>
                </a:path>
              </a:pathLst>
            </a:custGeom>
            <a:noFill/>
            <a:ln w="8835" cap="rnd">
              <a:solidFill>
                <a:srgbClr val="40566D"/>
              </a:solidFill>
              <a:round/>
            </a:ln>
          </p:spPr>
        </p:sp>
        <p:sp>
          <p:nvSpPr>
            <p:cNvPr id="119" name="Chip label"/>
            <p:cNvSpPr txBox="1"/>
            <p:nvPr/>
          </p:nvSpPr>
          <p:spPr>
            <a:xfrm>
              <a:off x="4337670" y="3611880"/>
              <a:ext cx="806934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Clarifications on rules</a:t>
              </a:r>
              <a:endParaRPr lang="en-US" sz="580" dirty="0">
                <a:latin typeface="Inter SemiBold"/>
              </a:endParaRPr>
            </a:p>
          </p:txBody>
        </p:sp>
      </p:grpSp>
      <p:cxnSp>
        <p:nvCxnSpPr>
          <p:cNvPr id="120" name="Divider"/>
          <p:cNvCxnSpPr/>
          <p:nvPr/>
        </p:nvCxnSpPr>
        <p:spPr>
          <a:xfrm>
            <a:off x="5239512" y="3438144"/>
            <a:ext cx="0" cy="123444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sp>
        <p:nvSpPr>
          <p:cNvPr id="121" name="Inputs label"/>
          <p:cNvSpPr txBox="1"/>
          <p:nvPr/>
        </p:nvSpPr>
        <p:spPr>
          <a:xfrm>
            <a:off x="5312664" y="3438144"/>
            <a:ext cx="1048512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82" dirty="0">
                <a:solidFill>
                  <a:srgbClr val="90A5B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M4</a:t>
            </a:r>
            <a:endParaRPr lang="en-US" sz="560" dirty="0">
              <a:latin typeface="Inter SemiBold"/>
            </a:endParaRPr>
          </a:p>
        </p:txBody>
      </p:sp>
      <p:grpSp>
        <p:nvGrpSpPr>
          <p:cNvPr id="122" name="Chip Vendor &amp; SPOC list"/>
          <p:cNvGrpSpPr/>
          <p:nvPr/>
        </p:nvGrpSpPr>
        <p:grpSpPr>
          <a:xfrm>
            <a:off x="5312664" y="3611880"/>
            <a:ext cx="911944" cy="155448"/>
            <a:chOff x="5312664" y="3611880"/>
            <a:chExt cx="911944" cy="155448"/>
          </a:xfrm>
        </p:grpSpPr>
        <p:sp>
          <p:nvSpPr>
            <p:cNvPr id="123" name="Chip fill"/>
            <p:cNvSpPr/>
            <p:nvPr/>
          </p:nvSpPr>
          <p:spPr>
            <a:xfrm>
              <a:off x="5312664" y="3611880"/>
              <a:ext cx="911944" cy="155448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24" name="Icon corner-down-right"/>
            <p:cNvSpPr/>
            <p:nvPr/>
          </p:nvSpPr>
          <p:spPr>
            <a:xfrm>
              <a:off x="5372100" y="3641415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0000"/>
                  </a:moveTo>
                  <a:lnTo>
                    <a:pt x="20000" y="15000"/>
                  </a:lnTo>
                  <a:lnTo>
                    <a:pt x="15000" y="20000"/>
                  </a:lnTo>
                </a:path>
                <a:path w="24000" h="24000" fill="none">
                  <a:moveTo>
                    <a:pt x="4000" y="4000"/>
                  </a:moveTo>
                  <a:lnTo>
                    <a:pt x="4000" y="11000"/>
                  </a:lnTo>
                  <a:cubicBezTo>
                    <a:pt x="4000" y="13209"/>
                    <a:pt x="5791" y="15000"/>
                    <a:pt x="8000" y="15000"/>
                  </a:cubicBezTo>
                  <a:lnTo>
                    <a:pt x="20000" y="15000"/>
                  </a:lnTo>
                </a:path>
              </a:pathLst>
            </a:custGeom>
            <a:noFill/>
            <a:ln w="8835" cap="rnd">
              <a:solidFill>
                <a:srgbClr val="40566D"/>
              </a:solidFill>
              <a:round/>
            </a:ln>
          </p:spPr>
        </p:sp>
        <p:sp>
          <p:nvSpPr>
            <p:cNvPr id="125" name="Chip label"/>
            <p:cNvSpPr txBox="1"/>
            <p:nvPr/>
          </p:nvSpPr>
          <p:spPr>
            <a:xfrm>
              <a:off x="5495910" y="3611880"/>
              <a:ext cx="701266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Vendor &amp; SPOC list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126" name="Chip WhatsApp / email setup"/>
          <p:cNvGrpSpPr/>
          <p:nvPr/>
        </p:nvGrpSpPr>
        <p:grpSpPr>
          <a:xfrm>
            <a:off x="5312664" y="3831336"/>
            <a:ext cx="1087422" cy="155448"/>
            <a:chOff x="5312664" y="3831336"/>
            <a:chExt cx="1087422" cy="155448"/>
          </a:xfrm>
        </p:grpSpPr>
        <p:sp>
          <p:nvSpPr>
            <p:cNvPr id="127" name="Chip fill"/>
            <p:cNvSpPr/>
            <p:nvPr/>
          </p:nvSpPr>
          <p:spPr>
            <a:xfrm>
              <a:off x="5312664" y="3831336"/>
              <a:ext cx="1087422" cy="155448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28" name="Icon corner-down-right"/>
            <p:cNvSpPr/>
            <p:nvPr/>
          </p:nvSpPr>
          <p:spPr>
            <a:xfrm>
              <a:off x="5372100" y="3860871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0000"/>
                  </a:moveTo>
                  <a:lnTo>
                    <a:pt x="20000" y="15000"/>
                  </a:lnTo>
                  <a:lnTo>
                    <a:pt x="15000" y="20000"/>
                  </a:lnTo>
                </a:path>
                <a:path w="24000" h="24000" fill="none">
                  <a:moveTo>
                    <a:pt x="4000" y="4000"/>
                  </a:moveTo>
                  <a:lnTo>
                    <a:pt x="4000" y="11000"/>
                  </a:lnTo>
                  <a:cubicBezTo>
                    <a:pt x="4000" y="13209"/>
                    <a:pt x="5791" y="15000"/>
                    <a:pt x="8000" y="15000"/>
                  </a:cubicBezTo>
                  <a:lnTo>
                    <a:pt x="20000" y="15000"/>
                  </a:lnTo>
                </a:path>
              </a:pathLst>
            </a:custGeom>
            <a:noFill/>
            <a:ln w="8835" cap="rnd">
              <a:solidFill>
                <a:srgbClr val="40566D"/>
              </a:solidFill>
              <a:round/>
            </a:ln>
          </p:spPr>
        </p:sp>
        <p:sp>
          <p:nvSpPr>
            <p:cNvPr id="129" name="Chip label"/>
            <p:cNvSpPr txBox="1"/>
            <p:nvPr/>
          </p:nvSpPr>
          <p:spPr>
            <a:xfrm>
              <a:off x="5495910" y="3831336"/>
              <a:ext cx="876744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WhatsApp / email setup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130" name="Chip Fusion API spec"/>
          <p:cNvGrpSpPr/>
          <p:nvPr/>
        </p:nvGrpSpPr>
        <p:grpSpPr>
          <a:xfrm>
            <a:off x="5312664" y="4050792"/>
            <a:ext cx="805185" cy="155448"/>
            <a:chOff x="5312664" y="4050792"/>
            <a:chExt cx="805185" cy="155448"/>
          </a:xfrm>
        </p:grpSpPr>
        <p:sp>
          <p:nvSpPr>
            <p:cNvPr id="131" name="Chip fill"/>
            <p:cNvSpPr/>
            <p:nvPr/>
          </p:nvSpPr>
          <p:spPr>
            <a:xfrm>
              <a:off x="5312664" y="4050792"/>
              <a:ext cx="805185" cy="155448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32" name="Icon corner-down-right"/>
            <p:cNvSpPr/>
            <p:nvPr/>
          </p:nvSpPr>
          <p:spPr>
            <a:xfrm>
              <a:off x="5372100" y="4080327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0000"/>
                  </a:moveTo>
                  <a:lnTo>
                    <a:pt x="20000" y="15000"/>
                  </a:lnTo>
                  <a:lnTo>
                    <a:pt x="15000" y="20000"/>
                  </a:lnTo>
                </a:path>
                <a:path w="24000" h="24000" fill="none">
                  <a:moveTo>
                    <a:pt x="4000" y="4000"/>
                  </a:moveTo>
                  <a:lnTo>
                    <a:pt x="4000" y="11000"/>
                  </a:lnTo>
                  <a:cubicBezTo>
                    <a:pt x="4000" y="13209"/>
                    <a:pt x="5791" y="15000"/>
                    <a:pt x="8000" y="15000"/>
                  </a:cubicBezTo>
                  <a:lnTo>
                    <a:pt x="20000" y="15000"/>
                  </a:lnTo>
                </a:path>
              </a:pathLst>
            </a:custGeom>
            <a:noFill/>
            <a:ln w="8835" cap="rnd">
              <a:solidFill>
                <a:srgbClr val="40566D"/>
              </a:solidFill>
              <a:round/>
            </a:ln>
          </p:spPr>
        </p:sp>
        <p:sp>
          <p:nvSpPr>
            <p:cNvPr id="133" name="Chip label"/>
            <p:cNvSpPr txBox="1"/>
            <p:nvPr/>
          </p:nvSpPr>
          <p:spPr>
            <a:xfrm>
              <a:off x="5495910" y="4050792"/>
              <a:ext cx="594507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Fusion API spec</a:t>
              </a:r>
              <a:endParaRPr lang="en-US" sz="580" dirty="0">
                <a:latin typeface="Inter SemiBold"/>
              </a:endParaRPr>
            </a:p>
          </p:txBody>
        </p:sp>
      </p:grpSp>
      <p:cxnSp>
        <p:nvCxnSpPr>
          <p:cNvPr id="134" name="Divider"/>
          <p:cNvCxnSpPr/>
          <p:nvPr/>
        </p:nvCxnSpPr>
        <p:spPr>
          <a:xfrm>
            <a:off x="6397752" y="3438144"/>
            <a:ext cx="0" cy="123444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sp>
        <p:nvSpPr>
          <p:cNvPr id="135" name="Inputs label"/>
          <p:cNvSpPr txBox="1"/>
          <p:nvPr/>
        </p:nvSpPr>
        <p:spPr>
          <a:xfrm>
            <a:off x="6470904" y="3438144"/>
            <a:ext cx="1048512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82" dirty="0">
                <a:solidFill>
                  <a:srgbClr val="90A5B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M5</a:t>
            </a:r>
            <a:endParaRPr lang="en-US" sz="560" dirty="0">
              <a:latin typeface="Inter SemiBold"/>
            </a:endParaRPr>
          </a:p>
        </p:txBody>
      </p:sp>
      <p:grpSp>
        <p:nvGrpSpPr>
          <p:cNvPr id="136" name="Chip Users for UAT"/>
          <p:cNvGrpSpPr/>
          <p:nvPr/>
        </p:nvGrpSpPr>
        <p:grpSpPr>
          <a:xfrm>
            <a:off x="6470904" y="3611880"/>
            <a:ext cx="732676" cy="155448"/>
            <a:chOff x="6470904" y="3611880"/>
            <a:chExt cx="732676" cy="155448"/>
          </a:xfrm>
        </p:grpSpPr>
        <p:sp>
          <p:nvSpPr>
            <p:cNvPr id="137" name="Chip fill"/>
            <p:cNvSpPr/>
            <p:nvPr/>
          </p:nvSpPr>
          <p:spPr>
            <a:xfrm>
              <a:off x="6470904" y="3611880"/>
              <a:ext cx="732676" cy="155448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38" name="Icon corner-down-right"/>
            <p:cNvSpPr/>
            <p:nvPr/>
          </p:nvSpPr>
          <p:spPr>
            <a:xfrm>
              <a:off x="6530340" y="3641415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0000"/>
                  </a:moveTo>
                  <a:lnTo>
                    <a:pt x="20000" y="15000"/>
                  </a:lnTo>
                  <a:lnTo>
                    <a:pt x="15000" y="20000"/>
                  </a:lnTo>
                </a:path>
                <a:path w="24000" h="24000" fill="none">
                  <a:moveTo>
                    <a:pt x="4000" y="4000"/>
                  </a:moveTo>
                  <a:lnTo>
                    <a:pt x="4000" y="11000"/>
                  </a:lnTo>
                  <a:cubicBezTo>
                    <a:pt x="4000" y="13209"/>
                    <a:pt x="5791" y="15000"/>
                    <a:pt x="8000" y="15000"/>
                  </a:cubicBezTo>
                  <a:lnTo>
                    <a:pt x="20000" y="15000"/>
                  </a:lnTo>
                </a:path>
              </a:pathLst>
            </a:custGeom>
            <a:noFill/>
            <a:ln w="8835" cap="rnd">
              <a:solidFill>
                <a:srgbClr val="40566D"/>
              </a:solidFill>
              <a:round/>
            </a:ln>
          </p:spPr>
        </p:sp>
        <p:sp>
          <p:nvSpPr>
            <p:cNvPr id="139" name="Chip label"/>
            <p:cNvSpPr txBox="1"/>
            <p:nvPr/>
          </p:nvSpPr>
          <p:spPr>
            <a:xfrm>
              <a:off x="6654150" y="3611880"/>
              <a:ext cx="521998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Users for UAT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140" name="Chip Test stores / DGs"/>
          <p:cNvGrpSpPr/>
          <p:nvPr/>
        </p:nvGrpSpPr>
        <p:grpSpPr>
          <a:xfrm>
            <a:off x="6470904" y="3831336"/>
            <a:ext cx="845646" cy="155448"/>
            <a:chOff x="6470904" y="3831336"/>
            <a:chExt cx="845646" cy="155448"/>
          </a:xfrm>
        </p:grpSpPr>
        <p:sp>
          <p:nvSpPr>
            <p:cNvPr id="141" name="Chip fill"/>
            <p:cNvSpPr/>
            <p:nvPr/>
          </p:nvSpPr>
          <p:spPr>
            <a:xfrm>
              <a:off x="6470904" y="3831336"/>
              <a:ext cx="845646" cy="155448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2" name="Icon corner-down-right"/>
            <p:cNvSpPr/>
            <p:nvPr/>
          </p:nvSpPr>
          <p:spPr>
            <a:xfrm>
              <a:off x="6530340" y="3860871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0000"/>
                  </a:moveTo>
                  <a:lnTo>
                    <a:pt x="20000" y="15000"/>
                  </a:lnTo>
                  <a:lnTo>
                    <a:pt x="15000" y="20000"/>
                  </a:lnTo>
                </a:path>
                <a:path w="24000" h="24000" fill="none">
                  <a:moveTo>
                    <a:pt x="4000" y="4000"/>
                  </a:moveTo>
                  <a:lnTo>
                    <a:pt x="4000" y="11000"/>
                  </a:lnTo>
                  <a:cubicBezTo>
                    <a:pt x="4000" y="13209"/>
                    <a:pt x="5791" y="15000"/>
                    <a:pt x="8000" y="15000"/>
                  </a:cubicBezTo>
                  <a:lnTo>
                    <a:pt x="20000" y="15000"/>
                  </a:lnTo>
                </a:path>
              </a:pathLst>
            </a:custGeom>
            <a:noFill/>
            <a:ln w="8835" cap="rnd">
              <a:solidFill>
                <a:srgbClr val="40566D"/>
              </a:solidFill>
              <a:round/>
            </a:ln>
          </p:spPr>
        </p:sp>
        <p:sp>
          <p:nvSpPr>
            <p:cNvPr id="143" name="Chip label"/>
            <p:cNvSpPr txBox="1"/>
            <p:nvPr/>
          </p:nvSpPr>
          <p:spPr>
            <a:xfrm>
              <a:off x="6654150" y="3831336"/>
              <a:ext cx="634968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Test stores / DGs</a:t>
              </a:r>
              <a:endParaRPr lang="en-US" sz="580" dirty="0">
                <a:latin typeface="Inter SemiBold"/>
              </a:endParaRPr>
            </a:p>
          </p:txBody>
        </p:sp>
      </p:grpSp>
      <p:cxnSp>
        <p:nvCxnSpPr>
          <p:cNvPr id="144" name="Divider"/>
          <p:cNvCxnSpPr/>
          <p:nvPr/>
        </p:nvCxnSpPr>
        <p:spPr>
          <a:xfrm>
            <a:off x="7555992" y="3438144"/>
            <a:ext cx="0" cy="1234440"/>
          </a:xfrm>
          <a:prstGeom prst="straightConnector1">
            <a:avLst/>
          </a:prstGeom>
          <a:noFill/>
          <a:ln w="6350">
            <a:solidFill>
              <a:srgbClr val="E3EAF3"/>
            </a:solidFill>
            <a:round/>
          </a:ln>
        </p:spPr>
      </p:cxnSp>
      <p:sp>
        <p:nvSpPr>
          <p:cNvPr id="145" name="Inputs label"/>
          <p:cNvSpPr txBox="1"/>
          <p:nvPr/>
        </p:nvSpPr>
        <p:spPr>
          <a:xfrm>
            <a:off x="7629144" y="3438144"/>
            <a:ext cx="1048512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82" dirty="0">
                <a:solidFill>
                  <a:srgbClr val="90A5B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M6</a:t>
            </a:r>
            <a:endParaRPr lang="en-US" sz="560" dirty="0">
              <a:latin typeface="Inter SemiBold"/>
            </a:endParaRPr>
          </a:p>
        </p:txBody>
      </p:sp>
      <p:grpSp>
        <p:nvGrpSpPr>
          <p:cNvPr id="146" name="Chip Rollout store list"/>
          <p:cNvGrpSpPr/>
          <p:nvPr/>
        </p:nvGrpSpPr>
        <p:grpSpPr>
          <a:xfrm>
            <a:off x="7629144" y="3611880"/>
            <a:ext cx="808518" cy="155448"/>
            <a:chOff x="7629144" y="3611880"/>
            <a:chExt cx="808518" cy="155448"/>
          </a:xfrm>
        </p:grpSpPr>
        <p:sp>
          <p:nvSpPr>
            <p:cNvPr id="147" name="Chip fill"/>
            <p:cNvSpPr/>
            <p:nvPr/>
          </p:nvSpPr>
          <p:spPr>
            <a:xfrm>
              <a:off x="7629144" y="3611880"/>
              <a:ext cx="808518" cy="155448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8" name="Icon corner-down-right"/>
            <p:cNvSpPr/>
            <p:nvPr/>
          </p:nvSpPr>
          <p:spPr>
            <a:xfrm>
              <a:off x="7688580" y="3641415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0000"/>
                  </a:moveTo>
                  <a:lnTo>
                    <a:pt x="20000" y="15000"/>
                  </a:lnTo>
                  <a:lnTo>
                    <a:pt x="15000" y="20000"/>
                  </a:lnTo>
                </a:path>
                <a:path w="24000" h="24000" fill="none">
                  <a:moveTo>
                    <a:pt x="4000" y="4000"/>
                  </a:moveTo>
                  <a:lnTo>
                    <a:pt x="4000" y="11000"/>
                  </a:lnTo>
                  <a:cubicBezTo>
                    <a:pt x="4000" y="13209"/>
                    <a:pt x="5791" y="15000"/>
                    <a:pt x="8000" y="15000"/>
                  </a:cubicBezTo>
                  <a:lnTo>
                    <a:pt x="20000" y="15000"/>
                  </a:lnTo>
                </a:path>
              </a:pathLst>
            </a:custGeom>
            <a:noFill/>
            <a:ln w="8835" cap="rnd">
              <a:solidFill>
                <a:srgbClr val="40566D"/>
              </a:solidFill>
              <a:round/>
            </a:ln>
          </p:spPr>
        </p:sp>
        <p:sp>
          <p:nvSpPr>
            <p:cNvPr id="149" name="Chip label"/>
            <p:cNvSpPr txBox="1"/>
            <p:nvPr/>
          </p:nvSpPr>
          <p:spPr>
            <a:xfrm>
              <a:off x="7812390" y="3611880"/>
              <a:ext cx="597841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Rollout store list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150" name="Chip Go-live schedule"/>
          <p:cNvGrpSpPr/>
          <p:nvPr/>
        </p:nvGrpSpPr>
        <p:grpSpPr>
          <a:xfrm>
            <a:off x="7629144" y="3831336"/>
            <a:ext cx="840884" cy="155448"/>
            <a:chOff x="7629144" y="3831336"/>
            <a:chExt cx="840884" cy="155448"/>
          </a:xfrm>
        </p:grpSpPr>
        <p:sp>
          <p:nvSpPr>
            <p:cNvPr id="151" name="Chip fill"/>
            <p:cNvSpPr/>
            <p:nvPr/>
          </p:nvSpPr>
          <p:spPr>
            <a:xfrm>
              <a:off x="7629144" y="3831336"/>
              <a:ext cx="840884" cy="155448"/>
            </a:xfrm>
            <a:prstGeom prst="roundRect">
              <a:avLst>
                <a:gd name="adj" fmla="val 20000"/>
              </a:avLst>
            </a:prstGeom>
            <a:solidFill>
              <a:srgbClr val="F1F5F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2" name="Icon corner-down-right"/>
            <p:cNvSpPr/>
            <p:nvPr/>
          </p:nvSpPr>
          <p:spPr>
            <a:xfrm>
              <a:off x="7688580" y="3860871"/>
              <a:ext cx="96378" cy="9637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0000"/>
                  </a:moveTo>
                  <a:lnTo>
                    <a:pt x="20000" y="15000"/>
                  </a:lnTo>
                  <a:lnTo>
                    <a:pt x="15000" y="20000"/>
                  </a:lnTo>
                </a:path>
                <a:path w="24000" h="24000" fill="none">
                  <a:moveTo>
                    <a:pt x="4000" y="4000"/>
                  </a:moveTo>
                  <a:lnTo>
                    <a:pt x="4000" y="11000"/>
                  </a:lnTo>
                  <a:cubicBezTo>
                    <a:pt x="4000" y="13209"/>
                    <a:pt x="5791" y="15000"/>
                    <a:pt x="8000" y="15000"/>
                  </a:cubicBezTo>
                  <a:lnTo>
                    <a:pt x="20000" y="15000"/>
                  </a:lnTo>
                </a:path>
              </a:pathLst>
            </a:custGeom>
            <a:noFill/>
            <a:ln w="8835" cap="rnd">
              <a:solidFill>
                <a:srgbClr val="40566D"/>
              </a:solidFill>
              <a:round/>
            </a:ln>
          </p:spPr>
        </p:sp>
        <p:sp>
          <p:nvSpPr>
            <p:cNvPr id="153" name="Chip label"/>
            <p:cNvSpPr txBox="1"/>
            <p:nvPr/>
          </p:nvSpPr>
          <p:spPr>
            <a:xfrm>
              <a:off x="7812390" y="3831336"/>
              <a:ext cx="630206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ts val="580"/>
                </a:lnSpc>
                <a:spcBef>
                  <a:spcPts val="0"/>
                </a:spcBef>
                <a:buNone/>
              </a:pPr>
              <a:r>
                <a:rPr lang="en-US" sz="580" b="0" i="0" spc="0" dirty="0">
                  <a:solidFill>
                    <a:srgbClr val="40566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Go-live schedule</a:t>
              </a:r>
              <a:endParaRPr lang="en-US" sz="580" dirty="0">
                <a:latin typeface="Inter SemiBold"/>
              </a:endParaRPr>
            </a:p>
          </p:txBody>
        </p:sp>
      </p:grpSp>
      <p:grpSp>
        <p:nvGrpSpPr>
          <p:cNvPr id="154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155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DG Online Monitoring Proposal  ·  Flipkart Minutes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56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2886C204-FE66-4B14-A464-B4C9B2C51A45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9456"/>
            <a:ext cx="8650224" cy="722376"/>
            <a:chOff x="274320" y="219456"/>
            <a:chExt cx="8650224" cy="722376"/>
          </a:xfrm>
        </p:grpSpPr>
        <p:sp>
          <p:nvSpPr>
            <p:cNvPr id="4" name="Eyebrow"/>
            <p:cNvSpPr txBox="1"/>
            <p:nvPr/>
          </p:nvSpPr>
          <p:spPr>
            <a:xfrm>
              <a:off x="274320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BOTH WORKFLOWS  ·  PLAN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5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Project Delivery Schedule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6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Indicative plan from kick-off. Hardware supply and store-by-store installation run alongside the application build.</a:t>
              </a:r>
              <a:endParaRPr lang="en-US" sz="850" dirty="0">
                <a:latin typeface="Inter"/>
              </a:endParaRPr>
            </a:p>
          </p:txBody>
        </p:sp>
        <p:grpSp>
          <p:nvGrpSpPr>
            <p:cNvPr id="7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8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" name="Summary header"/>
          <p:cNvSpPr/>
          <p:nvPr/>
        </p:nvSpPr>
        <p:spPr>
          <a:xfrm>
            <a:off x="274320" y="1024128"/>
            <a:ext cx="8595360" cy="365760"/>
          </a:xfrm>
          <a:prstGeom prst="roundRect">
            <a:avLst>
              <a:gd name="adj" fmla="val 12500"/>
            </a:avLst>
          </a:prstGeom>
          <a:solidFill>
            <a:srgbClr val="165FF2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0" name="Summary head"/>
          <p:cNvSpPr txBox="1"/>
          <p:nvPr/>
        </p:nvSpPr>
        <p:spPr>
          <a:xfrm>
            <a:off x="310896" y="1024128"/>
            <a:ext cx="134416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Objective</a:t>
            </a:r>
            <a:endParaRPr lang="en-US" sz="620" dirty="0">
              <a:latin typeface="Inter SemiBold"/>
            </a:endParaRPr>
          </a:p>
        </p:txBody>
      </p:sp>
      <p:sp>
        <p:nvSpPr>
          <p:cNvPr id="21" name="Summary head"/>
          <p:cNvSpPr txBox="1"/>
          <p:nvPr/>
        </p:nvSpPr>
        <p:spPr>
          <a:xfrm>
            <a:off x="1728216" y="1024128"/>
            <a:ext cx="71061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Application Design &amp; Project Kickoff</a:t>
            </a:r>
            <a:endParaRPr lang="en-US" sz="620" dirty="0">
              <a:latin typeface="Inter SemiBold"/>
            </a:endParaRPr>
          </a:p>
        </p:txBody>
      </p:sp>
      <p:sp>
        <p:nvSpPr>
          <p:cNvPr id="22" name="Summary head"/>
          <p:cNvSpPr txBox="1"/>
          <p:nvPr/>
        </p:nvSpPr>
        <p:spPr>
          <a:xfrm>
            <a:off x="2511987" y="1024128"/>
            <a:ext cx="71061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Hardware Supply</a:t>
            </a:r>
            <a:endParaRPr lang="en-US" sz="620" dirty="0">
              <a:latin typeface="Inter SemiBold"/>
            </a:endParaRPr>
          </a:p>
        </p:txBody>
      </p:sp>
      <p:sp>
        <p:nvSpPr>
          <p:cNvPr id="23" name="Summary head"/>
          <p:cNvSpPr txBox="1"/>
          <p:nvPr/>
        </p:nvSpPr>
        <p:spPr>
          <a:xfrm>
            <a:off x="3295759" y="1024128"/>
            <a:ext cx="71061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Installation and Commissioning</a:t>
            </a:r>
            <a:endParaRPr lang="en-US" sz="620" dirty="0">
              <a:latin typeface="Inter SemiBold"/>
            </a:endParaRPr>
          </a:p>
        </p:txBody>
      </p:sp>
      <p:sp>
        <p:nvSpPr>
          <p:cNvPr id="24" name="Summary head"/>
          <p:cNvSpPr txBox="1"/>
          <p:nvPr/>
        </p:nvSpPr>
        <p:spPr>
          <a:xfrm>
            <a:off x="4079530" y="1024128"/>
            <a:ext cx="71061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Application Development</a:t>
            </a:r>
            <a:endParaRPr lang="en-US" sz="620" dirty="0">
              <a:latin typeface="Inter SemiBold"/>
            </a:endParaRPr>
          </a:p>
        </p:txBody>
      </p:sp>
      <p:sp>
        <p:nvSpPr>
          <p:cNvPr id="25" name="Summary head"/>
          <p:cNvSpPr txBox="1"/>
          <p:nvPr/>
        </p:nvSpPr>
        <p:spPr>
          <a:xfrm>
            <a:off x="4863302" y="1024128"/>
            <a:ext cx="71061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Configuration &amp; Integration</a:t>
            </a:r>
            <a:endParaRPr lang="en-US" sz="620" dirty="0">
              <a:latin typeface="Inter SemiBold"/>
            </a:endParaRPr>
          </a:p>
        </p:txBody>
      </p:sp>
      <p:sp>
        <p:nvSpPr>
          <p:cNvPr id="26" name="Summary head"/>
          <p:cNvSpPr txBox="1"/>
          <p:nvPr/>
        </p:nvSpPr>
        <p:spPr>
          <a:xfrm>
            <a:off x="5647073" y="1024128"/>
            <a:ext cx="71061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UAT &amp; Training</a:t>
            </a:r>
            <a:endParaRPr lang="en-US" sz="620" dirty="0">
              <a:latin typeface="Inter SemiBold"/>
            </a:endParaRPr>
          </a:p>
        </p:txBody>
      </p:sp>
      <p:sp>
        <p:nvSpPr>
          <p:cNvPr id="27" name="Summary head"/>
          <p:cNvSpPr txBox="1"/>
          <p:nvPr/>
        </p:nvSpPr>
        <p:spPr>
          <a:xfrm>
            <a:off x="6430845" y="1024128"/>
            <a:ext cx="71061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Go-live, Handover &amp; Hypercare</a:t>
            </a:r>
            <a:endParaRPr lang="en-US" sz="620" dirty="0">
              <a:latin typeface="Inter SemiBold"/>
            </a:endParaRPr>
          </a:p>
        </p:txBody>
      </p:sp>
      <p:sp>
        <p:nvSpPr>
          <p:cNvPr id="28" name="Summary head"/>
          <p:cNvSpPr txBox="1"/>
          <p:nvPr/>
        </p:nvSpPr>
        <p:spPr>
          <a:xfrm>
            <a:off x="7214616" y="1024128"/>
            <a:ext cx="161848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70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Total delivery time</a:t>
            </a:r>
            <a:endParaRPr lang="en-US" sz="620" dirty="0">
              <a:latin typeface="Inter SemiBold"/>
            </a:endParaRPr>
          </a:p>
        </p:txBody>
      </p:sp>
      <p:sp>
        <p:nvSpPr>
          <p:cNvPr id="29" name="Summary body"/>
          <p:cNvSpPr/>
          <p:nvPr/>
        </p:nvSpPr>
        <p:spPr>
          <a:xfrm>
            <a:off x="274320" y="1389888"/>
            <a:ext cx="85953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30" name="Objective"/>
          <p:cNvSpPr txBox="1"/>
          <p:nvPr/>
        </p:nvSpPr>
        <p:spPr>
          <a:xfrm>
            <a:off x="329184" y="1389888"/>
            <a:ext cx="130759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8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DG Online Monitoring</a:t>
            </a:r>
            <a:endParaRPr lang="en-US" sz="680" dirty="0">
              <a:latin typeface="Inter SemiBold"/>
            </a:endParaRPr>
          </a:p>
          <a:p>
            <a:pPr algn="ctr">
              <a:lnSpc>
                <a:spcPts val="680"/>
              </a:lnSpc>
              <a:spcBef>
                <a:spcPts val="100"/>
              </a:spcBef>
              <a:buNone/>
            </a:pPr>
            <a:r>
              <a:rPr lang="en-US" sz="600" b="0" i="0" spc="0" dirty="0">
                <a:solidFill>
                  <a:srgbClr val="6C849D"/>
                </a:solidFill>
                <a:latin typeface="Inter"/>
                <a:ea typeface="Inter"/>
                <a:cs typeface="Inter"/>
                <a:sym typeface="Inter"/>
              </a:rPr>
              <a:t>Refilling  ·  Maintenance</a:t>
            </a:r>
            <a:endParaRPr lang="en-US" sz="600" dirty="0">
              <a:latin typeface="Inter"/>
            </a:endParaRPr>
          </a:p>
        </p:txBody>
      </p:sp>
      <p:sp>
        <p:nvSpPr>
          <p:cNvPr id="31" name="Duration"/>
          <p:cNvSpPr txBox="1"/>
          <p:nvPr/>
        </p:nvSpPr>
        <p:spPr>
          <a:xfrm>
            <a:off x="1691640" y="1389888"/>
            <a:ext cx="78377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buNone/>
            </a:pPr>
            <a:r>
              <a:rPr lang="en-US" sz="76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week</a:t>
            </a:r>
            <a:endParaRPr lang="en-US" sz="760" dirty="0">
              <a:latin typeface="Inter SemiBold"/>
            </a:endParaRPr>
          </a:p>
        </p:txBody>
      </p:sp>
      <p:sp>
        <p:nvSpPr>
          <p:cNvPr id="32" name="Duration"/>
          <p:cNvSpPr txBox="1"/>
          <p:nvPr/>
        </p:nvSpPr>
        <p:spPr>
          <a:xfrm>
            <a:off x="2475411" y="1389888"/>
            <a:ext cx="78377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buNone/>
            </a:pPr>
            <a:r>
              <a:rPr lang="en-US" sz="76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weeks</a:t>
            </a:r>
            <a:endParaRPr lang="en-US" sz="760" dirty="0">
              <a:latin typeface="Inter SemiBold"/>
            </a:endParaRPr>
          </a:p>
        </p:txBody>
      </p:sp>
      <p:sp>
        <p:nvSpPr>
          <p:cNvPr id="33" name="Duration"/>
          <p:cNvSpPr txBox="1"/>
          <p:nvPr/>
        </p:nvSpPr>
        <p:spPr>
          <a:xfrm>
            <a:off x="3259183" y="1389888"/>
            <a:ext cx="78377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buNone/>
            </a:pPr>
            <a:r>
              <a:rPr lang="en-US" sz="76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 weeks</a:t>
            </a:r>
            <a:endParaRPr lang="en-US" sz="760" dirty="0">
              <a:latin typeface="Inter SemiBold"/>
            </a:endParaRPr>
          </a:p>
        </p:txBody>
      </p:sp>
      <p:sp>
        <p:nvSpPr>
          <p:cNvPr id="34" name="Duration"/>
          <p:cNvSpPr txBox="1"/>
          <p:nvPr/>
        </p:nvSpPr>
        <p:spPr>
          <a:xfrm>
            <a:off x="4042954" y="1389888"/>
            <a:ext cx="78377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buNone/>
            </a:pPr>
            <a:r>
              <a:rPr lang="en-US" sz="760" b="0" i="0" spc="0" dirty="0">
                <a:solidFill>
                  <a:srgbClr val="C65C1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 weeks</a:t>
            </a:r>
            <a:endParaRPr lang="en-US" sz="760" dirty="0">
              <a:latin typeface="Inter SemiBold"/>
            </a:endParaRPr>
          </a:p>
        </p:txBody>
      </p:sp>
      <p:sp>
        <p:nvSpPr>
          <p:cNvPr id="35" name="Duration"/>
          <p:cNvSpPr txBox="1"/>
          <p:nvPr/>
        </p:nvSpPr>
        <p:spPr>
          <a:xfrm>
            <a:off x="4826726" y="1389888"/>
            <a:ext cx="78377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buNone/>
            </a:pPr>
            <a:r>
              <a:rPr lang="en-US" sz="760" b="0" i="0" spc="0" dirty="0">
                <a:solidFill>
                  <a:srgbClr val="C65C1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 weeks</a:t>
            </a:r>
            <a:endParaRPr lang="en-US" sz="760" dirty="0">
              <a:latin typeface="Inter SemiBold"/>
            </a:endParaRPr>
          </a:p>
        </p:txBody>
      </p:sp>
      <p:sp>
        <p:nvSpPr>
          <p:cNvPr id="36" name="Duration"/>
          <p:cNvSpPr txBox="1"/>
          <p:nvPr/>
        </p:nvSpPr>
        <p:spPr>
          <a:xfrm>
            <a:off x="5610497" y="1389888"/>
            <a:ext cx="78377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buNone/>
            </a:pPr>
            <a:r>
              <a:rPr lang="en-US" sz="760" b="0" i="0" spc="0" dirty="0">
                <a:solidFill>
                  <a:srgbClr val="00874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weeks</a:t>
            </a:r>
            <a:endParaRPr lang="en-US" sz="760" dirty="0">
              <a:latin typeface="Inter SemiBold"/>
            </a:endParaRPr>
          </a:p>
        </p:txBody>
      </p:sp>
      <p:sp>
        <p:nvSpPr>
          <p:cNvPr id="37" name="Duration"/>
          <p:cNvSpPr txBox="1"/>
          <p:nvPr/>
        </p:nvSpPr>
        <p:spPr>
          <a:xfrm>
            <a:off x="6394269" y="1389888"/>
            <a:ext cx="78377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840"/>
              </a:lnSpc>
              <a:spcBef>
                <a:spcPts val="0"/>
              </a:spcBef>
              <a:buNone/>
            </a:pPr>
            <a:r>
              <a:rPr lang="en-US" sz="760" b="0" i="0" spc="0" dirty="0">
                <a:solidFill>
                  <a:srgbClr val="00874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week</a:t>
            </a:r>
            <a:endParaRPr lang="en-US" sz="760" dirty="0">
              <a:latin typeface="Inter SemiBold"/>
            </a:endParaRPr>
          </a:p>
        </p:txBody>
      </p:sp>
      <p:sp>
        <p:nvSpPr>
          <p:cNvPr id="38" name="Total cell"/>
          <p:cNvSpPr/>
          <p:nvPr/>
        </p:nvSpPr>
        <p:spPr>
          <a:xfrm>
            <a:off x="7178040" y="1389888"/>
            <a:ext cx="1691640" cy="292608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39" name="Total"/>
          <p:cNvSpPr txBox="1"/>
          <p:nvPr/>
        </p:nvSpPr>
        <p:spPr>
          <a:xfrm>
            <a:off x="7178040" y="1389888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950"/>
              </a:lnSpc>
              <a:spcBef>
                <a:spcPts val="0"/>
              </a:spcBef>
              <a:buNone/>
            </a:pPr>
            <a:r>
              <a:rPr lang="en-US" sz="85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22 weeks</a:t>
            </a:r>
            <a:endParaRPr lang="en-US" sz="850" dirty="0">
              <a:latin typeface="Inter SemiBold"/>
            </a:endParaRPr>
          </a:p>
        </p:txBody>
      </p:sp>
      <p:cxnSp>
        <p:nvCxnSpPr>
          <p:cNvPr id="40" name="Bracket"/>
          <p:cNvCxnSpPr/>
          <p:nvPr/>
        </p:nvCxnSpPr>
        <p:spPr>
          <a:xfrm>
            <a:off x="1746504" y="1773936"/>
            <a:ext cx="2241586" cy="0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</a:ln>
        </p:spPr>
      </p:cxnSp>
      <p:cxnSp>
        <p:nvCxnSpPr>
          <p:cNvPr id="41" name="Bracket end"/>
          <p:cNvCxnSpPr/>
          <p:nvPr/>
        </p:nvCxnSpPr>
        <p:spPr>
          <a:xfrm>
            <a:off x="1746504" y="1773936"/>
            <a:ext cx="0" cy="64008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</a:ln>
        </p:spPr>
      </p:cxnSp>
      <p:cxnSp>
        <p:nvCxnSpPr>
          <p:cNvPr id="42" name="Bracket end"/>
          <p:cNvCxnSpPr/>
          <p:nvPr/>
        </p:nvCxnSpPr>
        <p:spPr>
          <a:xfrm>
            <a:off x="3988090" y="1773936"/>
            <a:ext cx="0" cy="64008"/>
          </a:xfrm>
          <a:prstGeom prst="straightConnector1">
            <a:avLst/>
          </a:prstGeom>
          <a:noFill/>
          <a:ln w="12700">
            <a:solidFill>
              <a:srgbClr val="165FF2"/>
            </a:solidFill>
            <a:round/>
          </a:ln>
        </p:spPr>
      </p:cxnSp>
      <p:sp>
        <p:nvSpPr>
          <p:cNvPr id="43" name="Group label"/>
          <p:cNvSpPr txBox="1"/>
          <p:nvPr/>
        </p:nvSpPr>
        <p:spPr>
          <a:xfrm>
            <a:off x="1691640" y="1856232"/>
            <a:ext cx="235131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Onboarding Phase</a:t>
            </a:r>
            <a:endParaRPr lang="en-US" sz="660" dirty="0">
              <a:latin typeface="Inter SemiBold"/>
            </a:endParaRPr>
          </a:p>
          <a:p>
            <a:pPr algn="ctr">
              <a:lnSpc>
                <a:spcPts val="680"/>
              </a:lnSpc>
              <a:spcBef>
                <a:spcPts val="100"/>
              </a:spcBef>
              <a:buNone/>
            </a:pPr>
            <a:r>
              <a:rPr lang="en-US" sz="600" b="0" i="0" spc="0" dirty="0">
                <a:solidFill>
                  <a:srgbClr val="165FF2"/>
                </a:solidFill>
                <a:latin typeface="Inter"/>
                <a:ea typeface="Inter"/>
                <a:cs typeface="Inter"/>
                <a:sym typeface="Inter"/>
              </a:rPr>
              <a:t>Kick-off, hardware supply and installation</a:t>
            </a:r>
            <a:endParaRPr lang="en-US" sz="600" dirty="0">
              <a:latin typeface="Inter"/>
            </a:endParaRPr>
          </a:p>
        </p:txBody>
      </p:sp>
      <p:cxnSp>
        <p:nvCxnSpPr>
          <p:cNvPr id="44" name="Bracket"/>
          <p:cNvCxnSpPr/>
          <p:nvPr/>
        </p:nvCxnSpPr>
        <p:spPr>
          <a:xfrm>
            <a:off x="4097818" y="1773936"/>
            <a:ext cx="1457815" cy="0"/>
          </a:xfrm>
          <a:prstGeom prst="straightConnector1">
            <a:avLst/>
          </a:prstGeom>
          <a:noFill/>
          <a:ln w="12700">
            <a:solidFill>
              <a:srgbClr val="C65C10"/>
            </a:solidFill>
            <a:round/>
          </a:ln>
        </p:spPr>
      </p:cxnSp>
      <p:cxnSp>
        <p:nvCxnSpPr>
          <p:cNvPr id="45" name="Bracket end"/>
          <p:cNvCxnSpPr/>
          <p:nvPr/>
        </p:nvCxnSpPr>
        <p:spPr>
          <a:xfrm>
            <a:off x="4097818" y="1773936"/>
            <a:ext cx="0" cy="64008"/>
          </a:xfrm>
          <a:prstGeom prst="straightConnector1">
            <a:avLst/>
          </a:prstGeom>
          <a:noFill/>
          <a:ln w="12700">
            <a:solidFill>
              <a:srgbClr val="C65C10"/>
            </a:solidFill>
            <a:round/>
          </a:ln>
        </p:spPr>
      </p:cxnSp>
      <p:cxnSp>
        <p:nvCxnSpPr>
          <p:cNvPr id="46" name="Bracket end"/>
          <p:cNvCxnSpPr/>
          <p:nvPr/>
        </p:nvCxnSpPr>
        <p:spPr>
          <a:xfrm>
            <a:off x="5555633" y="1773936"/>
            <a:ext cx="0" cy="64008"/>
          </a:xfrm>
          <a:prstGeom prst="straightConnector1">
            <a:avLst/>
          </a:prstGeom>
          <a:noFill/>
          <a:ln w="12700">
            <a:solidFill>
              <a:srgbClr val="C65C10"/>
            </a:solidFill>
            <a:round/>
          </a:ln>
        </p:spPr>
      </p:cxnSp>
      <p:sp>
        <p:nvSpPr>
          <p:cNvPr id="47" name="Group label"/>
          <p:cNvSpPr txBox="1"/>
          <p:nvPr/>
        </p:nvSpPr>
        <p:spPr>
          <a:xfrm>
            <a:off x="4042954" y="1856232"/>
            <a:ext cx="1567543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Implementation Phase</a:t>
            </a:r>
            <a:endParaRPr lang="en-US" sz="660" dirty="0">
              <a:latin typeface="Inter SemiBold"/>
            </a:endParaRPr>
          </a:p>
          <a:p>
            <a:pPr algn="ctr">
              <a:lnSpc>
                <a:spcPts val="680"/>
              </a:lnSpc>
              <a:spcBef>
                <a:spcPts val="100"/>
              </a:spcBef>
              <a:buNone/>
            </a:pPr>
            <a:r>
              <a:rPr lang="en-US" sz="600" b="0" i="0" spc="0" dirty="0">
                <a:solidFill>
                  <a:srgbClr val="C65C10"/>
                </a:solidFill>
                <a:latin typeface="Inter"/>
                <a:ea typeface="Inter"/>
                <a:cs typeface="Inter"/>
                <a:sym typeface="Inter"/>
              </a:rPr>
              <a:t>Application build and Fusion integration</a:t>
            </a:r>
            <a:endParaRPr lang="en-US" sz="600" dirty="0">
              <a:latin typeface="Inter"/>
            </a:endParaRPr>
          </a:p>
        </p:txBody>
      </p:sp>
      <p:cxnSp>
        <p:nvCxnSpPr>
          <p:cNvPr id="48" name="Bracket"/>
          <p:cNvCxnSpPr/>
          <p:nvPr/>
        </p:nvCxnSpPr>
        <p:spPr>
          <a:xfrm>
            <a:off x="5665361" y="1773936"/>
            <a:ext cx="1457815" cy="0"/>
          </a:xfrm>
          <a:prstGeom prst="straightConnector1">
            <a:avLst/>
          </a:prstGeom>
          <a:noFill/>
          <a:ln w="12700">
            <a:solidFill>
              <a:srgbClr val="008743"/>
            </a:solidFill>
            <a:round/>
          </a:ln>
        </p:spPr>
      </p:cxnSp>
      <p:cxnSp>
        <p:nvCxnSpPr>
          <p:cNvPr id="49" name="Bracket end"/>
          <p:cNvCxnSpPr/>
          <p:nvPr/>
        </p:nvCxnSpPr>
        <p:spPr>
          <a:xfrm>
            <a:off x="5665361" y="1773936"/>
            <a:ext cx="0" cy="64008"/>
          </a:xfrm>
          <a:prstGeom prst="straightConnector1">
            <a:avLst/>
          </a:prstGeom>
          <a:noFill/>
          <a:ln w="12700">
            <a:solidFill>
              <a:srgbClr val="008743"/>
            </a:solidFill>
            <a:round/>
          </a:ln>
        </p:spPr>
      </p:cxnSp>
      <p:cxnSp>
        <p:nvCxnSpPr>
          <p:cNvPr id="50" name="Bracket end"/>
          <p:cNvCxnSpPr/>
          <p:nvPr/>
        </p:nvCxnSpPr>
        <p:spPr>
          <a:xfrm>
            <a:off x="7123176" y="1773936"/>
            <a:ext cx="0" cy="64008"/>
          </a:xfrm>
          <a:prstGeom prst="straightConnector1">
            <a:avLst/>
          </a:prstGeom>
          <a:noFill/>
          <a:ln w="12700">
            <a:solidFill>
              <a:srgbClr val="008743"/>
            </a:solidFill>
            <a:round/>
          </a:ln>
        </p:spPr>
      </p:cxnSp>
      <p:sp>
        <p:nvSpPr>
          <p:cNvPr id="51" name="Group label"/>
          <p:cNvSpPr txBox="1"/>
          <p:nvPr/>
        </p:nvSpPr>
        <p:spPr>
          <a:xfrm>
            <a:off x="5610497" y="1856232"/>
            <a:ext cx="1567543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Go-live Phase</a:t>
            </a:r>
            <a:endParaRPr lang="en-US" sz="660" dirty="0">
              <a:latin typeface="Inter SemiBold"/>
            </a:endParaRPr>
          </a:p>
          <a:p>
            <a:pPr algn="ctr">
              <a:lnSpc>
                <a:spcPts val="680"/>
              </a:lnSpc>
              <a:spcBef>
                <a:spcPts val="100"/>
              </a:spcBef>
              <a:buNone/>
            </a:pPr>
            <a:r>
              <a:rPr lang="en-US" sz="600" b="0" i="0" spc="0" dirty="0">
                <a:solidFill>
                  <a:srgbClr val="008743"/>
                </a:solidFill>
                <a:latin typeface="Inter"/>
                <a:ea typeface="Inter"/>
                <a:cs typeface="Inter"/>
                <a:sym typeface="Inter"/>
              </a:rPr>
              <a:t>UAT, training, handover and hypercare</a:t>
            </a:r>
            <a:endParaRPr lang="en-US" sz="600" dirty="0">
              <a:latin typeface="Inter"/>
            </a:endParaRPr>
          </a:p>
        </p:txBody>
      </p:sp>
      <p:sp>
        <p:nvSpPr>
          <p:cNvPr id="52" name="Ruler label"/>
          <p:cNvSpPr txBox="1"/>
          <p:nvPr/>
        </p:nvSpPr>
        <p:spPr>
          <a:xfrm>
            <a:off x="274320" y="2176272"/>
            <a:ext cx="141732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ts val="560"/>
              </a:lnSpc>
              <a:spcBef>
                <a:spcPts val="0"/>
              </a:spcBef>
              <a:buNone/>
            </a:pPr>
            <a:r>
              <a:rPr lang="en-US" sz="560" b="0" i="0" cap="all" spc="82" dirty="0">
                <a:solidFill>
                  <a:srgbClr val="40566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WEEK</a:t>
            </a:r>
            <a:endParaRPr lang="en-US" sz="560" dirty="0">
              <a:latin typeface="Inter SemiBold"/>
            </a:endParaRPr>
          </a:p>
        </p:txBody>
      </p:sp>
      <p:sp>
        <p:nvSpPr>
          <p:cNvPr id="53" name="Ruler cell"/>
          <p:cNvSpPr/>
          <p:nvPr/>
        </p:nvSpPr>
        <p:spPr>
          <a:xfrm>
            <a:off x="1783080" y="2176272"/>
            <a:ext cx="644236" cy="155448"/>
          </a:xfrm>
          <a:prstGeom prst="rect">
            <a:avLst/>
          </a:prstGeom>
          <a:solidFill>
            <a:srgbClr val="F8FAFC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4" name="Week number"/>
          <p:cNvSpPr txBox="1"/>
          <p:nvPr/>
        </p:nvSpPr>
        <p:spPr>
          <a:xfrm>
            <a:off x="1783080" y="2176272"/>
            <a:ext cx="64423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1–2</a:t>
            </a:r>
            <a:endParaRPr lang="en-US" sz="580" dirty="0">
              <a:latin typeface="Inter"/>
            </a:endParaRPr>
          </a:p>
        </p:txBody>
      </p:sp>
      <p:sp>
        <p:nvSpPr>
          <p:cNvPr id="55" name="Ruler cell"/>
          <p:cNvSpPr/>
          <p:nvPr/>
        </p:nvSpPr>
        <p:spPr>
          <a:xfrm>
            <a:off x="2427316" y="2176272"/>
            <a:ext cx="644236" cy="155448"/>
          </a:xfrm>
          <a:prstGeom prst="rect">
            <a:avLst/>
          </a:prstGeom>
          <a:solidFill>
            <a:srgbClr val="F8FAFC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6" name="Week number"/>
          <p:cNvSpPr txBox="1"/>
          <p:nvPr/>
        </p:nvSpPr>
        <p:spPr>
          <a:xfrm>
            <a:off x="2427316" y="2176272"/>
            <a:ext cx="64423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3–4</a:t>
            </a:r>
            <a:endParaRPr lang="en-US" sz="580" dirty="0">
              <a:latin typeface="Inter"/>
            </a:endParaRPr>
          </a:p>
        </p:txBody>
      </p:sp>
      <p:sp>
        <p:nvSpPr>
          <p:cNvPr id="57" name="Ruler cell"/>
          <p:cNvSpPr/>
          <p:nvPr/>
        </p:nvSpPr>
        <p:spPr>
          <a:xfrm>
            <a:off x="3071553" y="2176272"/>
            <a:ext cx="644236" cy="155448"/>
          </a:xfrm>
          <a:prstGeom prst="rect">
            <a:avLst/>
          </a:prstGeom>
          <a:solidFill>
            <a:srgbClr val="F8FAFC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58" name="Week number"/>
          <p:cNvSpPr txBox="1"/>
          <p:nvPr/>
        </p:nvSpPr>
        <p:spPr>
          <a:xfrm>
            <a:off x="3071553" y="2176272"/>
            <a:ext cx="64423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5–6</a:t>
            </a:r>
            <a:endParaRPr lang="en-US" sz="580" dirty="0">
              <a:latin typeface="Inter"/>
            </a:endParaRPr>
          </a:p>
        </p:txBody>
      </p:sp>
      <p:sp>
        <p:nvSpPr>
          <p:cNvPr id="59" name="Ruler cell"/>
          <p:cNvSpPr/>
          <p:nvPr/>
        </p:nvSpPr>
        <p:spPr>
          <a:xfrm>
            <a:off x="3715789" y="2176272"/>
            <a:ext cx="644236" cy="155448"/>
          </a:xfrm>
          <a:prstGeom prst="rect">
            <a:avLst/>
          </a:prstGeom>
          <a:solidFill>
            <a:srgbClr val="F8FAFC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60" name="Week number"/>
          <p:cNvSpPr txBox="1"/>
          <p:nvPr/>
        </p:nvSpPr>
        <p:spPr>
          <a:xfrm>
            <a:off x="3715789" y="2176272"/>
            <a:ext cx="64423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7–8</a:t>
            </a:r>
            <a:endParaRPr lang="en-US" sz="580" dirty="0">
              <a:latin typeface="Inter"/>
            </a:endParaRPr>
          </a:p>
        </p:txBody>
      </p:sp>
      <p:sp>
        <p:nvSpPr>
          <p:cNvPr id="61" name="Ruler cell"/>
          <p:cNvSpPr/>
          <p:nvPr/>
        </p:nvSpPr>
        <p:spPr>
          <a:xfrm>
            <a:off x="4360025" y="2176272"/>
            <a:ext cx="644236" cy="155448"/>
          </a:xfrm>
          <a:prstGeom prst="rect">
            <a:avLst/>
          </a:prstGeom>
          <a:solidFill>
            <a:srgbClr val="F8FAFC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62" name="Week number"/>
          <p:cNvSpPr txBox="1"/>
          <p:nvPr/>
        </p:nvSpPr>
        <p:spPr>
          <a:xfrm>
            <a:off x="4360025" y="2176272"/>
            <a:ext cx="64423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9–10</a:t>
            </a:r>
            <a:endParaRPr lang="en-US" sz="580" dirty="0">
              <a:latin typeface="Inter"/>
            </a:endParaRPr>
          </a:p>
        </p:txBody>
      </p:sp>
      <p:sp>
        <p:nvSpPr>
          <p:cNvPr id="63" name="Ruler cell"/>
          <p:cNvSpPr/>
          <p:nvPr/>
        </p:nvSpPr>
        <p:spPr>
          <a:xfrm>
            <a:off x="5004262" y="2176272"/>
            <a:ext cx="644236" cy="155448"/>
          </a:xfrm>
          <a:prstGeom prst="rect">
            <a:avLst/>
          </a:prstGeom>
          <a:solidFill>
            <a:srgbClr val="F8FAFC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64" name="Week number"/>
          <p:cNvSpPr txBox="1"/>
          <p:nvPr/>
        </p:nvSpPr>
        <p:spPr>
          <a:xfrm>
            <a:off x="5004262" y="2176272"/>
            <a:ext cx="64423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11–12</a:t>
            </a:r>
            <a:endParaRPr lang="en-US" sz="580" dirty="0">
              <a:latin typeface="Inter"/>
            </a:endParaRPr>
          </a:p>
        </p:txBody>
      </p:sp>
      <p:sp>
        <p:nvSpPr>
          <p:cNvPr id="65" name="Ruler cell"/>
          <p:cNvSpPr/>
          <p:nvPr/>
        </p:nvSpPr>
        <p:spPr>
          <a:xfrm>
            <a:off x="5648498" y="2176272"/>
            <a:ext cx="644236" cy="155448"/>
          </a:xfrm>
          <a:prstGeom prst="rect">
            <a:avLst/>
          </a:prstGeom>
          <a:solidFill>
            <a:srgbClr val="F8FAFC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66" name="Week number"/>
          <p:cNvSpPr txBox="1"/>
          <p:nvPr/>
        </p:nvSpPr>
        <p:spPr>
          <a:xfrm>
            <a:off x="5648498" y="2176272"/>
            <a:ext cx="64423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13–14</a:t>
            </a:r>
            <a:endParaRPr lang="en-US" sz="580" dirty="0">
              <a:latin typeface="Inter"/>
            </a:endParaRPr>
          </a:p>
        </p:txBody>
      </p:sp>
      <p:sp>
        <p:nvSpPr>
          <p:cNvPr id="67" name="Ruler cell"/>
          <p:cNvSpPr/>
          <p:nvPr/>
        </p:nvSpPr>
        <p:spPr>
          <a:xfrm>
            <a:off x="6292735" y="2176272"/>
            <a:ext cx="644236" cy="155448"/>
          </a:xfrm>
          <a:prstGeom prst="rect">
            <a:avLst/>
          </a:prstGeom>
          <a:solidFill>
            <a:srgbClr val="F8FAFC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68" name="Week number"/>
          <p:cNvSpPr txBox="1"/>
          <p:nvPr/>
        </p:nvSpPr>
        <p:spPr>
          <a:xfrm>
            <a:off x="6292735" y="2176272"/>
            <a:ext cx="64423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15–16</a:t>
            </a:r>
            <a:endParaRPr lang="en-US" sz="580" dirty="0">
              <a:latin typeface="Inter"/>
            </a:endParaRPr>
          </a:p>
        </p:txBody>
      </p:sp>
      <p:sp>
        <p:nvSpPr>
          <p:cNvPr id="69" name="Ruler cell"/>
          <p:cNvSpPr/>
          <p:nvPr/>
        </p:nvSpPr>
        <p:spPr>
          <a:xfrm>
            <a:off x="6936971" y="2176272"/>
            <a:ext cx="644236" cy="155448"/>
          </a:xfrm>
          <a:prstGeom prst="rect">
            <a:avLst/>
          </a:prstGeom>
          <a:solidFill>
            <a:srgbClr val="F8FAFC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0" name="Week number"/>
          <p:cNvSpPr txBox="1"/>
          <p:nvPr/>
        </p:nvSpPr>
        <p:spPr>
          <a:xfrm>
            <a:off x="6936971" y="2176272"/>
            <a:ext cx="64423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17–18</a:t>
            </a:r>
            <a:endParaRPr lang="en-US" sz="580" dirty="0">
              <a:latin typeface="Inter"/>
            </a:endParaRPr>
          </a:p>
        </p:txBody>
      </p:sp>
      <p:sp>
        <p:nvSpPr>
          <p:cNvPr id="71" name="Ruler cell"/>
          <p:cNvSpPr/>
          <p:nvPr/>
        </p:nvSpPr>
        <p:spPr>
          <a:xfrm>
            <a:off x="7581207" y="2176272"/>
            <a:ext cx="644236" cy="155448"/>
          </a:xfrm>
          <a:prstGeom prst="rect">
            <a:avLst/>
          </a:prstGeom>
          <a:solidFill>
            <a:srgbClr val="F8FAFC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2" name="Week number"/>
          <p:cNvSpPr txBox="1"/>
          <p:nvPr/>
        </p:nvSpPr>
        <p:spPr>
          <a:xfrm>
            <a:off x="7581207" y="2176272"/>
            <a:ext cx="64423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19–20</a:t>
            </a:r>
            <a:endParaRPr lang="en-US" sz="580" dirty="0">
              <a:latin typeface="Inter"/>
            </a:endParaRPr>
          </a:p>
        </p:txBody>
      </p:sp>
      <p:sp>
        <p:nvSpPr>
          <p:cNvPr id="73" name="Ruler cell"/>
          <p:cNvSpPr/>
          <p:nvPr/>
        </p:nvSpPr>
        <p:spPr>
          <a:xfrm>
            <a:off x="8225444" y="2176272"/>
            <a:ext cx="644236" cy="155448"/>
          </a:xfrm>
          <a:prstGeom prst="rect">
            <a:avLst/>
          </a:prstGeom>
          <a:solidFill>
            <a:srgbClr val="F8FAFC"/>
          </a:solidFill>
          <a:ln w="6350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4" name="Week number"/>
          <p:cNvSpPr txBox="1"/>
          <p:nvPr/>
        </p:nvSpPr>
        <p:spPr>
          <a:xfrm>
            <a:off x="8225444" y="2176272"/>
            <a:ext cx="64423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80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21–22</a:t>
            </a:r>
            <a:endParaRPr lang="en-US" sz="580" dirty="0">
              <a:latin typeface="Inter"/>
            </a:endParaRPr>
          </a:p>
        </p:txBody>
      </p:sp>
      <p:sp>
        <p:nvSpPr>
          <p:cNvPr id="75" name="Phase name card"/>
          <p:cNvSpPr/>
          <p:nvPr/>
        </p:nvSpPr>
        <p:spPr>
          <a:xfrm>
            <a:off x="274320" y="2377440"/>
            <a:ext cx="1417320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6" name="Phase name"/>
          <p:cNvSpPr txBox="1"/>
          <p:nvPr/>
        </p:nvSpPr>
        <p:spPr>
          <a:xfrm>
            <a:off x="347472" y="2377440"/>
            <a:ext cx="129844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9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Application Design &amp; Project Kickoff</a:t>
            </a:r>
            <a:endParaRPr lang="en-US" sz="620" dirty="0">
              <a:latin typeface="Inter SemiBold"/>
            </a:endParaRPr>
          </a:p>
        </p:txBody>
      </p:sp>
      <p:sp>
        <p:nvSpPr>
          <p:cNvPr id="77" name="Track"/>
          <p:cNvSpPr/>
          <p:nvPr/>
        </p:nvSpPr>
        <p:spPr>
          <a:xfrm>
            <a:off x="1783080" y="2377440"/>
            <a:ext cx="7086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2"/>
            </a:solidFill>
            <a:prstDash val="sysDash"/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8" name="Bar"/>
          <p:cNvSpPr/>
          <p:nvPr/>
        </p:nvSpPr>
        <p:spPr>
          <a:xfrm>
            <a:off x="1801368" y="2409444"/>
            <a:ext cx="285542" cy="182880"/>
          </a:xfrm>
          <a:prstGeom prst="roundRect">
            <a:avLst>
              <a:gd name="adj" fmla="val 15000"/>
            </a:avLst>
          </a:prstGeom>
          <a:solidFill>
            <a:srgbClr val="DCE8FE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79" name="Bar note"/>
          <p:cNvSpPr txBox="1"/>
          <p:nvPr/>
        </p:nvSpPr>
        <p:spPr>
          <a:xfrm>
            <a:off x="1824228" y="2409444"/>
            <a:ext cx="23982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28"/>
              </a:lnSpc>
              <a:spcBef>
                <a:spcPts val="0"/>
              </a:spcBef>
              <a:buNone/>
            </a:pPr>
            <a:r>
              <a:rPr lang="en-US" sz="48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Kick Off</a:t>
            </a:r>
            <a:endParaRPr lang="en-US" sz="480" dirty="0">
              <a:latin typeface="Inter SemiBold"/>
            </a:endParaRPr>
          </a:p>
        </p:txBody>
      </p:sp>
      <p:sp>
        <p:nvSpPr>
          <p:cNvPr id="80" name="Phase name card"/>
          <p:cNvSpPr/>
          <p:nvPr/>
        </p:nvSpPr>
        <p:spPr>
          <a:xfrm>
            <a:off x="274320" y="2670048"/>
            <a:ext cx="1417320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81" name="Phase name"/>
          <p:cNvSpPr txBox="1"/>
          <p:nvPr/>
        </p:nvSpPr>
        <p:spPr>
          <a:xfrm>
            <a:off x="347472" y="2670048"/>
            <a:ext cx="129844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9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Hardware Supply</a:t>
            </a:r>
            <a:endParaRPr lang="en-US" sz="620" dirty="0">
              <a:latin typeface="Inter SemiBold"/>
            </a:endParaRPr>
          </a:p>
        </p:txBody>
      </p:sp>
      <p:sp>
        <p:nvSpPr>
          <p:cNvPr id="82" name="Track"/>
          <p:cNvSpPr/>
          <p:nvPr/>
        </p:nvSpPr>
        <p:spPr>
          <a:xfrm>
            <a:off x="1783080" y="2670048"/>
            <a:ext cx="7086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2"/>
            </a:solidFill>
            <a:prstDash val="sysDash"/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83" name="Bar"/>
          <p:cNvSpPr/>
          <p:nvPr/>
        </p:nvSpPr>
        <p:spPr>
          <a:xfrm>
            <a:off x="2123486" y="2702052"/>
            <a:ext cx="1896133" cy="182880"/>
          </a:xfrm>
          <a:prstGeom prst="roundRect">
            <a:avLst>
              <a:gd name="adj" fmla="val 15000"/>
            </a:avLst>
          </a:prstGeom>
          <a:solidFill>
            <a:srgbClr val="DCE8FE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84" name="Bar note"/>
          <p:cNvSpPr txBox="1"/>
          <p:nvPr/>
        </p:nvSpPr>
        <p:spPr>
          <a:xfrm>
            <a:off x="2146346" y="2702052"/>
            <a:ext cx="1850413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638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IoT Devices and Gateway</a:t>
            </a:r>
            <a:endParaRPr lang="en-US" sz="580" dirty="0">
              <a:latin typeface="Inter SemiBold"/>
            </a:endParaRPr>
          </a:p>
        </p:txBody>
      </p:sp>
      <p:sp>
        <p:nvSpPr>
          <p:cNvPr id="85" name="Phase name card"/>
          <p:cNvSpPr/>
          <p:nvPr/>
        </p:nvSpPr>
        <p:spPr>
          <a:xfrm>
            <a:off x="274320" y="2962656"/>
            <a:ext cx="1417320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86" name="Phase name"/>
          <p:cNvSpPr txBox="1"/>
          <p:nvPr/>
        </p:nvSpPr>
        <p:spPr>
          <a:xfrm>
            <a:off x="347472" y="2962656"/>
            <a:ext cx="129844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9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Installation and Commissioning</a:t>
            </a:r>
            <a:endParaRPr lang="en-US" sz="620" dirty="0">
              <a:latin typeface="Inter SemiBold"/>
            </a:endParaRPr>
          </a:p>
        </p:txBody>
      </p:sp>
      <p:sp>
        <p:nvSpPr>
          <p:cNvPr id="87" name="Track"/>
          <p:cNvSpPr/>
          <p:nvPr/>
        </p:nvSpPr>
        <p:spPr>
          <a:xfrm>
            <a:off x="1783080" y="2962656"/>
            <a:ext cx="7086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2"/>
            </a:solidFill>
            <a:prstDash val="sysDash"/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88" name="Bar"/>
          <p:cNvSpPr/>
          <p:nvPr/>
        </p:nvSpPr>
        <p:spPr>
          <a:xfrm>
            <a:off x="3411959" y="2994660"/>
            <a:ext cx="3828842" cy="182880"/>
          </a:xfrm>
          <a:prstGeom prst="roundRect">
            <a:avLst>
              <a:gd name="adj" fmla="val 15000"/>
            </a:avLst>
          </a:prstGeom>
          <a:solidFill>
            <a:srgbClr val="DCE8FE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89" name="Bar note"/>
          <p:cNvSpPr txBox="1"/>
          <p:nvPr/>
        </p:nvSpPr>
        <p:spPr>
          <a:xfrm>
            <a:off x="3434819" y="2994660"/>
            <a:ext cx="378312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638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0E3FA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Installation and Commissioning of Hardware at each store</a:t>
            </a:r>
            <a:endParaRPr lang="en-US" sz="580" dirty="0">
              <a:latin typeface="Inter SemiBold"/>
            </a:endParaRPr>
          </a:p>
        </p:txBody>
      </p:sp>
      <p:sp>
        <p:nvSpPr>
          <p:cNvPr id="90" name="Phase name card"/>
          <p:cNvSpPr/>
          <p:nvPr/>
        </p:nvSpPr>
        <p:spPr>
          <a:xfrm>
            <a:off x="274320" y="3255264"/>
            <a:ext cx="1417320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91" name="Phase name"/>
          <p:cNvSpPr txBox="1"/>
          <p:nvPr/>
        </p:nvSpPr>
        <p:spPr>
          <a:xfrm>
            <a:off x="347472" y="3255264"/>
            <a:ext cx="129844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9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Application Development</a:t>
            </a:r>
            <a:endParaRPr lang="en-US" sz="620" dirty="0">
              <a:latin typeface="Inter SemiBold"/>
            </a:endParaRPr>
          </a:p>
        </p:txBody>
      </p:sp>
      <p:sp>
        <p:nvSpPr>
          <p:cNvPr id="92" name="Track"/>
          <p:cNvSpPr/>
          <p:nvPr/>
        </p:nvSpPr>
        <p:spPr>
          <a:xfrm>
            <a:off x="1783080" y="3255264"/>
            <a:ext cx="7086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2"/>
            </a:solidFill>
            <a:prstDash val="sysDash"/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93" name="Bar"/>
          <p:cNvSpPr/>
          <p:nvPr/>
        </p:nvSpPr>
        <p:spPr>
          <a:xfrm>
            <a:off x="2123486" y="3287268"/>
            <a:ext cx="2540369" cy="182880"/>
          </a:xfrm>
          <a:prstGeom prst="roundRect">
            <a:avLst>
              <a:gd name="adj" fmla="val 15000"/>
            </a:avLst>
          </a:prstGeom>
          <a:solidFill>
            <a:srgbClr val="FDE4C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94" name="Bar note"/>
          <p:cNvSpPr txBox="1"/>
          <p:nvPr/>
        </p:nvSpPr>
        <p:spPr>
          <a:xfrm>
            <a:off x="2146346" y="3287268"/>
            <a:ext cx="2494649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638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C65C1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DG Fuel Monitoring and Maintenance Application</a:t>
            </a:r>
            <a:endParaRPr lang="en-US" sz="580" dirty="0">
              <a:latin typeface="Inter SemiBold"/>
            </a:endParaRPr>
          </a:p>
        </p:txBody>
      </p:sp>
      <p:sp>
        <p:nvSpPr>
          <p:cNvPr id="95" name="Phase name card"/>
          <p:cNvSpPr/>
          <p:nvPr/>
        </p:nvSpPr>
        <p:spPr>
          <a:xfrm>
            <a:off x="274320" y="3547872"/>
            <a:ext cx="1417320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96" name="Phase name"/>
          <p:cNvSpPr txBox="1"/>
          <p:nvPr/>
        </p:nvSpPr>
        <p:spPr>
          <a:xfrm>
            <a:off x="347472" y="3547872"/>
            <a:ext cx="129844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9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Configuration &amp; Integration</a:t>
            </a:r>
            <a:endParaRPr lang="en-US" sz="620" dirty="0">
              <a:latin typeface="Inter SemiBold"/>
            </a:endParaRPr>
          </a:p>
        </p:txBody>
      </p:sp>
      <p:sp>
        <p:nvSpPr>
          <p:cNvPr id="97" name="Track"/>
          <p:cNvSpPr/>
          <p:nvPr/>
        </p:nvSpPr>
        <p:spPr>
          <a:xfrm>
            <a:off x="1783080" y="3547872"/>
            <a:ext cx="7086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2"/>
            </a:solidFill>
            <a:prstDash val="sysDash"/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98" name="Bar"/>
          <p:cNvSpPr/>
          <p:nvPr/>
        </p:nvSpPr>
        <p:spPr>
          <a:xfrm>
            <a:off x="3734077" y="3579876"/>
            <a:ext cx="3828842" cy="182880"/>
          </a:xfrm>
          <a:prstGeom prst="roundRect">
            <a:avLst>
              <a:gd name="adj" fmla="val 15000"/>
            </a:avLst>
          </a:prstGeom>
          <a:solidFill>
            <a:srgbClr val="FDE4C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99" name="Bar note"/>
          <p:cNvSpPr txBox="1"/>
          <p:nvPr/>
        </p:nvSpPr>
        <p:spPr>
          <a:xfrm>
            <a:off x="3756937" y="3579876"/>
            <a:ext cx="378312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638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C65C1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Configuration and Integration with Fusion</a:t>
            </a:r>
            <a:endParaRPr lang="en-US" sz="580" dirty="0">
              <a:latin typeface="Inter SemiBold"/>
            </a:endParaRPr>
          </a:p>
        </p:txBody>
      </p:sp>
      <p:sp>
        <p:nvSpPr>
          <p:cNvPr id="100" name="Phase name card"/>
          <p:cNvSpPr/>
          <p:nvPr/>
        </p:nvSpPr>
        <p:spPr>
          <a:xfrm>
            <a:off x="274320" y="3840480"/>
            <a:ext cx="1417320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1" name="Phase name"/>
          <p:cNvSpPr txBox="1"/>
          <p:nvPr/>
        </p:nvSpPr>
        <p:spPr>
          <a:xfrm>
            <a:off x="347472" y="3840480"/>
            <a:ext cx="129844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9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UAT &amp; Training</a:t>
            </a:r>
            <a:endParaRPr lang="en-US" sz="620" dirty="0">
              <a:latin typeface="Inter SemiBold"/>
            </a:endParaRPr>
          </a:p>
        </p:txBody>
      </p:sp>
      <p:sp>
        <p:nvSpPr>
          <p:cNvPr id="102" name="Track"/>
          <p:cNvSpPr/>
          <p:nvPr/>
        </p:nvSpPr>
        <p:spPr>
          <a:xfrm>
            <a:off x="1783080" y="3840480"/>
            <a:ext cx="7086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2"/>
            </a:solidFill>
            <a:prstDash val="sysDash"/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3" name="Bar"/>
          <p:cNvSpPr/>
          <p:nvPr/>
        </p:nvSpPr>
        <p:spPr>
          <a:xfrm>
            <a:off x="7599495" y="3872484"/>
            <a:ext cx="929779" cy="182880"/>
          </a:xfrm>
          <a:prstGeom prst="roundRect">
            <a:avLst>
              <a:gd name="adj" fmla="val 15000"/>
            </a:avLst>
          </a:prstGeom>
          <a:solidFill>
            <a:srgbClr val="DAF5E8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4" name="Bar note"/>
          <p:cNvSpPr txBox="1"/>
          <p:nvPr/>
        </p:nvSpPr>
        <p:spPr>
          <a:xfrm>
            <a:off x="7622355" y="3872484"/>
            <a:ext cx="884059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638"/>
              </a:lnSpc>
              <a:spcBef>
                <a:spcPts val="0"/>
              </a:spcBef>
              <a:buNone/>
            </a:pPr>
            <a:r>
              <a:rPr lang="en-US" sz="580" b="0" i="0" spc="0" dirty="0">
                <a:solidFill>
                  <a:srgbClr val="00874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UAT and user training</a:t>
            </a:r>
            <a:endParaRPr lang="en-US" sz="580" dirty="0">
              <a:latin typeface="Inter SemiBold"/>
            </a:endParaRPr>
          </a:p>
        </p:txBody>
      </p:sp>
      <p:sp>
        <p:nvSpPr>
          <p:cNvPr id="105" name="Phase name card"/>
          <p:cNvSpPr/>
          <p:nvPr/>
        </p:nvSpPr>
        <p:spPr>
          <a:xfrm>
            <a:off x="274320" y="4133088"/>
            <a:ext cx="1417320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6" name="Phase name"/>
          <p:cNvSpPr txBox="1"/>
          <p:nvPr/>
        </p:nvSpPr>
        <p:spPr>
          <a:xfrm>
            <a:off x="347472" y="4133088"/>
            <a:ext cx="1298448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69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Go-live, Handover &amp; Hypercare</a:t>
            </a:r>
            <a:endParaRPr lang="en-US" sz="620" dirty="0">
              <a:latin typeface="Inter SemiBold"/>
            </a:endParaRPr>
          </a:p>
        </p:txBody>
      </p:sp>
      <p:sp>
        <p:nvSpPr>
          <p:cNvPr id="107" name="Track"/>
          <p:cNvSpPr/>
          <p:nvPr/>
        </p:nvSpPr>
        <p:spPr>
          <a:xfrm>
            <a:off x="1783080" y="4133088"/>
            <a:ext cx="7086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2"/>
            </a:solidFill>
            <a:prstDash val="sysDash"/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8" name="Bar"/>
          <p:cNvSpPr/>
          <p:nvPr/>
        </p:nvSpPr>
        <p:spPr>
          <a:xfrm>
            <a:off x="8565850" y="4165092"/>
            <a:ext cx="285542" cy="182880"/>
          </a:xfrm>
          <a:prstGeom prst="roundRect">
            <a:avLst>
              <a:gd name="adj" fmla="val 15000"/>
            </a:avLst>
          </a:prstGeom>
          <a:solidFill>
            <a:srgbClr val="DAF5E8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09" name="Bar note"/>
          <p:cNvSpPr txBox="1"/>
          <p:nvPr/>
        </p:nvSpPr>
        <p:spPr>
          <a:xfrm>
            <a:off x="8588710" y="4165092"/>
            <a:ext cx="23982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572"/>
              </a:lnSpc>
              <a:spcBef>
                <a:spcPts val="0"/>
              </a:spcBef>
              <a:buNone/>
            </a:pPr>
            <a:r>
              <a:rPr lang="en-US" sz="520" b="0" i="0" spc="0" dirty="0">
                <a:solidFill>
                  <a:srgbClr val="00874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 Live</a:t>
            </a:r>
            <a:endParaRPr lang="en-US" sz="520" dirty="0">
              <a:latin typeface="Inter SemiBold"/>
            </a:endParaRPr>
          </a:p>
        </p:txBody>
      </p:sp>
      <p:sp>
        <p:nvSpPr>
          <p:cNvPr id="110" name="Basis"/>
          <p:cNvSpPr/>
          <p:nvPr/>
        </p:nvSpPr>
        <p:spPr>
          <a:xfrm>
            <a:off x="274320" y="4453128"/>
            <a:ext cx="8595360" cy="347472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11" name="Basis text"/>
          <p:cNvSpPr txBox="1"/>
          <p:nvPr/>
        </p:nvSpPr>
        <p:spPr>
          <a:xfrm>
            <a:off x="365760" y="445312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2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Basis: </a:t>
            </a:r>
            <a:r>
              <a:rPr lang="en-US" sz="62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indicative durations from kick-off. Installation and commissioning run store by store and depend on the final store count; Fusion integration depends on the specification from Flipkart.</a:t>
            </a:r>
            <a:endParaRPr lang="en-US" sz="620" dirty="0">
              <a:latin typeface="Inter SemiBold"/>
            </a:endParaRPr>
          </a:p>
        </p:txBody>
      </p:sp>
      <p:grpSp>
        <p:nvGrpSpPr>
          <p:cNvPr id="112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113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DG Online Monitoring Proposal  ·  Flipkart Minutes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14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C53D7CEB-5698-4ACE-B606-164CD5B350A8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9456"/>
            <a:ext cx="8650224" cy="722376"/>
            <a:chOff x="274320" y="219456"/>
            <a:chExt cx="8650224" cy="722376"/>
          </a:xfrm>
        </p:grpSpPr>
        <p:sp>
          <p:nvSpPr>
            <p:cNvPr id="4" name="Eyebrow"/>
            <p:cNvSpPr txBox="1"/>
            <p:nvPr/>
          </p:nvSpPr>
          <p:spPr>
            <a:xfrm>
              <a:off x="274320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BOTH WORKFLOWS  ·  COMMERCIALS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5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Commercials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6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Commercial summary including hardware, software, billing and Oracle Fusion. Amounts to be filled in.</a:t>
              </a:r>
              <a:endParaRPr lang="en-US" sz="850" dirty="0">
                <a:latin typeface="Inter"/>
              </a:endParaRPr>
            </a:p>
          </p:txBody>
        </p:sp>
        <p:grpSp>
          <p:nvGrpSpPr>
            <p:cNvPr id="7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8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aphicFrame>
        <p:nvGraphicFramePr>
          <p:cNvPr id="19" name="Commercial table"/>
          <p:cNvGraphicFramePr>
            <a:graphicFrameLocks noGrp="1"/>
          </p:cNvGraphicFramePr>
          <p:nvPr/>
        </p:nvGraphicFramePr>
        <p:xfrm>
          <a:off x="274320" y="1051560"/>
          <a:ext cx="8595360" cy="2133600"/>
        </p:xfrm>
        <a:graphic>
          <a:graphicData uri="http://schemas.openxmlformats.org/drawingml/2006/table">
            <a:tbl>
              <a:tblPr/>
              <a:tblGrid>
                <a:gridCol w="365760"/>
                <a:gridCol w="1874520"/>
                <a:gridCol w="4160520"/>
                <a:gridCol w="1005840"/>
                <a:gridCol w="1188720"/>
              </a:tblGrid>
              <a:tr h="237744">
                <a:tc>
                  <a:txBody>
                    <a:bodyPr/>
                    <a:lstStyle/>
                    <a:p>
                      <a:pPr algn="ctr">
                        <a:lnSpc>
                          <a:spcPts val="6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580" b="0" i="0" cap="all" spc="60" dirty="0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#</a:t>
                      </a:r>
                      <a:endParaRPr lang="en-US" sz="58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5F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6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580" b="0" i="0" cap="all" spc="60" dirty="0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LINE ITEM</a:t>
                      </a:r>
                      <a:endParaRPr lang="en-US" sz="58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5F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6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580" b="0" i="0" cap="all" spc="60" dirty="0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DESCRIPTION</a:t>
                      </a:r>
                      <a:endParaRPr lang="en-US" sz="58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5F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580" b="0" i="0" cap="all" spc="60" dirty="0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TYPE</a:t>
                      </a:r>
                      <a:endParaRPr lang="en-US" sz="58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5F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580" b="0" i="0" cap="all" spc="60" dirty="0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AMOUNT</a:t>
                      </a:r>
                      <a:endParaRPr lang="en-US" sz="58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5FF2"/>
                    </a:solidFill>
                  </a:tcPr>
                </a:tc>
              </a:tr>
              <a:tr h="321056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50" b="0" i="0" spc="0" dirty="0">
                          <a:solidFill>
                            <a:srgbClr val="165FF2"/>
                          </a:solidFill>
                          <a:latin typeface="TASA Orbiter SemiBold"/>
                          <a:ea typeface="TASA Orbiter SemiBold"/>
                          <a:cs typeface="TASA Orbiter SemiBold"/>
                          <a:sym typeface="TASA Orbiter SemiBold"/>
                        </a:rPr>
                        <a:t>01</a:t>
                      </a:r>
                      <a:endParaRPr lang="en-US" sz="750" dirty="0">
                        <a:latin typeface="TASA Orbi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8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i="0" spc="0" dirty="0">
                          <a:solidFill>
                            <a:srgbClr val="0C19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Hardware supply &amp; installation</a:t>
                      </a:r>
                      <a:endParaRPr lang="en-US" sz="68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6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40" b="0" i="0" spc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IoT device and gateway per store, mounting and accessories; installation, commissioning and integration to the existing DG controller at each store — warranty included</a:t>
                      </a:r>
                      <a:endParaRPr lang="en-US" sz="640" dirty="0">
                        <a:latin typeface="Inter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20" b="0" i="0" spc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One-time</a:t>
                      </a:r>
                      <a:endParaRPr lang="en-US" sz="62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40" b="0" i="0" spc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/>
                      </a:r>
                      <a:endParaRPr lang="en-US" sz="640" dirty="0">
                        <a:latin typeface="Inter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</a:tr>
              <a:tr h="321056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50" b="0" i="0" spc="0" dirty="0">
                          <a:solidFill>
                            <a:srgbClr val="165FF2"/>
                          </a:solidFill>
                          <a:latin typeface="TASA Orbiter SemiBold"/>
                          <a:ea typeface="TASA Orbiter SemiBold"/>
                          <a:cs typeface="TASA Orbiter SemiBold"/>
                          <a:sym typeface="TASA Orbiter SemiBold"/>
                        </a:rPr>
                        <a:t>02</a:t>
                      </a:r>
                      <a:endParaRPr lang="en-US" sz="750" dirty="0">
                        <a:latin typeface="TASA Orbi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8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i="0" spc="0" dirty="0">
                          <a:solidFill>
                            <a:srgbClr val="0C19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Software development &amp; implementation</a:t>
                      </a:r>
                      <a:endParaRPr lang="en-US" sz="68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6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40" b="0" i="0" spc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DG Fuel Management &amp; Maintenance Application: monitoring, alerts, work orders, vendor portal, vendor billing and Oracle Fusion integration; deployment on the IOsense cloud</a:t>
                      </a:r>
                      <a:endParaRPr lang="en-US" sz="640" dirty="0">
                        <a:latin typeface="Inter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20" b="0" i="0" spc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One-time</a:t>
                      </a:r>
                      <a:endParaRPr lang="en-US" sz="62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40" b="0" i="0" spc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/>
                      </a:r>
                      <a:endParaRPr lang="en-US" sz="640" dirty="0">
                        <a:latin typeface="Inter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</a:tr>
              <a:tr h="321056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50" b="0" i="0" spc="0" dirty="0">
                          <a:solidFill>
                            <a:srgbClr val="165FF2"/>
                          </a:solidFill>
                          <a:latin typeface="TASA Orbiter SemiBold"/>
                          <a:ea typeface="TASA Orbiter SemiBold"/>
                          <a:cs typeface="TASA Orbiter SemiBold"/>
                          <a:sym typeface="TASA Orbiter SemiBold"/>
                        </a:rPr>
                        <a:t>03</a:t>
                      </a:r>
                      <a:endParaRPr lang="en-US" sz="750" dirty="0">
                        <a:latin typeface="TASA Orbi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8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i="0" spc="0" dirty="0">
                          <a:solidFill>
                            <a:srgbClr val="0C19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IOsense platform licence</a:t>
                      </a:r>
                      <a:endParaRPr lang="en-US" sz="68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6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40" b="0" i="0" spc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 platform licence for the DG monitoring and workflow application — licence basis (per DG / per store) TBC</a:t>
                      </a:r>
                      <a:endParaRPr lang="en-US" sz="640" dirty="0">
                        <a:latin typeface="Inter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20" b="0" i="0" spc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Annual</a:t>
                      </a:r>
                      <a:endParaRPr lang="en-US" sz="62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40" b="0" i="0" spc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/>
                      </a:r>
                      <a:endParaRPr lang="en-US" sz="640" dirty="0">
                        <a:latin typeface="Inter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50" b="0" i="0" spc="0" dirty="0">
                          <a:solidFill>
                            <a:srgbClr val="165FF2"/>
                          </a:solidFill>
                          <a:latin typeface="TASA Orbiter SemiBold"/>
                          <a:ea typeface="TASA Orbiter SemiBold"/>
                          <a:cs typeface="TASA Orbiter SemiBold"/>
                          <a:sym typeface="TASA Orbiter SemiBold"/>
                        </a:rPr>
                        <a:t>04</a:t>
                      </a:r>
                      <a:endParaRPr lang="en-US" sz="750" dirty="0">
                        <a:latin typeface="TASA Orbi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8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i="0" spc="0" dirty="0">
                          <a:solidFill>
                            <a:srgbClr val="0C19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Connectivity</a:t>
                      </a:r>
                      <a:endParaRPr lang="en-US" sz="68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6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40" b="0" i="0" spc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4G SIM and data plan per store gateway</a:t>
                      </a:r>
                      <a:endParaRPr lang="en-US" sz="640" dirty="0">
                        <a:latin typeface="Inter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20" b="0" i="0" spc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Annual</a:t>
                      </a:r>
                      <a:endParaRPr lang="en-US" sz="62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40" b="0" i="0" spc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/>
                      </a:r>
                      <a:endParaRPr lang="en-US" sz="640" dirty="0">
                        <a:latin typeface="Inter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50" b="0" i="0" spc="0" dirty="0">
                          <a:solidFill>
                            <a:srgbClr val="165FF2"/>
                          </a:solidFill>
                          <a:latin typeface="TASA Orbiter SemiBold"/>
                          <a:ea typeface="TASA Orbiter SemiBold"/>
                          <a:cs typeface="TASA Orbiter SemiBold"/>
                          <a:sym typeface="TASA Orbiter SemiBold"/>
                        </a:rPr>
                        <a:t>05</a:t>
                      </a:r>
                      <a:endParaRPr lang="en-US" sz="750" dirty="0">
                        <a:latin typeface="TASA Orbi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8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i="0" spc="0" dirty="0">
                          <a:solidFill>
                            <a:srgbClr val="0C1927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Annual support / AMC</a:t>
                      </a:r>
                      <a:endParaRPr lang="en-US" sz="68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6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40" b="0" i="0" spc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Software support and hardware AMC after the warranty period</a:t>
                      </a:r>
                      <a:endParaRPr lang="en-US" sz="640" dirty="0">
                        <a:latin typeface="Inter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20" b="0" i="0" spc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Annual</a:t>
                      </a:r>
                      <a:endParaRPr lang="en-US" sz="62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40" b="0" i="0" spc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/>
                      </a:r>
                      <a:endParaRPr lang="en-US" sz="640" dirty="0">
                        <a:latin typeface="Inter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750" b="0" i="0" spc="0" dirty="0">
                          <a:solidFill>
                            <a:srgbClr val="C65C10"/>
                          </a:solidFill>
                          <a:latin typeface="TASA Orbiter SemiBold"/>
                          <a:ea typeface="TASA Orbiter SemiBold"/>
                          <a:cs typeface="TASA Orbiter SemiBold"/>
                          <a:sym typeface="TASA Orbiter SemiBold"/>
                        </a:rPr>
                        <a:t>06</a:t>
                      </a:r>
                      <a:endParaRPr lang="en-US" sz="750" dirty="0">
                        <a:latin typeface="TASA Orbi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solidFill>
                      <a:srgbClr val="FFF7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8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80" b="0" i="0" spc="0" dirty="0">
                          <a:solidFill>
                            <a:srgbClr val="C65C1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Optional  ·  Automated reports</a:t>
                      </a:r>
                      <a:endParaRPr lang="en-US" sz="68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solidFill>
                      <a:srgbClr val="FFF7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76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40" b="0" i="0" spc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Scheduled report generation and distribution — schedule and recipients to be finalised</a:t>
                      </a:r>
                      <a:endParaRPr lang="en-US" sz="640" dirty="0">
                        <a:latin typeface="Inter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solidFill>
                      <a:srgbClr val="FF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20" b="0" i="0" spc="0" dirty="0">
                          <a:solidFill>
                            <a:srgbClr val="40566D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One-time · optional</a:t>
                      </a:r>
                      <a:endParaRPr lang="en-US" sz="620" dirty="0">
                        <a:latin typeface="Inter SemiBold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solidFill>
                      <a:srgbClr val="FF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640" b="0" i="0" spc="0" dirty="0">
                          <a:solidFill>
                            <a:srgbClr val="24354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/>
                      </a:r>
                      <a:endParaRPr lang="en-US" sz="640" dirty="0">
                        <a:latin typeface="Inter"/>
                      </a:endParaRPr>
                    </a:p>
                  </a:txBody>
                  <a:tcPr marL="73152" marR="54864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F3"/>
                      </a:solidFill>
                    </a:lnB>
                    <a:solidFill>
                      <a:srgbClr val="FFF7F0"/>
                    </a:solidFill>
                  </a:tcPr>
                </a:tc>
              </a:tr>
            </a:tbl>
          </a:graphicData>
        </a:graphic>
      </p:graphicFrame>
      <p:sp>
        <p:nvSpPr>
          <p:cNvPr id="20" name="Summary box"/>
          <p:cNvSpPr/>
          <p:nvPr/>
        </p:nvSpPr>
        <p:spPr>
          <a:xfrm>
            <a:off x="274320" y="3422904"/>
            <a:ext cx="4242816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1" name="Summary icon box"/>
          <p:cNvSpPr/>
          <p:nvPr/>
        </p:nvSpPr>
        <p:spPr>
          <a:xfrm>
            <a:off x="384048" y="35692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2" name="Icon wallet"/>
          <p:cNvSpPr/>
          <p:nvPr/>
        </p:nvSpPr>
        <p:spPr>
          <a:xfrm>
            <a:off x="452628" y="3637788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7000"/>
                </a:moveTo>
                <a:lnTo>
                  <a:pt x="19000" y="4000"/>
                </a:lnTo>
                <a:cubicBezTo>
                  <a:pt x="19000" y="3448"/>
                  <a:pt x="18552" y="3000"/>
                  <a:pt x="18000" y="3000"/>
                </a:cubicBezTo>
                <a:lnTo>
                  <a:pt x="5000" y="3000"/>
                </a:lnTo>
                <a:cubicBezTo>
                  <a:pt x="3895" y="3000"/>
                  <a:pt x="3000" y="3895"/>
                  <a:pt x="3000" y="5000"/>
                </a:cubicBezTo>
                <a:cubicBezTo>
                  <a:pt x="3000" y="6105"/>
                  <a:pt x="3895" y="7000"/>
                  <a:pt x="5000" y="7000"/>
                </a:cubicBezTo>
                <a:lnTo>
                  <a:pt x="20000" y="7000"/>
                </a:lnTo>
                <a:cubicBezTo>
                  <a:pt x="20552" y="7000"/>
                  <a:pt x="21000" y="7448"/>
                  <a:pt x="21000" y="8000"/>
                </a:cubicBezTo>
                <a:lnTo>
                  <a:pt x="21000" y="12000"/>
                </a:lnTo>
                <a:lnTo>
                  <a:pt x="18000" y="12000"/>
                </a:lnTo>
                <a:cubicBezTo>
                  <a:pt x="16895" y="12000"/>
                  <a:pt x="16000" y="12895"/>
                  <a:pt x="16000" y="14000"/>
                </a:cubicBezTo>
                <a:cubicBezTo>
                  <a:pt x="16000" y="15105"/>
                  <a:pt x="16895" y="16000"/>
                  <a:pt x="18000" y="16000"/>
                </a:cubicBezTo>
                <a:lnTo>
                  <a:pt x="21000" y="16000"/>
                </a:lnTo>
                <a:cubicBezTo>
                  <a:pt x="21552" y="16000"/>
                  <a:pt x="22000" y="15552"/>
                  <a:pt x="22000" y="15000"/>
                </a:cubicBezTo>
                <a:lnTo>
                  <a:pt x="22000" y="13000"/>
                </a:lnTo>
                <a:cubicBezTo>
                  <a:pt x="22000" y="12448"/>
                  <a:pt x="21552" y="12000"/>
                  <a:pt x="21000" y="12000"/>
                </a:cubicBezTo>
              </a:path>
              <a:path w="24000" h="24000" fill="none">
                <a:moveTo>
                  <a:pt x="3000" y="5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0000" y="21000"/>
                </a:lnTo>
                <a:cubicBezTo>
                  <a:pt x="20552" y="21000"/>
                  <a:pt x="21000" y="20552"/>
                  <a:pt x="21000" y="20000"/>
                </a:cubicBezTo>
                <a:lnTo>
                  <a:pt x="21000" y="16000"/>
                </a:lnTo>
              </a:path>
            </a:pathLst>
          </a:custGeom>
          <a:noFill/>
          <a:ln w="12573" cap="rnd">
            <a:solidFill>
              <a:srgbClr val="165FF2"/>
            </a:solidFill>
            <a:round/>
          </a:ln>
        </p:spPr>
      </p:sp>
      <p:sp>
        <p:nvSpPr>
          <p:cNvPr id="23" name="Summary label"/>
          <p:cNvSpPr txBox="1"/>
          <p:nvPr/>
        </p:nvSpPr>
        <p:spPr>
          <a:xfrm>
            <a:off x="768096" y="3532632"/>
            <a:ext cx="241401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buNone/>
            </a:pPr>
            <a:r>
              <a:rPr lang="en-US" sz="7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One-time total</a:t>
            </a:r>
            <a:endParaRPr lang="en-US" sz="740" dirty="0">
              <a:latin typeface="Inter SemiBold"/>
            </a:endParaRPr>
          </a:p>
          <a:p>
            <a:pPr algn="l">
              <a:lnSpc>
                <a:spcPts val="740"/>
              </a:lnSpc>
              <a:spcBef>
                <a:spcPts val="200"/>
              </a:spcBef>
              <a:buNone/>
            </a:pPr>
            <a:r>
              <a:rPr lang="en-US" sz="63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Hardware supply &amp; installation  +  Software development &amp; implementation</a:t>
            </a:r>
            <a:endParaRPr lang="en-US" sz="630" dirty="0">
              <a:latin typeface="Inter"/>
            </a:endParaRPr>
          </a:p>
        </p:txBody>
      </p:sp>
      <p:sp>
        <p:nvSpPr>
          <p:cNvPr id="24" name="Amount box"/>
          <p:cNvSpPr/>
          <p:nvPr/>
        </p:nvSpPr>
        <p:spPr>
          <a:xfrm>
            <a:off x="3191256" y="3541776"/>
            <a:ext cx="121615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5" name="Amount placeholder"/>
          <p:cNvSpPr txBox="1"/>
          <p:nvPr/>
        </p:nvSpPr>
        <p:spPr>
          <a:xfrm>
            <a:off x="3191256" y="3541776"/>
            <a:ext cx="121615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65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90A5BB"/>
                </a:solidFill>
                <a:latin typeface="Inter"/>
                <a:ea typeface="Inter"/>
                <a:cs typeface="Inter"/>
                <a:sym typeface="Inter"/>
              </a:rPr>
              <a:t>Amount</a:t>
            </a:r>
            <a:endParaRPr lang="en-US" sz="620" dirty="0">
              <a:latin typeface="Inter"/>
            </a:endParaRPr>
          </a:p>
        </p:txBody>
      </p:sp>
      <p:sp>
        <p:nvSpPr>
          <p:cNvPr id="26" name="Summary box"/>
          <p:cNvSpPr/>
          <p:nvPr/>
        </p:nvSpPr>
        <p:spPr>
          <a:xfrm>
            <a:off x="4626864" y="3422904"/>
            <a:ext cx="4242816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7" name="Summary icon box"/>
          <p:cNvSpPr/>
          <p:nvPr/>
        </p:nvSpPr>
        <p:spPr>
          <a:xfrm>
            <a:off x="4736592" y="35692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28" name="Icon repeat"/>
          <p:cNvSpPr/>
          <p:nvPr/>
        </p:nvSpPr>
        <p:spPr>
          <a:xfrm>
            <a:off x="4805172" y="3637788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7000" y="2000"/>
                </a:moveTo>
                <a:lnTo>
                  <a:pt x="21000" y="6000"/>
                </a:lnTo>
                <a:lnTo>
                  <a:pt x="17000" y="10000"/>
                </a:lnTo>
              </a:path>
              <a:path w="24000" h="24000" fill="none">
                <a:moveTo>
                  <a:pt x="3000" y="11000"/>
                </a:moveTo>
                <a:lnTo>
                  <a:pt x="3000" y="10000"/>
                </a:lnTo>
                <a:cubicBezTo>
                  <a:pt x="3000" y="7791"/>
                  <a:pt x="4791" y="6000"/>
                  <a:pt x="7000" y="6000"/>
                </a:cubicBezTo>
                <a:lnTo>
                  <a:pt x="21000" y="6000"/>
                </a:lnTo>
              </a:path>
              <a:path w="24000" h="24000" fill="none">
                <a:moveTo>
                  <a:pt x="7000" y="22000"/>
                </a:moveTo>
                <a:lnTo>
                  <a:pt x="3000" y="18000"/>
                </a:lnTo>
                <a:lnTo>
                  <a:pt x="7000" y="14000"/>
                </a:lnTo>
              </a:path>
              <a:path w="24000" h="24000" fill="none">
                <a:moveTo>
                  <a:pt x="21000" y="13000"/>
                </a:moveTo>
                <a:lnTo>
                  <a:pt x="21000" y="14000"/>
                </a:lnTo>
                <a:cubicBezTo>
                  <a:pt x="21000" y="16209"/>
                  <a:pt x="19209" y="18000"/>
                  <a:pt x="17000" y="18000"/>
                </a:cubicBezTo>
                <a:lnTo>
                  <a:pt x="3000" y="18000"/>
                </a:lnTo>
              </a:path>
            </a:pathLst>
          </a:custGeom>
          <a:noFill/>
          <a:ln w="12573" cap="rnd">
            <a:solidFill>
              <a:srgbClr val="165FF2"/>
            </a:solidFill>
            <a:round/>
          </a:ln>
        </p:spPr>
      </p:sp>
      <p:sp>
        <p:nvSpPr>
          <p:cNvPr id="29" name="Summary label"/>
          <p:cNvSpPr txBox="1"/>
          <p:nvPr/>
        </p:nvSpPr>
        <p:spPr>
          <a:xfrm>
            <a:off x="5120640" y="3532632"/>
            <a:ext cx="241401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buNone/>
            </a:pPr>
            <a:r>
              <a:rPr lang="en-US" sz="74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Annual recurring total</a:t>
            </a:r>
            <a:endParaRPr lang="en-US" sz="740" dirty="0">
              <a:latin typeface="Inter SemiBold"/>
            </a:endParaRPr>
          </a:p>
          <a:p>
            <a:pPr algn="l">
              <a:lnSpc>
                <a:spcPts val="740"/>
              </a:lnSpc>
              <a:spcBef>
                <a:spcPts val="200"/>
              </a:spcBef>
              <a:buNone/>
            </a:pPr>
            <a:r>
              <a:rPr lang="en-US" sz="63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IOsense platform licence  +  Connectivity  +  Annual support / AMC</a:t>
            </a:r>
            <a:endParaRPr lang="en-US" sz="630" dirty="0">
              <a:latin typeface="Inter"/>
            </a:endParaRPr>
          </a:p>
        </p:txBody>
      </p:sp>
      <p:sp>
        <p:nvSpPr>
          <p:cNvPr id="30" name="Amount box"/>
          <p:cNvSpPr/>
          <p:nvPr/>
        </p:nvSpPr>
        <p:spPr>
          <a:xfrm>
            <a:off x="7543800" y="3541776"/>
            <a:ext cx="121615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CBD5E2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31" name="Amount placeholder"/>
          <p:cNvSpPr txBox="1"/>
          <p:nvPr/>
        </p:nvSpPr>
        <p:spPr>
          <a:xfrm>
            <a:off x="7543800" y="3541776"/>
            <a:ext cx="121615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65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90A5BB"/>
                </a:solidFill>
                <a:latin typeface="Inter"/>
                <a:ea typeface="Inter"/>
                <a:cs typeface="Inter"/>
                <a:sym typeface="Inter"/>
              </a:rPr>
              <a:t>Amount</a:t>
            </a:r>
            <a:endParaRPr lang="en-US" sz="620" dirty="0">
              <a:latin typeface="Inter"/>
            </a:endParaRPr>
          </a:p>
        </p:txBody>
      </p:sp>
      <p:sp>
        <p:nvSpPr>
          <p:cNvPr id="32" name="Icon cpu"/>
          <p:cNvSpPr/>
          <p:nvPr/>
        </p:nvSpPr>
        <p:spPr>
          <a:xfrm>
            <a:off x="292608" y="4126992"/>
            <a:ext cx="118872" cy="1188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close/>
              </a:path>
              <a:path w="24000" h="24000" fill="none">
                <a:moveTo>
                  <a:pt x="10000" y="9000"/>
                </a:moveTo>
                <a:lnTo>
                  <a:pt x="14000" y="9000"/>
                </a:lnTo>
                <a:cubicBezTo>
                  <a:pt x="14552" y="9000"/>
                  <a:pt x="15000" y="9448"/>
                  <a:pt x="15000" y="10000"/>
                </a:cubicBezTo>
                <a:lnTo>
                  <a:pt x="15000" y="14000"/>
                </a:lnTo>
                <a:cubicBezTo>
                  <a:pt x="15000" y="14552"/>
                  <a:pt x="14552" y="15000"/>
                  <a:pt x="14000" y="15000"/>
                </a:cubicBezTo>
                <a:lnTo>
                  <a:pt x="10000" y="15000"/>
                </a:lnTo>
                <a:cubicBezTo>
                  <a:pt x="9448" y="15000"/>
                  <a:pt x="9000" y="14552"/>
                  <a:pt x="9000" y="14000"/>
                </a:cubicBezTo>
                <a:lnTo>
                  <a:pt x="9000" y="10000"/>
                </a:lnTo>
                <a:cubicBezTo>
                  <a:pt x="9000" y="9448"/>
                  <a:pt x="9448" y="9000"/>
                  <a:pt x="10000" y="9000"/>
                </a:cubicBezTo>
                <a:close/>
              </a:path>
              <a:path w="24000" h="24000" fill="none">
                <a:moveTo>
                  <a:pt x="15000" y="2000"/>
                </a:moveTo>
                <a:lnTo>
                  <a:pt x="15000" y="4000"/>
                </a:lnTo>
              </a:path>
              <a:path w="24000" h="24000" fill="none">
                <a:moveTo>
                  <a:pt x="15000" y="20000"/>
                </a:moveTo>
                <a:lnTo>
                  <a:pt x="15000" y="22000"/>
                </a:lnTo>
              </a:path>
              <a:path w="24000" h="24000" fill="none">
                <a:moveTo>
                  <a:pt x="2000" y="15000"/>
                </a:moveTo>
                <a:lnTo>
                  <a:pt x="4000" y="15000"/>
                </a:lnTo>
              </a:path>
              <a:path w="24000" h="24000" fill="none">
                <a:moveTo>
                  <a:pt x="2000" y="9000"/>
                </a:moveTo>
                <a:lnTo>
                  <a:pt x="4000" y="9000"/>
                </a:lnTo>
              </a:path>
              <a:path w="24000" h="24000" fill="none">
                <a:moveTo>
                  <a:pt x="20000" y="15000"/>
                </a:moveTo>
                <a:lnTo>
                  <a:pt x="22000" y="15000"/>
                </a:lnTo>
              </a:path>
              <a:path w="24000" h="24000" fill="none">
                <a:moveTo>
                  <a:pt x="20000" y="9000"/>
                </a:moveTo>
                <a:lnTo>
                  <a:pt x="22000" y="9000"/>
                </a:lnTo>
              </a:path>
              <a:path w="24000" h="24000" fill="none">
                <a:moveTo>
                  <a:pt x="9000" y="2000"/>
                </a:moveTo>
                <a:lnTo>
                  <a:pt x="9000" y="4000"/>
                </a:lnTo>
              </a:path>
              <a:path w="24000" h="24000" fill="none">
                <a:moveTo>
                  <a:pt x="9000" y="20000"/>
                </a:moveTo>
                <a:lnTo>
                  <a:pt x="9000" y="22000"/>
                </a:lnTo>
              </a:path>
            </a:pathLst>
          </a:custGeom>
          <a:noFill/>
          <a:ln w="10897" cap="rnd">
            <a:solidFill>
              <a:srgbClr val="40566D"/>
            </a:solidFill>
            <a:round/>
          </a:ln>
        </p:spPr>
      </p:sp>
      <p:sp>
        <p:nvSpPr>
          <p:cNvPr id="33" name="Note"/>
          <p:cNvSpPr txBox="1"/>
          <p:nvPr/>
        </p:nvSpPr>
        <p:spPr>
          <a:xfrm>
            <a:off x="475488" y="4117848"/>
            <a:ext cx="2545080" cy="185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3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Hardware quantities to be confirmed against the final store and DG count; existing DG controllers are read, not replaced.</a:t>
            </a:r>
            <a:endParaRPr lang="en-US" sz="620" dirty="0">
              <a:latin typeface="Inter"/>
            </a:endParaRPr>
          </a:p>
        </p:txBody>
      </p:sp>
      <p:sp>
        <p:nvSpPr>
          <p:cNvPr id="34" name="Icon receipt"/>
          <p:cNvSpPr/>
          <p:nvPr/>
        </p:nvSpPr>
        <p:spPr>
          <a:xfrm>
            <a:off x="3157728" y="4126992"/>
            <a:ext cx="118872" cy="1188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2000"/>
                </a:moveTo>
                <a:lnTo>
                  <a:pt x="4000" y="22000"/>
                </a:lnTo>
                <a:lnTo>
                  <a:pt x="6000" y="21000"/>
                </a:lnTo>
                <a:lnTo>
                  <a:pt x="8000" y="22000"/>
                </a:lnTo>
                <a:lnTo>
                  <a:pt x="10000" y="21000"/>
                </a:lnTo>
                <a:lnTo>
                  <a:pt x="12000" y="22000"/>
                </a:lnTo>
                <a:lnTo>
                  <a:pt x="14000" y="21000"/>
                </a:lnTo>
                <a:lnTo>
                  <a:pt x="16000" y="22000"/>
                </a:lnTo>
                <a:lnTo>
                  <a:pt x="18000" y="21000"/>
                </a:lnTo>
                <a:lnTo>
                  <a:pt x="20000" y="22000"/>
                </a:lnTo>
                <a:lnTo>
                  <a:pt x="20000" y="2000"/>
                </a:lnTo>
                <a:lnTo>
                  <a:pt x="18000" y="3000"/>
                </a:lnTo>
                <a:lnTo>
                  <a:pt x="16000" y="2000"/>
                </a:lnTo>
                <a:lnTo>
                  <a:pt x="14000" y="3000"/>
                </a:lnTo>
                <a:lnTo>
                  <a:pt x="12000" y="2000"/>
                </a:lnTo>
                <a:lnTo>
                  <a:pt x="10000" y="3000"/>
                </a:lnTo>
                <a:lnTo>
                  <a:pt x="8000" y="2000"/>
                </a:lnTo>
                <a:lnTo>
                  <a:pt x="6000" y="3000"/>
                </a:lnTo>
                <a:close/>
              </a:path>
              <a:path w="24000" h="24000" fill="none">
                <a:moveTo>
                  <a:pt x="16000" y="8000"/>
                </a:moveTo>
                <a:lnTo>
                  <a:pt x="10000" y="8000"/>
                </a:lnTo>
                <a:cubicBezTo>
                  <a:pt x="8895" y="8000"/>
                  <a:pt x="8000" y="8895"/>
                  <a:pt x="8000" y="10000"/>
                </a:cubicBezTo>
                <a:cubicBezTo>
                  <a:pt x="8000" y="11105"/>
                  <a:pt x="8895" y="12000"/>
                  <a:pt x="10000" y="12000"/>
                </a:cubicBezTo>
                <a:lnTo>
                  <a:pt x="14000" y="12000"/>
                </a:lnTo>
                <a:cubicBezTo>
                  <a:pt x="15105" y="12000"/>
                  <a:pt x="16000" y="12895"/>
                  <a:pt x="16000" y="14000"/>
                </a:cubicBezTo>
                <a:cubicBezTo>
                  <a:pt x="16000" y="15105"/>
                  <a:pt x="15105" y="16000"/>
                  <a:pt x="14000" y="16000"/>
                </a:cubicBezTo>
                <a:lnTo>
                  <a:pt x="8000" y="16000"/>
                </a:lnTo>
              </a:path>
              <a:path w="24000" h="24000" fill="none">
                <a:moveTo>
                  <a:pt x="12000" y="17500"/>
                </a:moveTo>
                <a:lnTo>
                  <a:pt x="12000" y="6500"/>
                </a:lnTo>
              </a:path>
            </a:pathLst>
          </a:custGeom>
          <a:noFill/>
          <a:ln w="10897" cap="rnd">
            <a:solidFill>
              <a:srgbClr val="40566D"/>
            </a:solidFill>
            <a:round/>
          </a:ln>
        </p:spPr>
      </p:sp>
      <p:sp>
        <p:nvSpPr>
          <p:cNvPr id="35" name="Note"/>
          <p:cNvSpPr txBox="1"/>
          <p:nvPr/>
        </p:nvSpPr>
        <p:spPr>
          <a:xfrm>
            <a:off x="3340608" y="4117848"/>
            <a:ext cx="2545080" cy="92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3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Taxes, payment terms and validity to be stated with the amounts.</a:t>
            </a:r>
            <a:endParaRPr lang="en-US" sz="620" dirty="0">
              <a:latin typeface="Inter"/>
            </a:endParaRPr>
          </a:p>
        </p:txBody>
      </p:sp>
      <p:sp>
        <p:nvSpPr>
          <p:cNvPr id="36" name="Icon life-buoy"/>
          <p:cNvSpPr/>
          <p:nvPr/>
        </p:nvSpPr>
        <p:spPr>
          <a:xfrm>
            <a:off x="6022848" y="4126992"/>
            <a:ext cx="118872" cy="1188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</a:path>
              <a:path w="24000" h="24000" fill="none">
                <a:moveTo>
                  <a:pt x="4930" y="4930"/>
                </a:moveTo>
                <a:lnTo>
                  <a:pt x="9170" y="9170"/>
                </a:lnTo>
              </a:path>
              <a:path w="24000" h="24000" fill="none">
                <a:moveTo>
                  <a:pt x="14830" y="9170"/>
                </a:moveTo>
                <a:lnTo>
                  <a:pt x="19070" y="4930"/>
                </a:lnTo>
              </a:path>
              <a:path w="24000" h="24000" fill="none">
                <a:moveTo>
                  <a:pt x="14830" y="14830"/>
                </a:moveTo>
                <a:lnTo>
                  <a:pt x="19070" y="19070"/>
                </a:lnTo>
              </a:path>
              <a:path w="24000" h="24000" fill="none">
                <a:moveTo>
                  <a:pt x="9170" y="14830"/>
                </a:moveTo>
                <a:lnTo>
                  <a:pt x="4930" y="19070"/>
                </a:lnTo>
              </a:path>
              <a:path w="24000" h="24000" fill="none">
                <a:moveTo>
                  <a:pt x="16000" y="12000"/>
                </a:moveTo>
                <a:cubicBezTo>
                  <a:pt x="16000" y="14209"/>
                  <a:pt x="14209" y="16000"/>
                  <a:pt x="12000" y="16000"/>
                </a:cubicBezTo>
                <a:cubicBezTo>
                  <a:pt x="9791" y="16000"/>
                  <a:pt x="8000" y="14209"/>
                  <a:pt x="8000" y="12000"/>
                </a:cubicBezTo>
                <a:cubicBezTo>
                  <a:pt x="8000" y="9791"/>
                  <a:pt x="9791" y="8000"/>
                  <a:pt x="12000" y="8000"/>
                </a:cubicBezTo>
                <a:cubicBezTo>
                  <a:pt x="14209" y="8000"/>
                  <a:pt x="16000" y="9791"/>
                  <a:pt x="16000" y="12000"/>
                </a:cubicBezTo>
                <a:close/>
              </a:path>
            </a:pathLst>
          </a:custGeom>
          <a:noFill/>
          <a:ln w="10897" cap="rnd">
            <a:solidFill>
              <a:srgbClr val="40566D"/>
            </a:solidFill>
            <a:round/>
          </a:ln>
        </p:spPr>
      </p:sp>
      <p:sp>
        <p:nvSpPr>
          <p:cNvPr id="37" name="Note"/>
          <p:cNvSpPr txBox="1"/>
          <p:nvPr/>
        </p:nvSpPr>
        <p:spPr>
          <a:xfrm>
            <a:off x="6205728" y="4117848"/>
            <a:ext cx="2545080" cy="185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30"/>
              </a:lnSpc>
              <a:spcBef>
                <a:spcPts val="0"/>
              </a:spcBef>
              <a:buNone/>
            </a:pPr>
            <a:r>
              <a:rPr lang="en-US" sz="620" b="0" i="0" spc="0" dirty="0">
                <a:solidFill>
                  <a:srgbClr val="40566D"/>
                </a:solidFill>
                <a:latin typeface="Inter"/>
                <a:ea typeface="Inter"/>
                <a:cs typeface="Inter"/>
                <a:sym typeface="Inter"/>
              </a:rPr>
              <a:t>Warranty period, hardware AMC start, licence basis and post go-live support duration to be confirmed.</a:t>
            </a:r>
            <a:endParaRPr lang="en-US" sz="620" dirty="0">
              <a:latin typeface="Inter"/>
            </a:endParaRPr>
          </a:p>
        </p:txBody>
      </p:sp>
      <p:grpSp>
        <p:nvGrpSpPr>
          <p:cNvPr id="38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39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DG Online Monitoring Proposal  ·  Flipkart Minutes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40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C8C13C2C-5F51-4A69-9BCA-3B66D3EC8F67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grpSp>
        <p:nvGrpSpPr>
          <p:cNvPr id="3" name="Header"/>
          <p:cNvGrpSpPr/>
          <p:nvPr/>
        </p:nvGrpSpPr>
        <p:grpSpPr>
          <a:xfrm>
            <a:off x="274320" y="219456"/>
            <a:ext cx="8650224" cy="722376"/>
            <a:chOff x="274320" y="219456"/>
            <a:chExt cx="8650224" cy="722376"/>
          </a:xfrm>
        </p:grpSpPr>
        <p:sp>
          <p:nvSpPr>
            <p:cNvPr id="4" name="Eyebrow"/>
            <p:cNvSpPr txBox="1"/>
            <p:nvPr/>
          </p:nvSpPr>
          <p:spPr>
            <a:xfrm>
              <a:off x="274320" y="228600"/>
              <a:ext cx="5669280" cy="19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700"/>
                </a:lnSpc>
                <a:spcBef>
                  <a:spcPts val="0"/>
                </a:spcBef>
                <a:buNone/>
              </a:pPr>
              <a:r>
                <a:rPr lang="en-US" sz="700" b="0" i="0" cap="all" spc="98" dirty="0">
                  <a:solidFill>
                    <a:srgbClr val="165FF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BOTH WORKFLOWS  ·  NEXT STEPS</a:t>
              </a:r>
              <a:endParaRPr lang="en-US" sz="700" dirty="0">
                <a:latin typeface="Inter SemiBold"/>
              </a:endParaRPr>
            </a:p>
          </p:txBody>
        </p:sp>
        <p:sp>
          <p:nvSpPr>
            <p:cNvPr id="5" name="Title"/>
            <p:cNvSpPr txBox="1"/>
            <p:nvPr/>
          </p:nvSpPr>
          <p:spPr>
            <a:xfrm>
              <a:off x="274320" y="448056"/>
              <a:ext cx="722376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buNone/>
              </a:pPr>
              <a:r>
                <a:rPr lang="en-US" sz="1800" b="0" i="0" spc="0" dirty="0">
                  <a:solidFill>
                    <a:srgbClr val="0C1927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Open Points to Confirm</a:t>
              </a:r>
              <a:endParaRPr lang="en-US" sz="1800" dirty="0">
                <a:latin typeface="TASA Orbiter SemiBold"/>
              </a:endParaRPr>
            </a:p>
          </p:txBody>
        </p:sp>
        <p:sp>
          <p:nvSpPr>
            <p:cNvPr id="6" name="Subtitle"/>
            <p:cNvSpPr txBox="1"/>
            <p:nvPr/>
          </p:nvSpPr>
          <p:spPr>
            <a:xfrm>
              <a:off x="274320" y="768096"/>
              <a:ext cx="7863840" cy="1737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buNone/>
              </a:pPr>
              <a:r>
                <a:rPr lang="en-US" sz="850" b="0" i="0" spc="0" dirty="0">
                  <a:solidFill>
                    <a:srgbClr val="40566D"/>
                  </a:solidFill>
                  <a:latin typeface="Inter"/>
                  <a:ea typeface="Inter"/>
                  <a:cs typeface="Inter"/>
                  <a:sym typeface="Inter"/>
                </a:rPr>
                <a:t>Items to close with Flipkart before requirement sign-off. Tags show the workflow each point applies to: 01 refilling, 02 maintenance.</a:t>
              </a:r>
              <a:endParaRPr lang="en-US" sz="850" dirty="0">
                <a:latin typeface="Inter"/>
              </a:endParaRPr>
            </a:p>
          </p:txBody>
        </p:sp>
        <p:grpSp>
          <p:nvGrpSpPr>
            <p:cNvPr id="7" name="Faclon Labs logo"/>
            <p:cNvGrpSpPr/>
            <p:nvPr/>
          </p:nvGrpSpPr>
          <p:grpSpPr>
            <a:xfrm>
              <a:off x="7770571" y="215798"/>
              <a:ext cx="1158545" cy="241402"/>
              <a:chOff x="4059287" y="2048033"/>
              <a:chExt cx="4075704" cy="848371"/>
            </a:xfrm>
          </p:grpSpPr>
          <p:sp>
            <p:nvSpPr>
              <p:cNvPr id="8" name="Google Shape;261;p36"/>
              <p:cNvSpPr/>
              <p:nvPr/>
            </p:nvSpPr>
            <p:spPr>
              <a:xfrm>
                <a:off x="4059287" y="2048033"/>
                <a:ext cx="672035" cy="761954"/>
              </a:xfrm>
              <a:custGeom>
                <a:rect b="b" l="l" r="r" t="t"/>
                <a:pathLst>
                  <a:path extrusionOk="0" h="761954" w="672035">
                    <a:moveTo>
                      <a:pt x="339316" y="761955"/>
                    </a:moveTo>
                    <a:lnTo>
                      <a:pt x="145956" y="208835"/>
                    </a:lnTo>
                    <a:lnTo>
                      <a:pt x="74200" y="431354"/>
                    </a:lnTo>
                    <a:lnTo>
                      <a:pt x="190672" y="519726"/>
                    </a:lnTo>
                    <a:lnTo>
                      <a:pt x="211441" y="612252"/>
                    </a:lnTo>
                    <a:lnTo>
                      <a:pt x="0" y="458313"/>
                    </a:lnTo>
                    <a:lnTo>
                      <a:pt x="152147" y="0"/>
                    </a:lnTo>
                    <a:lnTo>
                      <a:pt x="339316" y="556052"/>
                    </a:lnTo>
                    <a:lnTo>
                      <a:pt x="524450" y="8145"/>
                    </a:lnTo>
                    <a:lnTo>
                      <a:pt x="672035" y="470856"/>
                    </a:lnTo>
                    <a:lnTo>
                      <a:pt x="461001" y="623654"/>
                    </a:lnTo>
                    <a:lnTo>
                      <a:pt x="483888" y="523879"/>
                    </a:lnTo>
                    <a:lnTo>
                      <a:pt x="596125" y="438602"/>
                    </a:lnTo>
                    <a:lnTo>
                      <a:pt x="521273" y="21820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262;p36"/>
              <p:cNvSpPr/>
              <p:nvPr/>
            </p:nvSpPr>
            <p:spPr>
              <a:xfrm>
                <a:off x="4864573" y="2185030"/>
                <a:ext cx="219342" cy="333696"/>
              </a:xfrm>
              <a:custGeom>
                <a:rect b="b" l="l" r="r" t="t"/>
                <a:pathLst>
                  <a:path extrusionOk="0" h="333696" w="219342">
                    <a:moveTo>
                      <a:pt x="219342" y="0"/>
                    </a:moveTo>
                    <a:lnTo>
                      <a:pt x="219342" y="68173"/>
                    </a:lnTo>
                    <a:lnTo>
                      <a:pt x="80064" y="68173"/>
                    </a:lnTo>
                    <a:lnTo>
                      <a:pt x="80064" y="138545"/>
                    </a:lnTo>
                    <a:lnTo>
                      <a:pt x="209324" y="138545"/>
                    </a:lnTo>
                    <a:lnTo>
                      <a:pt x="209324" y="206473"/>
                    </a:lnTo>
                    <a:lnTo>
                      <a:pt x="80064" y="206473"/>
                    </a:lnTo>
                    <a:lnTo>
                      <a:pt x="80064" y="333696"/>
                    </a:lnTo>
                    <a:lnTo>
                      <a:pt x="0" y="333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263;p36"/>
              <p:cNvSpPr/>
              <p:nvPr/>
            </p:nvSpPr>
            <p:spPr>
              <a:xfrm>
                <a:off x="5118368" y="2185030"/>
                <a:ext cx="361633" cy="333696"/>
              </a:xfrm>
              <a:custGeom>
                <a:rect b="b" l="l" r="r" t="t"/>
                <a:pathLst>
                  <a:path extrusionOk="0" h="333696" w="361633">
                    <a:moveTo>
                      <a:pt x="334022" y="267804"/>
                    </a:moveTo>
                    <a:lnTo>
                      <a:pt x="308284" y="206473"/>
                    </a:lnTo>
                    <a:lnTo>
                      <a:pt x="279777" y="138545"/>
                    </a:lnTo>
                    <a:lnTo>
                      <a:pt x="250293" y="68173"/>
                    </a:lnTo>
                    <a:lnTo>
                      <a:pt x="221704" y="0"/>
                    </a:lnTo>
                    <a:lnTo>
                      <a:pt x="139929" y="0"/>
                    </a:lnTo>
                    <a:lnTo>
                      <a:pt x="111341" y="68173"/>
                    </a:lnTo>
                    <a:lnTo>
                      <a:pt x="81856" y="138545"/>
                    </a:lnTo>
                    <a:lnTo>
                      <a:pt x="53349" y="206473"/>
                    </a:lnTo>
                    <a:lnTo>
                      <a:pt x="27611" y="267804"/>
                    </a:lnTo>
                    <a:lnTo>
                      <a:pt x="0" y="333696"/>
                    </a:lnTo>
                    <a:lnTo>
                      <a:pt x="90408" y="333696"/>
                    </a:lnTo>
                    <a:lnTo>
                      <a:pt x="113621" y="267804"/>
                    </a:lnTo>
                    <a:lnTo>
                      <a:pt x="244835" y="267804"/>
                    </a:lnTo>
                    <a:lnTo>
                      <a:pt x="268048" y="333696"/>
                    </a:lnTo>
                    <a:lnTo>
                      <a:pt x="361633" y="333696"/>
                    </a:lnTo>
                    <a:lnTo>
                      <a:pt x="334022" y="267804"/>
                    </a:lnTo>
                    <a:close/>
                    <a:moveTo>
                      <a:pt x="135124" y="206473"/>
                    </a:moveTo>
                    <a:lnTo>
                      <a:pt x="159070" y="138545"/>
                    </a:lnTo>
                    <a:lnTo>
                      <a:pt x="179269" y="81123"/>
                    </a:lnTo>
                    <a:lnTo>
                      <a:pt x="199387" y="138545"/>
                    </a:lnTo>
                    <a:lnTo>
                      <a:pt x="223333" y="206473"/>
                    </a:lnTo>
                    <a:lnTo>
                      <a:pt x="135124" y="20647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264;p36"/>
              <p:cNvSpPr/>
              <p:nvPr/>
            </p:nvSpPr>
            <p:spPr>
              <a:xfrm>
                <a:off x="5880404" y="2185030"/>
                <a:ext cx="206961" cy="333696"/>
              </a:xfrm>
              <a:custGeom>
                <a:rect b="b" l="l" r="r" t="t"/>
                <a:pathLst>
                  <a:path extrusionOk="0" h="333696" w="206961">
                    <a:moveTo>
                      <a:pt x="206962" y="267804"/>
                    </a:moveTo>
                    <a:lnTo>
                      <a:pt x="206962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78028" y="0"/>
                    </a:lnTo>
                    <a:lnTo>
                      <a:pt x="78028" y="267804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265;p36"/>
              <p:cNvSpPr/>
              <p:nvPr/>
            </p:nvSpPr>
            <p:spPr>
              <a:xfrm>
                <a:off x="6573941" y="2185030"/>
                <a:ext cx="303641" cy="333696"/>
              </a:xfrm>
              <a:custGeom>
                <a:rect b="b" l="l" r="r" t="t"/>
                <a:pathLst>
                  <a:path extrusionOk="0" h="333696" w="303641">
                    <a:moveTo>
                      <a:pt x="303642" y="0"/>
                    </a:moveTo>
                    <a:lnTo>
                      <a:pt x="303642" y="171124"/>
                    </a:lnTo>
                    <a:lnTo>
                      <a:pt x="268293" y="206473"/>
                    </a:lnTo>
                    <a:lnTo>
                      <a:pt x="225939" y="248827"/>
                    </a:lnTo>
                    <a:lnTo>
                      <a:pt x="206962" y="267804"/>
                    </a:lnTo>
                    <a:lnTo>
                      <a:pt x="186111" y="288655"/>
                    </a:lnTo>
                    <a:lnTo>
                      <a:pt x="172916" y="267804"/>
                    </a:lnTo>
                    <a:lnTo>
                      <a:pt x="134391" y="206473"/>
                    </a:lnTo>
                    <a:lnTo>
                      <a:pt x="91630" y="138545"/>
                    </a:lnTo>
                    <a:lnTo>
                      <a:pt x="77621" y="116228"/>
                    </a:lnTo>
                    <a:lnTo>
                      <a:pt x="77621" y="333696"/>
                    </a:lnTo>
                    <a:lnTo>
                      <a:pt x="0" y="333696"/>
                    </a:lnTo>
                    <a:lnTo>
                      <a:pt x="0" y="0"/>
                    </a:lnTo>
                    <a:lnTo>
                      <a:pt x="90082" y="0"/>
                    </a:lnTo>
                    <a:lnTo>
                      <a:pt x="133006" y="68173"/>
                    </a:lnTo>
                    <a:lnTo>
                      <a:pt x="177233" y="138545"/>
                    </a:lnTo>
                    <a:lnTo>
                      <a:pt x="219912" y="206473"/>
                    </a:lnTo>
                    <a:lnTo>
                      <a:pt x="225939" y="216003"/>
                    </a:lnTo>
                    <a:lnTo>
                      <a:pt x="225939" y="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266;p36"/>
              <p:cNvSpPr/>
              <p:nvPr/>
            </p:nvSpPr>
            <p:spPr>
              <a:xfrm>
                <a:off x="5512010" y="2175419"/>
                <a:ext cx="306166" cy="351452"/>
              </a:xfrm>
              <a:custGeom>
                <a:rect b="b" l="l" r="r" t="t"/>
                <a:pathLst>
                  <a:path extrusionOk="0" h="351452" w="306166">
                    <a:moveTo>
                      <a:pt x="306167" y="300547"/>
                    </a:moveTo>
                    <a:cubicBezTo>
                      <a:pt x="286212" y="320013"/>
                      <a:pt x="261533" y="334755"/>
                      <a:pt x="234003" y="343307"/>
                    </a:cubicBezTo>
                    <a:cubicBezTo>
                      <a:pt x="216898" y="348602"/>
                      <a:pt x="198654" y="351452"/>
                      <a:pt x="179758" y="351452"/>
                    </a:cubicBezTo>
                    <a:cubicBezTo>
                      <a:pt x="160862" y="351452"/>
                      <a:pt x="142617" y="348602"/>
                      <a:pt x="125513" y="343307"/>
                    </a:cubicBezTo>
                    <a:cubicBezTo>
                      <a:pt x="87883" y="331660"/>
                      <a:pt x="55548" y="308284"/>
                      <a:pt x="33231" y="277415"/>
                    </a:cubicBezTo>
                    <a:cubicBezTo>
                      <a:pt x="19955" y="259252"/>
                      <a:pt x="10181" y="238482"/>
                      <a:pt x="4805" y="216084"/>
                    </a:cubicBezTo>
                    <a:cubicBezTo>
                      <a:pt x="1629" y="203134"/>
                      <a:pt x="0" y="189613"/>
                      <a:pt x="0" y="175685"/>
                    </a:cubicBezTo>
                    <a:cubicBezTo>
                      <a:pt x="0" y="166319"/>
                      <a:pt x="733" y="157115"/>
                      <a:pt x="2199" y="148156"/>
                    </a:cubicBezTo>
                    <a:cubicBezTo>
                      <a:pt x="6353" y="122418"/>
                      <a:pt x="16208" y="98553"/>
                      <a:pt x="30462" y="77784"/>
                    </a:cubicBezTo>
                    <a:cubicBezTo>
                      <a:pt x="52127" y="46344"/>
                      <a:pt x="83811" y="22154"/>
                      <a:pt x="121115" y="9611"/>
                    </a:cubicBezTo>
                    <a:cubicBezTo>
                      <a:pt x="139441" y="3339"/>
                      <a:pt x="159233" y="0"/>
                      <a:pt x="179758" y="0"/>
                    </a:cubicBezTo>
                    <a:cubicBezTo>
                      <a:pt x="200283" y="0"/>
                      <a:pt x="220075" y="3339"/>
                      <a:pt x="238401" y="9611"/>
                    </a:cubicBezTo>
                    <a:cubicBezTo>
                      <a:pt x="263650" y="18082"/>
                      <a:pt x="286456" y="32009"/>
                      <a:pt x="305189" y="49765"/>
                    </a:cubicBezTo>
                    <a:lnTo>
                      <a:pt x="251026" y="104906"/>
                    </a:lnTo>
                    <a:cubicBezTo>
                      <a:pt x="240274" y="92770"/>
                      <a:pt x="226917" y="83322"/>
                      <a:pt x="211930" y="77784"/>
                    </a:cubicBezTo>
                    <a:cubicBezTo>
                      <a:pt x="202238" y="74200"/>
                      <a:pt x="191731" y="72245"/>
                      <a:pt x="180898" y="72245"/>
                    </a:cubicBezTo>
                    <a:cubicBezTo>
                      <a:pt x="170065" y="72245"/>
                      <a:pt x="159640" y="74200"/>
                      <a:pt x="149948" y="77784"/>
                    </a:cubicBezTo>
                    <a:cubicBezTo>
                      <a:pt x="120056" y="88698"/>
                      <a:pt x="96761" y="115087"/>
                      <a:pt x="88046" y="148156"/>
                    </a:cubicBezTo>
                    <a:cubicBezTo>
                      <a:pt x="85521" y="157441"/>
                      <a:pt x="84218" y="167215"/>
                      <a:pt x="84218" y="177396"/>
                    </a:cubicBezTo>
                    <a:cubicBezTo>
                      <a:pt x="84218" y="191079"/>
                      <a:pt x="86580" y="204111"/>
                      <a:pt x="90978" y="216084"/>
                    </a:cubicBezTo>
                    <a:cubicBezTo>
                      <a:pt x="101567" y="245080"/>
                      <a:pt x="123558" y="267723"/>
                      <a:pt x="151006" y="277415"/>
                    </a:cubicBezTo>
                    <a:cubicBezTo>
                      <a:pt x="160373" y="280754"/>
                      <a:pt x="170473" y="282546"/>
                      <a:pt x="180898" y="282546"/>
                    </a:cubicBezTo>
                    <a:cubicBezTo>
                      <a:pt x="191323" y="282546"/>
                      <a:pt x="201423" y="280754"/>
                      <a:pt x="210790" y="277415"/>
                    </a:cubicBezTo>
                    <a:cubicBezTo>
                      <a:pt x="227487" y="271551"/>
                      <a:pt x="242148" y="260799"/>
                      <a:pt x="253469" y="246790"/>
                    </a:cubicBezTo>
                    <a:lnTo>
                      <a:pt x="306167" y="300547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67;p36"/>
              <p:cNvSpPr/>
              <p:nvPr/>
            </p:nvSpPr>
            <p:spPr>
              <a:xfrm>
                <a:off x="6136642" y="2175419"/>
                <a:ext cx="359597" cy="351452"/>
              </a:xfrm>
              <a:custGeom>
                <a:rect b="b" l="l" r="r" t="t"/>
                <a:pathLst>
                  <a:path extrusionOk="0" h="351452" w="359597">
                    <a:moveTo>
                      <a:pt x="357398" y="148156"/>
                    </a:moveTo>
                    <a:cubicBezTo>
                      <a:pt x="353244" y="122418"/>
                      <a:pt x="343389" y="98553"/>
                      <a:pt x="329135" y="77784"/>
                    </a:cubicBezTo>
                    <a:cubicBezTo>
                      <a:pt x="307470" y="46344"/>
                      <a:pt x="275705" y="22154"/>
                      <a:pt x="238401" y="9611"/>
                    </a:cubicBezTo>
                    <a:cubicBezTo>
                      <a:pt x="219994" y="3339"/>
                      <a:pt x="200283" y="0"/>
                      <a:pt x="179758" y="0"/>
                    </a:cubicBezTo>
                    <a:cubicBezTo>
                      <a:pt x="159233" y="0"/>
                      <a:pt x="139522" y="3339"/>
                      <a:pt x="121115" y="9611"/>
                    </a:cubicBezTo>
                    <a:cubicBezTo>
                      <a:pt x="83811" y="22154"/>
                      <a:pt x="52128" y="46344"/>
                      <a:pt x="30462" y="77784"/>
                    </a:cubicBezTo>
                    <a:cubicBezTo>
                      <a:pt x="16209" y="98553"/>
                      <a:pt x="6353" y="122418"/>
                      <a:pt x="2199" y="148156"/>
                    </a:cubicBezTo>
                    <a:cubicBezTo>
                      <a:pt x="733" y="157115"/>
                      <a:pt x="0" y="166319"/>
                      <a:pt x="0" y="175685"/>
                    </a:cubicBezTo>
                    <a:cubicBezTo>
                      <a:pt x="0" y="189613"/>
                      <a:pt x="1629" y="203134"/>
                      <a:pt x="4805" y="216084"/>
                    </a:cubicBezTo>
                    <a:cubicBezTo>
                      <a:pt x="10181" y="238482"/>
                      <a:pt x="19955" y="259252"/>
                      <a:pt x="33231" y="277415"/>
                    </a:cubicBezTo>
                    <a:cubicBezTo>
                      <a:pt x="55548" y="308284"/>
                      <a:pt x="87883" y="331660"/>
                      <a:pt x="125594" y="343307"/>
                    </a:cubicBezTo>
                    <a:cubicBezTo>
                      <a:pt x="142699" y="348602"/>
                      <a:pt x="160862" y="351452"/>
                      <a:pt x="179758" y="351452"/>
                    </a:cubicBezTo>
                    <a:cubicBezTo>
                      <a:pt x="198654" y="351452"/>
                      <a:pt x="216817" y="348602"/>
                      <a:pt x="233921" y="343307"/>
                    </a:cubicBezTo>
                    <a:cubicBezTo>
                      <a:pt x="271632" y="331660"/>
                      <a:pt x="303967" y="308284"/>
                      <a:pt x="326366" y="277415"/>
                    </a:cubicBezTo>
                    <a:cubicBezTo>
                      <a:pt x="339642" y="259252"/>
                      <a:pt x="349416" y="238482"/>
                      <a:pt x="354792" y="216084"/>
                    </a:cubicBezTo>
                    <a:cubicBezTo>
                      <a:pt x="357968" y="203134"/>
                      <a:pt x="359597" y="189613"/>
                      <a:pt x="359597" y="175685"/>
                    </a:cubicBezTo>
                    <a:cubicBezTo>
                      <a:pt x="359597" y="166319"/>
                      <a:pt x="358864" y="157115"/>
                      <a:pt x="357398" y="148156"/>
                    </a:cubicBezTo>
                    <a:close/>
                    <a:moveTo>
                      <a:pt x="270736" y="216084"/>
                    </a:moveTo>
                    <a:cubicBezTo>
                      <a:pt x="260067" y="245080"/>
                      <a:pt x="237831" y="267723"/>
                      <a:pt x="210138" y="277415"/>
                    </a:cubicBezTo>
                    <a:cubicBezTo>
                      <a:pt x="200609" y="280754"/>
                      <a:pt x="190428" y="282546"/>
                      <a:pt x="179921" y="282546"/>
                    </a:cubicBezTo>
                    <a:cubicBezTo>
                      <a:pt x="169414" y="282546"/>
                      <a:pt x="159233" y="280754"/>
                      <a:pt x="149703" y="277415"/>
                    </a:cubicBezTo>
                    <a:cubicBezTo>
                      <a:pt x="121929" y="267723"/>
                      <a:pt x="99694" y="245080"/>
                      <a:pt x="89024" y="216084"/>
                    </a:cubicBezTo>
                    <a:cubicBezTo>
                      <a:pt x="84626" y="204111"/>
                      <a:pt x="82182" y="191079"/>
                      <a:pt x="82182" y="177396"/>
                    </a:cubicBezTo>
                    <a:cubicBezTo>
                      <a:pt x="82182" y="167215"/>
                      <a:pt x="83485" y="157441"/>
                      <a:pt x="86092" y="148156"/>
                    </a:cubicBezTo>
                    <a:cubicBezTo>
                      <a:pt x="94888" y="115087"/>
                      <a:pt x="118427" y="88698"/>
                      <a:pt x="148644" y="77784"/>
                    </a:cubicBezTo>
                    <a:cubicBezTo>
                      <a:pt x="158500" y="74200"/>
                      <a:pt x="169007" y="72245"/>
                      <a:pt x="179921" y="72245"/>
                    </a:cubicBezTo>
                    <a:cubicBezTo>
                      <a:pt x="190916" y="72245"/>
                      <a:pt x="201423" y="74200"/>
                      <a:pt x="211279" y="77784"/>
                    </a:cubicBezTo>
                    <a:cubicBezTo>
                      <a:pt x="241333" y="88779"/>
                      <a:pt x="264872" y="115087"/>
                      <a:pt x="273668" y="148156"/>
                    </a:cubicBezTo>
                    <a:cubicBezTo>
                      <a:pt x="276275" y="157441"/>
                      <a:pt x="277578" y="167215"/>
                      <a:pt x="277578" y="177396"/>
                    </a:cubicBezTo>
                    <a:cubicBezTo>
                      <a:pt x="277578" y="191079"/>
                      <a:pt x="275134" y="204111"/>
                      <a:pt x="270736" y="21608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68;p36"/>
              <p:cNvSpPr/>
              <p:nvPr/>
            </p:nvSpPr>
            <p:spPr>
              <a:xfrm>
                <a:off x="6616539" y="2583885"/>
                <a:ext cx="192952" cy="301442"/>
              </a:xfrm>
              <a:custGeom>
                <a:rect b="b" l="l" r="r" t="t"/>
                <a:pathLst>
                  <a:path extrusionOk="0" h="301442" w="192952">
                    <a:moveTo>
                      <a:pt x="192953" y="276112"/>
                    </a:moveTo>
                    <a:lnTo>
                      <a:pt x="192953" y="301443"/>
                    </a:lnTo>
                    <a:lnTo>
                      <a:pt x="0" y="301443"/>
                    </a:lnTo>
                    <a:lnTo>
                      <a:pt x="0" y="34127"/>
                    </a:lnTo>
                    <a:lnTo>
                      <a:pt x="34860" y="0"/>
                    </a:lnTo>
                    <a:lnTo>
                      <a:pt x="34860" y="276112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69;p36"/>
              <p:cNvSpPr/>
              <p:nvPr/>
            </p:nvSpPr>
            <p:spPr>
              <a:xfrm>
                <a:off x="6966851" y="2546337"/>
                <a:ext cx="325143" cy="338990"/>
              </a:xfrm>
              <a:custGeom>
                <a:rect b="b" l="l" r="r" t="t"/>
                <a:pathLst>
                  <a:path extrusionOk="0" h="338990" w="325143">
                    <a:moveTo>
                      <a:pt x="314393" y="313660"/>
                    </a:moveTo>
                    <a:lnTo>
                      <a:pt x="287922" y="251270"/>
                    </a:lnTo>
                    <a:lnTo>
                      <a:pt x="275542" y="222193"/>
                    </a:lnTo>
                    <a:lnTo>
                      <a:pt x="256238" y="176744"/>
                    </a:lnTo>
                    <a:lnTo>
                      <a:pt x="244917" y="150110"/>
                    </a:lnTo>
                    <a:lnTo>
                      <a:pt x="192382" y="26715"/>
                    </a:lnTo>
                    <a:lnTo>
                      <a:pt x="181061" y="0"/>
                    </a:lnTo>
                    <a:lnTo>
                      <a:pt x="144164" y="0"/>
                    </a:lnTo>
                    <a:lnTo>
                      <a:pt x="132843" y="26715"/>
                    </a:lnTo>
                    <a:lnTo>
                      <a:pt x="80309" y="150110"/>
                    </a:lnTo>
                    <a:lnTo>
                      <a:pt x="68987" y="176744"/>
                    </a:lnTo>
                    <a:lnTo>
                      <a:pt x="49684" y="222193"/>
                    </a:lnTo>
                    <a:lnTo>
                      <a:pt x="37303" y="251270"/>
                    </a:lnTo>
                    <a:lnTo>
                      <a:pt x="10751" y="313660"/>
                    </a:lnTo>
                    <a:lnTo>
                      <a:pt x="0" y="338990"/>
                    </a:lnTo>
                    <a:lnTo>
                      <a:pt x="35186" y="338990"/>
                    </a:lnTo>
                    <a:lnTo>
                      <a:pt x="45530" y="313660"/>
                    </a:lnTo>
                    <a:lnTo>
                      <a:pt x="71105" y="251270"/>
                    </a:lnTo>
                    <a:lnTo>
                      <a:pt x="250781" y="251270"/>
                    </a:lnTo>
                    <a:lnTo>
                      <a:pt x="276356" y="313660"/>
                    </a:lnTo>
                    <a:lnTo>
                      <a:pt x="286700" y="338990"/>
                    </a:lnTo>
                    <a:lnTo>
                      <a:pt x="325144" y="338990"/>
                    </a:lnTo>
                    <a:lnTo>
                      <a:pt x="314393" y="313660"/>
                    </a:lnTo>
                    <a:close/>
                    <a:moveTo>
                      <a:pt x="82996" y="222193"/>
                    </a:moveTo>
                    <a:lnTo>
                      <a:pt x="101648" y="176744"/>
                    </a:lnTo>
                    <a:lnTo>
                      <a:pt x="112562" y="150110"/>
                    </a:lnTo>
                    <a:lnTo>
                      <a:pt x="160943" y="32172"/>
                    </a:lnTo>
                    <a:lnTo>
                      <a:pt x="209324" y="150110"/>
                    </a:lnTo>
                    <a:lnTo>
                      <a:pt x="220238" y="176744"/>
                    </a:lnTo>
                    <a:lnTo>
                      <a:pt x="238890" y="222193"/>
                    </a:lnTo>
                    <a:lnTo>
                      <a:pt x="82996" y="222193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270;p36"/>
              <p:cNvSpPr/>
              <p:nvPr/>
            </p:nvSpPr>
            <p:spPr>
              <a:xfrm>
                <a:off x="7486902" y="2546337"/>
                <a:ext cx="228382" cy="338990"/>
              </a:xfrm>
              <a:custGeom>
                <a:rect b="b" l="l" r="r" t="t"/>
                <a:pathLst>
                  <a:path extrusionOk="0" h="338990" w="228382">
                    <a:moveTo>
                      <a:pt x="224148" y="222193"/>
                    </a:moveTo>
                    <a:cubicBezTo>
                      <a:pt x="218202" y="204029"/>
                      <a:pt x="206066" y="188228"/>
                      <a:pt x="189857" y="176744"/>
                    </a:cubicBezTo>
                    <a:cubicBezTo>
                      <a:pt x="180410" y="170065"/>
                      <a:pt x="169495" y="164771"/>
                      <a:pt x="157685" y="161432"/>
                    </a:cubicBezTo>
                    <a:cubicBezTo>
                      <a:pt x="164853" y="158581"/>
                      <a:pt x="171531" y="154753"/>
                      <a:pt x="177559" y="150110"/>
                    </a:cubicBezTo>
                    <a:cubicBezTo>
                      <a:pt x="197514" y="134717"/>
                      <a:pt x="210383" y="110771"/>
                      <a:pt x="210383" y="83811"/>
                    </a:cubicBezTo>
                    <a:cubicBezTo>
                      <a:pt x="210383" y="61738"/>
                      <a:pt x="201830" y="41702"/>
                      <a:pt x="187740" y="26715"/>
                    </a:cubicBezTo>
                    <a:cubicBezTo>
                      <a:pt x="172265" y="10263"/>
                      <a:pt x="150273" y="0"/>
                      <a:pt x="125839" y="0"/>
                    </a:cubicBezTo>
                    <a:lnTo>
                      <a:pt x="0" y="0"/>
                    </a:lnTo>
                    <a:lnTo>
                      <a:pt x="0" y="338990"/>
                    </a:lnTo>
                    <a:lnTo>
                      <a:pt x="127305" y="338990"/>
                    </a:lnTo>
                    <a:cubicBezTo>
                      <a:pt x="154509" y="338990"/>
                      <a:pt x="179106" y="329380"/>
                      <a:pt x="197188" y="313660"/>
                    </a:cubicBezTo>
                    <a:cubicBezTo>
                      <a:pt x="215595" y="297859"/>
                      <a:pt x="227406" y="275786"/>
                      <a:pt x="228301" y="251270"/>
                    </a:cubicBezTo>
                    <a:cubicBezTo>
                      <a:pt x="228383" y="250211"/>
                      <a:pt x="228383" y="249152"/>
                      <a:pt x="228383" y="248093"/>
                    </a:cubicBezTo>
                    <a:cubicBezTo>
                      <a:pt x="228383" y="239134"/>
                      <a:pt x="226917" y="230419"/>
                      <a:pt x="224148" y="222193"/>
                    </a:cubicBezTo>
                    <a:close/>
                    <a:moveTo>
                      <a:pt x="32172" y="26715"/>
                    </a:moveTo>
                    <a:lnTo>
                      <a:pt x="116146" y="26715"/>
                    </a:lnTo>
                    <a:cubicBezTo>
                      <a:pt x="150192" y="26715"/>
                      <a:pt x="177803" y="54326"/>
                      <a:pt x="177803" y="88372"/>
                    </a:cubicBezTo>
                    <a:cubicBezTo>
                      <a:pt x="177803" y="122499"/>
                      <a:pt x="150192" y="150110"/>
                      <a:pt x="116146" y="150110"/>
                    </a:cubicBezTo>
                    <a:lnTo>
                      <a:pt x="32172" y="150110"/>
                    </a:lnTo>
                    <a:lnTo>
                      <a:pt x="32172" y="26715"/>
                    </a:lnTo>
                    <a:close/>
                    <a:moveTo>
                      <a:pt x="32172" y="313660"/>
                    </a:moveTo>
                    <a:lnTo>
                      <a:pt x="32172" y="176744"/>
                    </a:lnTo>
                    <a:lnTo>
                      <a:pt x="125187" y="176744"/>
                    </a:lnTo>
                    <a:cubicBezTo>
                      <a:pt x="155893" y="176744"/>
                      <a:pt x="181957" y="195722"/>
                      <a:pt x="191649" y="222193"/>
                    </a:cubicBezTo>
                    <a:cubicBezTo>
                      <a:pt x="194337" y="229360"/>
                      <a:pt x="195803" y="237179"/>
                      <a:pt x="195803" y="245243"/>
                    </a:cubicBezTo>
                    <a:cubicBezTo>
                      <a:pt x="195803" y="247279"/>
                      <a:pt x="195722" y="249315"/>
                      <a:pt x="195559" y="251270"/>
                    </a:cubicBezTo>
                    <a:cubicBezTo>
                      <a:pt x="192383" y="286211"/>
                      <a:pt x="162084" y="313660"/>
                      <a:pt x="125187" y="313660"/>
                    </a:cubicBezTo>
                    <a:lnTo>
                      <a:pt x="32172" y="313660"/>
                    </a:ln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271;p36"/>
              <p:cNvSpPr/>
              <p:nvPr/>
            </p:nvSpPr>
            <p:spPr>
              <a:xfrm>
                <a:off x="7918256" y="2537704"/>
                <a:ext cx="216735" cy="358700"/>
              </a:xfrm>
              <a:custGeom>
                <a:rect b="b" l="l" r="r" t="t"/>
                <a:pathLst>
                  <a:path extrusionOk="0" h="358700" w="216735">
                    <a:moveTo>
                      <a:pt x="216736" y="259904"/>
                    </a:moveTo>
                    <a:lnTo>
                      <a:pt x="216736" y="260392"/>
                    </a:lnTo>
                    <a:cubicBezTo>
                      <a:pt x="216736" y="283850"/>
                      <a:pt x="207044" y="305434"/>
                      <a:pt x="190916" y="322293"/>
                    </a:cubicBezTo>
                    <a:cubicBezTo>
                      <a:pt x="180898" y="332800"/>
                      <a:pt x="168436" y="341434"/>
                      <a:pt x="154264" y="347624"/>
                    </a:cubicBezTo>
                    <a:cubicBezTo>
                      <a:pt x="138301" y="354710"/>
                      <a:pt x="120219" y="358701"/>
                      <a:pt x="100997" y="358701"/>
                    </a:cubicBezTo>
                    <a:cubicBezTo>
                      <a:pt x="81775" y="358701"/>
                      <a:pt x="63693" y="354710"/>
                      <a:pt x="47729" y="347624"/>
                    </a:cubicBezTo>
                    <a:cubicBezTo>
                      <a:pt x="33557" y="341434"/>
                      <a:pt x="21095" y="332800"/>
                      <a:pt x="11077" y="322293"/>
                    </a:cubicBezTo>
                    <a:cubicBezTo>
                      <a:pt x="6923" y="317976"/>
                      <a:pt x="3177" y="313334"/>
                      <a:pt x="0" y="308447"/>
                    </a:cubicBezTo>
                    <a:lnTo>
                      <a:pt x="23295" y="290365"/>
                    </a:lnTo>
                    <a:cubicBezTo>
                      <a:pt x="31114" y="303886"/>
                      <a:pt x="43983" y="315044"/>
                      <a:pt x="59865" y="322293"/>
                    </a:cubicBezTo>
                    <a:cubicBezTo>
                      <a:pt x="72653" y="328158"/>
                      <a:pt x="87314" y="331497"/>
                      <a:pt x="103033" y="331497"/>
                    </a:cubicBezTo>
                    <a:cubicBezTo>
                      <a:pt x="118753" y="331497"/>
                      <a:pt x="133495" y="328158"/>
                      <a:pt x="146282" y="322293"/>
                    </a:cubicBezTo>
                    <a:cubicBezTo>
                      <a:pt x="172997" y="309995"/>
                      <a:pt x="191161" y="286700"/>
                      <a:pt x="191568" y="259904"/>
                    </a:cubicBezTo>
                    <a:lnTo>
                      <a:pt x="191568" y="259008"/>
                    </a:lnTo>
                    <a:cubicBezTo>
                      <a:pt x="191568" y="248989"/>
                      <a:pt x="189125" y="239541"/>
                      <a:pt x="184564" y="230826"/>
                    </a:cubicBezTo>
                    <a:cubicBezTo>
                      <a:pt x="172428" y="207287"/>
                      <a:pt x="145468" y="190102"/>
                      <a:pt x="113214" y="187088"/>
                    </a:cubicBezTo>
                    <a:cubicBezTo>
                      <a:pt x="110852" y="186844"/>
                      <a:pt x="108409" y="186681"/>
                      <a:pt x="105965" y="186681"/>
                    </a:cubicBezTo>
                    <a:cubicBezTo>
                      <a:pt x="105884" y="186600"/>
                      <a:pt x="105721" y="186600"/>
                      <a:pt x="105640" y="186681"/>
                    </a:cubicBezTo>
                    <a:cubicBezTo>
                      <a:pt x="102219" y="186355"/>
                      <a:pt x="98798" y="185948"/>
                      <a:pt x="95458" y="185378"/>
                    </a:cubicBezTo>
                    <a:cubicBezTo>
                      <a:pt x="80227" y="182853"/>
                      <a:pt x="66136" y="177722"/>
                      <a:pt x="53838" y="170635"/>
                    </a:cubicBezTo>
                    <a:cubicBezTo>
                      <a:pt x="47810" y="167133"/>
                      <a:pt x="42109" y="163142"/>
                      <a:pt x="36978" y="158744"/>
                    </a:cubicBezTo>
                    <a:cubicBezTo>
                      <a:pt x="17349" y="141884"/>
                      <a:pt x="5294" y="118915"/>
                      <a:pt x="5294" y="93585"/>
                    </a:cubicBezTo>
                    <a:cubicBezTo>
                      <a:pt x="5294" y="71512"/>
                      <a:pt x="14417" y="51313"/>
                      <a:pt x="29648" y="35349"/>
                    </a:cubicBezTo>
                    <a:cubicBezTo>
                      <a:pt x="40480" y="24027"/>
                      <a:pt x="54408" y="14824"/>
                      <a:pt x="70372" y="8634"/>
                    </a:cubicBezTo>
                    <a:cubicBezTo>
                      <a:pt x="84707" y="3095"/>
                      <a:pt x="100671" y="0"/>
                      <a:pt x="117450" y="0"/>
                    </a:cubicBezTo>
                    <a:cubicBezTo>
                      <a:pt x="134228" y="0"/>
                      <a:pt x="150192" y="3095"/>
                      <a:pt x="164527" y="8634"/>
                    </a:cubicBezTo>
                    <a:cubicBezTo>
                      <a:pt x="180491" y="14824"/>
                      <a:pt x="194338" y="24027"/>
                      <a:pt x="205170" y="35349"/>
                    </a:cubicBezTo>
                    <a:cubicBezTo>
                      <a:pt x="207288" y="37467"/>
                      <a:pt x="209242" y="39747"/>
                      <a:pt x="211116" y="42109"/>
                    </a:cubicBezTo>
                    <a:lnTo>
                      <a:pt x="184319" y="62960"/>
                    </a:lnTo>
                    <a:cubicBezTo>
                      <a:pt x="176581" y="50987"/>
                      <a:pt x="164608" y="41295"/>
                      <a:pt x="150273" y="35349"/>
                    </a:cubicBezTo>
                    <a:cubicBezTo>
                      <a:pt x="140174" y="31195"/>
                      <a:pt x="128852" y="28833"/>
                      <a:pt x="116880" y="28833"/>
                    </a:cubicBezTo>
                    <a:cubicBezTo>
                      <a:pt x="104906" y="28833"/>
                      <a:pt x="93585" y="31195"/>
                      <a:pt x="83485" y="35349"/>
                    </a:cubicBezTo>
                    <a:cubicBezTo>
                      <a:pt x="57340" y="46181"/>
                      <a:pt x="39340" y="69232"/>
                      <a:pt x="39340" y="95947"/>
                    </a:cubicBezTo>
                    <a:cubicBezTo>
                      <a:pt x="39340" y="124698"/>
                      <a:pt x="60191" y="149133"/>
                      <a:pt x="89512" y="158744"/>
                    </a:cubicBezTo>
                    <a:cubicBezTo>
                      <a:pt x="94155" y="160291"/>
                      <a:pt x="99124" y="161432"/>
                      <a:pt x="104173" y="162165"/>
                    </a:cubicBezTo>
                    <a:cubicBezTo>
                      <a:pt x="108327" y="162735"/>
                      <a:pt x="112562" y="163061"/>
                      <a:pt x="116880" y="163061"/>
                    </a:cubicBezTo>
                    <a:cubicBezTo>
                      <a:pt x="116961" y="162979"/>
                      <a:pt x="117042" y="163061"/>
                      <a:pt x="117124" y="163061"/>
                    </a:cubicBezTo>
                    <a:cubicBezTo>
                      <a:pt x="134554" y="165097"/>
                      <a:pt x="150762" y="170473"/>
                      <a:pt x="164772" y="178373"/>
                    </a:cubicBezTo>
                    <a:cubicBezTo>
                      <a:pt x="168599" y="180491"/>
                      <a:pt x="172346" y="182853"/>
                      <a:pt x="175848" y="185378"/>
                    </a:cubicBezTo>
                    <a:cubicBezTo>
                      <a:pt x="192301" y="197269"/>
                      <a:pt x="204763" y="212907"/>
                      <a:pt x="211360" y="230826"/>
                    </a:cubicBezTo>
                    <a:cubicBezTo>
                      <a:pt x="214781" y="239948"/>
                      <a:pt x="216654" y="249722"/>
                      <a:pt x="216736" y="259904"/>
                    </a:cubicBezTo>
                    <a:close/>
                  </a:path>
                </a:pathLst>
              </a:custGeom>
              <a:solidFill>
                <a:srgbClr val="1655F2"/>
              </a:solidFill>
              <a:ln>
                <a:noFill/>
              </a:ln>
            </p:spPr>
            <p:txBody>
              <a:bodyPr anchorCtr="0" anchor="ctr" bIns="17125" lIns="34275" spcFirstLastPara="1" rIns="34275" wrap="square" tIns="171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" name="Group Hardware &amp; site"/>
          <p:cNvGrpSpPr/>
          <p:nvPr/>
        </p:nvGrpSpPr>
        <p:grpSpPr>
          <a:xfrm>
            <a:off x="274320" y="1051560"/>
            <a:ext cx="4233672" cy="1688592"/>
            <a:chOff x="274320" y="1051560"/>
            <a:chExt cx="4233672" cy="1688592"/>
          </a:xfrm>
        </p:grpSpPr>
        <p:sp>
          <p:nvSpPr>
            <p:cNvPr id="20" name="Group card"/>
            <p:cNvSpPr/>
            <p:nvPr/>
          </p:nvSpPr>
          <p:spPr>
            <a:xfrm>
              <a:off x="274320" y="1051560"/>
              <a:ext cx="4233672" cy="1688592"/>
            </a:xfrm>
            <a:prstGeom prst="roundRect">
              <a:avLst>
                <a:gd name="adj" fmla="val 4332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1" name="Group icon box"/>
            <p:cNvSpPr/>
            <p:nvPr/>
          </p:nvSpPr>
          <p:spPr>
            <a:xfrm>
              <a:off x="384048" y="1161288"/>
              <a:ext cx="237744" cy="237744"/>
            </a:xfrm>
            <a:prstGeom prst="roundRect">
              <a:avLst>
                <a:gd name="adj" fmla="val 19231"/>
              </a:avLst>
            </a:prstGeom>
            <a:solidFill>
              <a:srgbClr val="FFF7F0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2" name="Icon cpu"/>
            <p:cNvSpPr/>
            <p:nvPr/>
          </p:nvSpPr>
          <p:spPr>
            <a:xfrm>
              <a:off x="438912" y="1216152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4000"/>
                  </a:moveTo>
                  <a:lnTo>
                    <a:pt x="18000" y="4000"/>
                  </a:lnTo>
                  <a:cubicBezTo>
                    <a:pt x="19105" y="4000"/>
                    <a:pt x="20000" y="4895"/>
                    <a:pt x="20000" y="6000"/>
                  </a:cubicBezTo>
                  <a:lnTo>
                    <a:pt x="20000" y="18000"/>
                  </a:lnTo>
                  <a:cubicBezTo>
                    <a:pt x="20000" y="19105"/>
                    <a:pt x="19105" y="20000"/>
                    <a:pt x="18000" y="20000"/>
                  </a:cubicBezTo>
                  <a:lnTo>
                    <a:pt x="6000" y="20000"/>
                  </a:lnTo>
                  <a:cubicBezTo>
                    <a:pt x="4895" y="20000"/>
                    <a:pt x="4000" y="19105"/>
                    <a:pt x="4000" y="18000"/>
                  </a:cubicBezTo>
                  <a:lnTo>
                    <a:pt x="4000" y="6000"/>
                  </a:lnTo>
                  <a:cubicBezTo>
                    <a:pt x="4000" y="4895"/>
                    <a:pt x="4895" y="4000"/>
                    <a:pt x="6000" y="4000"/>
                  </a:cubicBezTo>
                  <a:close/>
                </a:path>
                <a:path w="24000" h="24000" fill="none">
                  <a:moveTo>
                    <a:pt x="10000" y="9000"/>
                  </a:moveTo>
                  <a:lnTo>
                    <a:pt x="14000" y="9000"/>
                  </a:lnTo>
                  <a:cubicBezTo>
                    <a:pt x="14552" y="9000"/>
                    <a:pt x="15000" y="9448"/>
                    <a:pt x="15000" y="10000"/>
                  </a:cubicBezTo>
                  <a:lnTo>
                    <a:pt x="15000" y="14000"/>
                  </a:lnTo>
                  <a:cubicBezTo>
                    <a:pt x="15000" y="14552"/>
                    <a:pt x="14552" y="15000"/>
                    <a:pt x="14000" y="15000"/>
                  </a:cubicBezTo>
                  <a:lnTo>
                    <a:pt x="10000" y="15000"/>
                  </a:lnTo>
                  <a:cubicBezTo>
                    <a:pt x="9448" y="15000"/>
                    <a:pt x="9000" y="14552"/>
                    <a:pt x="9000" y="14000"/>
                  </a:cubicBezTo>
                  <a:lnTo>
                    <a:pt x="9000" y="10000"/>
                  </a:lnTo>
                  <a:cubicBezTo>
                    <a:pt x="9000" y="9448"/>
                    <a:pt x="9448" y="9000"/>
                    <a:pt x="10000" y="9000"/>
                  </a:cubicBezTo>
                  <a:close/>
                </a:path>
                <a:path w="24000" h="24000" fill="none">
                  <a:moveTo>
                    <a:pt x="15000" y="2000"/>
                  </a:moveTo>
                  <a:lnTo>
                    <a:pt x="15000" y="4000"/>
                  </a:lnTo>
                </a:path>
                <a:path w="24000" h="24000" fill="none">
                  <a:moveTo>
                    <a:pt x="15000" y="20000"/>
                  </a:moveTo>
                  <a:lnTo>
                    <a:pt x="15000" y="22000"/>
                  </a:lnTo>
                </a:path>
                <a:path w="24000" h="24000" fill="none">
                  <a:moveTo>
                    <a:pt x="2000" y="15000"/>
                  </a:moveTo>
                  <a:lnTo>
                    <a:pt x="4000" y="15000"/>
                  </a:lnTo>
                </a:path>
                <a:path w="24000" h="24000" fill="none">
                  <a:moveTo>
                    <a:pt x="2000" y="9000"/>
                  </a:moveTo>
                  <a:lnTo>
                    <a:pt x="4000" y="9000"/>
                  </a:lnTo>
                </a:path>
                <a:path w="24000" h="24000" fill="none">
                  <a:moveTo>
                    <a:pt x="20000" y="15000"/>
                  </a:moveTo>
                  <a:lnTo>
                    <a:pt x="22000" y="15000"/>
                  </a:lnTo>
                </a:path>
                <a:path w="24000" h="24000" fill="none">
                  <a:moveTo>
                    <a:pt x="20000" y="9000"/>
                  </a:moveTo>
                  <a:lnTo>
                    <a:pt x="22000" y="9000"/>
                  </a:lnTo>
                </a:path>
                <a:path w="24000" h="24000" fill="none">
                  <a:moveTo>
                    <a:pt x="9000" y="2000"/>
                  </a:moveTo>
                  <a:lnTo>
                    <a:pt x="9000" y="4000"/>
                  </a:lnTo>
                </a:path>
                <a:path w="24000" h="24000" fill="none">
                  <a:moveTo>
                    <a:pt x="9000" y="20000"/>
                  </a:moveTo>
                  <a:lnTo>
                    <a:pt x="9000" y="22000"/>
                  </a:lnTo>
                </a:path>
              </a:pathLst>
            </a:custGeom>
            <a:noFill/>
            <a:ln w="11735" cap="rnd">
              <a:solidFill>
                <a:srgbClr val="C65C10"/>
              </a:solidFill>
              <a:round/>
            </a:ln>
          </p:spPr>
        </p:sp>
        <p:sp>
          <p:nvSpPr>
            <p:cNvPr id="23" name="Group title"/>
            <p:cNvSpPr txBox="1"/>
            <p:nvPr/>
          </p:nvSpPr>
          <p:spPr>
            <a:xfrm>
              <a:off x="713232" y="1161288"/>
              <a:ext cx="3685032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8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Hardware &amp; site</a:t>
              </a:r>
              <a:endParaRPr lang="en-US" sz="760" dirty="0">
                <a:latin typeface="Inter SemiBold"/>
              </a:endParaRPr>
            </a:p>
          </p:txBody>
        </p:sp>
        <p:sp>
          <p:nvSpPr>
            <p:cNvPr id="24" name="Point number"/>
            <p:cNvSpPr txBox="1"/>
            <p:nvPr/>
          </p:nvSpPr>
          <p:spPr>
            <a:xfrm>
              <a:off x="384048" y="1508760"/>
              <a:ext cx="2194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01</a:t>
              </a:r>
              <a:endParaRPr lang="en-US" sz="700" dirty="0">
                <a:latin typeface="TASA Orbiter SemiBold"/>
              </a:endParaRPr>
            </a:p>
          </p:txBody>
        </p:sp>
        <p:sp>
          <p:nvSpPr>
            <p:cNvPr id="25" name="Point"/>
            <p:cNvSpPr txBox="1"/>
            <p:nvPr/>
          </p:nvSpPr>
          <p:spPr>
            <a:xfrm>
              <a:off x="658368" y="1508760"/>
              <a:ext cx="32644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DG controller make / model, protocol and Modbus register map per DG — for the gateway integration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26" name="Tag"/>
            <p:cNvSpPr/>
            <p:nvPr/>
          </p:nvSpPr>
          <p:spPr>
            <a:xfrm>
              <a:off x="4014216" y="1513332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7" name="Tag label"/>
            <p:cNvSpPr txBox="1"/>
            <p:nvPr/>
          </p:nvSpPr>
          <p:spPr>
            <a:xfrm>
              <a:off x="4014216" y="1513332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</a:t>
              </a:r>
              <a:endParaRPr lang="en-US" sz="540" dirty="0">
                <a:latin typeface="Inter SemiBold"/>
              </a:endParaRPr>
            </a:p>
          </p:txBody>
        </p:sp>
        <p:sp>
          <p:nvSpPr>
            <p:cNvPr id="28" name="Tag"/>
            <p:cNvSpPr/>
            <p:nvPr/>
          </p:nvSpPr>
          <p:spPr>
            <a:xfrm>
              <a:off x="4224528" y="1513332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0C192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29" name="Tag label"/>
            <p:cNvSpPr txBox="1"/>
            <p:nvPr/>
          </p:nvSpPr>
          <p:spPr>
            <a:xfrm>
              <a:off x="4224528" y="1513332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</a:t>
              </a:r>
              <a:endParaRPr lang="en-US" sz="540" dirty="0">
                <a:latin typeface="Inter SemiBold"/>
              </a:endParaRPr>
            </a:p>
          </p:txBody>
        </p:sp>
        <p:cxnSp>
          <p:nvCxnSpPr>
            <p:cNvPr id="30" name="Point divider"/>
            <p:cNvCxnSpPr/>
            <p:nvPr/>
          </p:nvCxnSpPr>
          <p:spPr>
            <a:xfrm>
              <a:off x="658368" y="1752600"/>
              <a:ext cx="3739896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31" name="Point number"/>
            <p:cNvSpPr txBox="1"/>
            <p:nvPr/>
          </p:nvSpPr>
          <p:spPr>
            <a:xfrm>
              <a:off x="384048" y="1807464"/>
              <a:ext cx="2194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02</a:t>
              </a:r>
              <a:endParaRPr lang="en-US" sz="700" dirty="0">
                <a:latin typeface="TASA Orbiter SemiBold"/>
              </a:endParaRPr>
            </a:p>
          </p:txBody>
        </p:sp>
        <p:sp>
          <p:nvSpPr>
            <p:cNvPr id="32" name="Point"/>
            <p:cNvSpPr txBox="1"/>
            <p:nvPr/>
          </p:nvSpPr>
          <p:spPr>
            <a:xfrm>
              <a:off x="658368" y="1807464"/>
              <a:ext cx="32644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Store and DG count for the rollout — drives hardware quantities, licence basis and installation plan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33" name="Tag"/>
            <p:cNvSpPr/>
            <p:nvPr/>
          </p:nvSpPr>
          <p:spPr>
            <a:xfrm>
              <a:off x="4014216" y="1812036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4" name="Tag label"/>
            <p:cNvSpPr txBox="1"/>
            <p:nvPr/>
          </p:nvSpPr>
          <p:spPr>
            <a:xfrm>
              <a:off x="4014216" y="1812036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</a:t>
              </a:r>
              <a:endParaRPr lang="en-US" sz="540" dirty="0">
                <a:latin typeface="Inter SemiBold"/>
              </a:endParaRPr>
            </a:p>
          </p:txBody>
        </p:sp>
        <p:sp>
          <p:nvSpPr>
            <p:cNvPr id="35" name="Tag"/>
            <p:cNvSpPr/>
            <p:nvPr/>
          </p:nvSpPr>
          <p:spPr>
            <a:xfrm>
              <a:off x="4224528" y="1812036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0C192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36" name="Tag label"/>
            <p:cNvSpPr txBox="1"/>
            <p:nvPr/>
          </p:nvSpPr>
          <p:spPr>
            <a:xfrm>
              <a:off x="4224528" y="1812036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</a:t>
              </a:r>
              <a:endParaRPr lang="en-US" sz="540" dirty="0">
                <a:latin typeface="Inter SemiBold"/>
              </a:endParaRPr>
            </a:p>
          </p:txBody>
        </p:sp>
        <p:cxnSp>
          <p:nvCxnSpPr>
            <p:cNvPr id="37" name="Point divider"/>
            <p:cNvCxnSpPr/>
            <p:nvPr/>
          </p:nvCxnSpPr>
          <p:spPr>
            <a:xfrm>
              <a:off x="658368" y="2051304"/>
              <a:ext cx="3739896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38" name="Point number"/>
            <p:cNvSpPr txBox="1"/>
            <p:nvPr/>
          </p:nvSpPr>
          <p:spPr>
            <a:xfrm>
              <a:off x="384048" y="2106168"/>
              <a:ext cx="2194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03</a:t>
              </a:r>
              <a:endParaRPr lang="en-US" sz="700" dirty="0">
                <a:latin typeface="TASA Orbiter SemiBold"/>
              </a:endParaRPr>
            </a:p>
          </p:txBody>
        </p:sp>
        <p:sp>
          <p:nvSpPr>
            <p:cNvPr id="39" name="Point"/>
            <p:cNvSpPr txBox="1"/>
            <p:nvPr/>
          </p:nvSpPr>
          <p:spPr>
            <a:xfrm>
              <a:off x="658368" y="2106168"/>
              <a:ext cx="32644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Site readiness at each store: power supply, mounting space and network / signal availability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40" name="Tag"/>
            <p:cNvSpPr/>
            <p:nvPr/>
          </p:nvSpPr>
          <p:spPr>
            <a:xfrm>
              <a:off x="4014216" y="2110740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1" name="Tag label"/>
            <p:cNvSpPr txBox="1"/>
            <p:nvPr/>
          </p:nvSpPr>
          <p:spPr>
            <a:xfrm>
              <a:off x="4014216" y="2110740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</a:t>
              </a:r>
              <a:endParaRPr lang="en-US" sz="540" dirty="0">
                <a:latin typeface="Inter SemiBold"/>
              </a:endParaRPr>
            </a:p>
          </p:txBody>
        </p:sp>
        <p:sp>
          <p:nvSpPr>
            <p:cNvPr id="42" name="Tag"/>
            <p:cNvSpPr/>
            <p:nvPr/>
          </p:nvSpPr>
          <p:spPr>
            <a:xfrm>
              <a:off x="4224528" y="2110740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0C192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3" name="Tag label"/>
            <p:cNvSpPr txBox="1"/>
            <p:nvPr/>
          </p:nvSpPr>
          <p:spPr>
            <a:xfrm>
              <a:off x="4224528" y="2110740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</a:t>
              </a:r>
              <a:endParaRPr lang="en-US" sz="540" dirty="0">
                <a:latin typeface="Inter SemiBold"/>
              </a:endParaRPr>
            </a:p>
          </p:txBody>
        </p:sp>
        <p:cxnSp>
          <p:nvCxnSpPr>
            <p:cNvPr id="44" name="Point divider"/>
            <p:cNvCxnSpPr/>
            <p:nvPr/>
          </p:nvCxnSpPr>
          <p:spPr>
            <a:xfrm>
              <a:off x="658368" y="2350008"/>
              <a:ext cx="3739896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45" name="Point number"/>
            <p:cNvSpPr txBox="1"/>
            <p:nvPr/>
          </p:nvSpPr>
          <p:spPr>
            <a:xfrm>
              <a:off x="384048" y="2404872"/>
              <a:ext cx="2194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04</a:t>
              </a:r>
              <a:endParaRPr lang="en-US" sz="700" dirty="0">
                <a:latin typeface="TASA Orbiter SemiBold"/>
              </a:endParaRPr>
            </a:p>
          </p:txBody>
        </p:sp>
        <p:sp>
          <p:nvSpPr>
            <p:cNvPr id="46" name="Point"/>
            <p:cNvSpPr txBox="1"/>
            <p:nvPr/>
          </p:nvSpPr>
          <p:spPr>
            <a:xfrm>
              <a:off x="658368" y="2404872"/>
              <a:ext cx="3474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Estimated fuel volume (L): read from the controller or derived on IOsense from tank capacity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47" name="Tag"/>
            <p:cNvSpPr/>
            <p:nvPr/>
          </p:nvSpPr>
          <p:spPr>
            <a:xfrm>
              <a:off x="4224528" y="2409444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48" name="Tag label"/>
            <p:cNvSpPr txBox="1"/>
            <p:nvPr/>
          </p:nvSpPr>
          <p:spPr>
            <a:xfrm>
              <a:off x="4224528" y="2409444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</a:t>
              </a:r>
              <a:endParaRPr lang="en-US" sz="540" dirty="0">
                <a:latin typeface="Inter SemiBold"/>
              </a:endParaRPr>
            </a:p>
          </p:txBody>
        </p:sp>
        <p:cxnSp>
          <p:nvCxnSpPr>
            <p:cNvPr id="49" name="Point divider"/>
            <p:cNvCxnSpPr/>
            <p:nvPr/>
          </p:nvCxnSpPr>
          <p:spPr>
            <a:xfrm>
              <a:off x="658368" y="2648712"/>
              <a:ext cx="3739896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</p:grpSp>
      <p:grpSp>
        <p:nvGrpSpPr>
          <p:cNvPr id="50" name="Group Business rules"/>
          <p:cNvGrpSpPr/>
          <p:nvPr/>
        </p:nvGrpSpPr>
        <p:grpSpPr>
          <a:xfrm>
            <a:off x="4636008" y="1051560"/>
            <a:ext cx="4233672" cy="1092708"/>
            <a:chOff x="4636008" y="1051560"/>
            <a:chExt cx="4233672" cy="1092708"/>
          </a:xfrm>
        </p:grpSpPr>
        <p:sp>
          <p:nvSpPr>
            <p:cNvPr id="51" name="Group card"/>
            <p:cNvSpPr/>
            <p:nvPr/>
          </p:nvSpPr>
          <p:spPr>
            <a:xfrm>
              <a:off x="4636008" y="1051560"/>
              <a:ext cx="4233672" cy="1092708"/>
            </a:xfrm>
            <a:prstGeom prst="roundRect">
              <a:avLst>
                <a:gd name="adj" fmla="val 6695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52" name="Group icon box"/>
            <p:cNvSpPr/>
            <p:nvPr/>
          </p:nvSpPr>
          <p:spPr>
            <a:xfrm>
              <a:off x="4745736" y="1161288"/>
              <a:ext cx="237744" cy="237744"/>
            </a:xfrm>
            <a:prstGeom prst="roundRect">
              <a:avLst>
                <a:gd name="adj" fmla="val 19231"/>
              </a:avLst>
            </a:prstGeom>
            <a:solidFill>
              <a:srgbClr val="FFF7F0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53" name="Icon sliders-horizontal"/>
            <p:cNvSpPr/>
            <p:nvPr/>
          </p:nvSpPr>
          <p:spPr>
            <a:xfrm>
              <a:off x="4800600" y="1216152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4000"/>
                  </a:moveTo>
                  <a:lnTo>
                    <a:pt x="14000" y="4000"/>
                  </a:lnTo>
                </a:path>
                <a:path w="24000" h="24000" fill="none">
                  <a:moveTo>
                    <a:pt x="10000" y="4000"/>
                  </a:moveTo>
                  <a:lnTo>
                    <a:pt x="3000" y="4000"/>
                  </a:lnTo>
                </a:path>
                <a:path w="24000" h="24000" fill="none">
                  <a:moveTo>
                    <a:pt x="21000" y="12000"/>
                  </a:moveTo>
                  <a:lnTo>
                    <a:pt x="12000" y="12000"/>
                  </a:lnTo>
                </a:path>
                <a:path w="24000" h="24000" fill="none">
                  <a:moveTo>
                    <a:pt x="8000" y="12000"/>
                  </a:moveTo>
                  <a:lnTo>
                    <a:pt x="3000" y="12000"/>
                  </a:lnTo>
                </a:path>
                <a:path w="24000" h="24000" fill="none">
                  <a:moveTo>
                    <a:pt x="21000" y="20000"/>
                  </a:moveTo>
                  <a:lnTo>
                    <a:pt x="16000" y="20000"/>
                  </a:lnTo>
                </a:path>
                <a:path w="24000" h="24000" fill="none">
                  <a:moveTo>
                    <a:pt x="12000" y="20000"/>
                  </a:moveTo>
                  <a:lnTo>
                    <a:pt x="3000" y="20000"/>
                  </a:lnTo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00" y="14000"/>
                  </a:lnTo>
                </a:path>
                <a:path w="24000" h="24000" fill="none">
                  <a:moveTo>
                    <a:pt x="16000" y="18000"/>
                  </a:moveTo>
                  <a:lnTo>
                    <a:pt x="16000" y="22000"/>
                  </a:lnTo>
                </a:path>
              </a:pathLst>
            </a:custGeom>
            <a:noFill/>
            <a:ln w="11735" cap="rnd">
              <a:solidFill>
                <a:srgbClr val="C65C10"/>
              </a:solidFill>
              <a:round/>
            </a:ln>
          </p:spPr>
        </p:sp>
        <p:sp>
          <p:nvSpPr>
            <p:cNvPr id="54" name="Group title"/>
            <p:cNvSpPr txBox="1"/>
            <p:nvPr/>
          </p:nvSpPr>
          <p:spPr>
            <a:xfrm>
              <a:off x="5074920" y="1161288"/>
              <a:ext cx="3685032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8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Business rules</a:t>
              </a:r>
              <a:endParaRPr lang="en-US" sz="760" dirty="0">
                <a:latin typeface="Inter SemiBold"/>
              </a:endParaRPr>
            </a:p>
          </p:txBody>
        </p:sp>
        <p:sp>
          <p:nvSpPr>
            <p:cNvPr id="55" name="Point number"/>
            <p:cNvSpPr txBox="1"/>
            <p:nvPr/>
          </p:nvSpPr>
          <p:spPr>
            <a:xfrm>
              <a:off x="4745736" y="1508760"/>
              <a:ext cx="219456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05</a:t>
              </a:r>
              <a:endParaRPr lang="en-US" sz="700" dirty="0">
                <a:latin typeface="TASA Orbiter SemiBold"/>
              </a:endParaRPr>
            </a:p>
          </p:txBody>
        </p:sp>
        <p:sp>
          <p:nvSpPr>
            <p:cNvPr id="56" name="Point"/>
            <p:cNvSpPr txBox="1"/>
            <p:nvPr/>
          </p:nvSpPr>
          <p:spPr>
            <a:xfrm>
              <a:off x="5020056" y="1508760"/>
              <a:ext cx="347472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Low-fuel limits per level and the waiting time before an alert is raised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57" name="Tag"/>
            <p:cNvSpPr/>
            <p:nvPr/>
          </p:nvSpPr>
          <p:spPr>
            <a:xfrm>
              <a:off x="8586216" y="1513332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58" name="Tag label"/>
            <p:cNvSpPr txBox="1"/>
            <p:nvPr/>
          </p:nvSpPr>
          <p:spPr>
            <a:xfrm>
              <a:off x="8586216" y="1513332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</a:t>
              </a:r>
              <a:endParaRPr lang="en-US" sz="540" dirty="0">
                <a:latin typeface="Inter SemiBold"/>
              </a:endParaRPr>
            </a:p>
          </p:txBody>
        </p:sp>
        <p:cxnSp>
          <p:nvCxnSpPr>
            <p:cNvPr id="59" name="Point divider"/>
            <p:cNvCxnSpPr/>
            <p:nvPr/>
          </p:nvCxnSpPr>
          <p:spPr>
            <a:xfrm>
              <a:off x="5020056" y="1653540"/>
              <a:ext cx="3739896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60" name="Point number"/>
            <p:cNvSpPr txBox="1"/>
            <p:nvPr/>
          </p:nvSpPr>
          <p:spPr>
            <a:xfrm>
              <a:off x="4745736" y="1708404"/>
              <a:ext cx="219456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06</a:t>
              </a:r>
              <a:endParaRPr lang="en-US" sz="700" dirty="0">
                <a:latin typeface="TASA Orbiter SemiBold"/>
              </a:endParaRPr>
            </a:p>
          </p:txBody>
        </p:sp>
        <p:sp>
          <p:nvSpPr>
            <p:cNvPr id="61" name="Point"/>
            <p:cNvSpPr txBox="1"/>
            <p:nvPr/>
          </p:nvSpPr>
          <p:spPr>
            <a:xfrm>
              <a:off x="5020056" y="1708404"/>
              <a:ext cx="347472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PM running-hours limits and fixed maintenance periods per DG (e.g. 250 / 500 h)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62" name="Tag"/>
            <p:cNvSpPr/>
            <p:nvPr/>
          </p:nvSpPr>
          <p:spPr>
            <a:xfrm>
              <a:off x="8586216" y="1712976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0C192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63" name="Tag label"/>
            <p:cNvSpPr txBox="1"/>
            <p:nvPr/>
          </p:nvSpPr>
          <p:spPr>
            <a:xfrm>
              <a:off x="8586216" y="1712976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</a:t>
              </a:r>
              <a:endParaRPr lang="en-US" sz="540" dirty="0">
                <a:latin typeface="Inter SemiBold"/>
              </a:endParaRPr>
            </a:p>
          </p:txBody>
        </p:sp>
        <p:cxnSp>
          <p:nvCxnSpPr>
            <p:cNvPr id="64" name="Point divider"/>
            <p:cNvCxnSpPr/>
            <p:nvPr/>
          </p:nvCxnSpPr>
          <p:spPr>
            <a:xfrm>
              <a:off x="5020056" y="1853184"/>
              <a:ext cx="3739896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65" name="Point number"/>
            <p:cNvSpPr txBox="1"/>
            <p:nvPr/>
          </p:nvSpPr>
          <p:spPr>
            <a:xfrm>
              <a:off x="4745736" y="1908048"/>
              <a:ext cx="219456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07</a:t>
              </a:r>
              <a:endParaRPr lang="en-US" sz="700" dirty="0">
                <a:latin typeface="TASA Orbiter SemiBold"/>
              </a:endParaRPr>
            </a:p>
          </p:txBody>
        </p:sp>
        <p:sp>
          <p:nvSpPr>
            <p:cNvPr id="66" name="Point"/>
            <p:cNvSpPr txBox="1"/>
            <p:nvPr/>
          </p:nvSpPr>
          <p:spPr>
            <a:xfrm>
              <a:off x="5020056" y="1908048"/>
              <a:ext cx="3264408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Work-order status names — to be finalised during UI design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67" name="Tag"/>
            <p:cNvSpPr/>
            <p:nvPr/>
          </p:nvSpPr>
          <p:spPr>
            <a:xfrm>
              <a:off x="8375904" y="1912620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68" name="Tag label"/>
            <p:cNvSpPr txBox="1"/>
            <p:nvPr/>
          </p:nvSpPr>
          <p:spPr>
            <a:xfrm>
              <a:off x="8375904" y="1912620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</a:t>
              </a:r>
              <a:endParaRPr lang="en-US" sz="540" dirty="0">
                <a:latin typeface="Inter SemiBold"/>
              </a:endParaRPr>
            </a:p>
          </p:txBody>
        </p:sp>
        <p:sp>
          <p:nvSpPr>
            <p:cNvPr id="69" name="Tag"/>
            <p:cNvSpPr/>
            <p:nvPr/>
          </p:nvSpPr>
          <p:spPr>
            <a:xfrm>
              <a:off x="8586216" y="1912620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0C192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70" name="Tag label"/>
            <p:cNvSpPr txBox="1"/>
            <p:nvPr/>
          </p:nvSpPr>
          <p:spPr>
            <a:xfrm>
              <a:off x="8586216" y="1912620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</a:t>
              </a:r>
              <a:endParaRPr lang="en-US" sz="540" dirty="0">
                <a:latin typeface="Inter SemiBold"/>
              </a:endParaRPr>
            </a:p>
          </p:txBody>
        </p:sp>
        <p:cxnSp>
          <p:nvCxnSpPr>
            <p:cNvPr id="71" name="Point divider"/>
            <p:cNvCxnSpPr/>
            <p:nvPr/>
          </p:nvCxnSpPr>
          <p:spPr>
            <a:xfrm>
              <a:off x="5020056" y="2052828"/>
              <a:ext cx="3739896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</p:grpSp>
      <p:grpSp>
        <p:nvGrpSpPr>
          <p:cNvPr id="72" name="Group Billing &amp; Oracle Fusion"/>
          <p:cNvGrpSpPr/>
          <p:nvPr/>
        </p:nvGrpSpPr>
        <p:grpSpPr>
          <a:xfrm>
            <a:off x="274320" y="2849880"/>
            <a:ext cx="4233672" cy="1290828"/>
            <a:chOff x="274320" y="2849880"/>
            <a:chExt cx="4233672" cy="1290828"/>
          </a:xfrm>
        </p:grpSpPr>
        <p:sp>
          <p:nvSpPr>
            <p:cNvPr id="73" name="Group card"/>
            <p:cNvSpPr/>
            <p:nvPr/>
          </p:nvSpPr>
          <p:spPr>
            <a:xfrm>
              <a:off x="274320" y="2849880"/>
              <a:ext cx="4233672" cy="1290828"/>
            </a:xfrm>
            <a:prstGeom prst="roundRect">
              <a:avLst>
                <a:gd name="adj" fmla="val 5667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74" name="Group icon box"/>
            <p:cNvSpPr/>
            <p:nvPr/>
          </p:nvSpPr>
          <p:spPr>
            <a:xfrm>
              <a:off x="384048" y="2959608"/>
              <a:ext cx="237744" cy="237744"/>
            </a:xfrm>
            <a:prstGeom prst="roundRect">
              <a:avLst>
                <a:gd name="adj" fmla="val 19231"/>
              </a:avLst>
            </a:prstGeom>
            <a:solidFill>
              <a:srgbClr val="FFF7F0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75" name="Icon receipt"/>
            <p:cNvSpPr/>
            <p:nvPr/>
          </p:nvSpPr>
          <p:spPr>
            <a:xfrm>
              <a:off x="438912" y="3014472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000" y="2000"/>
                  </a:moveTo>
                  <a:lnTo>
                    <a:pt x="4000" y="22000"/>
                  </a:lnTo>
                  <a:lnTo>
                    <a:pt x="6000" y="21000"/>
                  </a:lnTo>
                  <a:lnTo>
                    <a:pt x="8000" y="22000"/>
                  </a:lnTo>
                  <a:lnTo>
                    <a:pt x="10000" y="21000"/>
                  </a:lnTo>
                  <a:lnTo>
                    <a:pt x="12000" y="22000"/>
                  </a:lnTo>
                  <a:lnTo>
                    <a:pt x="14000" y="21000"/>
                  </a:lnTo>
                  <a:lnTo>
                    <a:pt x="16000" y="22000"/>
                  </a:lnTo>
                  <a:lnTo>
                    <a:pt x="18000" y="21000"/>
                  </a:lnTo>
                  <a:lnTo>
                    <a:pt x="20000" y="22000"/>
                  </a:lnTo>
                  <a:lnTo>
                    <a:pt x="20000" y="2000"/>
                  </a:lnTo>
                  <a:lnTo>
                    <a:pt x="18000" y="3000"/>
                  </a:lnTo>
                  <a:lnTo>
                    <a:pt x="16000" y="2000"/>
                  </a:lnTo>
                  <a:lnTo>
                    <a:pt x="14000" y="3000"/>
                  </a:lnTo>
                  <a:lnTo>
                    <a:pt x="12000" y="2000"/>
                  </a:lnTo>
                  <a:lnTo>
                    <a:pt x="10000" y="3000"/>
                  </a:lnTo>
                  <a:lnTo>
                    <a:pt x="8000" y="2000"/>
                  </a:lnTo>
                  <a:lnTo>
                    <a:pt x="6000" y="3000"/>
                  </a:lnTo>
                  <a:close/>
                </a:path>
                <a:path w="24000" h="24000" fill="none">
                  <a:moveTo>
                    <a:pt x="16000" y="8000"/>
                  </a:moveTo>
                  <a:lnTo>
                    <a:pt x="10000" y="8000"/>
                  </a:lnTo>
                  <a:cubicBezTo>
                    <a:pt x="8895" y="8000"/>
                    <a:pt x="8000" y="8895"/>
                    <a:pt x="8000" y="10000"/>
                  </a:cubicBezTo>
                  <a:cubicBezTo>
                    <a:pt x="8000" y="11105"/>
                    <a:pt x="8895" y="12000"/>
                    <a:pt x="10000" y="12000"/>
                  </a:cubicBezTo>
                  <a:lnTo>
                    <a:pt x="14000" y="12000"/>
                  </a:lnTo>
                  <a:cubicBezTo>
                    <a:pt x="15105" y="12000"/>
                    <a:pt x="16000" y="12895"/>
                    <a:pt x="16000" y="14000"/>
                  </a:cubicBezTo>
                  <a:cubicBezTo>
                    <a:pt x="16000" y="15105"/>
                    <a:pt x="15105" y="16000"/>
                    <a:pt x="14000" y="16000"/>
                  </a:cubicBezTo>
                  <a:lnTo>
                    <a:pt x="8000" y="16000"/>
                  </a:lnTo>
                </a:path>
                <a:path w="24000" h="24000" fill="none">
                  <a:moveTo>
                    <a:pt x="12000" y="17500"/>
                  </a:moveTo>
                  <a:lnTo>
                    <a:pt x="12000" y="6500"/>
                  </a:lnTo>
                </a:path>
              </a:pathLst>
            </a:custGeom>
            <a:noFill/>
            <a:ln w="11735" cap="rnd">
              <a:solidFill>
                <a:srgbClr val="C65C10"/>
              </a:solidFill>
              <a:round/>
            </a:ln>
          </p:spPr>
        </p:sp>
        <p:sp>
          <p:nvSpPr>
            <p:cNvPr id="76" name="Group title"/>
            <p:cNvSpPr txBox="1"/>
            <p:nvPr/>
          </p:nvSpPr>
          <p:spPr>
            <a:xfrm>
              <a:off x="713232" y="2959608"/>
              <a:ext cx="3685032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8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Billing &amp; Oracle Fusion</a:t>
              </a:r>
              <a:endParaRPr lang="en-US" sz="760" dirty="0">
                <a:latin typeface="Inter SemiBold"/>
              </a:endParaRPr>
            </a:p>
          </p:txBody>
        </p:sp>
        <p:sp>
          <p:nvSpPr>
            <p:cNvPr id="77" name="Point number"/>
            <p:cNvSpPr txBox="1"/>
            <p:nvPr/>
          </p:nvSpPr>
          <p:spPr>
            <a:xfrm>
              <a:off x="384048" y="3307080"/>
              <a:ext cx="219456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08</a:t>
              </a:r>
              <a:endParaRPr lang="en-US" sz="700" dirty="0">
                <a:latin typeface="TASA Orbiter SemiBold"/>
              </a:endParaRPr>
            </a:p>
          </p:txBody>
        </p:sp>
        <p:sp>
          <p:nvSpPr>
            <p:cNvPr id="78" name="Point"/>
            <p:cNvSpPr txBox="1"/>
            <p:nvPr/>
          </p:nvSpPr>
          <p:spPr>
            <a:xfrm>
              <a:off x="658368" y="3307080"/>
              <a:ext cx="3474720" cy="9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Fusion interface specification: endpoint, authentication, codes and payload format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79" name="Tag"/>
            <p:cNvSpPr/>
            <p:nvPr/>
          </p:nvSpPr>
          <p:spPr>
            <a:xfrm>
              <a:off x="4224528" y="3311652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0" name="Tag label"/>
            <p:cNvSpPr txBox="1"/>
            <p:nvPr/>
          </p:nvSpPr>
          <p:spPr>
            <a:xfrm>
              <a:off x="4224528" y="3311652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</a:t>
              </a:r>
              <a:endParaRPr lang="en-US" sz="540" dirty="0">
                <a:latin typeface="Inter SemiBold"/>
              </a:endParaRPr>
            </a:p>
          </p:txBody>
        </p:sp>
        <p:cxnSp>
          <p:nvCxnSpPr>
            <p:cNvPr id="81" name="Point divider"/>
            <p:cNvCxnSpPr/>
            <p:nvPr/>
          </p:nvCxnSpPr>
          <p:spPr>
            <a:xfrm>
              <a:off x="658368" y="3451860"/>
              <a:ext cx="3739896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82" name="Point number"/>
            <p:cNvSpPr txBox="1"/>
            <p:nvPr/>
          </p:nvSpPr>
          <p:spPr>
            <a:xfrm>
              <a:off x="384048" y="3506724"/>
              <a:ext cx="2194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09</a:t>
              </a:r>
              <a:endParaRPr lang="en-US" sz="700" dirty="0">
                <a:latin typeface="TASA Orbiter SemiBold"/>
              </a:endParaRPr>
            </a:p>
          </p:txBody>
        </p:sp>
        <p:sp>
          <p:nvSpPr>
            <p:cNvPr id="83" name="Point"/>
            <p:cNvSpPr txBox="1"/>
            <p:nvPr/>
          </p:nvSpPr>
          <p:spPr>
            <a:xfrm>
              <a:off x="658368" y="3506724"/>
              <a:ext cx="3474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Rate cards: diesel rate, running-hours rate and vendor refilling charges; billing type per site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84" name="Tag"/>
            <p:cNvSpPr/>
            <p:nvPr/>
          </p:nvSpPr>
          <p:spPr>
            <a:xfrm>
              <a:off x="4224528" y="3511296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5" name="Tag label"/>
            <p:cNvSpPr txBox="1"/>
            <p:nvPr/>
          </p:nvSpPr>
          <p:spPr>
            <a:xfrm>
              <a:off x="4224528" y="3511296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</a:t>
              </a:r>
              <a:endParaRPr lang="en-US" sz="540" dirty="0">
                <a:latin typeface="Inter SemiBold"/>
              </a:endParaRPr>
            </a:p>
          </p:txBody>
        </p:sp>
        <p:cxnSp>
          <p:nvCxnSpPr>
            <p:cNvPr id="86" name="Point divider"/>
            <p:cNvCxnSpPr/>
            <p:nvPr/>
          </p:nvCxnSpPr>
          <p:spPr>
            <a:xfrm>
              <a:off x="658368" y="3750564"/>
              <a:ext cx="3739896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87" name="Point number"/>
            <p:cNvSpPr txBox="1"/>
            <p:nvPr/>
          </p:nvSpPr>
          <p:spPr>
            <a:xfrm>
              <a:off x="384048" y="3805428"/>
              <a:ext cx="2194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10</a:t>
              </a:r>
              <a:endParaRPr lang="en-US" sz="700" dirty="0">
                <a:latin typeface="TASA Orbiter SemiBold"/>
              </a:endParaRPr>
            </a:p>
          </p:txBody>
        </p:sp>
        <p:sp>
          <p:nvSpPr>
            <p:cNvPr id="88" name="Point"/>
            <p:cNvSpPr txBox="1"/>
            <p:nvPr/>
          </p:nvSpPr>
          <p:spPr>
            <a:xfrm>
              <a:off x="658368" y="3805428"/>
              <a:ext cx="3474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AMC vendor billing (Fixed Rate AMC in Flipkart’s version) — not covered by the SRS billing flow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89" name="Tag"/>
            <p:cNvSpPr/>
            <p:nvPr/>
          </p:nvSpPr>
          <p:spPr>
            <a:xfrm>
              <a:off x="4224528" y="3810000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0C192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0" name="Tag label"/>
            <p:cNvSpPr txBox="1"/>
            <p:nvPr/>
          </p:nvSpPr>
          <p:spPr>
            <a:xfrm>
              <a:off x="4224528" y="3810000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</a:t>
              </a:r>
              <a:endParaRPr lang="en-US" sz="540" dirty="0">
                <a:latin typeface="Inter SemiBold"/>
              </a:endParaRPr>
            </a:p>
          </p:txBody>
        </p:sp>
        <p:cxnSp>
          <p:nvCxnSpPr>
            <p:cNvPr id="91" name="Point divider"/>
            <p:cNvCxnSpPr/>
            <p:nvPr/>
          </p:nvCxnSpPr>
          <p:spPr>
            <a:xfrm>
              <a:off x="658368" y="4049268"/>
              <a:ext cx="3739896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</p:grpSp>
      <p:grpSp>
        <p:nvGrpSpPr>
          <p:cNvPr id="92" name="Group Users, notifications &amp; plan"/>
          <p:cNvGrpSpPr/>
          <p:nvPr/>
        </p:nvGrpSpPr>
        <p:grpSpPr>
          <a:xfrm>
            <a:off x="4636008" y="2253996"/>
            <a:ext cx="4233672" cy="1389888"/>
            <a:chOff x="4636008" y="2253996"/>
            <a:chExt cx="4233672" cy="1389888"/>
          </a:xfrm>
        </p:grpSpPr>
        <p:sp>
          <p:nvSpPr>
            <p:cNvPr id="93" name="Group card"/>
            <p:cNvSpPr/>
            <p:nvPr/>
          </p:nvSpPr>
          <p:spPr>
            <a:xfrm>
              <a:off x="4636008" y="2253996"/>
              <a:ext cx="4233672" cy="1389888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CBD5E2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4" name="Group icon box"/>
            <p:cNvSpPr/>
            <p:nvPr/>
          </p:nvSpPr>
          <p:spPr>
            <a:xfrm>
              <a:off x="4745736" y="2363724"/>
              <a:ext cx="237744" cy="237744"/>
            </a:xfrm>
            <a:prstGeom prst="roundRect">
              <a:avLst>
                <a:gd name="adj" fmla="val 19231"/>
              </a:avLst>
            </a:prstGeom>
            <a:solidFill>
              <a:srgbClr val="FFF7F0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5" name="Icon users-round"/>
            <p:cNvSpPr/>
            <p:nvPr/>
          </p:nvSpPr>
          <p:spPr>
            <a:xfrm>
              <a:off x="4800600" y="2418588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8000" y="21000"/>
                  </a:moveTo>
                  <a:cubicBezTo>
                    <a:pt x="18000" y="16582"/>
                    <a:pt x="14418" y="13000"/>
                    <a:pt x="10000" y="13000"/>
                  </a:cubicBezTo>
                  <a:cubicBezTo>
                    <a:pt x="5582" y="13000"/>
                    <a:pt x="2000" y="16582"/>
                    <a:pt x="2000" y="21000"/>
                  </a:cubicBezTo>
                </a:path>
                <a:path w="24000" h="24000" fill="none">
                  <a:moveTo>
                    <a:pt x="15000" y="8000"/>
                  </a:moveTo>
                  <a:cubicBezTo>
                    <a:pt x="15000" y="10761"/>
                    <a:pt x="12761" y="13000"/>
                    <a:pt x="10000" y="13000"/>
                  </a:cubicBezTo>
                  <a:cubicBezTo>
                    <a:pt x="7239" y="13000"/>
                    <a:pt x="5000" y="10761"/>
                    <a:pt x="5000" y="8000"/>
                  </a:cubicBezTo>
                  <a:cubicBezTo>
                    <a:pt x="5000" y="5239"/>
                    <a:pt x="7239" y="3000"/>
                    <a:pt x="10000" y="3000"/>
                  </a:cubicBezTo>
                  <a:cubicBezTo>
                    <a:pt x="12761" y="3000"/>
                    <a:pt x="15000" y="5239"/>
                    <a:pt x="15000" y="8000"/>
                  </a:cubicBezTo>
                  <a:close/>
                </a:path>
                <a:path w="24000" h="24000" fill="none">
                  <a:moveTo>
                    <a:pt x="22000" y="20000"/>
                  </a:moveTo>
                  <a:cubicBezTo>
                    <a:pt x="22000" y="16630"/>
                    <a:pt x="20000" y="13500"/>
                    <a:pt x="18000" y="12000"/>
                  </a:cubicBezTo>
                  <a:cubicBezTo>
                    <a:pt x="19335" y="10998"/>
                    <a:pt x="20082" y="9396"/>
                    <a:pt x="19992" y="7730"/>
                  </a:cubicBezTo>
                  <a:cubicBezTo>
                    <a:pt x="19902" y="6063"/>
                    <a:pt x="18986" y="4551"/>
                    <a:pt x="17550" y="3700"/>
                  </a:cubicBezTo>
                </a:path>
              </a:pathLst>
            </a:custGeom>
            <a:noFill/>
            <a:ln w="11735" cap="rnd">
              <a:solidFill>
                <a:srgbClr val="C65C10"/>
              </a:solidFill>
              <a:round/>
            </a:ln>
          </p:spPr>
        </p:sp>
        <p:sp>
          <p:nvSpPr>
            <p:cNvPr id="96" name="Group title"/>
            <p:cNvSpPr txBox="1"/>
            <p:nvPr/>
          </p:nvSpPr>
          <p:spPr>
            <a:xfrm>
              <a:off x="5074920" y="2363724"/>
              <a:ext cx="3685032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850"/>
                </a:lnSpc>
                <a:spcBef>
                  <a:spcPts val="0"/>
                </a:spcBef>
                <a:buNone/>
              </a:pPr>
              <a:r>
                <a:rPr lang="en-US" sz="760" b="0" i="0" spc="0" dirty="0">
                  <a:solidFill>
                    <a:srgbClr val="0C19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Users, notifications &amp; plan</a:t>
              </a:r>
              <a:endParaRPr lang="en-US" sz="760" dirty="0">
                <a:latin typeface="Inter SemiBold"/>
              </a:endParaRPr>
            </a:p>
          </p:txBody>
        </p:sp>
        <p:sp>
          <p:nvSpPr>
            <p:cNvPr id="97" name="Point number"/>
            <p:cNvSpPr txBox="1"/>
            <p:nvPr/>
          </p:nvSpPr>
          <p:spPr>
            <a:xfrm>
              <a:off x="4745736" y="2711196"/>
              <a:ext cx="2194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11</a:t>
              </a:r>
              <a:endParaRPr lang="en-US" sz="700" dirty="0">
                <a:latin typeface="TASA Orbiter SemiBold"/>
              </a:endParaRPr>
            </a:p>
          </p:txBody>
        </p:sp>
        <p:sp>
          <p:nvSpPr>
            <p:cNvPr id="98" name="Point"/>
            <p:cNvSpPr txBox="1"/>
            <p:nvPr/>
          </p:nvSpPr>
          <p:spPr>
            <a:xfrm>
              <a:off x="5020056" y="2711196"/>
              <a:ext cx="32644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User list and roles; vendor and SPOC onboarding — who creates and maintains the accounts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99" name="Tag"/>
            <p:cNvSpPr/>
            <p:nvPr/>
          </p:nvSpPr>
          <p:spPr>
            <a:xfrm>
              <a:off x="8375904" y="2715768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00" name="Tag label"/>
            <p:cNvSpPr txBox="1"/>
            <p:nvPr/>
          </p:nvSpPr>
          <p:spPr>
            <a:xfrm>
              <a:off x="8375904" y="2715768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</a:t>
              </a:r>
              <a:endParaRPr lang="en-US" sz="540" dirty="0">
                <a:latin typeface="Inter SemiBold"/>
              </a:endParaRPr>
            </a:p>
          </p:txBody>
        </p:sp>
        <p:sp>
          <p:nvSpPr>
            <p:cNvPr id="101" name="Tag"/>
            <p:cNvSpPr/>
            <p:nvPr/>
          </p:nvSpPr>
          <p:spPr>
            <a:xfrm>
              <a:off x="8586216" y="2715768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0C192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02" name="Tag label"/>
            <p:cNvSpPr txBox="1"/>
            <p:nvPr/>
          </p:nvSpPr>
          <p:spPr>
            <a:xfrm>
              <a:off x="8586216" y="2715768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</a:t>
              </a:r>
              <a:endParaRPr lang="en-US" sz="540" dirty="0">
                <a:latin typeface="Inter SemiBold"/>
              </a:endParaRPr>
            </a:p>
          </p:txBody>
        </p:sp>
        <p:cxnSp>
          <p:nvCxnSpPr>
            <p:cNvPr id="103" name="Point divider"/>
            <p:cNvCxnSpPr/>
            <p:nvPr/>
          </p:nvCxnSpPr>
          <p:spPr>
            <a:xfrm>
              <a:off x="5020056" y="2955036"/>
              <a:ext cx="3739896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104" name="Point number"/>
            <p:cNvSpPr txBox="1"/>
            <p:nvPr/>
          </p:nvSpPr>
          <p:spPr>
            <a:xfrm>
              <a:off x="4745736" y="3009900"/>
              <a:ext cx="2194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12</a:t>
              </a:r>
              <a:endParaRPr lang="en-US" sz="700" dirty="0">
                <a:latin typeface="TASA Orbiter SemiBold"/>
              </a:endParaRPr>
            </a:p>
          </p:txBody>
        </p:sp>
        <p:sp>
          <p:nvSpPr>
            <p:cNvPr id="105" name="Point"/>
            <p:cNvSpPr txBox="1"/>
            <p:nvPr/>
          </p:nvSpPr>
          <p:spPr>
            <a:xfrm>
              <a:off x="5020056" y="3009900"/>
              <a:ext cx="32644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WhatsApp Business account, message templates and email sender for the initial notification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106" name="Tag"/>
            <p:cNvSpPr/>
            <p:nvPr/>
          </p:nvSpPr>
          <p:spPr>
            <a:xfrm>
              <a:off x="8375904" y="3014472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07" name="Tag label"/>
            <p:cNvSpPr txBox="1"/>
            <p:nvPr/>
          </p:nvSpPr>
          <p:spPr>
            <a:xfrm>
              <a:off x="8375904" y="3014472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</a:t>
              </a:r>
              <a:endParaRPr lang="en-US" sz="540" dirty="0">
                <a:latin typeface="Inter SemiBold"/>
              </a:endParaRPr>
            </a:p>
          </p:txBody>
        </p:sp>
        <p:sp>
          <p:nvSpPr>
            <p:cNvPr id="108" name="Tag"/>
            <p:cNvSpPr/>
            <p:nvPr/>
          </p:nvSpPr>
          <p:spPr>
            <a:xfrm>
              <a:off x="8586216" y="3014472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0C192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09" name="Tag label"/>
            <p:cNvSpPr txBox="1"/>
            <p:nvPr/>
          </p:nvSpPr>
          <p:spPr>
            <a:xfrm>
              <a:off x="8586216" y="3014472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</a:t>
              </a:r>
              <a:endParaRPr lang="en-US" sz="540" dirty="0">
                <a:latin typeface="Inter SemiBold"/>
              </a:endParaRPr>
            </a:p>
          </p:txBody>
        </p:sp>
        <p:cxnSp>
          <p:nvCxnSpPr>
            <p:cNvPr id="110" name="Point divider"/>
            <p:cNvCxnSpPr/>
            <p:nvPr/>
          </p:nvCxnSpPr>
          <p:spPr>
            <a:xfrm>
              <a:off x="5020056" y="3253740"/>
              <a:ext cx="3739896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  <p:sp>
          <p:nvSpPr>
            <p:cNvPr id="111" name="Point number"/>
            <p:cNvSpPr txBox="1"/>
            <p:nvPr/>
          </p:nvSpPr>
          <p:spPr>
            <a:xfrm>
              <a:off x="4745736" y="3308604"/>
              <a:ext cx="2194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700" b="0" i="0" spc="0" dirty="0">
                  <a:solidFill>
                    <a:srgbClr val="C65C10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13</a:t>
              </a:r>
              <a:endParaRPr lang="en-US" sz="700" dirty="0">
                <a:latin typeface="TASA Orbiter SemiBold"/>
              </a:endParaRPr>
            </a:p>
          </p:txBody>
        </p:sp>
        <p:sp>
          <p:nvSpPr>
            <p:cNvPr id="112" name="Point"/>
            <p:cNvSpPr txBox="1"/>
            <p:nvPr/>
          </p:nvSpPr>
          <p:spPr>
            <a:xfrm>
              <a:off x="5020056" y="3308604"/>
              <a:ext cx="32644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780"/>
                </a:lnSpc>
                <a:spcBef>
                  <a:spcPts val="0"/>
                </a:spcBef>
                <a:buNone/>
              </a:pPr>
              <a:r>
                <a:rPr lang="en-US" sz="660" b="0" i="0" spc="0" dirty="0">
                  <a:solidFill>
                    <a:srgbClr val="243547"/>
                  </a:solidFill>
                  <a:latin typeface="Inter"/>
                  <a:ea typeface="Inter"/>
                  <a:cs typeface="Inter"/>
                  <a:sym typeface="Inter"/>
                </a:rPr>
                <a:t>Warranty period, hardware AMC start, post go-live support duration and schedule confirmation</a:t>
              </a:r>
              <a:endParaRPr lang="en-US" sz="660" dirty="0">
                <a:latin typeface="Inter"/>
              </a:endParaRPr>
            </a:p>
          </p:txBody>
        </p:sp>
        <p:sp>
          <p:nvSpPr>
            <p:cNvPr id="113" name="Tag"/>
            <p:cNvSpPr/>
            <p:nvPr/>
          </p:nvSpPr>
          <p:spPr>
            <a:xfrm>
              <a:off x="8375904" y="3313176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14" name="Tag label"/>
            <p:cNvSpPr txBox="1"/>
            <p:nvPr/>
          </p:nvSpPr>
          <p:spPr>
            <a:xfrm>
              <a:off x="8375904" y="3313176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</a:t>
              </a:r>
              <a:endParaRPr lang="en-US" sz="540" dirty="0">
                <a:latin typeface="Inter SemiBold"/>
              </a:endParaRPr>
            </a:p>
          </p:txBody>
        </p:sp>
        <p:sp>
          <p:nvSpPr>
            <p:cNvPr id="115" name="Tag"/>
            <p:cNvSpPr/>
            <p:nvPr/>
          </p:nvSpPr>
          <p:spPr>
            <a:xfrm>
              <a:off x="8586216" y="3313176"/>
              <a:ext cx="173736" cy="137160"/>
            </a:xfrm>
            <a:prstGeom prst="roundRect">
              <a:avLst>
                <a:gd name="adj" fmla="val 20000"/>
              </a:avLst>
            </a:prstGeom>
            <a:solidFill>
              <a:srgbClr val="0C192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16" name="Tag label"/>
            <p:cNvSpPr txBox="1"/>
            <p:nvPr/>
          </p:nvSpPr>
          <p:spPr>
            <a:xfrm>
              <a:off x="8586216" y="3313176"/>
              <a:ext cx="1737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540"/>
                </a:lnSpc>
                <a:spcBef>
                  <a:spcPts val="0"/>
                </a:spcBef>
                <a:buNone/>
              </a:pPr>
              <a:r>
                <a:rPr lang="en-US" sz="540" b="0" i="0" spc="0" dirty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</a:t>
              </a:r>
              <a:endParaRPr lang="en-US" sz="540" dirty="0">
                <a:latin typeface="Inter SemiBold"/>
              </a:endParaRPr>
            </a:p>
          </p:txBody>
        </p:sp>
        <p:cxnSp>
          <p:nvCxnSpPr>
            <p:cNvPr id="117" name="Point divider"/>
            <p:cNvCxnSpPr/>
            <p:nvPr/>
          </p:nvCxnSpPr>
          <p:spPr>
            <a:xfrm>
              <a:off x="5020056" y="3552444"/>
              <a:ext cx="3739896" cy="0"/>
            </a:xfrm>
            <a:prstGeom prst="straightConnector1">
              <a:avLst/>
            </a:prstGeom>
            <a:noFill/>
            <a:ln w="6350">
              <a:solidFill>
                <a:srgbClr val="E3EAF3"/>
              </a:solidFill>
              <a:round/>
            </a:ln>
          </p:spPr>
        </p:cxnSp>
      </p:grpSp>
      <p:sp>
        <p:nvSpPr>
          <p:cNvPr id="118" name="Next steps"/>
          <p:cNvSpPr/>
          <p:nvPr/>
        </p:nvSpPr>
        <p:spPr>
          <a:xfrm>
            <a:off x="274320" y="4268724"/>
            <a:ext cx="8595360" cy="531876"/>
          </a:xfrm>
          <a:prstGeom prst="roundRect">
            <a:avLst>
              <a:gd name="adj" fmla="val 13754"/>
            </a:avLst>
          </a:prstGeom>
          <a:solidFill>
            <a:srgbClr val="F8FAFC"/>
          </a:solidFill>
          <a:ln w="9525">
            <a:solidFill>
              <a:srgbClr val="E3EAF3"/>
            </a:solidFill>
            <a:round/>
          </a:ln>
        </p:spPr>
        <p:txBody>
          <a:bodyPr rtlCol="0" anchor="ctr"/>
          <a:lstStyle/>
          <a:p>
            <a:pPr algn="ctr"/>
            <a:endParaRPr lang="en-US" sz="700"/>
          </a:p>
        </p:txBody>
      </p:sp>
      <p:sp>
        <p:nvSpPr>
          <p:cNvPr id="119" name="Icon route"/>
          <p:cNvSpPr/>
          <p:nvPr/>
        </p:nvSpPr>
        <p:spPr>
          <a:xfrm>
            <a:off x="402336" y="445236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9000"/>
                </a:moveTo>
                <a:cubicBezTo>
                  <a:pt x="9000" y="20657"/>
                  <a:pt x="7657" y="22000"/>
                  <a:pt x="6000" y="22000"/>
                </a:cubicBezTo>
                <a:cubicBezTo>
                  <a:pt x="4343" y="22000"/>
                  <a:pt x="3000" y="20657"/>
                  <a:pt x="3000" y="19000"/>
                </a:cubicBezTo>
                <a:cubicBezTo>
                  <a:pt x="3000" y="17343"/>
                  <a:pt x="4343" y="16000"/>
                  <a:pt x="6000" y="16000"/>
                </a:cubicBezTo>
                <a:cubicBezTo>
                  <a:pt x="7657" y="16000"/>
                  <a:pt x="9000" y="17343"/>
                  <a:pt x="9000" y="19000"/>
                </a:cubicBezTo>
                <a:close/>
              </a:path>
              <a:path w="24000" h="24000" fill="none">
                <a:moveTo>
                  <a:pt x="9000" y="19000"/>
                </a:moveTo>
                <a:lnTo>
                  <a:pt x="17500" y="19000"/>
                </a:lnTo>
                <a:cubicBezTo>
                  <a:pt x="19433" y="19000"/>
                  <a:pt x="21000" y="17433"/>
                  <a:pt x="21000" y="15500"/>
                </a:cubicBezTo>
                <a:cubicBezTo>
                  <a:pt x="21000" y="13567"/>
                  <a:pt x="19433" y="12000"/>
                  <a:pt x="17500" y="12000"/>
                </a:cubicBezTo>
                <a:lnTo>
                  <a:pt x="6500" y="12000"/>
                </a:lnTo>
                <a:cubicBezTo>
                  <a:pt x="4567" y="12000"/>
                  <a:pt x="3000" y="10433"/>
                  <a:pt x="3000" y="8500"/>
                </a:cubicBezTo>
                <a:cubicBezTo>
                  <a:pt x="3000" y="6567"/>
                  <a:pt x="4567" y="5000"/>
                  <a:pt x="6500" y="5000"/>
                </a:cubicBezTo>
                <a:lnTo>
                  <a:pt x="15000" y="5000"/>
                </a:lnTo>
              </a:path>
              <a:path w="24000" h="24000" fill="none">
                <a:moveTo>
                  <a:pt x="21000" y="5000"/>
                </a:moveTo>
                <a:cubicBezTo>
                  <a:pt x="21000" y="6657"/>
                  <a:pt x="19657" y="8000"/>
                  <a:pt x="18000" y="8000"/>
                </a:cubicBezTo>
                <a:cubicBezTo>
                  <a:pt x="16343" y="8000"/>
                  <a:pt x="15000" y="6657"/>
                  <a:pt x="15000" y="5000"/>
                </a:cubicBezTo>
                <a:cubicBezTo>
                  <a:pt x="15000" y="3343"/>
                  <a:pt x="16343" y="2000"/>
                  <a:pt x="18000" y="2000"/>
                </a:cubicBezTo>
                <a:cubicBezTo>
                  <a:pt x="19657" y="2000"/>
                  <a:pt x="21000" y="3343"/>
                  <a:pt x="21000" y="5000"/>
                </a:cubicBezTo>
                <a:close/>
              </a:path>
            </a:pathLst>
          </a:custGeom>
          <a:noFill/>
          <a:ln w="15088" cap="rnd">
            <a:solidFill>
              <a:srgbClr val="165FF2"/>
            </a:solidFill>
            <a:round/>
          </a:ln>
        </p:spPr>
      </p:sp>
      <p:sp>
        <p:nvSpPr>
          <p:cNvPr id="120" name="Next steps title"/>
          <p:cNvSpPr txBox="1"/>
          <p:nvPr/>
        </p:nvSpPr>
        <p:spPr>
          <a:xfrm>
            <a:off x="640080" y="4268724"/>
            <a:ext cx="1097280" cy="531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820"/>
              </a:lnSpc>
              <a:spcBef>
                <a:spcPts val="0"/>
              </a:spcBef>
              <a:buNone/>
            </a:pPr>
            <a:r>
              <a:rPr lang="en-US" sz="720" b="0" i="0" spc="0" dirty="0">
                <a:solidFill>
                  <a:srgbClr val="0C19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Proposed next steps</a:t>
            </a:r>
            <a:endParaRPr lang="en-US" sz="720" dirty="0">
              <a:latin typeface="Inter SemiBold"/>
            </a:endParaRPr>
          </a:p>
        </p:txBody>
      </p:sp>
      <p:grpSp>
        <p:nvGrpSpPr>
          <p:cNvPr id="121" name="Badge 1"/>
          <p:cNvGrpSpPr/>
          <p:nvPr/>
        </p:nvGrpSpPr>
        <p:grpSpPr>
          <a:xfrm>
            <a:off x="1783080" y="4443222"/>
            <a:ext cx="182880" cy="182880"/>
            <a:chOff x="1783080" y="4443222"/>
            <a:chExt cx="182880" cy="182880"/>
          </a:xfrm>
        </p:grpSpPr>
        <p:sp>
          <p:nvSpPr>
            <p:cNvPr id="122" name="Badge"/>
            <p:cNvSpPr/>
            <p:nvPr/>
          </p:nvSpPr>
          <p:spPr>
            <a:xfrm>
              <a:off x="1783080" y="4443222"/>
              <a:ext cx="182880" cy="182880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23" name="Badge number"/>
            <p:cNvSpPr txBox="1"/>
            <p:nvPr/>
          </p:nvSpPr>
          <p:spPr>
            <a:xfrm>
              <a:off x="1783080" y="4443222"/>
              <a:ext cx="1828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1</a:t>
              </a:r>
              <a:endParaRPr lang="en-US" sz="650" dirty="0">
                <a:latin typeface="TASA Orbiter SemiBold"/>
              </a:endParaRPr>
            </a:p>
          </p:txBody>
        </p:sp>
      </p:grpSp>
      <p:sp>
        <p:nvSpPr>
          <p:cNvPr id="124" name="Step"/>
          <p:cNvSpPr txBox="1"/>
          <p:nvPr/>
        </p:nvSpPr>
        <p:spPr>
          <a:xfrm>
            <a:off x="2029968" y="4268724"/>
            <a:ext cx="1383030" cy="531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Walk-through of this proposal with Flipkart</a:t>
            </a:r>
            <a:endParaRPr lang="en-US" sz="660" dirty="0">
              <a:latin typeface="Inter"/>
            </a:endParaRPr>
          </a:p>
        </p:txBody>
      </p:sp>
      <p:grpSp>
        <p:nvGrpSpPr>
          <p:cNvPr id="125" name="Badge 2"/>
          <p:cNvGrpSpPr/>
          <p:nvPr/>
        </p:nvGrpSpPr>
        <p:grpSpPr>
          <a:xfrm>
            <a:off x="3531870" y="4443222"/>
            <a:ext cx="182880" cy="182880"/>
            <a:chOff x="3531870" y="4443222"/>
            <a:chExt cx="182880" cy="182880"/>
          </a:xfrm>
        </p:grpSpPr>
        <p:sp>
          <p:nvSpPr>
            <p:cNvPr id="126" name="Badge"/>
            <p:cNvSpPr/>
            <p:nvPr/>
          </p:nvSpPr>
          <p:spPr>
            <a:xfrm>
              <a:off x="3531870" y="4443222"/>
              <a:ext cx="182880" cy="182880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27" name="Badge number"/>
            <p:cNvSpPr txBox="1"/>
            <p:nvPr/>
          </p:nvSpPr>
          <p:spPr>
            <a:xfrm>
              <a:off x="3531870" y="4443222"/>
              <a:ext cx="1828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2</a:t>
              </a:r>
              <a:endParaRPr lang="en-US" sz="650" dirty="0">
                <a:latin typeface="TASA Orbiter SemiBold"/>
              </a:endParaRPr>
            </a:p>
          </p:txBody>
        </p:sp>
      </p:grpSp>
      <p:sp>
        <p:nvSpPr>
          <p:cNvPr id="128" name="Step"/>
          <p:cNvSpPr txBox="1"/>
          <p:nvPr/>
        </p:nvSpPr>
        <p:spPr>
          <a:xfrm>
            <a:off x="3778758" y="4268724"/>
            <a:ext cx="1383030" cy="531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Close the open points and sign off the SRS</a:t>
            </a:r>
            <a:endParaRPr lang="en-US" sz="660" dirty="0">
              <a:latin typeface="Inter"/>
            </a:endParaRPr>
          </a:p>
        </p:txBody>
      </p:sp>
      <p:grpSp>
        <p:nvGrpSpPr>
          <p:cNvPr id="129" name="Badge 3"/>
          <p:cNvGrpSpPr/>
          <p:nvPr/>
        </p:nvGrpSpPr>
        <p:grpSpPr>
          <a:xfrm>
            <a:off x="5280660" y="4443222"/>
            <a:ext cx="182880" cy="182880"/>
            <a:chOff x="5280660" y="4443222"/>
            <a:chExt cx="182880" cy="182880"/>
          </a:xfrm>
        </p:grpSpPr>
        <p:sp>
          <p:nvSpPr>
            <p:cNvPr id="130" name="Badge"/>
            <p:cNvSpPr/>
            <p:nvPr/>
          </p:nvSpPr>
          <p:spPr>
            <a:xfrm>
              <a:off x="5280660" y="4443222"/>
              <a:ext cx="182880" cy="182880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31" name="Badge number"/>
            <p:cNvSpPr txBox="1"/>
            <p:nvPr/>
          </p:nvSpPr>
          <p:spPr>
            <a:xfrm>
              <a:off x="5280660" y="4443222"/>
              <a:ext cx="1828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3</a:t>
              </a:r>
              <a:endParaRPr lang="en-US" sz="650" dirty="0">
                <a:latin typeface="TASA Orbiter SemiBold"/>
              </a:endParaRPr>
            </a:p>
          </p:txBody>
        </p:sp>
      </p:grpSp>
      <p:sp>
        <p:nvSpPr>
          <p:cNvPr id="132" name="Step"/>
          <p:cNvSpPr txBox="1"/>
          <p:nvPr/>
        </p:nvSpPr>
        <p:spPr>
          <a:xfrm>
            <a:off x="5527548" y="4268724"/>
            <a:ext cx="1383030" cy="531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Site survey and hardware order for the first stores</a:t>
            </a:r>
            <a:endParaRPr lang="en-US" sz="660" dirty="0">
              <a:latin typeface="Inter"/>
            </a:endParaRPr>
          </a:p>
        </p:txBody>
      </p:sp>
      <p:grpSp>
        <p:nvGrpSpPr>
          <p:cNvPr id="133" name="Badge 4"/>
          <p:cNvGrpSpPr/>
          <p:nvPr/>
        </p:nvGrpSpPr>
        <p:grpSpPr>
          <a:xfrm>
            <a:off x="7029450" y="4443222"/>
            <a:ext cx="182880" cy="182880"/>
            <a:chOff x="7029450" y="4443222"/>
            <a:chExt cx="182880" cy="182880"/>
          </a:xfrm>
        </p:grpSpPr>
        <p:sp>
          <p:nvSpPr>
            <p:cNvPr id="134" name="Badge"/>
            <p:cNvSpPr/>
            <p:nvPr/>
          </p:nvSpPr>
          <p:spPr>
            <a:xfrm>
              <a:off x="7029450" y="4443222"/>
              <a:ext cx="182880" cy="182880"/>
            </a:xfrm>
            <a:prstGeom prst="ellipse">
              <a:avLst/>
            </a:prstGeom>
            <a:solidFill>
              <a:srgbClr val="165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35" name="Badge number"/>
            <p:cNvSpPr txBox="1"/>
            <p:nvPr/>
          </p:nvSpPr>
          <p:spPr>
            <a:xfrm>
              <a:off x="7029450" y="4443222"/>
              <a:ext cx="1828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FFFFFF"/>
                  </a:solidFill>
                  <a:latin typeface="TASA Orbiter SemiBold"/>
                  <a:ea typeface="TASA Orbiter SemiBold"/>
                  <a:cs typeface="TASA Orbiter SemiBold"/>
                  <a:sym typeface="TASA Orbiter SemiBold"/>
                </a:rPr>
                <a:t>4</a:t>
              </a:r>
              <a:endParaRPr lang="en-US" sz="650" dirty="0">
                <a:latin typeface="TASA Orbiter SemiBold"/>
              </a:endParaRPr>
            </a:p>
          </p:txBody>
        </p:sp>
      </p:grpSp>
      <p:sp>
        <p:nvSpPr>
          <p:cNvPr id="136" name="Step"/>
          <p:cNvSpPr txBox="1"/>
          <p:nvPr/>
        </p:nvSpPr>
        <p:spPr>
          <a:xfrm>
            <a:off x="7276338" y="4268724"/>
            <a:ext cx="1383030" cy="5318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760"/>
              </a:lnSpc>
              <a:spcBef>
                <a:spcPts val="0"/>
              </a:spcBef>
              <a:buNone/>
            </a:pPr>
            <a:r>
              <a:rPr lang="en-US" sz="660" b="0" i="0" spc="0" dirty="0">
                <a:solidFill>
                  <a:srgbClr val="243547"/>
                </a:solidFill>
                <a:latin typeface="Inter"/>
                <a:ea typeface="Inter"/>
                <a:cs typeface="Inter"/>
                <a:sym typeface="Inter"/>
              </a:rPr>
              <a:t>Kick-off and start of the delivery schedule</a:t>
            </a:r>
            <a:endParaRPr lang="en-US" sz="660" dirty="0">
              <a:latin typeface="Inter"/>
            </a:endParaRPr>
          </a:p>
        </p:txBody>
      </p:sp>
      <p:grpSp>
        <p:nvGrpSpPr>
          <p:cNvPr id="137" name="Footer"/>
          <p:cNvGrpSpPr/>
          <p:nvPr/>
        </p:nvGrpSpPr>
        <p:grpSpPr>
          <a:xfrm>
            <a:off x="274320" y="4873752"/>
            <a:ext cx="8595360" cy="137160"/>
            <a:chOff x="274320" y="4873752"/>
            <a:chExt cx="8595360" cy="137160"/>
          </a:xfrm>
        </p:grpSpPr>
        <p:sp>
          <p:nvSpPr>
            <p:cNvPr id="138" name="Footer text"/>
            <p:cNvSpPr txBox="1"/>
            <p:nvPr/>
          </p:nvSpPr>
          <p:spPr>
            <a:xfrm>
              <a:off x="274320" y="4873752"/>
              <a:ext cx="45720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ts val="650"/>
                </a:lnSpc>
                <a:spcBef>
                  <a:spcPts val="0"/>
                </a:spcBef>
                <a:buNone/>
              </a:pPr>
              <a:r>
                <a:rPr lang="en-US" sz="650" b="0" i="0" spc="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DG Online Monitoring Proposal  ·  Flipkart Minutes</a:t>
              </a:r>
              <a:endParaRPr lang="en-US" sz="650" dirty="0">
                <a:latin typeface="Inter"/>
              </a:endParaRPr>
            </a:p>
          </p:txBody>
        </p:sp>
        <p:sp>
          <p:nvSpPr>
            <p:cNvPr id="139" name="Slide number"/>
            <p:cNvSpPr txBox="1"/>
            <p:nvPr/>
          </p:nvSpPr>
          <p:spPr>
            <a:xfrm>
              <a:off x="8321040" y="4873752"/>
              <a:ext cx="54864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r">
                <a:buNone/>
              </a:pPr>
              <a:fld id="{4C0561E8-BE04-4051-A512-FEE93422AEAE}" type="slidenum">
                <a:rPr lang="en-US" sz="700" dirty="0">
                  <a:solidFill>
                    <a:srgbClr val="90A5BB"/>
                  </a:solidFill>
                  <a:latin typeface="Inter"/>
                  <a:ea typeface="Inter"/>
                  <a:cs typeface="Inter"/>
                  <a:sym typeface="Inter"/>
                </a:rPr>
                <a:t>‹#›</a:t>
              </a:fld>
              <a:endParaRPr lang="en-US" sz="7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